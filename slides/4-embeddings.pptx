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305"/>
  </p:normalViewPr>
  <p:slideViewPr>
    <p:cSldViewPr snapToGrid="0">
      <p:cViewPr varScale="1">
        <p:scale>
          <a:sx n="92" d="100"/>
          <a:sy n="92" d="100"/>
        </p:scale>
        <p:origin x="1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2F2F-07C7-4D22-B829-1296C81F8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59CA4-201B-48DA-AC82-375E325C9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04F2B-FB6A-464F-9F3B-3778477E30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AE6EF-7A5F-4B96-A4E9-D25E35E2B7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4360-EE32-43D4-A3A2-350C7A412C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4586-88F4-4E44-8E5C-713BFE64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D11C-197E-46EF-AB15-7A9A9D53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EE18E-C9EF-4223-A547-FF94D05A6E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BF545-1EE0-4BBA-8D56-E74CE21283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B07A-5920-4412-8C03-2B09342CDD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E390-4D36-4894-A4D8-27AC3945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2E7E3-DF50-482C-B415-E232C7608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16F70-D843-4319-89C0-38042830D7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F9526-9237-4FA1-A5DF-09B498BAC6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22D44-0724-4118-BFDF-635B029D22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0562-FAE1-422B-9241-B9B0C03D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1643B-D8FA-46EC-B41C-76CDEE5E2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DAD0F-63B2-4AC8-8D07-4E6125DB0BB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9B0C8-6B75-43F3-824C-D457CCD9F8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B4C35-7734-4C60-8283-5E5CAB27D9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30807-8946-4127-8EC1-E9A9662A7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F920-35DD-4E84-BFD5-E1E32E03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2B984-F9BB-4C11-94F1-9012B609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E1F62-6998-4370-A915-B94EA3FC5C1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500F6-BD26-4A34-A413-705ECAC7ED4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C9924-1121-4733-A3F0-9FDBF35B3F9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B615-356E-4992-ACAE-ABDC1AA8B8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6ACDB-E882-489B-814D-96B10CB15F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EBC01-73DA-45BD-83E4-5990C65900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EB2C-FA34-49B1-B7F1-E82F60C5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4DE26-E9D9-4035-AA70-403D758D67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A1E85-6E31-452F-B166-A6B7A45B6A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27CE5-DC7A-442F-876C-EC32852DFE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7CD12-E035-4DB0-B8BA-26C104A820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AFBFA-801C-47E9-B93B-11565233E7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0FF82-EF3F-4AA3-BC85-3898D3C2E0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B0AE-E8AD-48A3-B7B6-38061B10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199B-930B-41C5-801C-DC3EE90F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6CB96-CAF1-4D1B-BC32-17E06E73BE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3CE97-2F83-4C5F-A61F-3E3F233728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8E481-D5E4-49A6-A69E-8C038BAA54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0043C-726F-4C3C-A7E5-3B97106C72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4FDF-968F-4562-9D9C-89883915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6C966-38BB-44F6-916F-1B77F2D16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683C7-A281-4C14-860E-63F32A42AB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D1DA3-B8DA-456C-ADA3-F60B846A7B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482F8-072D-457F-BF49-8EE3D4F9E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D1C04-17AA-473F-BC18-156A5B0EA3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0802-45FC-4E72-ADB3-5166DB86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B9FC4-1528-4AD2-AB72-635883FF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7468-CEF1-41DE-BBC5-EC4D926741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BB178-C2D5-4934-841F-DE09E6B29F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399C1-454A-441A-BDF4-59864DF08D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BEF8F9-5479-40EB-96C1-5AA42DB4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4D2A8-4EA4-41FC-99B4-9C6595C9E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3217-18A7-4348-A1F4-E6A7919D31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E443-A0D0-4E64-B3FA-9009DE8153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55001-5878-4328-AE0F-FE2B7FACC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30EA680-D336-4FF7-8B7A-9848BB0A1C3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D788B9A8-FCEA-4F34-A350-3CD380EB5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A86C0037-A815-473D-AD4A-050A37407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792C56B6-0E0A-4497-B14F-7BBF76A690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3128CDAD-137A-4564-AA8B-81D3A6AC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5BCE8535-ED6C-4746-876A-8A8D501560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C529F7FD-BDB4-43CE-9076-F909BD67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6E29D776-9A65-4EAA-8B00-5394993F9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6DF38F50-AC06-4330-9A74-E3C6393E48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D92BB4C5-9002-498E-95D9-6CD36221B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BD6B3DF4-0173-42B6-A3C6-5FE7596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BF0F1C6B-2710-4B50-92B0-F5D6E7AD05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EC4FBE18-3188-4225-8067-1D5670BFBE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383CE567-5DD4-4DC2-92A6-233AB6FE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B7CD0593-D26B-4335-87EB-619D49E9FC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E7BA0F3C-8AB4-45FE-A7FD-60DDB74D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160DAA9F-B4AE-4D2F-A443-97446A983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6D027717-689C-4654-9DFA-501F50C616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9C36BD1-9125-477E-9BEA-F489FC69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11BEAD77-0EBC-43F9-883C-763634F16C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98F6C301-57ED-402F-A5DF-F24CAE190883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11D451E9-CC2C-4B89-82E6-4F4A1520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11D3EA42-1047-4008-901D-0E0DD3EDB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D1F587B2-F9E8-4366-A696-42CAA6C3C7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609585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F416A1B8-5707-45DA-89CE-7AD256CA35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69F347AC-1CEF-4ED2-B631-622A1BE5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609585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FBBF2484-1B7E-488B-BE96-DE64C99406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0F5D0F88-EDAD-4D09-97D3-320E90449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52E29940-6097-43D0-8327-8C70338C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609585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05058B8C-BE9F-4C0D-8BBB-BCA14F5AC1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C7AB78E7-2EB0-487B-84CF-2E719078FD0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8B11F-F90C-4621-AD67-7B8C4932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6DACD-68F0-4F4A-A1AF-285ECD4D2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4072C-020B-4AD8-B9A9-BF16F63984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t>9/25/26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472BB-CF31-4EC7-B7C9-AB2156112F1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8B1B6-E8A3-4E39-92E7-6712AFDDD37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E4922CA3-5685-412A-AB20-FC3C6DF9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025AD1-F659-480C-875E-BBD10FEFA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6914E164-265D-4354-A709-912904DF03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8A33-0242-496B-AB1F-6A99F5118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t>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FB6F8-2425-41DB-97AE-2ACA1919F3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algn="l">
              <a:buNone/>
            </a:pPr>
            <a:r>
              <a:t>The first layers</a:t>
            </a:r>
          </a:p>
        </p:txBody>
      </p:sp>
      <p:pic>
        <p:nvPicPr>
          <p:cNvPr id="61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672" y="3508496"/>
            <a:ext cx="2018744" cy="3084347"/>
          </a:xfrm>
          <a:prstGeom prst="rect">
            <a:avLst/>
          </a:prstGeom>
        </p:spPr>
      </p:pic>
      <p:cxnSp>
        <p:nvCxnSpPr>
          <p:cNvPr id="62" name="Connector: Curved 24"/>
          <p:cNvCxnSpPr/>
          <p:nvPr/>
        </p:nvCxnSpPr>
        <p:spPr>
          <a:xfrm>
            <a:off x="8255223" y="4483437"/>
            <a:ext cx="201130" cy="434500"/>
          </a:xfrm>
          <a:prstGeom prst="curved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66E5423-C6DB-43D0-96CF-089AF8382095}"/>
              </a:ext>
            </a:extLst>
          </p:cNvPr>
          <p:cNvSpPr>
            <a:spLocks noGrp="1"/>
          </p:cNvSpPr>
          <p:nvPr/>
        </p:nvSpPr>
        <p:spPr>
          <a:xfrm>
            <a:off x="7918629" y="6186113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29" name="TextBox 33">
            <a:extLst>
              <a:ext uri="{FF2B5EF4-FFF2-40B4-BE49-F238E27FC236}">
                <a16:creationId xmlns:a16="http://schemas.microsoft.com/office/drawing/2014/main" id="{E222AB3C-5B7F-6D58-8079-1A371AD7AB81}"/>
              </a:ext>
            </a:extLst>
          </p:cNvPr>
          <p:cNvSpPr>
            <a:spLocks noGrp="1"/>
          </p:cNvSpPr>
          <p:nvPr/>
        </p:nvSpPr>
        <p:spPr>
          <a:xfrm>
            <a:off x="10343985" y="4543346"/>
            <a:ext cx="1351719" cy="338554"/>
          </a:xfrm>
          <a:custGeom>
            <a:avLst/>
            <a:gdLst>
              <a:gd name="csX0" fmla="*/ 0 w 1351719"/>
              <a:gd name="csY0" fmla="*/ 0 h 338554"/>
              <a:gd name="csX1" fmla="*/ 635308 w 1351719"/>
              <a:gd name="csY1" fmla="*/ 0 h 338554"/>
              <a:gd name="csX2" fmla="*/ 1351719 w 1351719"/>
              <a:gd name="csY2" fmla="*/ 0 h 338554"/>
              <a:gd name="csX3" fmla="*/ 1351719 w 1351719"/>
              <a:gd name="csY3" fmla="*/ 338554 h 338554"/>
              <a:gd name="csX4" fmla="*/ 648825 w 1351719"/>
              <a:gd name="csY4" fmla="*/ 338554 h 338554"/>
              <a:gd name="csX5" fmla="*/ 0 w 1351719"/>
              <a:gd name="csY5" fmla="*/ 338554 h 338554"/>
              <a:gd name="csX6" fmla="*/ 0 w 1351719"/>
              <a:gd name="csY6" fmla="*/ 0 h 338554"/>
            </a:gdLst>
            <a:ahLst/>
            <a:cxnLst/>
            <a:rect l="l" t="t" r="r" b="b"/>
            <a:pathLst>
              <a:path w="1351719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6608" y="-35665"/>
                  <a:pt x="1351719" y="0"/>
                </a:cubicBezTo>
                <a:cubicBezTo>
                  <a:pt x="1354532" y="77488"/>
                  <a:pt x="1351383" y="251748"/>
                  <a:pt x="1351719" y="338554"/>
                </a:cubicBezTo>
                <a:cubicBezTo>
                  <a:pt x="1126928" y="310424"/>
                  <a:pt x="985852" y="342082"/>
                  <a:pt x="648825" y="338554"/>
                </a:cubicBezTo>
                <a:cubicBezTo>
                  <a:pt x="311798" y="335026"/>
                  <a:pt x="265888" y="356446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19" h="338554">
                <a:moveTo>
                  <a:pt x="0" y="0"/>
                </a:moveTo>
                <a:cubicBezTo>
                  <a:pt x="159753" y="-29741"/>
                  <a:pt x="436147" y="14046"/>
                  <a:pt x="648825" y="0"/>
                </a:cubicBezTo>
                <a:cubicBezTo>
                  <a:pt x="861503" y="-14046"/>
                  <a:pt x="1171552" y="-28184"/>
                  <a:pt x="1351719" y="0"/>
                </a:cubicBezTo>
                <a:cubicBezTo>
                  <a:pt x="1366704" y="126099"/>
                  <a:pt x="1367511" y="215826"/>
                  <a:pt x="1351719" y="338554"/>
                </a:cubicBezTo>
                <a:cubicBezTo>
                  <a:pt x="1031547" y="314607"/>
                  <a:pt x="1003531" y="318399"/>
                  <a:pt x="662342" y="338554"/>
                </a:cubicBezTo>
                <a:cubicBezTo>
                  <a:pt x="321153" y="358709"/>
                  <a:pt x="164641" y="35830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Tokenization</a:t>
            </a: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F565E465-14D7-AC96-4BB8-C8E857DBA7A2}"/>
              </a:ext>
            </a:extLst>
          </p:cNvPr>
          <p:cNvSpPr>
            <a:spLocks noGrp="1"/>
          </p:cNvSpPr>
          <p:nvPr/>
        </p:nvSpPr>
        <p:spPr>
          <a:xfrm>
            <a:off x="10343984" y="5063157"/>
            <a:ext cx="1346605" cy="338554"/>
          </a:xfrm>
          <a:custGeom>
            <a:avLst/>
            <a:gdLst>
              <a:gd name="csX0" fmla="*/ 0 w 1346605"/>
              <a:gd name="csY0" fmla="*/ 0 h 338554"/>
              <a:gd name="csX1" fmla="*/ 632904 w 1346605"/>
              <a:gd name="csY1" fmla="*/ 0 h 338554"/>
              <a:gd name="csX2" fmla="*/ 1346605 w 1346605"/>
              <a:gd name="csY2" fmla="*/ 0 h 338554"/>
              <a:gd name="csX3" fmla="*/ 1346605 w 1346605"/>
              <a:gd name="csY3" fmla="*/ 338554 h 338554"/>
              <a:gd name="csX4" fmla="*/ 646370 w 1346605"/>
              <a:gd name="csY4" fmla="*/ 338554 h 338554"/>
              <a:gd name="csX5" fmla="*/ 0 w 1346605"/>
              <a:gd name="csY5" fmla="*/ 338554 h 338554"/>
              <a:gd name="csX6" fmla="*/ 0 w 1346605"/>
              <a:gd name="csY6" fmla="*/ 0 h 338554"/>
            </a:gdLst>
            <a:ahLst/>
            <a:cxnLst/>
            <a:rect l="l" t="t" r="r" b="b"/>
            <a:pathLst>
              <a:path w="1346605" h="338554">
                <a:moveTo>
                  <a:pt x="0" y="0"/>
                </a:moveTo>
                <a:cubicBezTo>
                  <a:pt x="253654" y="29217"/>
                  <a:pt x="356173" y="4834"/>
                  <a:pt x="632904" y="0"/>
                </a:cubicBezTo>
                <a:cubicBezTo>
                  <a:pt x="909635" y="-4834"/>
                  <a:pt x="1121379" y="26169"/>
                  <a:pt x="1346605" y="0"/>
                </a:cubicBezTo>
                <a:cubicBezTo>
                  <a:pt x="1349418" y="77488"/>
                  <a:pt x="1346269" y="251748"/>
                  <a:pt x="1346605" y="338554"/>
                </a:cubicBezTo>
                <a:cubicBezTo>
                  <a:pt x="1156298" y="318515"/>
                  <a:pt x="891539" y="357030"/>
                  <a:pt x="646370" y="338554"/>
                </a:cubicBezTo>
                <a:cubicBezTo>
                  <a:pt x="401201" y="320078"/>
                  <a:pt x="140549" y="357089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46605" h="338554">
                <a:moveTo>
                  <a:pt x="0" y="0"/>
                </a:moveTo>
                <a:cubicBezTo>
                  <a:pt x="133781" y="28092"/>
                  <a:pt x="482181" y="-20522"/>
                  <a:pt x="646370" y="0"/>
                </a:cubicBezTo>
                <a:cubicBezTo>
                  <a:pt x="810559" y="20522"/>
                  <a:pt x="1153150" y="29368"/>
                  <a:pt x="1346605" y="0"/>
                </a:cubicBezTo>
                <a:cubicBezTo>
                  <a:pt x="1361590" y="126099"/>
                  <a:pt x="1362397" y="215826"/>
                  <a:pt x="1346605" y="338554"/>
                </a:cubicBezTo>
                <a:cubicBezTo>
                  <a:pt x="1190988" y="358096"/>
                  <a:pt x="883384" y="335404"/>
                  <a:pt x="659836" y="338554"/>
                </a:cubicBezTo>
                <a:cubicBezTo>
                  <a:pt x="436288" y="341704"/>
                  <a:pt x="243431" y="341210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Embeddings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BCC5FE95-2FF8-7809-29D7-EE6C05FB86AD}"/>
              </a:ext>
            </a:extLst>
          </p:cNvPr>
          <p:cNvSpPr>
            <a:spLocks noGrp="1"/>
          </p:cNvSpPr>
          <p:nvPr/>
        </p:nvSpPr>
        <p:spPr>
          <a:xfrm>
            <a:off x="10346706" y="4029772"/>
            <a:ext cx="1351720" cy="338554"/>
          </a:xfrm>
          <a:custGeom>
            <a:avLst/>
            <a:gdLst>
              <a:gd name="csX0" fmla="*/ 0 w 1351720"/>
              <a:gd name="csY0" fmla="*/ 0 h 338554"/>
              <a:gd name="csX1" fmla="*/ 635308 w 1351720"/>
              <a:gd name="csY1" fmla="*/ 0 h 338554"/>
              <a:gd name="csX2" fmla="*/ 1351720 w 1351720"/>
              <a:gd name="csY2" fmla="*/ 0 h 338554"/>
              <a:gd name="csX3" fmla="*/ 1351720 w 1351720"/>
              <a:gd name="csY3" fmla="*/ 338554 h 338554"/>
              <a:gd name="csX4" fmla="*/ 648826 w 1351720"/>
              <a:gd name="csY4" fmla="*/ 338554 h 338554"/>
              <a:gd name="csX5" fmla="*/ 0 w 1351720"/>
              <a:gd name="csY5" fmla="*/ 338554 h 338554"/>
              <a:gd name="csX6" fmla="*/ 0 w 1351720"/>
              <a:gd name="csY6" fmla="*/ 0 h 338554"/>
            </a:gdLst>
            <a:ahLst/>
            <a:cxnLst/>
            <a:rect l="l" t="t" r="r" b="b"/>
            <a:pathLst>
              <a:path w="1351720" h="338554">
                <a:moveTo>
                  <a:pt x="0" y="0"/>
                </a:moveTo>
                <a:cubicBezTo>
                  <a:pt x="143396" y="-25832"/>
                  <a:pt x="453550" y="4788"/>
                  <a:pt x="635308" y="0"/>
                </a:cubicBezTo>
                <a:cubicBezTo>
                  <a:pt x="817066" y="-4788"/>
                  <a:pt x="1054450" y="34900"/>
                  <a:pt x="1351720" y="0"/>
                </a:cubicBezTo>
                <a:cubicBezTo>
                  <a:pt x="1354533" y="77488"/>
                  <a:pt x="1351384" y="251748"/>
                  <a:pt x="1351720" y="338554"/>
                </a:cubicBezTo>
                <a:cubicBezTo>
                  <a:pt x="1126929" y="310424"/>
                  <a:pt x="985853" y="342082"/>
                  <a:pt x="648826" y="338554"/>
                </a:cubicBezTo>
                <a:cubicBezTo>
                  <a:pt x="311799" y="335026"/>
                  <a:pt x="271547" y="361133"/>
                  <a:pt x="0" y="338554"/>
                </a:cubicBezTo>
                <a:cubicBezTo>
                  <a:pt x="-4482" y="202414"/>
                  <a:pt x="1032" y="167563"/>
                  <a:pt x="0" y="0"/>
                </a:cubicBezTo>
                <a:close/>
              </a:path>
              <a:path w="1351720" h="338554">
                <a:moveTo>
                  <a:pt x="0" y="0"/>
                </a:moveTo>
                <a:cubicBezTo>
                  <a:pt x="159052" y="28615"/>
                  <a:pt x="432890" y="8531"/>
                  <a:pt x="648826" y="0"/>
                </a:cubicBezTo>
                <a:cubicBezTo>
                  <a:pt x="864762" y="-8531"/>
                  <a:pt x="1171553" y="-28184"/>
                  <a:pt x="1351720" y="0"/>
                </a:cubicBezTo>
                <a:cubicBezTo>
                  <a:pt x="1366705" y="126099"/>
                  <a:pt x="1367512" y="215826"/>
                  <a:pt x="1351720" y="338554"/>
                </a:cubicBezTo>
                <a:cubicBezTo>
                  <a:pt x="1031548" y="314607"/>
                  <a:pt x="1003532" y="318399"/>
                  <a:pt x="662343" y="338554"/>
                </a:cubicBezTo>
                <a:cubicBezTo>
                  <a:pt x="321154" y="358709"/>
                  <a:pt x="166031" y="362599"/>
                  <a:pt x="0" y="338554"/>
                </a:cubicBezTo>
                <a:cubicBezTo>
                  <a:pt x="5968" y="234824"/>
                  <a:pt x="-14161" y="139561"/>
                  <a:pt x="0" y="0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anchor="t">
            <a:spAutoFit/>
          </a:bodyPr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600"/>
              <a:t>Hardware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3B67FE26-BA0B-EB7C-E6DF-06FE55609F80}"/>
              </a:ext>
            </a:extLst>
          </p:cNvPr>
          <p:cNvSpPr>
            <a:spLocks noGrp="1"/>
          </p:cNvSpPr>
          <p:nvPr/>
        </p:nvSpPr>
        <p:spPr>
          <a:xfrm>
            <a:off x="8031139" y="439106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3483E34-C09F-DF87-AF53-2A6AFB5409B4}"/>
              </a:ext>
            </a:extLst>
          </p:cNvPr>
          <p:cNvSpPr>
            <a:spLocks noGrp="1"/>
          </p:cNvSpPr>
          <p:nvPr/>
        </p:nvSpPr>
        <p:spPr>
          <a:xfrm>
            <a:off x="8470951" y="4815536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23D6165-3F28-EF25-0D10-05FC78F18519}"/>
              </a:ext>
            </a:extLst>
          </p:cNvPr>
          <p:cNvSpPr>
            <a:spLocks noGrp="1"/>
          </p:cNvSpPr>
          <p:nvPr/>
        </p:nvSpPr>
        <p:spPr>
          <a:xfrm>
            <a:off x="9974495" y="4068877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0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071CFCA2-49B3-8FF2-8AFB-2051C9ABDC0B}"/>
              </a:ext>
            </a:extLst>
          </p:cNvPr>
          <p:cNvSpPr>
            <a:spLocks noGrp="1"/>
          </p:cNvSpPr>
          <p:nvPr/>
        </p:nvSpPr>
        <p:spPr>
          <a:xfrm>
            <a:off x="9974494" y="4595629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1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924D63B4-71D9-DAC8-54D5-0543F2073663}"/>
              </a:ext>
            </a:extLst>
          </p:cNvPr>
          <p:cNvSpPr>
            <a:spLocks noGrp="1"/>
          </p:cNvSpPr>
          <p:nvPr/>
        </p:nvSpPr>
        <p:spPr>
          <a:xfrm>
            <a:off x="9974495" y="5112152"/>
            <a:ext cx="221952" cy="237294"/>
          </a:xfrm>
          <a:custGeom>
            <a:avLst/>
            <a:gdLst>
              <a:gd name="csX0" fmla="*/ 0 w 221952"/>
              <a:gd name="csY0" fmla="*/ 118647 h 237294"/>
              <a:gd name="csX1" fmla="*/ 110976 w 221952"/>
              <a:gd name="csY1" fmla="*/ 0 h 237294"/>
              <a:gd name="csX2" fmla="*/ 221952 w 221952"/>
              <a:gd name="csY2" fmla="*/ 118647 h 237294"/>
              <a:gd name="csX3" fmla="*/ 110976 w 221952"/>
              <a:gd name="csY3" fmla="*/ 237294 h 237294"/>
              <a:gd name="csX4" fmla="*/ 0 w 221952"/>
              <a:gd name="csY4" fmla="*/ 118647 h 237294"/>
            </a:gdLst>
            <a:ahLst/>
            <a:cxnLst/>
            <a:rect l="l" t="t" r="r" b="b"/>
            <a:pathLst>
              <a:path w="221952" h="237294">
                <a:moveTo>
                  <a:pt x="0" y="118647"/>
                </a:moveTo>
                <a:cubicBezTo>
                  <a:pt x="-1073" y="51741"/>
                  <a:pt x="45286" y="-3941"/>
                  <a:pt x="110976" y="0"/>
                </a:cubicBezTo>
                <a:cubicBezTo>
                  <a:pt x="181556" y="-10600"/>
                  <a:pt x="228892" y="60792"/>
                  <a:pt x="221952" y="118647"/>
                </a:cubicBezTo>
                <a:cubicBezTo>
                  <a:pt x="210669" y="188861"/>
                  <a:pt x="176239" y="229372"/>
                  <a:pt x="110976" y="237294"/>
                </a:cubicBezTo>
                <a:cubicBezTo>
                  <a:pt x="55130" y="237772"/>
                  <a:pt x="-374" y="186746"/>
                  <a:pt x="0" y="118647"/>
                </a:cubicBezTo>
                <a:close/>
              </a:path>
              <a:path w="221952" h="237294">
                <a:moveTo>
                  <a:pt x="0" y="118647"/>
                </a:moveTo>
                <a:cubicBezTo>
                  <a:pt x="-2353" y="45735"/>
                  <a:pt x="36539" y="1132"/>
                  <a:pt x="110976" y="0"/>
                </a:cubicBezTo>
                <a:cubicBezTo>
                  <a:pt x="171325" y="1311"/>
                  <a:pt x="220694" y="51798"/>
                  <a:pt x="221952" y="118647"/>
                </a:cubicBezTo>
                <a:cubicBezTo>
                  <a:pt x="226735" y="192259"/>
                  <a:pt x="180310" y="239462"/>
                  <a:pt x="110976" y="237294"/>
                </a:cubicBezTo>
                <a:cubicBezTo>
                  <a:pt x="47513" y="238802"/>
                  <a:pt x="-5168" y="179523"/>
                  <a:pt x="0" y="118647"/>
                </a:cubicBezTo>
                <a:close/>
              </a:path>
            </a:pathLst>
          </a:custGeom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ctr"/>
          <a:lstStyle>
            <a:lvl1pPr marL="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46E7-4582-3D11-00DA-160C715F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MU Serif Roman"/>
                <a:ea typeface="CMU Serif Roman"/>
                <a:cs typeface="CMU Serif Roman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2D7C-5A3E-9979-1F34-9306A148C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dirty="0">
                <a:latin typeface="CMU Serif Roman"/>
                <a:ea typeface="CMU Serif Roman"/>
                <a:cs typeface="CMU Serif Roman"/>
              </a:rPr>
              <a:t>Why?</a:t>
            </a:r>
          </a:p>
          <a:p>
            <a:r>
              <a:rPr dirty="0">
                <a:latin typeface="CMU Serif Roman"/>
                <a:ea typeface="CMU Serif Roman"/>
                <a:cs typeface="CMU Serif Roman"/>
              </a:rPr>
              <a:t>One-hot encodings</a:t>
            </a:r>
          </a:p>
          <a:p>
            <a:r>
              <a:rPr dirty="0">
                <a:latin typeface="CMU Serif Roman"/>
                <a:ea typeface="CMU Serif Roman"/>
                <a:cs typeface="CMU Serif Roman"/>
              </a:rPr>
              <a:t>word2vec</a:t>
            </a:r>
          </a:p>
          <a:p>
            <a:r>
              <a:rPr dirty="0">
                <a:latin typeface="CMU Serif Roman"/>
                <a:ea typeface="CMU Serif Roman"/>
                <a:cs typeface="CMU Serif Roman"/>
              </a:rPr>
              <a:t>Neural embeddings</a:t>
            </a:r>
          </a:p>
        </p:txBody>
      </p:sp>
    </p:spTree>
    <p:extLst>
      <p:ext uri="{BB962C8B-B14F-4D97-AF65-F5344CB8AC3E}">
        <p14:creationId xmlns:p14="http://schemas.microsoft.com/office/powerpoint/2010/main" val="219547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3F18-2B5F-2484-32C4-5C4AEEAB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even want "embeddings"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0759-24B3-6ACF-AE7F-3832EE216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Currently, we have numbers that we can feed into a model</a:t>
            </a:r>
          </a:p>
          <a:p>
            <a:pPr marL="0" indent="0" algn="ctr">
              <a:buNone/>
            </a:pP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{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'cat'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 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0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'mat'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 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1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'on'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 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2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'sat'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 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3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, </a:t>
            </a:r>
            <a:r>
              <a:rPr sz="1200">
                <a:solidFill>
                  <a:srgbClr val="9325A5"/>
                </a:solidFill>
                <a:latin typeface="Source Code Pro"/>
                <a:ea typeface="Source Code Pro"/>
                <a:cs typeface="Source Code Pro"/>
              </a:rPr>
              <a:t>'the'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: </a:t>
            </a:r>
            <a:r>
              <a:rPr sz="1200">
                <a:solidFill>
                  <a:srgbClr val="0B7743"/>
                </a:solidFill>
                <a:latin typeface="Source Code Pro"/>
                <a:ea typeface="Source Code Pro"/>
                <a:cs typeface="Source Code Pro"/>
              </a:rPr>
              <a:t>4</a:t>
            </a:r>
            <a:r>
              <a:rPr sz="1200">
                <a:solidFill>
                  <a:srgbClr val="666666"/>
                </a:solidFill>
                <a:latin typeface="Source Code Pro"/>
                <a:ea typeface="Source Code Pro"/>
                <a:cs typeface="Source Code Pro"/>
              </a:rPr>
              <a:t>}</a:t>
            </a:r>
            <a:endParaRPr/>
          </a:p>
          <a:p>
            <a:r>
              <a:t>These numbers are discrete</a:t>
            </a:r>
          </a:p>
          <a:p>
            <a:r>
              <a:t>We can't actually apply attention to these numbers</a:t>
            </a:r>
          </a:p>
          <a:p>
            <a:r>
              <a:t>We need to do things like:</a:t>
            </a:r>
          </a:p>
          <a:p>
            <a:pPr lvl="2">
              <a:buFont typeface="Wingdings"/>
              <a:buChar char="§"/>
            </a:pPr>
            <a:r>
              <a:t>Capture relationships between concepts</a:t>
            </a:r>
          </a:p>
          <a:p>
            <a:pPr lvl="2">
              <a:buFont typeface="Wingdings"/>
              <a:buChar char="§"/>
            </a:pPr>
            <a:r>
              <a:t>Combine concepts meaningfully</a:t>
            </a:r>
          </a:p>
          <a:p>
            <a:pPr lvl="2">
              <a:buFont typeface="Wingdings"/>
              <a:buChar char="§"/>
            </a:pPr>
            <a:r>
              <a:t>Generalize to unfamiliar contexts</a:t>
            </a:r>
          </a:p>
          <a:p>
            <a:pPr lvl="2">
              <a:buFont typeface="Wingdings"/>
              <a:buChar char="§"/>
            </a:pPr>
            <a:endParaRPr/>
          </a:p>
          <a:p>
            <a:pPr marL="0" indent="0" algn="ctr">
              <a:buNone/>
            </a:pPr>
            <a:r>
              <a:rPr b="1" i="1"/>
              <a:t>We need some vectors</a:t>
            </a:r>
          </a:p>
          <a:p>
            <a:pPr lvl="2">
              <a:buFont typeface="Wingdings"/>
              <a:buChar char="§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64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70C0-DAFB-9027-5A05-9013E225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640CD-7010-35B2-A656-D450E9B2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Vectors are just arrows in space</a:t>
            </a:r>
          </a:p>
        </p:txBody>
      </p:sp>
      <p:cxnSp>
        <p:nvCxnSpPr>
          <p:cNvPr id="62" name="Google Shape;54;p13"/>
          <p:cNvCxnSpPr/>
          <p:nvPr/>
        </p:nvCxnSpPr>
        <p:spPr>
          <a:xfrm rot="10800000">
            <a:off x="6572756" y="1309387"/>
            <a:ext cx="0" cy="4429549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55;p13"/>
          <p:cNvCxnSpPr/>
          <p:nvPr/>
        </p:nvCxnSpPr>
        <p:spPr>
          <a:xfrm flipV="1">
            <a:off x="6560681" y="5736736"/>
            <a:ext cx="4533898" cy="4402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2C0C3729-251C-8B37-1EA8-224972C93253}"/>
              </a:ext>
            </a:extLst>
          </p:cNvPr>
          <p:cNvSpPr>
            <a:spLocks noGrp="1"/>
          </p:cNvSpPr>
          <p:nvPr/>
        </p:nvSpPr>
        <p:spPr>
          <a:xfrm>
            <a:off x="11025356" y="5555665"/>
            <a:ext cx="314700" cy="27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9" name="Google Shape;57;p13">
            <a:extLst>
              <a:ext uri="{FF2B5EF4-FFF2-40B4-BE49-F238E27FC236}">
                <a16:creationId xmlns:a16="http://schemas.microsoft.com/office/drawing/2014/main" id="{C4F7F3B6-2FB2-D969-49F6-94C86B113313}"/>
              </a:ext>
            </a:extLst>
          </p:cNvPr>
          <p:cNvSpPr>
            <a:spLocks noGrp="1"/>
          </p:cNvSpPr>
          <p:nvPr/>
        </p:nvSpPr>
        <p:spPr>
          <a:xfrm>
            <a:off x="6098464" y="1034517"/>
            <a:ext cx="314700" cy="27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66" name="Google Shape;58;p13"/>
          <p:cNvCxnSpPr/>
          <p:nvPr/>
        </p:nvCxnSpPr>
        <p:spPr>
          <a:xfrm rot="10800000" flipH="1">
            <a:off x="6572756" y="3753369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59;p13"/>
          <p:cNvCxnSpPr/>
          <p:nvPr/>
        </p:nvCxnSpPr>
        <p:spPr>
          <a:xfrm rot="10800000" flipH="1">
            <a:off x="6572756" y="4738542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60;p13">
            <a:extLst>
              <a:ext uri="{FF2B5EF4-FFF2-40B4-BE49-F238E27FC236}">
                <a16:creationId xmlns:a16="http://schemas.microsoft.com/office/drawing/2014/main" id="{0E370166-E882-9068-753B-E18291762911}"/>
              </a:ext>
            </a:extLst>
          </p:cNvPr>
          <p:cNvSpPr>
            <a:spLocks noGrp="1"/>
          </p:cNvSpPr>
          <p:nvPr/>
        </p:nvSpPr>
        <p:spPr>
          <a:xfrm>
            <a:off x="7989206" y="3457252"/>
            <a:ext cx="1697944" cy="46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A 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x1, y1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sp>
        <p:nvSpPr>
          <p:cNvPr id="13" name="Google Shape;61;p13">
            <a:extLst>
              <a:ext uri="{FF2B5EF4-FFF2-40B4-BE49-F238E27FC236}">
                <a16:creationId xmlns:a16="http://schemas.microsoft.com/office/drawing/2014/main" id="{493C11C9-8D92-319E-AA4F-6B1C31AF74B5}"/>
              </a:ext>
            </a:extLst>
          </p:cNvPr>
          <p:cNvSpPr>
            <a:spLocks noGrp="1"/>
          </p:cNvSpPr>
          <p:nvPr/>
        </p:nvSpPr>
        <p:spPr>
          <a:xfrm>
            <a:off x="8771357" y="4512917"/>
            <a:ext cx="1728823" cy="44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B 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x2, y2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cxnSp>
        <p:nvCxnSpPr>
          <p:cNvPr id="70" name="Google Shape;62;p13"/>
          <p:cNvCxnSpPr/>
          <p:nvPr/>
        </p:nvCxnSpPr>
        <p:spPr>
          <a:xfrm>
            <a:off x="6569006" y="3753369"/>
            <a:ext cx="1420200" cy="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1" name="Google Shape;63;p13"/>
          <p:cNvCxnSpPr/>
          <p:nvPr/>
        </p:nvCxnSpPr>
        <p:spPr>
          <a:xfrm flipH="1">
            <a:off x="7974956" y="3753369"/>
            <a:ext cx="10500" cy="1963184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" name="Google Shape;64;p13"/>
          <p:cNvCxnSpPr/>
          <p:nvPr/>
        </p:nvCxnSpPr>
        <p:spPr>
          <a:xfrm>
            <a:off x="6587431" y="4732673"/>
            <a:ext cx="2150100" cy="5968"/>
          </a:xfrm>
          <a:prstGeom prst="straightConnector1">
            <a:avLst/>
          </a:prstGeom>
          <a:ln w="9525" cap="flat">
            <a:solidFill>
              <a:srgbClr val="98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Google Shape;65;p13"/>
          <p:cNvCxnSpPr/>
          <p:nvPr/>
        </p:nvCxnSpPr>
        <p:spPr>
          <a:xfrm>
            <a:off x="8737531" y="4732673"/>
            <a:ext cx="3900" cy="1006661"/>
          </a:xfrm>
          <a:prstGeom prst="straightConnector1">
            <a:avLst/>
          </a:prstGeom>
          <a:ln w="9525" cap="flat">
            <a:solidFill>
              <a:srgbClr val="980000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196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FD81-EEC1-D33F-5C2C-E31ECF97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6735-0309-177E-1CA9-F47F41B5A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We can add them...</a:t>
            </a:r>
          </a:p>
        </p:txBody>
      </p:sp>
      <p:cxnSp>
        <p:nvCxnSpPr>
          <p:cNvPr id="55" name="Google Shape;70;p14"/>
          <p:cNvCxnSpPr/>
          <p:nvPr/>
        </p:nvCxnSpPr>
        <p:spPr>
          <a:xfrm rot="10800000">
            <a:off x="6572953" y="1309387"/>
            <a:ext cx="0" cy="4429548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72;p14">
            <a:extLst>
              <a:ext uri="{FF2B5EF4-FFF2-40B4-BE49-F238E27FC236}">
                <a16:creationId xmlns:a16="http://schemas.microsoft.com/office/drawing/2014/main" id="{BBE2BABC-30B3-C26E-76CD-F37C4DFAA5E8}"/>
              </a:ext>
            </a:extLst>
          </p:cNvPr>
          <p:cNvSpPr>
            <a:spLocks noGrp="1"/>
          </p:cNvSpPr>
          <p:nvPr/>
        </p:nvSpPr>
        <p:spPr>
          <a:xfrm>
            <a:off x="11025553" y="5555663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9" name="Google Shape;73;p14">
            <a:extLst>
              <a:ext uri="{FF2B5EF4-FFF2-40B4-BE49-F238E27FC236}">
                <a16:creationId xmlns:a16="http://schemas.microsoft.com/office/drawing/2014/main" id="{80F003A8-79F7-6B98-9144-F72037EEDAD6}"/>
              </a:ext>
            </a:extLst>
          </p:cNvPr>
          <p:cNvSpPr>
            <a:spLocks noGrp="1"/>
          </p:cNvSpPr>
          <p:nvPr/>
        </p:nvSpPr>
        <p:spPr>
          <a:xfrm>
            <a:off x="6098417" y="1034517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58" name="Google Shape;74;p14"/>
          <p:cNvCxnSpPr/>
          <p:nvPr/>
        </p:nvCxnSpPr>
        <p:spPr>
          <a:xfrm rot="10800000" flipH="1">
            <a:off x="6572953" y="3753368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75;p14"/>
          <p:cNvCxnSpPr/>
          <p:nvPr/>
        </p:nvCxnSpPr>
        <p:spPr>
          <a:xfrm rot="10800000" flipH="1">
            <a:off x="7985653" y="2752974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76;p14">
            <a:extLst>
              <a:ext uri="{FF2B5EF4-FFF2-40B4-BE49-F238E27FC236}">
                <a16:creationId xmlns:a16="http://schemas.microsoft.com/office/drawing/2014/main" id="{CD428300-1448-C97B-83B7-000438C8A294}"/>
              </a:ext>
            </a:extLst>
          </p:cNvPr>
          <p:cNvSpPr>
            <a:spLocks noGrp="1"/>
          </p:cNvSpPr>
          <p:nvPr/>
        </p:nvSpPr>
        <p:spPr>
          <a:xfrm>
            <a:off x="8150745" y="2111572"/>
            <a:ext cx="3923702" cy="44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2"/>
                </a:solidFill>
                <a:latin typeface="Constantia"/>
                <a:ea typeface="Constantia"/>
                <a:cs typeface="Constantia"/>
              </a:rPr>
              <a:t>A + B 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→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>
                <a:solidFill>
                  <a:schemeClr val="accent2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x1 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+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x2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,</a:t>
            </a:r>
            <a:r>
              <a:rPr sz="2400" i="1">
                <a:solidFill>
                  <a:schemeClr val="accent4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y1 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+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y2</a:t>
            </a:r>
            <a:r>
              <a:rPr sz="2400">
                <a:solidFill>
                  <a:schemeClr val="accent2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cxnSp>
        <p:nvCxnSpPr>
          <p:cNvPr id="61" name="Google Shape;77;p14"/>
          <p:cNvCxnSpPr/>
          <p:nvPr/>
        </p:nvCxnSpPr>
        <p:spPr>
          <a:xfrm rot="10800000" flipH="1">
            <a:off x="6572953" y="4738541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78;p14"/>
          <p:cNvCxnSpPr/>
          <p:nvPr/>
        </p:nvCxnSpPr>
        <p:spPr>
          <a:xfrm rot="10800000" flipH="1">
            <a:off x="8737753" y="2752974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79;p14"/>
          <p:cNvCxnSpPr/>
          <p:nvPr/>
        </p:nvCxnSpPr>
        <p:spPr>
          <a:xfrm rot="10800000" flipH="1">
            <a:off x="6572953" y="2765210"/>
            <a:ext cx="3571500" cy="2973724"/>
          </a:xfrm>
          <a:prstGeom prst="straightConnector1">
            <a:avLst/>
          </a:prstGeom>
          <a:ln w="28575" cap="flat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55;p13"/>
          <p:cNvCxnSpPr/>
          <p:nvPr/>
        </p:nvCxnSpPr>
        <p:spPr>
          <a:xfrm flipV="1">
            <a:off x="6560878" y="5736734"/>
            <a:ext cx="4533898" cy="4402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1553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CCCB-F107-D971-7FE3-0C31B4FD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C31E-B6A0-CE31-88E6-2F83ED0A7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636" cy="4351338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We can find distances between them...</a:t>
            </a:r>
          </a:p>
        </p:txBody>
      </p:sp>
      <p:cxnSp>
        <p:nvCxnSpPr>
          <p:cNvPr id="76" name="Google Shape;84;p15"/>
          <p:cNvCxnSpPr/>
          <p:nvPr/>
        </p:nvCxnSpPr>
        <p:spPr>
          <a:xfrm rot="10800000">
            <a:off x="6572716" y="1309387"/>
            <a:ext cx="0" cy="4429549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86;p15">
            <a:extLst>
              <a:ext uri="{FF2B5EF4-FFF2-40B4-BE49-F238E27FC236}">
                <a16:creationId xmlns:a16="http://schemas.microsoft.com/office/drawing/2014/main" id="{FE2C5A69-A412-667F-E88B-96068EABA18C}"/>
              </a:ext>
            </a:extLst>
          </p:cNvPr>
          <p:cNvSpPr>
            <a:spLocks noGrp="1"/>
          </p:cNvSpPr>
          <p:nvPr/>
        </p:nvSpPr>
        <p:spPr>
          <a:xfrm>
            <a:off x="11025316" y="5555664"/>
            <a:ext cx="314700" cy="27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10" name="Google Shape;87;p15">
            <a:extLst>
              <a:ext uri="{FF2B5EF4-FFF2-40B4-BE49-F238E27FC236}">
                <a16:creationId xmlns:a16="http://schemas.microsoft.com/office/drawing/2014/main" id="{3396ACAF-AAD1-D9C6-C9DC-73C16DFE6CCA}"/>
              </a:ext>
            </a:extLst>
          </p:cNvPr>
          <p:cNvSpPr>
            <a:spLocks noGrp="1"/>
          </p:cNvSpPr>
          <p:nvPr/>
        </p:nvSpPr>
        <p:spPr>
          <a:xfrm>
            <a:off x="6098471" y="1034517"/>
            <a:ext cx="314700" cy="27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79" name="Google Shape;88;p15"/>
          <p:cNvCxnSpPr/>
          <p:nvPr/>
        </p:nvCxnSpPr>
        <p:spPr>
          <a:xfrm rot="10800000" flipH="1">
            <a:off x="6572716" y="3753368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9;p15"/>
          <p:cNvCxnSpPr/>
          <p:nvPr/>
        </p:nvCxnSpPr>
        <p:spPr>
          <a:xfrm rot="10800000" flipH="1">
            <a:off x="6572716" y="4738542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89952CBE-33F5-76CF-667C-E4E4EC081D55}"/>
              </a:ext>
            </a:extLst>
          </p:cNvPr>
          <p:cNvSpPr>
            <a:spLocks noGrp="1"/>
          </p:cNvSpPr>
          <p:nvPr/>
        </p:nvSpPr>
        <p:spPr>
          <a:xfrm>
            <a:off x="7989167" y="3444551"/>
            <a:ext cx="1672281" cy="48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A 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x1, y1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sp>
        <p:nvSpPr>
          <p:cNvPr id="14" name="Google Shape;91;p15">
            <a:extLst>
              <a:ext uri="{FF2B5EF4-FFF2-40B4-BE49-F238E27FC236}">
                <a16:creationId xmlns:a16="http://schemas.microsoft.com/office/drawing/2014/main" id="{F2C46CE6-285C-6740-2EE6-763E3A7D60AD}"/>
              </a:ext>
            </a:extLst>
          </p:cNvPr>
          <p:cNvSpPr>
            <a:spLocks noGrp="1"/>
          </p:cNvSpPr>
          <p:nvPr/>
        </p:nvSpPr>
        <p:spPr>
          <a:xfrm>
            <a:off x="8752166" y="4512916"/>
            <a:ext cx="1786145" cy="44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B 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x2, y2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cxnSp>
        <p:nvCxnSpPr>
          <p:cNvPr id="83" name="Google Shape;92;p15"/>
          <p:cNvCxnSpPr/>
          <p:nvPr/>
        </p:nvCxnSpPr>
        <p:spPr>
          <a:xfrm>
            <a:off x="6568966" y="3753368"/>
            <a:ext cx="1420200" cy="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93;p15"/>
          <p:cNvCxnSpPr/>
          <p:nvPr/>
        </p:nvCxnSpPr>
        <p:spPr>
          <a:xfrm flipH="1">
            <a:off x="7974916" y="3753368"/>
            <a:ext cx="10500" cy="1963183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94;p15"/>
          <p:cNvCxnSpPr/>
          <p:nvPr/>
        </p:nvCxnSpPr>
        <p:spPr>
          <a:xfrm>
            <a:off x="6587391" y="4732672"/>
            <a:ext cx="2150100" cy="5968"/>
          </a:xfrm>
          <a:prstGeom prst="straightConnector1">
            <a:avLst/>
          </a:prstGeom>
          <a:ln w="9525" cap="flat">
            <a:solidFill>
              <a:srgbClr val="98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6" name="Google Shape;95;p15"/>
          <p:cNvCxnSpPr/>
          <p:nvPr/>
        </p:nvCxnSpPr>
        <p:spPr>
          <a:xfrm>
            <a:off x="8737491" y="4732672"/>
            <a:ext cx="3900" cy="1006661"/>
          </a:xfrm>
          <a:prstGeom prst="straightConnector1">
            <a:avLst/>
          </a:prstGeom>
          <a:ln w="9525" cap="flat">
            <a:solidFill>
              <a:srgbClr val="98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Google Shape;96;p15">
            <a:extLst>
              <a:ext uri="{FF2B5EF4-FFF2-40B4-BE49-F238E27FC236}">
                <a16:creationId xmlns:a16="http://schemas.microsoft.com/office/drawing/2014/main" id="{D25D934B-8107-CEC0-4E11-648818812C16}"/>
              </a:ext>
            </a:extLst>
          </p:cNvPr>
          <p:cNvSpPr>
            <a:spLocks noGrp="1"/>
          </p:cNvSpPr>
          <p:nvPr/>
        </p:nvSpPr>
        <p:spPr>
          <a:xfrm>
            <a:off x="7047316" y="5075836"/>
            <a:ext cx="252950" cy="323097"/>
          </a:xfrm>
          <a:custGeom>
            <a:avLst/>
            <a:gdLst/>
            <a:ahLst/>
            <a:cxnLst/>
            <a:rect l="l" t="t" r="r" b="b"/>
            <a:pathLst>
              <a:path w="10118" h="11958">
                <a:moveTo>
                  <a:pt x="0" y="0"/>
                </a:moveTo>
                <a:cubicBezTo>
                  <a:pt x="1124" y="613"/>
                  <a:pt x="5060" y="1686"/>
                  <a:pt x="6746" y="3679"/>
                </a:cubicBezTo>
                <a:cubicBezTo>
                  <a:pt x="8432" y="5672"/>
                  <a:pt x="9556" y="10578"/>
                  <a:pt x="10118" y="11958"/>
                </a:cubicBezTo>
              </a:path>
            </a:pathLst>
          </a:custGeom>
          <a:noFill/>
          <a:ln w="9525" cmpd="sng">
            <a:solidFill>
              <a:schemeClr val="dk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0" name="Google Shape;97;p15">
            <a:extLst>
              <a:ext uri="{FF2B5EF4-FFF2-40B4-BE49-F238E27FC236}">
                <a16:creationId xmlns:a16="http://schemas.microsoft.com/office/drawing/2014/main" id="{4C59E7D1-3937-9DCB-8E81-A3C3BC8338EA}"/>
              </a:ext>
            </a:extLst>
          </p:cNvPr>
          <p:cNvSpPr>
            <a:spLocks noGrp="1"/>
          </p:cNvSpPr>
          <p:nvPr/>
        </p:nvSpPr>
        <p:spPr>
          <a:xfrm>
            <a:off x="7173902" y="4804849"/>
            <a:ext cx="314700" cy="40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θ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</a:endParaRPr>
          </a:p>
        </p:txBody>
      </p:sp>
      <p:sp>
        <p:nvSpPr>
          <p:cNvPr id="21" name="Google Shape;98;p15">
            <a:extLst>
              <a:ext uri="{FF2B5EF4-FFF2-40B4-BE49-F238E27FC236}">
                <a16:creationId xmlns:a16="http://schemas.microsoft.com/office/drawing/2014/main" id="{01D3463B-D7E8-4F01-65FF-F4EB19CDC97E}"/>
              </a:ext>
            </a:extLst>
          </p:cNvPr>
          <p:cNvSpPr>
            <a:spLocks noGrp="1"/>
          </p:cNvSpPr>
          <p:nvPr/>
        </p:nvSpPr>
        <p:spPr>
          <a:xfrm>
            <a:off x="8254415" y="2162771"/>
            <a:ext cx="3484201" cy="64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A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ᐧ 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B</a:t>
            </a:r>
            <a:r>
              <a:rPr sz="24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 = </a:t>
            </a:r>
            <a:r>
              <a:rPr sz="25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‖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A</a:t>
            </a:r>
            <a:r>
              <a:rPr sz="25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‖‖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B</a:t>
            </a:r>
            <a:r>
              <a:rPr sz="25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‖ </a:t>
            </a:r>
            <a:r>
              <a:rPr sz="2400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cos 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θ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</a:endParaRPr>
          </a:p>
        </p:txBody>
      </p:sp>
      <p:cxnSp>
        <p:nvCxnSpPr>
          <p:cNvPr id="90" name="Google Shape;55;p13"/>
          <p:cNvCxnSpPr/>
          <p:nvPr/>
        </p:nvCxnSpPr>
        <p:spPr>
          <a:xfrm flipV="1">
            <a:off x="6560641" y="5736735"/>
            <a:ext cx="4533898" cy="4402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14154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B2FD-74A2-240E-A4CB-54523E1F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CE0A-316F-8413-BF5B-B780D67F6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636" cy="4351338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Wouldn't it be nice if we could do the same with words and concepts...?</a:t>
            </a:r>
          </a:p>
        </p:txBody>
      </p:sp>
      <p:cxnSp>
        <p:nvCxnSpPr>
          <p:cNvPr id="69" name="Google Shape;84;p15"/>
          <p:cNvCxnSpPr/>
          <p:nvPr/>
        </p:nvCxnSpPr>
        <p:spPr>
          <a:xfrm rot="10800000">
            <a:off x="6572716" y="1309387"/>
            <a:ext cx="0" cy="4429549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86;p15">
            <a:extLst>
              <a:ext uri="{FF2B5EF4-FFF2-40B4-BE49-F238E27FC236}">
                <a16:creationId xmlns:a16="http://schemas.microsoft.com/office/drawing/2014/main" id="{D6B71E0D-0424-ED13-1C94-5BFADCCA1AC6}"/>
              </a:ext>
            </a:extLst>
          </p:cNvPr>
          <p:cNvSpPr>
            <a:spLocks noGrp="1"/>
          </p:cNvSpPr>
          <p:nvPr/>
        </p:nvSpPr>
        <p:spPr>
          <a:xfrm>
            <a:off x="11025316" y="5555664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10" name="Google Shape;87;p15">
            <a:extLst>
              <a:ext uri="{FF2B5EF4-FFF2-40B4-BE49-F238E27FC236}">
                <a16:creationId xmlns:a16="http://schemas.microsoft.com/office/drawing/2014/main" id="{A99FFDE7-9A3A-2373-B775-46823076A827}"/>
              </a:ext>
            </a:extLst>
          </p:cNvPr>
          <p:cNvSpPr>
            <a:spLocks noGrp="1"/>
          </p:cNvSpPr>
          <p:nvPr/>
        </p:nvSpPr>
        <p:spPr>
          <a:xfrm>
            <a:off x="6098471" y="1034517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72" name="Google Shape;88;p15"/>
          <p:cNvCxnSpPr/>
          <p:nvPr/>
        </p:nvCxnSpPr>
        <p:spPr>
          <a:xfrm rot="10800000" flipH="1">
            <a:off x="6572716" y="3753368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89;p15"/>
          <p:cNvCxnSpPr/>
          <p:nvPr/>
        </p:nvCxnSpPr>
        <p:spPr>
          <a:xfrm rot="10800000" flipH="1">
            <a:off x="6572716" y="4738542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FD31A98A-D681-9219-E74D-9D94C39C7E71}"/>
              </a:ext>
            </a:extLst>
          </p:cNvPr>
          <p:cNvSpPr>
            <a:spLocks noGrp="1"/>
          </p:cNvSpPr>
          <p:nvPr/>
        </p:nvSpPr>
        <p:spPr>
          <a:xfrm>
            <a:off x="7989167" y="3444551"/>
            <a:ext cx="1672281" cy="48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cat</a:t>
            </a:r>
            <a:endParaRPr sz="2400">
              <a:solidFill>
                <a:schemeClr val="accent1"/>
              </a:solidFill>
              <a:latin typeface="Constantia"/>
              <a:ea typeface="Constantia"/>
              <a:cs typeface="Constantia"/>
            </a:endParaRPr>
          </a:p>
        </p:txBody>
      </p:sp>
      <p:sp>
        <p:nvSpPr>
          <p:cNvPr id="14" name="Google Shape;91;p15">
            <a:extLst>
              <a:ext uri="{FF2B5EF4-FFF2-40B4-BE49-F238E27FC236}">
                <a16:creationId xmlns:a16="http://schemas.microsoft.com/office/drawing/2014/main" id="{24391474-77F4-D1CD-C8CD-63D71CDDE159}"/>
              </a:ext>
            </a:extLst>
          </p:cNvPr>
          <p:cNvSpPr>
            <a:spLocks noGrp="1"/>
          </p:cNvSpPr>
          <p:nvPr/>
        </p:nvSpPr>
        <p:spPr>
          <a:xfrm>
            <a:off x="8759864" y="4520613"/>
            <a:ext cx="2009356" cy="467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fluffy</a:t>
            </a:r>
            <a:endParaRPr sz="2400">
              <a:solidFill>
                <a:srgbClr val="980000"/>
              </a:solidFill>
              <a:latin typeface="Constantia"/>
              <a:ea typeface="Constantia"/>
              <a:cs typeface="Constantia"/>
            </a:endParaRPr>
          </a:p>
        </p:txBody>
      </p:sp>
      <p:sp>
        <p:nvSpPr>
          <p:cNvPr id="19" name="Google Shape;96;p15">
            <a:extLst>
              <a:ext uri="{FF2B5EF4-FFF2-40B4-BE49-F238E27FC236}">
                <a16:creationId xmlns:a16="http://schemas.microsoft.com/office/drawing/2014/main" id="{660DA9ED-45B5-8DC9-15AF-8CE2294DEEF5}"/>
              </a:ext>
            </a:extLst>
          </p:cNvPr>
          <p:cNvSpPr>
            <a:spLocks noGrp="1"/>
          </p:cNvSpPr>
          <p:nvPr/>
        </p:nvSpPr>
        <p:spPr>
          <a:xfrm>
            <a:off x="7047316" y="5075836"/>
            <a:ext cx="252950" cy="323098"/>
          </a:xfrm>
          <a:custGeom>
            <a:avLst/>
            <a:gdLst/>
            <a:ahLst/>
            <a:cxnLst/>
            <a:rect l="l" t="t" r="r" b="b"/>
            <a:pathLst>
              <a:path w="10118" h="11958">
                <a:moveTo>
                  <a:pt x="0" y="0"/>
                </a:moveTo>
                <a:cubicBezTo>
                  <a:pt x="1124" y="613"/>
                  <a:pt x="5060" y="1686"/>
                  <a:pt x="6746" y="3679"/>
                </a:cubicBezTo>
                <a:cubicBezTo>
                  <a:pt x="8432" y="5672"/>
                  <a:pt x="9556" y="10578"/>
                  <a:pt x="10118" y="11958"/>
                </a:cubicBezTo>
              </a:path>
            </a:pathLst>
          </a:custGeom>
          <a:noFill/>
          <a:ln w="9525" cmpd="sng">
            <a:solidFill>
              <a:schemeClr val="dk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0" name="Google Shape;97;p15">
            <a:extLst>
              <a:ext uri="{FF2B5EF4-FFF2-40B4-BE49-F238E27FC236}">
                <a16:creationId xmlns:a16="http://schemas.microsoft.com/office/drawing/2014/main" id="{F38D9023-45FB-B965-9FCD-AF38D9B13512}"/>
              </a:ext>
            </a:extLst>
          </p:cNvPr>
          <p:cNvSpPr>
            <a:spLocks noGrp="1"/>
          </p:cNvSpPr>
          <p:nvPr/>
        </p:nvSpPr>
        <p:spPr>
          <a:xfrm>
            <a:off x="7173902" y="4804849"/>
            <a:ext cx="314700" cy="40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θ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</a:endParaRPr>
          </a:p>
        </p:txBody>
      </p:sp>
      <p:cxnSp>
        <p:nvCxnSpPr>
          <p:cNvPr id="78" name="Google Shape;55;p13"/>
          <p:cNvCxnSpPr/>
          <p:nvPr/>
        </p:nvCxnSpPr>
        <p:spPr>
          <a:xfrm flipV="1">
            <a:off x="6560641" y="5736735"/>
            <a:ext cx="4533898" cy="4402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9" name="Google Shape;117;p1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726" y="2808596"/>
            <a:ext cx="818050" cy="807168"/>
          </a:xfrm>
          <a:prstGeom prst="rect">
            <a:avLst/>
          </a:prstGeom>
          <a:ln>
            <a:noFill/>
          </a:ln>
        </p:spPr>
      </p:pic>
      <p:pic>
        <p:nvPicPr>
          <p:cNvPr id="80" name="Google Shape;118;p16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006" y="5005874"/>
            <a:ext cx="905784" cy="6471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718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2DBD-CE09-0186-C555-41DF58D1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FC8C-9135-4117-BF80-A91AC3AB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636" cy="4351338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Wouldn't it be nice if we could do the same with words and concepts...?</a:t>
            </a:r>
          </a:p>
        </p:txBody>
      </p:sp>
      <p:cxnSp>
        <p:nvCxnSpPr>
          <p:cNvPr id="78" name="Google Shape;84;p15"/>
          <p:cNvCxnSpPr/>
          <p:nvPr/>
        </p:nvCxnSpPr>
        <p:spPr>
          <a:xfrm rot="10800000">
            <a:off x="6572716" y="1309387"/>
            <a:ext cx="0" cy="4429549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86;p15">
            <a:extLst>
              <a:ext uri="{FF2B5EF4-FFF2-40B4-BE49-F238E27FC236}">
                <a16:creationId xmlns:a16="http://schemas.microsoft.com/office/drawing/2014/main" id="{D34C6E12-B5EE-9F1F-6CA1-22B088A0478D}"/>
              </a:ext>
            </a:extLst>
          </p:cNvPr>
          <p:cNvSpPr>
            <a:spLocks noGrp="1"/>
          </p:cNvSpPr>
          <p:nvPr/>
        </p:nvSpPr>
        <p:spPr>
          <a:xfrm>
            <a:off x="11025316" y="5555664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10" name="Google Shape;87;p15">
            <a:extLst>
              <a:ext uri="{FF2B5EF4-FFF2-40B4-BE49-F238E27FC236}">
                <a16:creationId xmlns:a16="http://schemas.microsoft.com/office/drawing/2014/main" id="{F3B6D07D-F717-7CDD-10A3-E8115516705A}"/>
              </a:ext>
            </a:extLst>
          </p:cNvPr>
          <p:cNvSpPr>
            <a:spLocks noGrp="1"/>
          </p:cNvSpPr>
          <p:nvPr/>
        </p:nvSpPr>
        <p:spPr>
          <a:xfrm>
            <a:off x="6098471" y="1034517"/>
            <a:ext cx="314700" cy="2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81" name="Google Shape;88;p15"/>
          <p:cNvCxnSpPr/>
          <p:nvPr/>
        </p:nvCxnSpPr>
        <p:spPr>
          <a:xfrm rot="10800000" flipH="1">
            <a:off x="6572716" y="3753368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9;p15"/>
          <p:cNvCxnSpPr/>
          <p:nvPr/>
        </p:nvCxnSpPr>
        <p:spPr>
          <a:xfrm rot="10800000" flipH="1">
            <a:off x="6572716" y="4738542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90;p15">
            <a:extLst>
              <a:ext uri="{FF2B5EF4-FFF2-40B4-BE49-F238E27FC236}">
                <a16:creationId xmlns:a16="http://schemas.microsoft.com/office/drawing/2014/main" id="{269D7F45-F51E-8165-55CF-BB33CE7EFCF3}"/>
              </a:ext>
            </a:extLst>
          </p:cNvPr>
          <p:cNvSpPr>
            <a:spLocks noGrp="1"/>
          </p:cNvSpPr>
          <p:nvPr/>
        </p:nvSpPr>
        <p:spPr>
          <a:xfrm>
            <a:off x="7989167" y="3444551"/>
            <a:ext cx="1672281" cy="48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cat</a:t>
            </a:r>
            <a:endParaRPr sz="2400">
              <a:solidFill>
                <a:schemeClr val="accent1"/>
              </a:solidFill>
              <a:latin typeface="Constantia"/>
              <a:ea typeface="Constantia"/>
              <a:cs typeface="Constantia"/>
            </a:endParaRPr>
          </a:p>
        </p:txBody>
      </p:sp>
      <p:sp>
        <p:nvSpPr>
          <p:cNvPr id="14" name="Google Shape;91;p15">
            <a:extLst>
              <a:ext uri="{FF2B5EF4-FFF2-40B4-BE49-F238E27FC236}">
                <a16:creationId xmlns:a16="http://schemas.microsoft.com/office/drawing/2014/main" id="{B67B0968-58D3-F4FC-45FA-90DAAB13EF2B}"/>
              </a:ext>
            </a:extLst>
          </p:cNvPr>
          <p:cNvSpPr>
            <a:spLocks noGrp="1"/>
          </p:cNvSpPr>
          <p:nvPr/>
        </p:nvSpPr>
        <p:spPr>
          <a:xfrm>
            <a:off x="8759864" y="4520613"/>
            <a:ext cx="2009356" cy="467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fluffy</a:t>
            </a:r>
            <a:endParaRPr sz="2400">
              <a:solidFill>
                <a:srgbClr val="980000"/>
              </a:solidFill>
              <a:latin typeface="Constantia"/>
              <a:ea typeface="Constantia"/>
              <a:cs typeface="Constantia"/>
            </a:endParaRPr>
          </a:p>
        </p:txBody>
      </p:sp>
      <p:sp>
        <p:nvSpPr>
          <p:cNvPr id="19" name="Google Shape;96;p15">
            <a:extLst>
              <a:ext uri="{FF2B5EF4-FFF2-40B4-BE49-F238E27FC236}">
                <a16:creationId xmlns:a16="http://schemas.microsoft.com/office/drawing/2014/main" id="{26127494-520C-927E-757D-30856FE1F34C}"/>
              </a:ext>
            </a:extLst>
          </p:cNvPr>
          <p:cNvSpPr>
            <a:spLocks noGrp="1"/>
          </p:cNvSpPr>
          <p:nvPr/>
        </p:nvSpPr>
        <p:spPr>
          <a:xfrm>
            <a:off x="7047316" y="5075836"/>
            <a:ext cx="252950" cy="323098"/>
          </a:xfrm>
          <a:custGeom>
            <a:avLst/>
            <a:gdLst/>
            <a:ahLst/>
            <a:cxnLst/>
            <a:rect l="l" t="t" r="r" b="b"/>
            <a:pathLst>
              <a:path w="10118" h="11958">
                <a:moveTo>
                  <a:pt x="0" y="0"/>
                </a:moveTo>
                <a:cubicBezTo>
                  <a:pt x="1124" y="613"/>
                  <a:pt x="5060" y="1686"/>
                  <a:pt x="6746" y="3679"/>
                </a:cubicBezTo>
                <a:cubicBezTo>
                  <a:pt x="8432" y="5672"/>
                  <a:pt x="9556" y="10578"/>
                  <a:pt x="10118" y="11958"/>
                </a:cubicBezTo>
              </a:path>
            </a:pathLst>
          </a:custGeom>
          <a:noFill/>
          <a:ln w="9525" cmpd="sng">
            <a:solidFill>
              <a:schemeClr val="dk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20" name="Google Shape;97;p15">
            <a:extLst>
              <a:ext uri="{FF2B5EF4-FFF2-40B4-BE49-F238E27FC236}">
                <a16:creationId xmlns:a16="http://schemas.microsoft.com/office/drawing/2014/main" id="{A131846A-2068-B5C9-5DD9-ECE17B155B8A}"/>
              </a:ext>
            </a:extLst>
          </p:cNvPr>
          <p:cNvSpPr>
            <a:spLocks noGrp="1"/>
          </p:cNvSpPr>
          <p:nvPr/>
        </p:nvSpPr>
        <p:spPr>
          <a:xfrm>
            <a:off x="7173902" y="4804849"/>
            <a:ext cx="314700" cy="40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θ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</a:endParaRPr>
          </a:p>
        </p:txBody>
      </p:sp>
      <p:cxnSp>
        <p:nvCxnSpPr>
          <p:cNvPr id="87" name="Google Shape;55;p13"/>
          <p:cNvCxnSpPr/>
          <p:nvPr/>
        </p:nvCxnSpPr>
        <p:spPr>
          <a:xfrm flipV="1">
            <a:off x="6560641" y="5736735"/>
            <a:ext cx="4533898" cy="4402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75;p14"/>
          <p:cNvCxnSpPr/>
          <p:nvPr/>
        </p:nvCxnSpPr>
        <p:spPr>
          <a:xfrm rot="10800000" flipH="1">
            <a:off x="7985653" y="2752974"/>
            <a:ext cx="2164800" cy="1000394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76;p14">
            <a:extLst>
              <a:ext uri="{FF2B5EF4-FFF2-40B4-BE49-F238E27FC236}">
                <a16:creationId xmlns:a16="http://schemas.microsoft.com/office/drawing/2014/main" id="{B50C4028-D2A3-3844-0A47-87400578F265}"/>
              </a:ext>
            </a:extLst>
          </p:cNvPr>
          <p:cNvSpPr>
            <a:spLocks noGrp="1"/>
          </p:cNvSpPr>
          <p:nvPr/>
        </p:nvSpPr>
        <p:spPr>
          <a:xfrm>
            <a:off x="8358563" y="2165450"/>
            <a:ext cx="3923702" cy="44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sz="2400" i="1">
                <a:solidFill>
                  <a:schemeClr val="accent2"/>
                </a:solidFill>
                <a:latin typeface="Constantia"/>
                <a:ea typeface="Constantia"/>
                <a:cs typeface="Constantia"/>
              </a:rPr>
              <a:t>fluffy cat </a:t>
            </a:r>
            <a:r>
              <a:rPr sz="2400" i="1">
                <a:solidFill>
                  <a:schemeClr val="dk1"/>
                </a:solidFill>
                <a:latin typeface="Constantia"/>
                <a:ea typeface="Constantia"/>
                <a:cs typeface="Constantia"/>
              </a:rPr>
              <a:t>→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 i="1">
                <a:solidFill>
                  <a:srgbClr val="C00000"/>
                </a:solidFill>
                <a:latin typeface="Constantia"/>
                <a:ea typeface="Constantia"/>
                <a:cs typeface="Constantia"/>
              </a:rPr>
              <a:t>fluffy </a:t>
            </a:r>
            <a:r>
              <a:rPr sz="2400" i="1">
                <a:solidFill>
                  <a:schemeClr val="tx1"/>
                </a:solidFill>
                <a:latin typeface="Constantia"/>
                <a:ea typeface="Constantia"/>
                <a:cs typeface="Constantia"/>
              </a:rPr>
              <a:t>+</a:t>
            </a:r>
            <a:r>
              <a:rPr sz="2400" i="1">
                <a:solidFill>
                  <a:schemeClr val="accent2"/>
                </a:solidFill>
                <a:latin typeface="Constantia"/>
                <a:ea typeface="Constantia"/>
                <a:cs typeface="Constantia"/>
              </a:rPr>
              <a:t> 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cat </a:t>
            </a:r>
          </a:p>
        </p:txBody>
      </p:sp>
      <p:cxnSp>
        <p:nvCxnSpPr>
          <p:cNvPr id="90" name="Google Shape;78;p14"/>
          <p:cNvCxnSpPr/>
          <p:nvPr/>
        </p:nvCxnSpPr>
        <p:spPr>
          <a:xfrm rot="10800000" flipH="1">
            <a:off x="8737753" y="2752974"/>
            <a:ext cx="1412700" cy="1985567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79;p14"/>
          <p:cNvCxnSpPr/>
          <p:nvPr/>
        </p:nvCxnSpPr>
        <p:spPr>
          <a:xfrm rot="10800000" flipH="1">
            <a:off x="6572953" y="2765210"/>
            <a:ext cx="3571500" cy="2973724"/>
          </a:xfrm>
          <a:prstGeom prst="straightConnector1">
            <a:avLst/>
          </a:prstGeom>
          <a:ln w="28575" cap="flat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2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633" y="-338332"/>
            <a:ext cx="4178493" cy="26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7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CFE25335-4D4C-25B1-1EB3-B8014FDEAE47}"/>
              </a:ext>
            </a:extLst>
          </p:cNvPr>
          <p:cNvSpPr>
            <a:spLocks noGrp="1"/>
          </p:cNvSpPr>
          <p:nvPr/>
        </p:nvSpPr>
        <p:spPr>
          <a:xfrm rot="-2040000">
            <a:off x="9912882" y="2447875"/>
            <a:ext cx="262348" cy="577924"/>
          </a:xfrm>
          <a:custGeom>
            <a:avLst/>
            <a:gdLst>
              <a:gd name="csX0" fmla="*/ 0 w 262348"/>
              <a:gd name="csY0" fmla="*/ 288962 h 577924"/>
              <a:gd name="csX1" fmla="*/ 131174 w 262348"/>
              <a:gd name="csY1" fmla="*/ 0 h 577924"/>
              <a:gd name="csX2" fmla="*/ 262348 w 262348"/>
              <a:gd name="csY2" fmla="*/ 288962 h 577924"/>
              <a:gd name="csX3" fmla="*/ 131174 w 262348"/>
              <a:gd name="csY3" fmla="*/ 577924 h 577924"/>
              <a:gd name="csX4" fmla="*/ 0 w 262348"/>
              <a:gd name="csY4" fmla="*/ 288962 h 577924"/>
            </a:gdLst>
            <a:ahLst/>
            <a:cxnLst/>
            <a:rect l="l" t="t" r="r" b="b"/>
            <a:pathLst>
              <a:path w="262348" h="577924">
                <a:moveTo>
                  <a:pt x="0" y="288962"/>
                </a:moveTo>
                <a:cubicBezTo>
                  <a:pt x="-983" y="121835"/>
                  <a:pt x="56790" y="15122"/>
                  <a:pt x="131174" y="0"/>
                </a:cubicBezTo>
                <a:cubicBezTo>
                  <a:pt x="199292" y="-7708"/>
                  <a:pt x="272859" y="146588"/>
                  <a:pt x="262348" y="288962"/>
                </a:cubicBezTo>
                <a:cubicBezTo>
                  <a:pt x="270866" y="464281"/>
                  <a:pt x="199273" y="567514"/>
                  <a:pt x="131174" y="577924"/>
                </a:cubicBezTo>
                <a:cubicBezTo>
                  <a:pt x="51388" y="576916"/>
                  <a:pt x="-14404" y="452416"/>
                  <a:pt x="0" y="288962"/>
                </a:cubicBezTo>
                <a:close/>
              </a:path>
              <a:path w="262348" h="577924">
                <a:moveTo>
                  <a:pt x="0" y="288962"/>
                </a:moveTo>
                <a:cubicBezTo>
                  <a:pt x="-1291" y="114631"/>
                  <a:pt x="51553" y="-6115"/>
                  <a:pt x="131174" y="0"/>
                </a:cubicBezTo>
                <a:cubicBezTo>
                  <a:pt x="205932" y="-8322"/>
                  <a:pt x="243378" y="104958"/>
                  <a:pt x="262348" y="288962"/>
                </a:cubicBezTo>
                <a:cubicBezTo>
                  <a:pt x="257150" y="462868"/>
                  <a:pt x="206422" y="577219"/>
                  <a:pt x="131174" y="577924"/>
                </a:cubicBezTo>
                <a:cubicBezTo>
                  <a:pt x="62983" y="572787"/>
                  <a:pt x="-10829" y="441475"/>
                  <a:pt x="0" y="28896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C9448F-C867-8A29-B3F7-1D1BF3E5705D}"/>
              </a:ext>
            </a:extLst>
          </p:cNvPr>
          <p:cNvSpPr>
            <a:spLocks noGrp="1"/>
          </p:cNvSpPr>
          <p:nvPr/>
        </p:nvSpPr>
        <p:spPr>
          <a:xfrm rot="1680000">
            <a:off x="8014413" y="4438111"/>
            <a:ext cx="723893" cy="1120287"/>
          </a:xfrm>
          <a:custGeom>
            <a:avLst/>
            <a:gdLst>
              <a:gd name="csX0" fmla="*/ 0 w 723893"/>
              <a:gd name="csY0" fmla="*/ 560144 h 1120287"/>
              <a:gd name="csX1" fmla="*/ 361947 w 723893"/>
              <a:gd name="csY1" fmla="*/ 0 h 1120287"/>
              <a:gd name="csX2" fmla="*/ 723894 w 723893"/>
              <a:gd name="csY2" fmla="*/ 560144 h 1120287"/>
              <a:gd name="csX3" fmla="*/ 361947 w 723893"/>
              <a:gd name="csY3" fmla="*/ 1120288 h 1120287"/>
              <a:gd name="csX4" fmla="*/ 0 w 723893"/>
              <a:gd name="csY4" fmla="*/ 560144 h 1120287"/>
            </a:gdLst>
            <a:ahLst/>
            <a:cxnLst/>
            <a:rect l="l" t="t" r="r" b="b"/>
            <a:pathLst>
              <a:path w="723893" h="1120287">
                <a:moveTo>
                  <a:pt x="0" y="560144"/>
                </a:moveTo>
                <a:cubicBezTo>
                  <a:pt x="-4275" y="218006"/>
                  <a:pt x="161241" y="6306"/>
                  <a:pt x="361947" y="0"/>
                </a:cubicBezTo>
                <a:cubicBezTo>
                  <a:pt x="545784" y="-28608"/>
                  <a:pt x="747236" y="289015"/>
                  <a:pt x="723894" y="560144"/>
                </a:cubicBezTo>
                <a:cubicBezTo>
                  <a:pt x="742226" y="903357"/>
                  <a:pt x="557931" y="1110911"/>
                  <a:pt x="361947" y="1120288"/>
                </a:cubicBezTo>
                <a:cubicBezTo>
                  <a:pt x="135482" y="1116640"/>
                  <a:pt x="-30271" y="877625"/>
                  <a:pt x="0" y="560144"/>
                </a:cubicBezTo>
                <a:close/>
              </a:path>
              <a:path w="723893" h="1120287">
                <a:moveTo>
                  <a:pt x="0" y="560144"/>
                </a:moveTo>
                <a:cubicBezTo>
                  <a:pt x="-1766" y="230629"/>
                  <a:pt x="125361" y="-31262"/>
                  <a:pt x="361947" y="0"/>
                </a:cubicBezTo>
                <a:cubicBezTo>
                  <a:pt x="567197" y="-19255"/>
                  <a:pt x="706624" y="228558"/>
                  <a:pt x="723894" y="560144"/>
                </a:cubicBezTo>
                <a:cubicBezTo>
                  <a:pt x="715492" y="892647"/>
                  <a:pt x="600618" y="1110536"/>
                  <a:pt x="361947" y="1120288"/>
                </a:cubicBezTo>
                <a:cubicBezTo>
                  <a:pt x="202916" y="1070941"/>
                  <a:pt x="-30498" y="849575"/>
                  <a:pt x="0" y="5601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4D062-1FE6-92DF-D3BD-E6ECC325FD79}"/>
              </a:ext>
            </a:extLst>
          </p:cNvPr>
          <p:cNvSpPr>
            <a:spLocks noGrp="1"/>
          </p:cNvSpPr>
          <p:nvPr/>
        </p:nvSpPr>
        <p:spPr>
          <a:xfrm rot="-2040000">
            <a:off x="7249675" y="2714395"/>
            <a:ext cx="670289" cy="1432288"/>
          </a:xfrm>
          <a:custGeom>
            <a:avLst/>
            <a:gdLst>
              <a:gd name="csX0" fmla="*/ 0 w 670289"/>
              <a:gd name="csY0" fmla="*/ 716144 h 1432288"/>
              <a:gd name="csX1" fmla="*/ 335145 w 670289"/>
              <a:gd name="csY1" fmla="*/ 0 h 1432288"/>
              <a:gd name="csX2" fmla="*/ 670290 w 670289"/>
              <a:gd name="csY2" fmla="*/ 716144 h 1432288"/>
              <a:gd name="csX3" fmla="*/ 335145 w 670289"/>
              <a:gd name="csY3" fmla="*/ 1432288 h 1432288"/>
              <a:gd name="csX4" fmla="*/ 0 w 670289"/>
              <a:gd name="csY4" fmla="*/ 716144 h 1432288"/>
            </a:gdLst>
            <a:ahLst/>
            <a:cxnLst/>
            <a:rect l="l" t="t" r="r" b="b"/>
            <a:pathLst>
              <a:path w="670289" h="1432288">
                <a:moveTo>
                  <a:pt x="0" y="716144"/>
                </a:moveTo>
                <a:cubicBezTo>
                  <a:pt x="-4909" y="282989"/>
                  <a:pt x="149451" y="4671"/>
                  <a:pt x="335145" y="0"/>
                </a:cubicBezTo>
                <a:cubicBezTo>
                  <a:pt x="479156" y="-73179"/>
                  <a:pt x="715206" y="394194"/>
                  <a:pt x="670290" y="716144"/>
                </a:cubicBezTo>
                <a:cubicBezTo>
                  <a:pt x="676417" y="1122974"/>
                  <a:pt x="509915" y="1407553"/>
                  <a:pt x="335145" y="1432288"/>
                </a:cubicBezTo>
                <a:cubicBezTo>
                  <a:pt x="137397" y="1430551"/>
                  <a:pt x="-44516" y="1123603"/>
                  <a:pt x="0" y="716144"/>
                </a:cubicBezTo>
                <a:close/>
              </a:path>
              <a:path w="670289" h="1432288">
                <a:moveTo>
                  <a:pt x="0" y="716144"/>
                </a:moveTo>
                <a:cubicBezTo>
                  <a:pt x="-1593" y="302446"/>
                  <a:pt x="130692" y="-16495"/>
                  <a:pt x="335145" y="0"/>
                </a:cubicBezTo>
                <a:cubicBezTo>
                  <a:pt x="536846" y="-59747"/>
                  <a:pt x="621202" y="257453"/>
                  <a:pt x="670290" y="716144"/>
                </a:cubicBezTo>
                <a:cubicBezTo>
                  <a:pt x="657248" y="1147583"/>
                  <a:pt x="535028" y="1428569"/>
                  <a:pt x="335145" y="1432288"/>
                </a:cubicBezTo>
                <a:cubicBezTo>
                  <a:pt x="177178" y="1399531"/>
                  <a:pt x="-42805" y="1083690"/>
                  <a:pt x="0" y="716144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F1E60-03A5-E1A8-FBAA-FC421382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9FBE-45F7-53A0-E885-B88F8441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636" cy="4351338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Wouldn't it be nice if we could do the same with words and concepts...?</a:t>
            </a:r>
          </a:p>
        </p:txBody>
      </p:sp>
      <p:cxnSp>
        <p:nvCxnSpPr>
          <p:cNvPr id="85" name="Google Shape;103;p16"/>
          <p:cNvCxnSpPr/>
          <p:nvPr/>
        </p:nvCxnSpPr>
        <p:spPr>
          <a:xfrm rot="10800000">
            <a:off x="6558676" y="1309400"/>
            <a:ext cx="0" cy="4422426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5;p16">
            <a:extLst>
              <a:ext uri="{FF2B5EF4-FFF2-40B4-BE49-F238E27FC236}">
                <a16:creationId xmlns:a16="http://schemas.microsoft.com/office/drawing/2014/main" id="{D48CA7B3-2A6C-3070-F1A7-2FB90B311B4B}"/>
              </a:ext>
            </a:extLst>
          </p:cNvPr>
          <p:cNvSpPr>
            <a:spLocks noGrp="1"/>
          </p:cNvSpPr>
          <p:nvPr/>
        </p:nvSpPr>
        <p:spPr>
          <a:xfrm>
            <a:off x="11011276" y="5548849"/>
            <a:ext cx="314700" cy="27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x</a:t>
            </a:r>
          </a:p>
        </p:txBody>
      </p:sp>
      <p:sp>
        <p:nvSpPr>
          <p:cNvPr id="10" name="Google Shape;106;p16">
            <a:extLst>
              <a:ext uri="{FF2B5EF4-FFF2-40B4-BE49-F238E27FC236}">
                <a16:creationId xmlns:a16="http://schemas.microsoft.com/office/drawing/2014/main" id="{CD9A5DDD-0853-A42E-9CF0-D80BFAC0A201}"/>
              </a:ext>
            </a:extLst>
          </p:cNvPr>
          <p:cNvSpPr>
            <a:spLocks noGrp="1"/>
          </p:cNvSpPr>
          <p:nvPr/>
        </p:nvSpPr>
        <p:spPr>
          <a:xfrm>
            <a:off x="6093083" y="1034972"/>
            <a:ext cx="314700" cy="27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dk2"/>
                </a:solidFill>
                <a:latin typeface="Constantia"/>
                <a:ea typeface="Constantia"/>
                <a:cs typeface="Constantia"/>
              </a:rPr>
              <a:t>y</a:t>
            </a:r>
          </a:p>
        </p:txBody>
      </p:sp>
      <p:cxnSp>
        <p:nvCxnSpPr>
          <p:cNvPr id="88" name="Google Shape;107;p16"/>
          <p:cNvCxnSpPr/>
          <p:nvPr/>
        </p:nvCxnSpPr>
        <p:spPr>
          <a:xfrm rot="10800000" flipH="1">
            <a:off x="6558676" y="3749451"/>
            <a:ext cx="1412700" cy="1982375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108;p16"/>
          <p:cNvCxnSpPr/>
          <p:nvPr/>
        </p:nvCxnSpPr>
        <p:spPr>
          <a:xfrm rot="10800000" flipH="1">
            <a:off x="6558676" y="4733041"/>
            <a:ext cx="2164800" cy="998785"/>
          </a:xfrm>
          <a:prstGeom prst="straightConnector1">
            <a:avLst/>
          </a:prstGeom>
          <a:ln w="28575" cap="flat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09;p16">
            <a:extLst>
              <a:ext uri="{FF2B5EF4-FFF2-40B4-BE49-F238E27FC236}">
                <a16:creationId xmlns:a16="http://schemas.microsoft.com/office/drawing/2014/main" id="{246852EB-8D2A-EE56-D709-8F27103EEBEF}"/>
              </a:ext>
            </a:extLst>
          </p:cNvPr>
          <p:cNvSpPr>
            <a:spLocks noGrp="1"/>
          </p:cNvSpPr>
          <p:nvPr/>
        </p:nvSpPr>
        <p:spPr>
          <a:xfrm>
            <a:off x="7975126" y="3451957"/>
            <a:ext cx="2069372" cy="47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cat 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x1, y1</a:t>
            </a:r>
            <a:r>
              <a:rPr sz="2400">
                <a:solidFill>
                  <a:schemeClr val="accent1"/>
                </a:solidFill>
                <a:latin typeface="Constantia"/>
                <a:ea typeface="Constantia"/>
                <a:cs typeface="Constantia"/>
              </a:rPr>
              <a:t>]</a:t>
            </a:r>
          </a:p>
        </p:txBody>
      </p:sp>
      <p:sp>
        <p:nvSpPr>
          <p:cNvPr id="14" name="Google Shape;110;p16">
            <a:extLst>
              <a:ext uri="{FF2B5EF4-FFF2-40B4-BE49-F238E27FC236}">
                <a16:creationId xmlns:a16="http://schemas.microsoft.com/office/drawing/2014/main" id="{57B90F29-AED9-3218-795E-537CD90AC971}"/>
              </a:ext>
            </a:extLst>
          </p:cNvPr>
          <p:cNvSpPr>
            <a:spLocks noGrp="1"/>
          </p:cNvSpPr>
          <p:nvPr/>
        </p:nvSpPr>
        <p:spPr>
          <a:xfrm>
            <a:off x="8724409" y="4507777"/>
            <a:ext cx="3248488" cy="4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fluffy 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[</a:t>
            </a:r>
            <a:r>
              <a:rPr sz="2400" i="1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x2, y2</a:t>
            </a:r>
            <a:r>
              <a:rPr sz="2400">
                <a:solidFill>
                  <a:srgbClr val="980000"/>
                </a:solidFill>
                <a:latin typeface="Constantia"/>
                <a:ea typeface="Constantia"/>
                <a:cs typeface="Constantia"/>
              </a:rPr>
              <a:t>]</a:t>
            </a:r>
            <a:endParaRPr sz="2400">
              <a:solidFill>
                <a:srgbClr val="980000"/>
              </a:solidFill>
              <a:latin typeface="Roboto Serif"/>
              <a:ea typeface="Roboto Serif"/>
              <a:cs typeface="Roboto Serif"/>
            </a:endParaRPr>
          </a:p>
        </p:txBody>
      </p:sp>
      <p:cxnSp>
        <p:nvCxnSpPr>
          <p:cNvPr id="92" name="Google Shape;55;p13"/>
          <p:cNvCxnSpPr/>
          <p:nvPr/>
        </p:nvCxnSpPr>
        <p:spPr>
          <a:xfrm flipV="1">
            <a:off x="6546601" y="5729629"/>
            <a:ext cx="4533898" cy="4395"/>
          </a:xfrm>
          <a:prstGeom prst="straightConnector1">
            <a:avLst/>
          </a:prstGeom>
          <a:ln w="28575" cap="flat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B5F659-D94B-DAFA-9574-B1AAE0E9D1E6}"/>
              </a:ext>
            </a:extLst>
          </p:cNvPr>
          <p:cNvSpPr>
            <a:spLocks noGrp="1"/>
          </p:cNvSpPr>
          <p:nvPr/>
        </p:nvSpPr>
        <p:spPr>
          <a:xfrm>
            <a:off x="7034892" y="2462892"/>
            <a:ext cx="217033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>
                <a:latin typeface="Comic Sans MS"/>
                <a:ea typeface="Comic Sans MS"/>
                <a:cs typeface="Comic Sans MS"/>
              </a:rPr>
              <a:t>cat-based animals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2AFF85-DB34-785E-C44E-5D92A6C40068}"/>
              </a:ext>
            </a:extLst>
          </p:cNvPr>
          <p:cNvSpPr>
            <a:spLocks noGrp="1"/>
          </p:cNvSpPr>
          <p:nvPr/>
        </p:nvSpPr>
        <p:spPr>
          <a:xfrm>
            <a:off x="8573323" y="5294070"/>
            <a:ext cx="291873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>
                <a:latin typeface="Comic Sans MS"/>
                <a:ea typeface="Comic Sans MS"/>
                <a:cs typeface="Comic Sans MS"/>
              </a:rPr>
              <a:t>texture-based adjectives</a:t>
            </a:r>
          </a:p>
        </p:txBody>
      </p:sp>
      <p:cxnSp>
        <p:nvCxnSpPr>
          <p:cNvPr id="95" name="Google Shape;79;p14"/>
          <p:cNvCxnSpPr/>
          <p:nvPr/>
        </p:nvCxnSpPr>
        <p:spPr>
          <a:xfrm rot="10800000" flipH="1">
            <a:off x="6572953" y="2765210"/>
            <a:ext cx="3571500" cy="2973724"/>
          </a:xfrm>
          <a:prstGeom prst="straightConnector1">
            <a:avLst/>
          </a:prstGeom>
          <a:ln w="28575" cap="flat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A7B63CF-28A1-A53F-18DD-3792227088DB}"/>
              </a:ext>
            </a:extLst>
          </p:cNvPr>
          <p:cNvSpPr>
            <a:spLocks noGrp="1"/>
          </p:cNvSpPr>
          <p:nvPr/>
        </p:nvSpPr>
        <p:spPr>
          <a:xfrm>
            <a:off x="8856572" y="2052106"/>
            <a:ext cx="291873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rPr>
                <a:latin typeface="Comic Sans MS"/>
                <a:ea typeface="Comic Sans MS"/>
                <a:cs typeface="Comic Sans MS"/>
              </a:rPr>
              <a:t>cat-based fluffy objects</a:t>
            </a:r>
          </a:p>
        </p:txBody>
      </p:sp>
    </p:spTree>
    <p:extLst>
      <p:ext uri="{BB962C8B-B14F-4D97-AF65-F5344CB8AC3E}">
        <p14:creationId xmlns:p14="http://schemas.microsoft.com/office/powerpoint/2010/main" val="20880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D322-6572-7EBF-4CC1-EDCFC7AA0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44737-77EA-003B-ADA4-4C672626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i="1"/>
              <a:t>So how can we convert the tokenized text into vectors?</a:t>
            </a:r>
          </a:p>
        </p:txBody>
      </p:sp>
    </p:spTree>
    <p:extLst>
      <p:ext uri="{BB962C8B-B14F-4D97-AF65-F5344CB8AC3E}">
        <p14:creationId xmlns:p14="http://schemas.microsoft.com/office/powerpoint/2010/main" val="345400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2197-049D-75D8-7E36-3B0CF459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BAAB-CDA1-22BF-507B-D3D60BD0D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sz="2400">
                <a:latin typeface="Aptos"/>
                <a:ea typeface="Aptos"/>
                <a:cs typeface="Aptos"/>
              </a:rPr>
              <a:t>Suppose we have the following "corpus" and corresponding token mapping</a:t>
            </a:r>
          </a:p>
          <a:p>
            <a:pPr marL="0" indent="0">
              <a:buNone/>
            </a:pPr>
            <a:endParaRPr sz="1900">
              <a:solidFill>
                <a:srgbClr val="404040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[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cat sat on the mat"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dog sat on the mat"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cat sat on the dog"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]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the'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cat'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sat'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on'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ma</a:t>
            </a: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900">
                <a:solidFill>
                  <a:srgbClr val="BA2121"/>
                </a:solidFill>
                <a:latin typeface="Consolas"/>
                <a:ea typeface="Consolas"/>
                <a:cs typeface="Consolas"/>
              </a:rPr>
              <a:t> 'dog'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 : </a:t>
            </a:r>
            <a:r>
              <a:rPr sz="1900">
                <a:solidFill>
                  <a:srgbClr val="008800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900">
                <a:solidFill>
                  <a:schemeClr val="tx1">
                    <a:lumMod val="75000"/>
                    <a:lumOff val="25000"/>
                  </a:schemeClr>
                </a:solidFill>
                <a:latin typeface="Consolas"/>
                <a:ea typeface="Consolas"/>
                <a:cs typeface="Consolas"/>
              </a:rPr>
              <a:t>}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6706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F227-91D7-F5F4-EF4B-D8B32060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8D95-3044-0FF7-7C4C-2C67B92BF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We have 6 unique words</a:t>
            </a:r>
          </a:p>
          <a:p>
            <a:pPr marL="0" indent="0">
              <a:buNone/>
            </a:pPr>
            <a:r>
              <a:t>We can therefore make unique vectors for each word, with 6 elements each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endParaRPr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A7AD6DA-2597-E563-8F42-20AADE6F5A14}"/>
              </a:ext>
            </a:extLst>
          </p:cNvPr>
          <p:cNvSpPr>
            <a:spLocks noGrp="1"/>
          </p:cNvSpPr>
          <p:nvPr/>
        </p:nvSpPr>
        <p:spPr>
          <a:xfrm>
            <a:off x="4796076" y="3429385"/>
            <a:ext cx="2602131" cy="235540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380990" indent="-380990" algn="l" defTabSz="914400">
              <a:lnSpc>
                <a:spcPct val="90000"/>
              </a:lnSpc>
              <a:spcBef>
                <a:spcPts val="1000"/>
              </a:spcBef>
              <a:buClr>
                <a:srgbClr val="235EE2"/>
              </a:buClr>
              <a:buSzPct val="70000"/>
              <a:buFont typeface="Courier New"/>
              <a:buChar char="o"/>
              <a:defRPr sz="1867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"/>
                <a:ea typeface="Helvetica"/>
                <a:cs typeface="Helvetica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Clr>
                <a:srgbClr val="235EE2"/>
              </a:buClr>
              <a:buSzPct val="70000"/>
              <a:buFont typeface="Arial"/>
              <a:buChar char="•"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Avenir Heavy"/>
                <a:ea typeface="Avenir Heavy"/>
                <a:cs typeface="Avenir Heavy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venir Heavy"/>
                <a:ea typeface="Avenir Heavy"/>
                <a:cs typeface="Avenir Heavy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venir Heavy"/>
                <a:ea typeface="Avenir Heavy"/>
                <a:cs typeface="Avenir Heavy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b="1"/>
              <a:t>'the’  :</a:t>
            </a:r>
            <a:r>
              <a:t> [1, 0, 0, 0, 0, 0]</a:t>
            </a:r>
          </a:p>
          <a:p>
            <a:pPr marL="0" indent="0">
              <a:buNone/>
            </a:pPr>
            <a:r>
              <a:rPr b="1"/>
              <a:t>'cat’  :</a:t>
            </a:r>
            <a:r>
              <a:t> [0, 1, 0, 0, 0, 0]</a:t>
            </a:r>
          </a:p>
          <a:p>
            <a:pPr marL="0" indent="0">
              <a:buNone/>
            </a:pPr>
            <a:r>
              <a:rPr b="1"/>
              <a:t>'sat’  :</a:t>
            </a:r>
            <a:r>
              <a:t> [0, 0, 1, 0, 0, 0]</a:t>
            </a:r>
          </a:p>
          <a:p>
            <a:pPr marL="0" indent="0">
              <a:buNone/>
            </a:pPr>
            <a:r>
              <a:rPr b="1"/>
              <a:t>'on’   :</a:t>
            </a:r>
            <a:r>
              <a:t> [0, 0, 0, 1, 0, 0] </a:t>
            </a:r>
          </a:p>
          <a:p>
            <a:pPr marL="0" indent="0">
              <a:buNone/>
            </a:pPr>
            <a:r>
              <a:rPr b="1"/>
              <a:t>'mat' :</a:t>
            </a:r>
            <a:r>
              <a:t> [0, 0, 0, 0, 1, 0]</a:t>
            </a:r>
          </a:p>
          <a:p>
            <a:pPr marL="0" indent="0">
              <a:buNone/>
            </a:pPr>
            <a:r>
              <a:rPr b="1"/>
              <a:t>'dog' :</a:t>
            </a:r>
            <a:r>
              <a:t> [0, 0, 0, 0, 0, 1]</a:t>
            </a:r>
          </a:p>
        </p:txBody>
      </p:sp>
    </p:spTree>
    <p:extLst>
      <p:ext uri="{BB962C8B-B14F-4D97-AF65-F5344CB8AC3E}">
        <p14:creationId xmlns:p14="http://schemas.microsoft.com/office/powerpoint/2010/main" val="94941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FED4-868A-16E8-9B2F-95E9A497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One-hot encodings</a:t>
            </a: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33353" y="2412486"/>
            <a:ext cx="2892612" cy="2892612"/>
          </a:xfrm>
          <a:prstGeom prst="rect">
            <a:avLst/>
          </a:prstGeom>
        </p:spPr>
      </p:pic>
      <p:graphicFrame>
        <p:nvGraphicFramePr>
          <p:cNvPr id="17" name="Table 9"/>
          <p:cNvGraphicFramePr/>
          <p:nvPr/>
        </p:nvGraphicFramePr>
        <p:xfrm>
          <a:off x="3174085" y="2746489"/>
          <a:ext cx="2919052" cy="22288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16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7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cat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sat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mat</a:t>
                      </a:r>
                    </a:p>
                  </a:txBody>
                  <a:tcPr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4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75"/>
                        </a:lnSpc>
                        <a:buNone/>
                      </a:pPr>
                      <a:r>
                        <a:rPr sz="180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8158072-0F9C-7CA4-741C-6FCD5B49CA0C}"/>
              </a:ext>
            </a:extLst>
          </p:cNvPr>
          <p:cNvSpPr>
            <a:spLocks noGrp="1"/>
          </p:cNvSpPr>
          <p:nvPr/>
        </p:nvSpPr>
        <p:spPr>
          <a:xfrm>
            <a:off x="2751146" y="2021078"/>
            <a:ext cx="6691064" cy="367460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50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59DB-26E4-22C5-6F74-6D94D4DF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One-hot encodings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68C0-EFD5-2E23-AF6E-4F02CD0F7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Very sparse vectors</a:t>
            </a:r>
          </a:p>
          <a:p>
            <a:r>
              <a:t>High dimensionality</a:t>
            </a:r>
          </a:p>
          <a:p>
            <a:r>
              <a:t>No semantic meaning captured</a:t>
            </a:r>
          </a:p>
        </p:txBody>
      </p:sp>
    </p:spTree>
    <p:extLst>
      <p:ext uri="{BB962C8B-B14F-4D97-AF65-F5344CB8AC3E}">
        <p14:creationId xmlns:p14="http://schemas.microsoft.com/office/powerpoint/2010/main" val="1207116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9EF5-5817-4F29-6B4C-66D5EE63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EF272-B4DB-1449-C5B9-C2484B3E3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[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cat sat on the mat"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dog sat on the mat"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  "the cat sat on the dog"</a:t>
            </a: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,</a:t>
            </a:r>
            <a:endParaRPr sz="1900"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1900">
                <a:solidFill>
                  <a:srgbClr val="404040"/>
                </a:solidFill>
                <a:latin typeface="Consolas"/>
                <a:ea typeface="Consolas"/>
                <a:cs typeface="Consolas"/>
              </a:rPr>
              <a:t>]</a:t>
            </a:r>
            <a:endParaRPr/>
          </a:p>
          <a:p>
            <a:pPr marL="0" indent="0">
              <a:buNone/>
            </a:pPr>
            <a:endParaRPr/>
          </a:p>
          <a:p>
            <a:pPr marL="457200" indent="-457200">
              <a:buNone/>
            </a:pPr>
            <a:r>
              <a:t>Cat and dog appear to be used in a similar way in the first sentence</a:t>
            </a:r>
          </a:p>
          <a:p>
            <a:pPr marL="457200" indent="-457200">
              <a:buNone/>
            </a:pPr>
            <a:r>
              <a:t>Maybe "cat" and "dog" are semantically similar</a:t>
            </a:r>
          </a:p>
        </p:txBody>
      </p:sp>
    </p:spTree>
    <p:extLst>
      <p:ext uri="{BB962C8B-B14F-4D97-AF65-F5344CB8AC3E}">
        <p14:creationId xmlns:p14="http://schemas.microsoft.com/office/powerpoint/2010/main" val="339134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8ECB-D55F-3B0A-7EF8-4CFD9E29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3CCB-D9F4-FCF8-491E-7D7B7E78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t>We know that neural networks can do a lot of stuff.</a:t>
            </a:r>
          </a:p>
          <a:p>
            <a:r>
              <a:t>So let's try and use one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889760"/>
            <a:ext cx="62484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9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7A09-C655-07AF-0BAE-875BB481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BA0D6-9CEE-5A43-8FE6-1F4021FBC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We use one-hot encoding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We might use a tokenizer to create a vocab of size 50k tokens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We pick a projection dimension</a:t>
            </a:r>
          </a:p>
        </p:txBody>
      </p:sp>
    </p:spTree>
    <p:extLst>
      <p:ext uri="{BB962C8B-B14F-4D97-AF65-F5344CB8AC3E}">
        <p14:creationId xmlns:p14="http://schemas.microsoft.com/office/powerpoint/2010/main" val="1035996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872B-321F-9DAD-F0ED-568E1E6F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word2vec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89" y="1366936"/>
            <a:ext cx="8428113" cy="4702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F17E1-285D-FC02-0564-C4D597EFE081}"/>
              </a:ext>
            </a:extLst>
          </p:cNvPr>
          <p:cNvSpPr>
            <a:spLocks noGrp="1"/>
          </p:cNvSpPr>
          <p:nvPr/>
        </p:nvSpPr>
        <p:spPr>
          <a:xfrm>
            <a:off x="299357" y="6408964"/>
            <a:ext cx="785132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sz="1200"/>
              <a:t>https://commons.wikimedia.org/wiki/File:CBOW_word2vec_as_an_autoencoder.svg</a:t>
            </a:r>
          </a:p>
        </p:txBody>
      </p:sp>
    </p:spTree>
    <p:extLst>
      <p:ext uri="{BB962C8B-B14F-4D97-AF65-F5344CB8AC3E}">
        <p14:creationId xmlns:p14="http://schemas.microsoft.com/office/powerpoint/2010/main" val="3990571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6252-F3CA-60E3-8ABF-99A14B1C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word2vec</a:t>
            </a:r>
          </a:p>
        </p:txBody>
      </p:sp>
      <p:graphicFrame>
        <p:nvGraphicFramePr>
          <p:cNvPr id="11" name="Table 3"/>
          <p:cNvGraphicFramePr/>
          <p:nvPr/>
        </p:nvGraphicFramePr>
        <p:xfrm>
          <a:off x="4270466" y="1688483"/>
          <a:ext cx="5365530" cy="4452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1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3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-0.68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4"/>
          <p:cNvGraphicFramePr/>
          <p:nvPr/>
        </p:nvGraphicFramePr>
        <p:xfrm>
          <a:off x="1830161" y="1714500"/>
          <a:ext cx="1215302" cy="444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aadvark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kitten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9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0" i="0" u="none">
                          <a:latin typeface="Aptos"/>
                          <a:ea typeface="Aptos"/>
                          <a:cs typeface="Aptos"/>
                        </a:rPr>
                        <a:t>Zyzzyva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C5676-CEF5-25D8-9E2C-A75C6794EE4B}"/>
              </a:ext>
            </a:extLst>
          </p:cNvPr>
          <p:cNvSpPr>
            <a:spLocks noGrp="1"/>
          </p:cNvSpPr>
          <p:nvPr/>
        </p:nvSpPr>
        <p:spPr>
          <a:xfrm>
            <a:off x="9953624" y="3728357"/>
            <a:ext cx="17417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>
                <a:latin typeface="Consolas"/>
                <a:ea typeface="Consolas"/>
                <a:cs typeface="Consolas"/>
              </a:rPr>
              <a:t>vocab_size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DB712-71EB-1064-40C9-4B3477EED38A}"/>
              </a:ext>
            </a:extLst>
          </p:cNvPr>
          <p:cNvSpPr>
            <a:spLocks noGrp="1"/>
          </p:cNvSpPr>
          <p:nvPr/>
        </p:nvSpPr>
        <p:spPr>
          <a:xfrm>
            <a:off x="5912302" y="1177018"/>
            <a:ext cx="208189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>
                <a:latin typeface="Consolas"/>
                <a:ea typeface="Consolas"/>
                <a:cs typeface="Consolas"/>
              </a:rPr>
              <a:t>embedding_size</a:t>
            </a:r>
          </a:p>
        </p:txBody>
      </p:sp>
    </p:spTree>
    <p:extLst>
      <p:ext uri="{BB962C8B-B14F-4D97-AF65-F5344CB8AC3E}">
        <p14:creationId xmlns:p14="http://schemas.microsoft.com/office/powerpoint/2010/main" val="392787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637B-412E-3B89-519E-C6FC1A58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Learned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E180-B0CD-00DE-0143-6DDB8933F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ctr">
            <a:normAutofit/>
          </a:bodyPr>
          <a:lstStyle/>
          <a:p>
            <a:pPr marL="0" indent="0" algn="ctr">
              <a:buNone/>
            </a:pPr>
            <a:r>
              <a:rPr i="1"/>
              <a:t>We just throw some linear layers at the input and call it a day.</a:t>
            </a:r>
          </a:p>
        </p:txBody>
      </p:sp>
    </p:spTree>
    <p:extLst>
      <p:ext uri="{BB962C8B-B14F-4D97-AF65-F5344CB8AC3E}">
        <p14:creationId xmlns:p14="http://schemas.microsoft.com/office/powerpoint/2010/main" val="279353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3"/>
          <p:cNvGraphicFramePr/>
          <p:nvPr/>
        </p:nvGraphicFramePr>
        <p:xfrm>
          <a:off x="965442" y="1482521"/>
          <a:ext cx="687083" cy="40180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sat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the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mat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4"/>
          <p:cNvGraphicFramePr/>
          <p:nvPr/>
        </p:nvGraphicFramePr>
        <p:xfrm>
          <a:off x="2451643" y="1482521"/>
          <a:ext cx="687083" cy="40180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7245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6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t>237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" name="Table 7"/>
          <p:cNvGraphicFramePr/>
          <p:nvPr/>
        </p:nvGraphicFramePr>
        <p:xfrm>
          <a:off x="8649836" y="798452"/>
          <a:ext cx="2657575" cy="22445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-0.94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7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-0.10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2E8B88F-F7D6-CB2F-60A7-1ED416F46890}"/>
              </a:ext>
            </a:extLst>
          </p:cNvPr>
          <p:cNvSpPr>
            <a:spLocks noGrp="1"/>
          </p:cNvSpPr>
          <p:nvPr/>
        </p:nvSpPr>
        <p:spPr>
          <a:xfrm>
            <a:off x="8647957" y="428971"/>
            <a:ext cx="2619375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t>(input_size, embed_dim)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B06024-60CD-D4E5-563D-370D5D6AB776}"/>
              </a:ext>
            </a:extLst>
          </p:cNvPr>
          <p:cNvSpPr>
            <a:spLocks noGrp="1"/>
          </p:cNvSpPr>
          <p:nvPr/>
        </p:nvSpPr>
        <p:spPr>
          <a:xfrm>
            <a:off x="4327688" y="1483522"/>
            <a:ext cx="3129642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nn.Embedding</a:t>
            </a:r>
          </a:p>
          <a:p>
            <a:pPr algn="ctr">
              <a:buNone/>
            </a:pPr>
            <a:r>
              <a:t>(vocab_size, embed_dim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9AE0CA-A829-616A-5C67-FD3BD9AC27C8}"/>
              </a:ext>
            </a:extLst>
          </p:cNvPr>
          <p:cNvSpPr>
            <a:spLocks noGrp="1"/>
          </p:cNvSpPr>
          <p:nvPr/>
        </p:nvSpPr>
        <p:spPr>
          <a:xfrm>
            <a:off x="4327688" y="4606361"/>
            <a:ext cx="3129642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buNone/>
            </a:pPr>
            <a:r>
              <a:t>nn.Embedding</a:t>
            </a:r>
          </a:p>
          <a:p>
            <a:pPr algn="ctr">
              <a:buNone/>
            </a:pPr>
            <a:r>
              <a:t>(context_size, embed_dim</a:t>
            </a:r>
          </a:p>
        </p:txBody>
      </p:sp>
      <p:graphicFrame>
        <p:nvGraphicFramePr>
          <p:cNvPr id="31" name="Table 11"/>
          <p:cNvGraphicFramePr/>
          <p:nvPr/>
        </p:nvGraphicFramePr>
        <p:xfrm>
          <a:off x="8649835" y="3921292"/>
          <a:ext cx="2657575" cy="22445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1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-0.94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7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79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-0.10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20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284AD42-70D1-1836-AE37-8BEFAF4DA20B}"/>
              </a:ext>
            </a:extLst>
          </p:cNvPr>
          <p:cNvSpPr>
            <a:spLocks noGrp="1"/>
          </p:cNvSpPr>
          <p:nvPr/>
        </p:nvSpPr>
        <p:spPr>
          <a:xfrm>
            <a:off x="8647957" y="6164381"/>
            <a:ext cx="2619375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r>
              <a:t>(input_size, embed_dim)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99F540D-9479-7184-9139-A240AF1EEBD2}"/>
              </a:ext>
            </a:extLst>
          </p:cNvPr>
          <p:cNvSpPr>
            <a:spLocks noGrp="1"/>
          </p:cNvSpPr>
          <p:nvPr/>
        </p:nvSpPr>
        <p:spPr>
          <a:xfrm>
            <a:off x="3368385" y="1776075"/>
            <a:ext cx="680357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07DDD34-2451-536E-3FCB-4EA47B086B4C}"/>
              </a:ext>
            </a:extLst>
          </p:cNvPr>
          <p:cNvSpPr>
            <a:spLocks noGrp="1"/>
          </p:cNvSpPr>
          <p:nvPr/>
        </p:nvSpPr>
        <p:spPr>
          <a:xfrm>
            <a:off x="3368384" y="4898913"/>
            <a:ext cx="680357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DE3FE6A-CD94-88BF-F3BF-7330239A7D84}"/>
              </a:ext>
            </a:extLst>
          </p:cNvPr>
          <p:cNvSpPr>
            <a:spLocks noGrp="1"/>
          </p:cNvSpPr>
          <p:nvPr/>
        </p:nvSpPr>
        <p:spPr>
          <a:xfrm>
            <a:off x="7688652" y="1776073"/>
            <a:ext cx="680357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A658F95-58AD-4EA5-41B1-97CEB34B386D}"/>
              </a:ext>
            </a:extLst>
          </p:cNvPr>
          <p:cNvSpPr>
            <a:spLocks noGrp="1"/>
          </p:cNvSpPr>
          <p:nvPr/>
        </p:nvSpPr>
        <p:spPr>
          <a:xfrm>
            <a:off x="7688652" y="4898912"/>
            <a:ext cx="680357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36C61F-B207-6B82-F55B-E62237D9F40F}"/>
              </a:ext>
            </a:extLst>
          </p:cNvPr>
          <p:cNvSpPr>
            <a:spLocks noGrp="1"/>
          </p:cNvSpPr>
          <p:nvPr/>
        </p:nvSpPr>
        <p:spPr>
          <a:xfrm>
            <a:off x="9781886" y="3168540"/>
            <a:ext cx="3937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sz="3600" b="1"/>
              <a:t>+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C52FFCB-A001-DDD4-0D72-46C961F0E7DF}"/>
              </a:ext>
            </a:extLst>
          </p:cNvPr>
          <p:cNvSpPr>
            <a:spLocks noGrp="1"/>
          </p:cNvSpPr>
          <p:nvPr/>
        </p:nvSpPr>
        <p:spPr>
          <a:xfrm>
            <a:off x="1717384" y="3350874"/>
            <a:ext cx="680357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177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B59A-BE75-E9E2-725F-1FBE52E8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863C-1BE6-D429-C26B-BD404159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None/>
            </a:pPr>
            <a:r>
              <a:t>We have created </a:t>
            </a:r>
            <a:r>
              <a:rPr b="1" i="1"/>
              <a:t>static </a:t>
            </a:r>
            <a:r>
              <a:t>embeddings</a:t>
            </a:r>
          </a:p>
          <a:p>
            <a:pPr marL="0" indent="0">
              <a:buNone/>
            </a:pPr>
            <a:endParaRPr/>
          </a:p>
          <a:p>
            <a:pPr marL="0" indent="0" algn="ctr">
              <a:buNone/>
            </a:pPr>
            <a:r>
              <a:t>"dogs like to </a:t>
            </a:r>
            <a:r>
              <a:rPr b="1">
                <a:solidFill>
                  <a:srgbClr val="7030A0"/>
                </a:solidFill>
              </a:rPr>
              <a:t>bark </a:t>
            </a:r>
            <a:r>
              <a:t>at squirrels"</a:t>
            </a:r>
          </a:p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t>"squirrels like climbing tree </a:t>
            </a:r>
            <a:r>
              <a:rPr b="1">
                <a:solidFill>
                  <a:srgbClr val="7030A0"/>
                </a:solidFill>
              </a:rPr>
              <a:t>bark</a:t>
            </a:r>
            <a:r>
              <a:t>"</a:t>
            </a:r>
          </a:p>
          <a:p>
            <a:pPr marL="0" indent="0" algn="ctr">
              <a:buNone/>
            </a:pPr>
            <a:endParaRPr/>
          </a:p>
          <a:p>
            <a:pPr marL="0" indent="0" algn="ctr">
              <a:buNone/>
            </a:pPr>
            <a:r>
              <a:t>Same embeddings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 l="26151" r="12701"/>
          <a:stretch>
            <a:fillRect/>
          </a:stretch>
        </p:blipFill>
        <p:spPr>
          <a:xfrm>
            <a:off x="8901404" y="2676821"/>
            <a:ext cx="2967135" cy="264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79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4A9B367-5B64-BB4C-341E-598A41EA2BD0}"/>
              </a:ext>
            </a:extLst>
          </p:cNvPr>
          <p:cNvSpPr>
            <a:spLocks noGrp="1"/>
          </p:cNvSpPr>
          <p:nvPr/>
        </p:nvSpPr>
        <p:spPr>
          <a:xfrm>
            <a:off x="3048680" y="5380787"/>
            <a:ext cx="6094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latin typeface="CMU SERIF ROMAN"/>
                <a:ea typeface="CMU SERIF ROMAN"/>
                <a:cs typeface="CMU SERIF ROMAN"/>
              </a:rPr>
              <a:t>projector.tensorflow.org</a:t>
            </a:r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645" y="793924"/>
            <a:ext cx="5206709" cy="45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39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EC44586-88F4-4E44-8E5C-713BFE64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One word, three representations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F7D11C-197E-46EF-AB15-7A9A9D53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Work in pairs - 8 minutes</a:t>
            </a:r>
          </a:p>
          <a:p>
            <a:pPr lvl="1">
              <a:buNone/>
            </a:pPr>
            <a:endParaRPr/>
          </a:p>
          <a:p>
            <a:pPr lvl="2">
              <a:buNone/>
            </a:pPr>
            <a:r>
              <a:t>Compare these sentences:</a:t>
            </a:r>
          </a:p>
          <a:p>
            <a:pPr lvl="3">
              <a:buNone/>
            </a:pPr>
            <a:r>
              <a:t>A. “The bank approved the loan.”</a:t>
            </a:r>
          </a:p>
          <a:p>
            <a:pPr lvl="3">
              <a:buNone/>
            </a:pPr>
            <a:r>
              <a:t>B. “We sat beside the river bank.”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For the word “bank,” decide:</a:t>
            </a:r>
          </a:p>
          <a:p>
            <a:pPr lvl="4">
              <a:buNone/>
            </a:pPr>
            <a:r>
              <a:t>1. Would its Word2Vec embedding be the same or different?</a:t>
            </a:r>
          </a:p>
          <a:p>
            <a:pPr lvl="4">
              <a:buNone/>
            </a:pPr>
            <a:r>
              <a:t>2. Would its initial LLM token embedding be the same or different?</a:t>
            </a:r>
          </a:p>
          <a:p>
            <a:pPr lvl="4">
              <a:buNone/>
            </a:pPr>
            <a:r>
              <a:t>3. Would its contextual representation be the same or different?</a:t>
            </a:r>
          </a:p>
          <a:p>
            <a:pPr lvl="4">
              <a:buNone/>
            </a:pPr>
            <a:r>
              <a:t>4. Which nearby words help identify each meaning?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Explain which representation can distinguish the two meanings.</a:t>
            </a:r>
          </a:p>
        </p:txBody>
      </p:sp>
    </p:spTree>
    <p:extLst>
      <p:ext uri="{BB962C8B-B14F-4D97-AF65-F5344CB8AC3E}">
        <p14:creationId xmlns:p14="http://schemas.microsoft.com/office/powerpoint/2010/main" val="1907591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EC44586-88F4-4E44-8E5C-713BFE64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answers: Three representations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F7D11C-197E-46EF-AB15-7A9A9D53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Word2Vec embedding</a:t>
            </a:r>
          </a:p>
          <a:p>
            <a:pPr lvl="1">
              <a:buNone/>
            </a:pPr>
            <a:r>
              <a:t>The same. Word2Vec assigns one fixed vector to “bank,” so its different meanings are combined.</a:t>
            </a:r>
          </a:p>
          <a:p>
            <a:pPr lvl="2">
              <a:buNone/>
            </a:pPr>
            <a:endParaRPr/>
          </a:p>
          <a:p>
            <a:pPr lvl="3">
              <a:buNone/>
            </a:pPr>
            <a:r>
              <a:t>Initial LLM token embedding</a:t>
            </a:r>
          </a:p>
          <a:p>
            <a:pPr lvl="4">
              <a:buNone/>
            </a:pPr>
            <a:r>
              <a:t>The same when “bank” maps to the same token ID. It is a learned lookup vector before context is processed.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Contextual representation</a:t>
            </a:r>
          </a:p>
          <a:p>
            <a:pPr lvl="4">
              <a:buNone/>
            </a:pPr>
            <a:r>
              <a:t>Different. Attention uses surrounding words to update the representation.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Useful clues</a:t>
            </a:r>
          </a:p>
          <a:p>
            <a:pPr lvl="4">
              <a:buNone/>
            </a:pPr>
            <a:r>
              <a:t>“approved” and “loan” suggest a financial institution. “river” and “sat beside” suggest the edge of a river.</a:t>
            </a:r>
          </a:p>
        </p:txBody>
      </p:sp>
    </p:spTree>
    <p:extLst>
      <p:ext uri="{BB962C8B-B14F-4D97-AF65-F5344CB8AC3E}">
        <p14:creationId xmlns:p14="http://schemas.microsoft.com/office/powerpoint/2010/main" val="578341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Macintosh PowerPoint</Application>
  <DocSecurity>0</DocSecurity>
  <PresentationFormat>Widescreen</PresentationFormat>
  <Paragraphs>325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CMU Serif Roman</vt:lpstr>
      <vt:lpstr>CMU Serif Roman</vt:lpstr>
      <vt:lpstr>Comic Sans MS</vt:lpstr>
      <vt:lpstr>Consolas</vt:lpstr>
      <vt:lpstr>Constantia</vt:lpstr>
      <vt:lpstr>Roboto Serif</vt:lpstr>
      <vt:lpstr>Source Code Pro</vt:lpstr>
      <vt:lpstr>Wingdings</vt:lpstr>
      <vt:lpstr>office theme</vt:lpstr>
      <vt:lpstr>Simple Light</vt:lpstr>
      <vt:lpstr>Embeddings</vt:lpstr>
      <vt:lpstr>Overview</vt:lpstr>
      <vt:lpstr>Why do we even want "embeddings"</vt:lpstr>
      <vt:lpstr>Vectors</vt:lpstr>
      <vt:lpstr>Vectors</vt:lpstr>
      <vt:lpstr>Vectors</vt:lpstr>
      <vt:lpstr>Vectors</vt:lpstr>
      <vt:lpstr>Vectors</vt:lpstr>
      <vt:lpstr>Vectors</vt:lpstr>
      <vt:lpstr>Vectors</vt:lpstr>
      <vt:lpstr>Embeddings</vt:lpstr>
      <vt:lpstr>One-hot encoding</vt:lpstr>
      <vt:lpstr>One-hot encodings</vt:lpstr>
      <vt:lpstr>One-hot encodings</vt:lpstr>
      <vt:lpstr>word2vec</vt:lpstr>
      <vt:lpstr>word2vec</vt:lpstr>
      <vt:lpstr>word2vec</vt:lpstr>
      <vt:lpstr>word2vec</vt:lpstr>
      <vt:lpstr>word2vec</vt:lpstr>
      <vt:lpstr>Learned embeddings</vt:lpstr>
      <vt:lpstr>PowerPoint Presentation</vt:lpstr>
      <vt:lpstr>Static embeddings</vt:lpstr>
      <vt:lpstr>PowerPoint Presentation</vt:lpstr>
      <vt:lpstr>Activity: One word, three representations</vt:lpstr>
      <vt:lpstr>Activity answers: Three representations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Fariba Yousefi</cp:lastModifiedBy>
  <cp:revision>1</cp:revision>
  <dcterms:created xsi:type="dcterms:W3CDTF">2026-09-25T12:54:13Z</dcterms:created>
  <dcterms:modified xsi:type="dcterms:W3CDTF">2026-09-25T21:10:31Z</dcterms:modified>
</cp:coreProperties>
</file>