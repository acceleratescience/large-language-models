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256" r:id="rId2"/>
    <p:sldId id="257" r:id="rId3"/>
    <p:sldId id="258" r:id="rId4"/>
    <p:sldId id="286" r:id="rId5"/>
    <p:sldId id="293" r:id="rId6"/>
    <p:sldId id="277" r:id="rId7"/>
    <p:sldId id="294" r:id="rId8"/>
    <p:sldId id="295" r:id="rId9"/>
    <p:sldId id="296" r:id="rId10"/>
    <p:sldId id="287" r:id="rId11"/>
    <p:sldId id="292" r:id="rId12"/>
    <p:sldId id="288" r:id="rId13"/>
    <p:sldId id="289" r:id="rId14"/>
    <p:sldId id="290" r:id="rId15"/>
    <p:sldId id="291" r:id="rId16"/>
    <p:sldId id="298" r:id="rId17"/>
    <p:sldId id="297" r:id="rId18"/>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821F9F-6069-6346-29F5-A3BA023017DE}" v="129" dt="2026-03-04T09:59:36.602"/>
    <p1510:client id="{854A625E-8515-1E01-5131-95613C4BEA32}" v="65" dt="2026-03-04T14:57:40.3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dzim Sendyka" userId="S::rs2071@cam.ac.uk::c34e45c7-8fd4-474d-b626-7b28853f9a0f" providerId="AD" clId="Web-{854A625E-8515-1E01-5131-95613C4BEA32}"/>
    <pc:docChg chg="addSld modSld">
      <pc:chgData name="Radzim Sendyka" userId="S::rs2071@cam.ac.uk::c34e45c7-8fd4-474d-b626-7b28853f9a0f" providerId="AD" clId="Web-{854A625E-8515-1E01-5131-95613C4BEA32}" dt="2026-03-04T14:57:40.361" v="64"/>
      <pc:docMkLst>
        <pc:docMk/>
      </pc:docMkLst>
      <pc:sldChg chg="addSp delSp modSp add replId addAnim">
        <pc:chgData name="Radzim Sendyka" userId="S::rs2071@cam.ac.uk::c34e45c7-8fd4-474d-b626-7b28853f9a0f" providerId="AD" clId="Web-{854A625E-8515-1E01-5131-95613C4BEA32}" dt="2026-03-04T14:57:40.361" v="64"/>
        <pc:sldMkLst>
          <pc:docMk/>
          <pc:sldMk cId="4169821166" sldId="298"/>
        </pc:sldMkLst>
        <pc:spChg chg="mod">
          <ac:chgData name="Radzim Sendyka" userId="S::rs2071@cam.ac.uk::c34e45c7-8fd4-474d-b626-7b28853f9a0f" providerId="AD" clId="Web-{854A625E-8515-1E01-5131-95613C4BEA32}" dt="2026-03-04T12:34:47.249" v="63" actId="20577"/>
          <ac:spMkLst>
            <pc:docMk/>
            <pc:sldMk cId="4169821166" sldId="298"/>
            <ac:spMk id="2" creationId="{250036A6-A66B-E9EF-0680-68D08DC5B7A3}"/>
          </ac:spMkLst>
        </pc:spChg>
        <pc:spChg chg="add mod">
          <ac:chgData name="Radzim Sendyka" userId="S::rs2071@cam.ac.uk::c34e45c7-8fd4-474d-b626-7b28853f9a0f" providerId="AD" clId="Web-{854A625E-8515-1E01-5131-95613C4BEA32}" dt="2026-03-04T12:34:45.359" v="61" actId="1076"/>
          <ac:spMkLst>
            <pc:docMk/>
            <pc:sldMk cId="4169821166" sldId="298"/>
            <ac:spMk id="6" creationId="{58E74848-8FEC-DE59-C631-C859923E6EDC}"/>
          </ac:spMkLst>
        </pc:spChg>
        <pc:picChg chg="add mod">
          <ac:chgData name="Radzim Sendyka" userId="S::rs2071@cam.ac.uk::c34e45c7-8fd4-474d-b626-7b28853f9a0f" providerId="AD" clId="Web-{854A625E-8515-1E01-5131-95613C4BEA32}" dt="2026-03-04T12:34:45.343" v="60" actId="1076"/>
          <ac:picMkLst>
            <pc:docMk/>
            <pc:sldMk cId="4169821166" sldId="298"/>
            <ac:picMk id="3" creationId="{0400FBFB-D442-9709-25BA-F0590EFC4040}"/>
          </ac:picMkLst>
        </pc:picChg>
        <pc:picChg chg="del">
          <ac:chgData name="Radzim Sendyka" userId="S::rs2071@cam.ac.uk::c34e45c7-8fd4-474d-b626-7b28853f9a0f" providerId="AD" clId="Web-{854A625E-8515-1E01-5131-95613C4BEA32}" dt="2026-03-04T12:25:49.104" v="7"/>
          <ac:picMkLst>
            <pc:docMk/>
            <pc:sldMk cId="4169821166" sldId="298"/>
            <ac:picMk id="4" creationId="{5D049EFC-DA5D-4286-7233-6AA9B24943BD}"/>
          </ac:picMkLst>
        </pc:picChg>
        <pc:picChg chg="add mod">
          <ac:chgData name="Radzim Sendyka" userId="S::rs2071@cam.ac.uk::c34e45c7-8fd4-474d-b626-7b28853f9a0f" providerId="AD" clId="Web-{854A625E-8515-1E01-5131-95613C4BEA32}" dt="2026-03-04T12:34:45.406" v="62" actId="1076"/>
          <ac:picMkLst>
            <pc:docMk/>
            <pc:sldMk cId="4169821166" sldId="298"/>
            <ac:picMk id="7" creationId="{A6FDE989-1659-2A8B-4EB8-FE76120F96CE}"/>
          </ac:picMkLst>
        </pc:picChg>
      </pc:sldChg>
    </pc:docChg>
  </pc:docChgLst>
  <pc:docChgLst>
    <pc:chgData name="Radzim Sendyka" userId="S::rs2071@cam.ac.uk::c34e45c7-8fd4-474d-b626-7b28853f9a0f" providerId="AD" clId="Web-{4B821F9F-6069-6346-29F5-A3BA023017DE}"/>
    <pc:docChg chg="addSld modSld">
      <pc:chgData name="Radzim Sendyka" userId="S::rs2071@cam.ac.uk::c34e45c7-8fd4-474d-b626-7b28853f9a0f" providerId="AD" clId="Web-{4B821F9F-6069-6346-29F5-A3BA023017DE}" dt="2026-03-04T09:59:36.602" v="126" actId="20577"/>
      <pc:docMkLst>
        <pc:docMk/>
      </pc:docMkLst>
      <pc:sldChg chg="mod modShow">
        <pc:chgData name="Radzim Sendyka" userId="S::rs2071@cam.ac.uk::c34e45c7-8fd4-474d-b626-7b28853f9a0f" providerId="AD" clId="Web-{4B821F9F-6069-6346-29F5-A3BA023017DE}" dt="2026-03-04T09:48:30.296" v="0"/>
        <pc:sldMkLst>
          <pc:docMk/>
          <pc:sldMk cId="469275808" sldId="295"/>
        </pc:sldMkLst>
      </pc:sldChg>
      <pc:sldChg chg="addSp delSp modSp new">
        <pc:chgData name="Radzim Sendyka" userId="S::rs2071@cam.ac.uk::c34e45c7-8fd4-474d-b626-7b28853f9a0f" providerId="AD" clId="Web-{4B821F9F-6069-6346-29F5-A3BA023017DE}" dt="2026-03-04T09:59:36.602" v="126" actId="20577"/>
        <pc:sldMkLst>
          <pc:docMk/>
          <pc:sldMk cId="1183856686" sldId="297"/>
        </pc:sldMkLst>
        <pc:spChg chg="mod">
          <ac:chgData name="Radzim Sendyka" userId="S::rs2071@cam.ac.uk::c34e45c7-8fd4-474d-b626-7b28853f9a0f" providerId="AD" clId="Web-{4B821F9F-6069-6346-29F5-A3BA023017DE}" dt="2026-03-04T09:52:33.418" v="6" actId="20577"/>
          <ac:spMkLst>
            <pc:docMk/>
            <pc:sldMk cId="1183856686" sldId="297"/>
            <ac:spMk id="2" creationId="{F908AD0C-0B23-6910-6F79-FCF1D5137FBC}"/>
          </ac:spMkLst>
        </pc:spChg>
        <pc:spChg chg="add del mod">
          <ac:chgData name="Radzim Sendyka" userId="S::rs2071@cam.ac.uk::c34e45c7-8fd4-474d-b626-7b28853f9a0f" providerId="AD" clId="Web-{4B821F9F-6069-6346-29F5-A3BA023017DE}" dt="2026-03-04T09:59:36.602" v="126" actId="20577"/>
          <ac:spMkLst>
            <pc:docMk/>
            <pc:sldMk cId="1183856686" sldId="297"/>
            <ac:spMk id="3" creationId="{73298BBD-22F1-A215-4A33-DA4C713D9743}"/>
          </ac:spMkLst>
        </pc:spChg>
        <pc:picChg chg="add del mod ord">
          <ac:chgData name="Radzim Sendyka" userId="S::rs2071@cam.ac.uk::c34e45c7-8fd4-474d-b626-7b28853f9a0f" providerId="AD" clId="Web-{4B821F9F-6069-6346-29F5-A3BA023017DE}" dt="2026-03-04T09:53:34.920" v="12"/>
          <ac:picMkLst>
            <pc:docMk/>
            <pc:sldMk cId="1183856686" sldId="297"/>
            <ac:picMk id="4" creationId="{1FB7E879-FA38-F856-A6A1-77174BB69EAA}"/>
          </ac:picMkLst>
        </pc:picChg>
        <pc:picChg chg="add del mod ord">
          <ac:chgData name="Radzim Sendyka" userId="S::rs2071@cam.ac.uk::c34e45c7-8fd4-474d-b626-7b28853f9a0f" providerId="AD" clId="Web-{4B821F9F-6069-6346-29F5-A3BA023017DE}" dt="2026-03-04T09:53:37.920" v="14"/>
          <ac:picMkLst>
            <pc:docMk/>
            <pc:sldMk cId="1183856686" sldId="297"/>
            <ac:picMk id="5" creationId="{6C0DEEB9-3F4D-F71B-8780-C48E00591570}"/>
          </ac:picMkLst>
        </pc:picChg>
        <pc:picChg chg="add mod">
          <ac:chgData name="Radzim Sendyka" userId="S::rs2071@cam.ac.uk::c34e45c7-8fd4-474d-b626-7b28853f9a0f" providerId="AD" clId="Web-{4B821F9F-6069-6346-29F5-A3BA023017DE}" dt="2026-03-04T09:54:02.514" v="42" actId="1076"/>
          <ac:picMkLst>
            <pc:docMk/>
            <pc:sldMk cId="1183856686" sldId="297"/>
            <ac:picMk id="6" creationId="{6E7E41F0-CAAB-D6D4-3C7E-CF03DB3720B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D32BBE-F3E8-43AA-A5B0-4B425A9CF33C}" type="datetimeFigureOut">
              <a:t>3/4/2026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757181-7311-4AB5-B3AC-00899BA199F6}" type="slidenum">
              <a:t>‹#›</a:t>
            </a:fld>
            <a:endParaRPr lang="en-GB"/>
          </a:p>
        </p:txBody>
      </p:sp>
    </p:spTree>
    <p:extLst>
      <p:ext uri="{BB962C8B-B14F-4D97-AF65-F5344CB8AC3E}">
        <p14:creationId xmlns:p14="http://schemas.microsoft.com/office/powerpoint/2010/main" val="36490972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306756b4ba_0_29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3306756b4ba_0_29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BERT is what we call a </a:t>
            </a:r>
            <a:r>
              <a:rPr lang="en-GB" i="1"/>
              <a:t>masked</a:t>
            </a:r>
            <a:r>
              <a:rPr lang="en-GB"/>
              <a:t> token predictor. Here we have the same example. Except this time, we have masked the token “sat”. The job for bert is to predict this masked token. You see on the right, lots of different options. BERT will actually predict the probability of every possible token being the next token. So let’s say each token is a word, and suppose there are 200,000 words to choose from, then you’ll end up with 200,000 numbers. And the biggest number is the most likely next token. We’ll come back to this right hand side. But first I want to look at what’s going on in the left hand side.</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04/03/2026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04/03/2026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04/03/2026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04/03/2026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04/03/2026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04/03/2026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04/03/2026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04/03/2026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04/03/2026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04/03/2026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04/03/2026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415600" y="390467"/>
            <a:ext cx="11360800" cy="10680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19" name="Google Shape;19;p4"/>
          <p:cNvSpPr txBox="1">
            <a:spLocks noGrp="1"/>
          </p:cNvSpPr>
          <p:nvPr>
            <p:ph type="body" idx="1"/>
          </p:nvPr>
        </p:nvSpPr>
        <p:spPr>
          <a:xfrm>
            <a:off x="415600" y="1638233"/>
            <a:ext cx="11360800" cy="44536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20" name="Google Shape;20;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extLst>
      <p:ext uri="{BB962C8B-B14F-4D97-AF65-F5344CB8AC3E}">
        <p14:creationId xmlns:p14="http://schemas.microsoft.com/office/powerpoint/2010/main" val="2168373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04/03/2026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l"/>
            <a:r>
              <a:rPr lang="en-GB" dirty="0"/>
              <a:t>RAG</a:t>
            </a:r>
            <a:endParaRPr lang="en-US"/>
          </a:p>
        </p:txBody>
      </p:sp>
      <p:sp>
        <p:nvSpPr>
          <p:cNvPr id="3" name="Subtitle 2"/>
          <p:cNvSpPr>
            <a:spLocks noGrp="1"/>
          </p:cNvSpPr>
          <p:nvPr>
            <p:ph type="subTitle" idx="1"/>
          </p:nvPr>
        </p:nvSpPr>
        <p:spPr/>
        <p:txBody>
          <a:bodyPr vert="horz" lIns="91440" tIns="45720" rIns="91440" bIns="45720" rtlCol="0" anchor="t">
            <a:normAutofit/>
          </a:bodyPr>
          <a:lstStyle/>
          <a:p>
            <a:pPr algn="l"/>
            <a:r>
              <a:rPr lang="en-GB" dirty="0"/>
              <a:t>Retrieval Augmented Generation...</a:t>
            </a:r>
            <a:endParaRPr lang="en-US" dirty="0"/>
          </a:p>
          <a:p>
            <a:pPr algn="l"/>
            <a:endParaRPr lang="en-GB" dirty="0"/>
          </a:p>
          <a:p>
            <a:pPr algn="l"/>
            <a:r>
              <a:rPr lang="en-GB" dirty="0"/>
              <a:t>...and tools</a:t>
            </a:r>
          </a:p>
        </p:txBody>
      </p:sp>
      <p:pic>
        <p:nvPicPr>
          <p:cNvPr id="4" name="Picture 3" descr="A cartoon of a llama wearing a cape and mask&#10;&#10;AI-generated content may be incorrect.">
            <a:extLst>
              <a:ext uri="{FF2B5EF4-FFF2-40B4-BE49-F238E27FC236}">
                <a16:creationId xmlns:a16="http://schemas.microsoft.com/office/drawing/2014/main" id="{CEA277BA-8919-13FD-0608-11F8A08B959D}"/>
              </a:ext>
            </a:extLst>
          </p:cNvPr>
          <p:cNvPicPr>
            <a:picLocks noChangeAspect="1"/>
          </p:cNvPicPr>
          <p:nvPr/>
        </p:nvPicPr>
        <p:blipFill>
          <a:blip r:embed="rId2"/>
          <a:stretch>
            <a:fillRect/>
          </a:stretch>
        </p:blipFill>
        <p:spPr>
          <a:xfrm>
            <a:off x="9866539" y="3522889"/>
            <a:ext cx="2324100" cy="3486150"/>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694F5-3DF7-8763-1C92-8C5D4FACC121}"/>
              </a:ext>
            </a:extLst>
          </p:cNvPr>
          <p:cNvSpPr>
            <a:spLocks noGrp="1"/>
          </p:cNvSpPr>
          <p:nvPr>
            <p:ph type="title"/>
          </p:nvPr>
        </p:nvSpPr>
        <p:spPr/>
        <p:txBody>
          <a:bodyPr/>
          <a:lstStyle/>
          <a:p>
            <a:r>
              <a:rPr lang="en-GB" dirty="0"/>
              <a:t>Back to the kitchen</a:t>
            </a:r>
          </a:p>
        </p:txBody>
      </p:sp>
      <p:sp>
        <p:nvSpPr>
          <p:cNvPr id="3" name="Content Placeholder 2">
            <a:extLst>
              <a:ext uri="{FF2B5EF4-FFF2-40B4-BE49-F238E27FC236}">
                <a16:creationId xmlns:a16="http://schemas.microsoft.com/office/drawing/2014/main" id="{B8A2436E-9097-316C-AE3B-BAE2E3CA19AE}"/>
              </a:ext>
            </a:extLst>
          </p:cNvPr>
          <p:cNvSpPr>
            <a:spLocks noGrp="1"/>
          </p:cNvSpPr>
          <p:nvPr>
            <p:ph idx="1"/>
          </p:nvPr>
        </p:nvSpPr>
        <p:spPr/>
        <p:txBody>
          <a:bodyPr vert="horz" lIns="91440" tIns="45720" rIns="91440" bIns="45720" rtlCol="0" anchor="t">
            <a:normAutofit/>
          </a:bodyPr>
          <a:lstStyle/>
          <a:p>
            <a:pPr>
              <a:buNone/>
            </a:pPr>
            <a:endParaRPr lang="en-GB" sz="1800" dirty="0">
              <a:solidFill>
                <a:srgbClr val="0B7743"/>
              </a:solidFill>
              <a:latin typeface="Source Code Pro"/>
              <a:ea typeface="Source Code Pro"/>
            </a:endParaRPr>
          </a:p>
          <a:p>
            <a:pPr>
              <a:buNone/>
            </a:pPr>
            <a:endParaRPr lang="en-GB" sz="1800" dirty="0">
              <a:solidFill>
                <a:srgbClr val="0B7743"/>
              </a:solidFill>
              <a:latin typeface="Source Code Pro"/>
              <a:ea typeface="Source Code Pro"/>
            </a:endParaRPr>
          </a:p>
          <a:p>
            <a:pPr>
              <a:buNone/>
            </a:pPr>
            <a:r>
              <a:rPr lang="en-GB" sz="1800" dirty="0">
                <a:solidFill>
                  <a:srgbClr val="0B7743"/>
                </a:solidFill>
                <a:latin typeface="Source Code Pro"/>
                <a:ea typeface="Source Code Pro"/>
              </a:rPr>
              <a:t>‘system’</a:t>
            </a:r>
            <a:r>
              <a:rPr lang="en-GB" sz="1800" dirty="0">
                <a:solidFill>
                  <a:srgbClr val="666666"/>
                </a:solidFill>
                <a:latin typeface="Source Code Pro"/>
                <a:ea typeface="Source Code Pro"/>
              </a:rPr>
              <a:t>    : </a:t>
            </a:r>
            <a:r>
              <a:rPr lang="en-GB" sz="1800" dirty="0">
                <a:solidFill>
                  <a:srgbClr val="9325A5"/>
                </a:solidFill>
                <a:latin typeface="Source Code Pro"/>
                <a:ea typeface="Source Code Pro"/>
              </a:rPr>
              <a:t>“You are an expert in baking.”</a:t>
            </a:r>
            <a:endParaRPr lang="en-GB"/>
          </a:p>
          <a:p>
            <a:pPr>
              <a:buNone/>
            </a:pPr>
            <a:r>
              <a:rPr lang="en-GB" sz="1800" dirty="0">
                <a:solidFill>
                  <a:srgbClr val="0B7743"/>
                </a:solidFill>
                <a:latin typeface="Source Code Pro"/>
                <a:ea typeface="Source Code Pro"/>
              </a:rPr>
              <a:t>‘user’</a:t>
            </a:r>
            <a:r>
              <a:rPr lang="en-GB" sz="1800" dirty="0">
                <a:solidFill>
                  <a:srgbClr val="666666"/>
                </a:solidFill>
                <a:latin typeface="Source Code Pro"/>
                <a:ea typeface="Source Code Pro"/>
              </a:rPr>
              <a:t>      : </a:t>
            </a:r>
            <a:r>
              <a:rPr lang="en-GB" sz="1800" dirty="0">
                <a:solidFill>
                  <a:srgbClr val="9325A5"/>
                </a:solidFill>
                <a:latin typeface="Source Code Pro"/>
                <a:ea typeface="Source Code Pro"/>
              </a:rPr>
              <a:t>“Provide me a recipe for macarons.”</a:t>
            </a:r>
            <a:endParaRPr lang="en-GB"/>
          </a:p>
          <a:p>
            <a:pPr marL="0" indent="0">
              <a:buNone/>
            </a:pPr>
            <a:r>
              <a:rPr lang="en-GB" sz="1800" dirty="0">
                <a:solidFill>
                  <a:srgbClr val="0B7743"/>
                </a:solidFill>
                <a:latin typeface="Source Code Pro"/>
                <a:ea typeface="Source Code Pro"/>
              </a:rPr>
              <a:t>‘assistant’</a:t>
            </a:r>
            <a:r>
              <a:rPr lang="en-GB" sz="1800" dirty="0">
                <a:solidFill>
                  <a:srgbClr val="666666"/>
                </a:solidFill>
                <a:latin typeface="Source Code Pro"/>
                <a:ea typeface="Source Code Pro"/>
              </a:rPr>
              <a:t> : </a:t>
            </a:r>
            <a:r>
              <a:rPr lang="en-GB" sz="1800" dirty="0">
                <a:solidFill>
                  <a:srgbClr val="9325A5"/>
                </a:solidFill>
                <a:latin typeface="Source Code Pro"/>
                <a:ea typeface="Source Code Pro"/>
              </a:rPr>
              <a:t>“Certainly! Here is a recipe for macarons …”</a:t>
            </a:r>
            <a:endParaRPr lang="en-GB" dirty="0"/>
          </a:p>
        </p:txBody>
      </p:sp>
    </p:spTree>
    <p:extLst>
      <p:ext uri="{BB962C8B-B14F-4D97-AF65-F5344CB8AC3E}">
        <p14:creationId xmlns:p14="http://schemas.microsoft.com/office/powerpoint/2010/main" val="36146250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B46B5-8E8C-80F3-DDCD-01839778E4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E6C09F-7785-7CF4-A2CD-610FEBF0316B}"/>
              </a:ext>
            </a:extLst>
          </p:cNvPr>
          <p:cNvSpPr>
            <a:spLocks noGrp="1"/>
          </p:cNvSpPr>
          <p:nvPr>
            <p:ph type="title"/>
          </p:nvPr>
        </p:nvSpPr>
        <p:spPr/>
        <p:txBody>
          <a:bodyPr/>
          <a:lstStyle/>
          <a:p>
            <a:r>
              <a:rPr lang="en-GB" dirty="0"/>
              <a:t>Back to the kitchen</a:t>
            </a:r>
          </a:p>
        </p:txBody>
      </p:sp>
      <p:sp>
        <p:nvSpPr>
          <p:cNvPr id="3" name="Content Placeholder 2">
            <a:extLst>
              <a:ext uri="{FF2B5EF4-FFF2-40B4-BE49-F238E27FC236}">
                <a16:creationId xmlns:a16="http://schemas.microsoft.com/office/drawing/2014/main" id="{A6EBC4D8-8DCE-0F46-D95A-92A4BFCEAFB8}"/>
              </a:ext>
            </a:extLst>
          </p:cNvPr>
          <p:cNvSpPr>
            <a:spLocks noGrp="1"/>
          </p:cNvSpPr>
          <p:nvPr>
            <p:ph idx="1"/>
          </p:nvPr>
        </p:nvSpPr>
        <p:spPr/>
        <p:txBody>
          <a:bodyPr vert="horz" lIns="91440" tIns="45720" rIns="91440" bIns="45720" rtlCol="0" anchor="t">
            <a:normAutofit/>
          </a:bodyPr>
          <a:lstStyle/>
          <a:p>
            <a:pPr>
              <a:buNone/>
            </a:pPr>
            <a:endParaRPr lang="en-GB" sz="1800" dirty="0">
              <a:solidFill>
                <a:srgbClr val="0B7743"/>
              </a:solidFill>
              <a:latin typeface="Source Code Pro"/>
              <a:ea typeface="Source Code Pro"/>
            </a:endParaRPr>
          </a:p>
          <a:p>
            <a:pPr>
              <a:buNone/>
            </a:pPr>
            <a:endParaRPr lang="en-GB" sz="1800" dirty="0">
              <a:solidFill>
                <a:srgbClr val="0B7743"/>
              </a:solidFill>
              <a:latin typeface="Source Code Pro"/>
              <a:ea typeface="Source Code Pro"/>
            </a:endParaRPr>
          </a:p>
          <a:p>
            <a:pPr>
              <a:buNone/>
            </a:pPr>
            <a:r>
              <a:rPr lang="en-GB" sz="1800" dirty="0">
                <a:solidFill>
                  <a:srgbClr val="0B7743"/>
                </a:solidFill>
                <a:latin typeface="Source Code Pro"/>
                <a:ea typeface="Source Code Pro"/>
              </a:rPr>
              <a:t>‘system’</a:t>
            </a:r>
            <a:r>
              <a:rPr lang="en-GB" sz="1800" dirty="0">
                <a:solidFill>
                  <a:srgbClr val="666666"/>
                </a:solidFill>
                <a:latin typeface="Source Code Pro"/>
                <a:ea typeface="Source Code Pro"/>
              </a:rPr>
              <a:t>    : </a:t>
            </a:r>
            <a:r>
              <a:rPr lang="en-GB" sz="1800" dirty="0">
                <a:solidFill>
                  <a:srgbClr val="9325A5"/>
                </a:solidFill>
                <a:latin typeface="Source Code Pro"/>
                <a:ea typeface="Source Code Pro"/>
              </a:rPr>
              <a:t>“You are an expert in baking.”</a:t>
            </a:r>
            <a:endParaRPr lang="en-GB"/>
          </a:p>
          <a:p>
            <a:pPr>
              <a:buNone/>
            </a:pPr>
            <a:r>
              <a:rPr lang="en-GB" sz="1800" dirty="0">
                <a:solidFill>
                  <a:srgbClr val="0B7743"/>
                </a:solidFill>
                <a:latin typeface="Source Code Pro"/>
                <a:ea typeface="Source Code Pro"/>
              </a:rPr>
              <a:t>‘knowledge’</a:t>
            </a:r>
            <a:r>
              <a:rPr lang="en-GB" sz="1800" dirty="0">
                <a:solidFill>
                  <a:srgbClr val="666666"/>
                </a:solidFill>
                <a:latin typeface="Source Code Pro"/>
                <a:ea typeface="Source Code Pro"/>
              </a:rPr>
              <a:t> : </a:t>
            </a:r>
            <a:r>
              <a:rPr lang="en-GB" sz="1800" dirty="0">
                <a:solidFill>
                  <a:srgbClr val="9325A5"/>
                </a:solidFill>
                <a:latin typeface="Source Code Pro"/>
                <a:ea typeface="Source Code Pro"/>
              </a:rPr>
              <a:t>“Recipe 1, Recipe 2, … Recipe 1000”</a:t>
            </a:r>
            <a:endParaRPr lang="en-GB" dirty="0"/>
          </a:p>
          <a:p>
            <a:pPr>
              <a:buNone/>
            </a:pPr>
            <a:r>
              <a:rPr lang="en-GB" sz="1800" dirty="0">
                <a:solidFill>
                  <a:srgbClr val="0B7743"/>
                </a:solidFill>
                <a:latin typeface="Source Code Pro"/>
                <a:ea typeface="Source Code Pro"/>
              </a:rPr>
              <a:t>‘user’</a:t>
            </a:r>
            <a:r>
              <a:rPr lang="en-GB" sz="1800" dirty="0">
                <a:solidFill>
                  <a:srgbClr val="666666"/>
                </a:solidFill>
                <a:latin typeface="Source Code Pro"/>
                <a:ea typeface="Source Code Pro"/>
              </a:rPr>
              <a:t>      : </a:t>
            </a:r>
            <a:r>
              <a:rPr lang="en-GB" sz="1800" dirty="0">
                <a:solidFill>
                  <a:srgbClr val="9325A5"/>
                </a:solidFill>
                <a:latin typeface="Source Code Pro"/>
                <a:ea typeface="Source Code Pro"/>
              </a:rPr>
              <a:t>“Provide me a recipe for macarons.”</a:t>
            </a:r>
            <a:endParaRPr lang="en-GB"/>
          </a:p>
          <a:p>
            <a:pPr marL="0" indent="0">
              <a:buNone/>
            </a:pPr>
            <a:r>
              <a:rPr lang="en-GB" sz="1800" dirty="0">
                <a:solidFill>
                  <a:srgbClr val="0B7743"/>
                </a:solidFill>
                <a:latin typeface="Source Code Pro"/>
                <a:ea typeface="Source Code Pro"/>
              </a:rPr>
              <a:t>‘assistant’</a:t>
            </a:r>
            <a:r>
              <a:rPr lang="en-GB" sz="1800" dirty="0">
                <a:solidFill>
                  <a:srgbClr val="666666"/>
                </a:solidFill>
                <a:latin typeface="Source Code Pro"/>
                <a:ea typeface="Source Code Pro"/>
              </a:rPr>
              <a:t> : </a:t>
            </a:r>
            <a:r>
              <a:rPr lang="en-GB" sz="1800" dirty="0">
                <a:solidFill>
                  <a:srgbClr val="9325A5"/>
                </a:solidFill>
                <a:latin typeface="Source Code Pro"/>
                <a:ea typeface="Source Code Pro"/>
              </a:rPr>
              <a:t>“Certainly! Here is a recipe for macarons …”</a:t>
            </a:r>
            <a:endParaRPr lang="en-GB" dirty="0"/>
          </a:p>
        </p:txBody>
      </p:sp>
    </p:spTree>
    <p:extLst>
      <p:ext uri="{BB962C8B-B14F-4D97-AF65-F5344CB8AC3E}">
        <p14:creationId xmlns:p14="http://schemas.microsoft.com/office/powerpoint/2010/main" val="1300834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06A0E-A2E0-97D3-91DC-A3F6BB85A147}"/>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16C9448F-C867-8A29-B3F7-1D1BF3E5705D}"/>
              </a:ext>
            </a:extLst>
          </p:cNvPr>
          <p:cNvSpPr/>
          <p:nvPr/>
        </p:nvSpPr>
        <p:spPr>
          <a:xfrm rot="1680000">
            <a:off x="8014413" y="4438111"/>
            <a:ext cx="723893" cy="1120287"/>
          </a:xfrm>
          <a:custGeom>
            <a:avLst/>
            <a:gdLst>
              <a:gd name="csX0" fmla="*/ 0 w 723893"/>
              <a:gd name="csY0" fmla="*/ 560144 h 1120287"/>
              <a:gd name="csX1" fmla="*/ 361947 w 723893"/>
              <a:gd name="csY1" fmla="*/ 0 h 1120287"/>
              <a:gd name="csX2" fmla="*/ 723894 w 723893"/>
              <a:gd name="csY2" fmla="*/ 560144 h 1120287"/>
              <a:gd name="csX3" fmla="*/ 361947 w 723893"/>
              <a:gd name="csY3" fmla="*/ 1120288 h 1120287"/>
              <a:gd name="csX4" fmla="*/ 0 w 723893"/>
              <a:gd name="csY4" fmla="*/ 560144 h 1120287"/>
            </a:gdLst>
            <a:ahLst/>
            <a:cxnLst>
              <a:cxn ang="0">
                <a:pos x="csX0" y="csY0"/>
              </a:cxn>
              <a:cxn ang="0">
                <a:pos x="csX1" y="csY1"/>
              </a:cxn>
              <a:cxn ang="0">
                <a:pos x="csX2" y="csY2"/>
              </a:cxn>
              <a:cxn ang="0">
                <a:pos x="csX3" y="csY3"/>
              </a:cxn>
              <a:cxn ang="0">
                <a:pos x="csX4" y="csY4"/>
              </a:cxn>
            </a:cxnLst>
            <a:rect l="l" t="t" r="r" b="b"/>
            <a:pathLst>
              <a:path w="723893" h="1120287" fill="none" extrusionOk="0">
                <a:moveTo>
                  <a:pt x="0" y="560144"/>
                </a:moveTo>
                <a:cubicBezTo>
                  <a:pt x="-4275" y="218006"/>
                  <a:pt x="161241" y="6306"/>
                  <a:pt x="361947" y="0"/>
                </a:cubicBezTo>
                <a:cubicBezTo>
                  <a:pt x="545784" y="-28608"/>
                  <a:pt x="747236" y="289015"/>
                  <a:pt x="723894" y="560144"/>
                </a:cubicBezTo>
                <a:cubicBezTo>
                  <a:pt x="742226" y="903357"/>
                  <a:pt x="557931" y="1110911"/>
                  <a:pt x="361947" y="1120288"/>
                </a:cubicBezTo>
                <a:cubicBezTo>
                  <a:pt x="135482" y="1116640"/>
                  <a:pt x="-30271" y="877625"/>
                  <a:pt x="0" y="560144"/>
                </a:cubicBezTo>
                <a:close/>
              </a:path>
              <a:path w="723893" h="1120287" stroke="0" extrusionOk="0">
                <a:moveTo>
                  <a:pt x="0" y="560144"/>
                </a:moveTo>
                <a:cubicBezTo>
                  <a:pt x="-1766" y="230629"/>
                  <a:pt x="125361" y="-31262"/>
                  <a:pt x="361947" y="0"/>
                </a:cubicBezTo>
                <a:cubicBezTo>
                  <a:pt x="567197" y="-19255"/>
                  <a:pt x="706624" y="228558"/>
                  <a:pt x="723894" y="560144"/>
                </a:cubicBezTo>
                <a:cubicBezTo>
                  <a:pt x="715492" y="892647"/>
                  <a:pt x="600618" y="1110536"/>
                  <a:pt x="361947" y="1120288"/>
                </a:cubicBezTo>
                <a:cubicBezTo>
                  <a:pt x="202916" y="1070941"/>
                  <a:pt x="-30498" y="849575"/>
                  <a:pt x="0" y="560144"/>
                </a:cubicBezTo>
                <a:close/>
              </a:path>
            </a:pathLst>
          </a:custGeom>
          <a:solidFill>
            <a:schemeClr val="accent2">
              <a:lumMod val="20000"/>
              <a:lumOff val="80000"/>
            </a:schemeClr>
          </a:solidFill>
          <a:ln w="28575">
            <a:solidFill>
              <a:srgbClr val="C00000"/>
            </a:solidFill>
            <a:prstDash val="dash"/>
            <a:extLst>
              <a:ext uri="{C807C97D-BFC1-408E-A445-0C87EB9F89A2}">
                <ask:lineSketchStyleProps xmlns:ask="http://schemas.microsoft.com/office/drawing/2018/sketchyshapes" sd="726005481">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Oval 3">
            <a:extLst>
              <a:ext uri="{FF2B5EF4-FFF2-40B4-BE49-F238E27FC236}">
                <a16:creationId xmlns:a16="http://schemas.microsoft.com/office/drawing/2014/main" id="{BA74D062-1FE6-92DF-D3BD-E6ECC325FD79}"/>
              </a:ext>
            </a:extLst>
          </p:cNvPr>
          <p:cNvSpPr/>
          <p:nvPr/>
        </p:nvSpPr>
        <p:spPr>
          <a:xfrm rot="-2040000">
            <a:off x="7249675" y="2714395"/>
            <a:ext cx="670289" cy="1432288"/>
          </a:xfrm>
          <a:custGeom>
            <a:avLst/>
            <a:gdLst>
              <a:gd name="csX0" fmla="*/ 0 w 670289"/>
              <a:gd name="csY0" fmla="*/ 716144 h 1432288"/>
              <a:gd name="csX1" fmla="*/ 335145 w 670289"/>
              <a:gd name="csY1" fmla="*/ 0 h 1432288"/>
              <a:gd name="csX2" fmla="*/ 670290 w 670289"/>
              <a:gd name="csY2" fmla="*/ 716144 h 1432288"/>
              <a:gd name="csX3" fmla="*/ 335145 w 670289"/>
              <a:gd name="csY3" fmla="*/ 1432288 h 1432288"/>
              <a:gd name="csX4" fmla="*/ 0 w 670289"/>
              <a:gd name="csY4" fmla="*/ 716144 h 1432288"/>
            </a:gdLst>
            <a:ahLst/>
            <a:cxnLst>
              <a:cxn ang="0">
                <a:pos x="csX0" y="csY0"/>
              </a:cxn>
              <a:cxn ang="0">
                <a:pos x="csX1" y="csY1"/>
              </a:cxn>
              <a:cxn ang="0">
                <a:pos x="csX2" y="csY2"/>
              </a:cxn>
              <a:cxn ang="0">
                <a:pos x="csX3" y="csY3"/>
              </a:cxn>
              <a:cxn ang="0">
                <a:pos x="csX4" y="csY4"/>
              </a:cxn>
            </a:cxnLst>
            <a:rect l="l" t="t" r="r" b="b"/>
            <a:pathLst>
              <a:path w="670289" h="1432288" fill="none" extrusionOk="0">
                <a:moveTo>
                  <a:pt x="0" y="716144"/>
                </a:moveTo>
                <a:cubicBezTo>
                  <a:pt x="-4909" y="282989"/>
                  <a:pt x="149451" y="4671"/>
                  <a:pt x="335145" y="0"/>
                </a:cubicBezTo>
                <a:cubicBezTo>
                  <a:pt x="479156" y="-73179"/>
                  <a:pt x="715206" y="394194"/>
                  <a:pt x="670290" y="716144"/>
                </a:cubicBezTo>
                <a:cubicBezTo>
                  <a:pt x="676417" y="1122974"/>
                  <a:pt x="509915" y="1407553"/>
                  <a:pt x="335145" y="1432288"/>
                </a:cubicBezTo>
                <a:cubicBezTo>
                  <a:pt x="137397" y="1430551"/>
                  <a:pt x="-44516" y="1123603"/>
                  <a:pt x="0" y="716144"/>
                </a:cubicBezTo>
                <a:close/>
              </a:path>
              <a:path w="670289" h="1432288" stroke="0" extrusionOk="0">
                <a:moveTo>
                  <a:pt x="0" y="716144"/>
                </a:moveTo>
                <a:cubicBezTo>
                  <a:pt x="-1593" y="302446"/>
                  <a:pt x="130692" y="-16495"/>
                  <a:pt x="335145" y="0"/>
                </a:cubicBezTo>
                <a:cubicBezTo>
                  <a:pt x="536846" y="-59747"/>
                  <a:pt x="621202" y="257453"/>
                  <a:pt x="670290" y="716144"/>
                </a:cubicBezTo>
                <a:cubicBezTo>
                  <a:pt x="657248" y="1147583"/>
                  <a:pt x="535028" y="1428569"/>
                  <a:pt x="335145" y="1432288"/>
                </a:cubicBezTo>
                <a:cubicBezTo>
                  <a:pt x="177178" y="1399531"/>
                  <a:pt x="-42805" y="1083690"/>
                  <a:pt x="0" y="716144"/>
                </a:cubicBezTo>
                <a:close/>
              </a:path>
            </a:pathLst>
          </a:custGeom>
          <a:solidFill>
            <a:schemeClr val="tx2">
              <a:lumMod val="10000"/>
              <a:lumOff val="90000"/>
            </a:schemeClr>
          </a:solidFill>
          <a:ln w="28575">
            <a:prstDash val="dash"/>
            <a:extLst>
              <a:ext uri="{C807C97D-BFC1-408E-A445-0C87EB9F89A2}">
                <ask:lineSketchStyleProps xmlns:ask="http://schemas.microsoft.com/office/drawing/2018/sketchyshapes" sd="726005481">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A2BF1E60-03A5-E1A8-FBAA-FC4213825409}"/>
              </a:ext>
            </a:extLst>
          </p:cNvPr>
          <p:cNvSpPr>
            <a:spLocks noGrp="1"/>
          </p:cNvSpPr>
          <p:nvPr>
            <p:ph type="title"/>
          </p:nvPr>
        </p:nvSpPr>
        <p:spPr/>
        <p:txBody>
          <a:bodyPr/>
          <a:lstStyle/>
          <a:p>
            <a:r>
              <a:rPr lang="en-GB" dirty="0"/>
              <a:t>Back to Vectors</a:t>
            </a:r>
          </a:p>
        </p:txBody>
      </p:sp>
      <p:sp>
        <p:nvSpPr>
          <p:cNvPr id="3" name="Content Placeholder 2">
            <a:extLst>
              <a:ext uri="{FF2B5EF4-FFF2-40B4-BE49-F238E27FC236}">
                <a16:creationId xmlns:a16="http://schemas.microsoft.com/office/drawing/2014/main" id="{B9FA9FBE-45F7-53A0-E885-B88F844166BA}"/>
              </a:ext>
            </a:extLst>
          </p:cNvPr>
          <p:cNvSpPr>
            <a:spLocks noGrp="1"/>
          </p:cNvSpPr>
          <p:nvPr>
            <p:ph idx="1"/>
          </p:nvPr>
        </p:nvSpPr>
        <p:spPr>
          <a:xfrm>
            <a:off x="838200" y="1825625"/>
            <a:ext cx="4868636" cy="4351338"/>
          </a:xfrm>
        </p:spPr>
        <p:txBody>
          <a:bodyPr vert="horz" lIns="91440" tIns="45720" rIns="91440" bIns="45720" rtlCol="0" anchor="t">
            <a:normAutofit/>
          </a:bodyPr>
          <a:lstStyle/>
          <a:p>
            <a:pPr marL="0" indent="0">
              <a:buNone/>
            </a:pPr>
            <a:endParaRPr lang="en-GB" dirty="0"/>
          </a:p>
          <a:p>
            <a:pPr marL="0" indent="0">
              <a:buNone/>
            </a:pPr>
            <a:endParaRPr lang="en-GB" dirty="0"/>
          </a:p>
          <a:p>
            <a:pPr marL="0" indent="0">
              <a:buNone/>
            </a:pPr>
            <a:endParaRPr lang="en-GB" dirty="0"/>
          </a:p>
          <a:p>
            <a:pPr marL="0" indent="0">
              <a:buNone/>
            </a:pPr>
            <a:r>
              <a:rPr lang="en-GB" dirty="0"/>
              <a:t>Wouldn't it be nice if we vectorize our recipes...?</a:t>
            </a:r>
          </a:p>
        </p:txBody>
      </p:sp>
      <p:cxnSp>
        <p:nvCxnSpPr>
          <p:cNvPr id="8" name="Google Shape;103;p16">
            <a:extLst>
              <a:ext uri="{FF2B5EF4-FFF2-40B4-BE49-F238E27FC236}">
                <a16:creationId xmlns:a16="http://schemas.microsoft.com/office/drawing/2014/main" id="{D18BF232-B32E-9CC0-1082-6F54661EF8B8}"/>
              </a:ext>
            </a:extLst>
          </p:cNvPr>
          <p:cNvCxnSpPr/>
          <p:nvPr/>
        </p:nvCxnSpPr>
        <p:spPr>
          <a:xfrm rot="10800000">
            <a:off x="6558676" y="1309400"/>
            <a:ext cx="0" cy="4422426"/>
          </a:xfrm>
          <a:prstGeom prst="straightConnector1">
            <a:avLst/>
          </a:prstGeom>
          <a:noFill/>
          <a:ln w="28575" cap="flat" cmpd="sng">
            <a:solidFill>
              <a:schemeClr val="dk2"/>
            </a:solidFill>
            <a:prstDash val="solid"/>
            <a:round/>
            <a:headEnd type="none" w="med" len="med"/>
            <a:tailEnd type="triangle" w="med" len="med"/>
          </a:ln>
        </p:spPr>
      </p:cxnSp>
      <p:sp>
        <p:nvSpPr>
          <p:cNvPr id="9" name="Google Shape;105;p16">
            <a:extLst>
              <a:ext uri="{FF2B5EF4-FFF2-40B4-BE49-F238E27FC236}">
                <a16:creationId xmlns:a16="http://schemas.microsoft.com/office/drawing/2014/main" id="{D48CA7B3-2A6C-3070-F1A7-2FB90B311B4B}"/>
              </a:ext>
            </a:extLst>
          </p:cNvPr>
          <p:cNvSpPr txBox="1"/>
          <p:nvPr/>
        </p:nvSpPr>
        <p:spPr>
          <a:xfrm>
            <a:off x="11011276" y="5548849"/>
            <a:ext cx="314700" cy="274428"/>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GB" sz="2400" i="1">
                <a:solidFill>
                  <a:schemeClr val="dk2"/>
                </a:solidFill>
                <a:latin typeface="Constantia"/>
                <a:ea typeface="Roboto Serif"/>
                <a:cs typeface="Roboto Serif"/>
                <a:sym typeface="Roboto Serif"/>
              </a:rPr>
              <a:t>x</a:t>
            </a:r>
            <a:endParaRPr sz="2400" i="1">
              <a:solidFill>
                <a:schemeClr val="dk2"/>
              </a:solidFill>
              <a:latin typeface="Constantia"/>
              <a:ea typeface="Roboto Serif"/>
              <a:cs typeface="Roboto Serif"/>
              <a:sym typeface="Roboto Serif"/>
            </a:endParaRPr>
          </a:p>
        </p:txBody>
      </p:sp>
      <p:sp>
        <p:nvSpPr>
          <p:cNvPr id="10" name="Google Shape;106;p16">
            <a:extLst>
              <a:ext uri="{FF2B5EF4-FFF2-40B4-BE49-F238E27FC236}">
                <a16:creationId xmlns:a16="http://schemas.microsoft.com/office/drawing/2014/main" id="{CD9A5DDD-0853-A42E-9CF0-D80BFAC0A201}"/>
              </a:ext>
            </a:extLst>
          </p:cNvPr>
          <p:cNvSpPr txBox="1"/>
          <p:nvPr/>
        </p:nvSpPr>
        <p:spPr>
          <a:xfrm>
            <a:off x="6093083" y="1034972"/>
            <a:ext cx="314700" cy="274428"/>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GB" sz="2400" i="1">
                <a:solidFill>
                  <a:schemeClr val="dk2"/>
                </a:solidFill>
                <a:latin typeface="Constantia"/>
                <a:ea typeface="Roboto Serif"/>
                <a:cs typeface="Roboto Serif"/>
                <a:sym typeface="Roboto Serif"/>
              </a:rPr>
              <a:t>y</a:t>
            </a:r>
            <a:endParaRPr sz="2400" i="1">
              <a:solidFill>
                <a:schemeClr val="dk2"/>
              </a:solidFill>
              <a:latin typeface="Constantia"/>
              <a:ea typeface="Roboto Serif"/>
              <a:cs typeface="Roboto Serif"/>
              <a:sym typeface="Roboto Serif"/>
            </a:endParaRPr>
          </a:p>
        </p:txBody>
      </p:sp>
      <p:cxnSp>
        <p:nvCxnSpPr>
          <p:cNvPr id="11" name="Google Shape;107;p16">
            <a:extLst>
              <a:ext uri="{FF2B5EF4-FFF2-40B4-BE49-F238E27FC236}">
                <a16:creationId xmlns:a16="http://schemas.microsoft.com/office/drawing/2014/main" id="{B44A7692-78D6-2188-F80A-265BF0C75BF3}"/>
              </a:ext>
            </a:extLst>
          </p:cNvPr>
          <p:cNvCxnSpPr/>
          <p:nvPr/>
        </p:nvCxnSpPr>
        <p:spPr>
          <a:xfrm rot="10800000" flipH="1">
            <a:off x="6558676" y="3749451"/>
            <a:ext cx="1412700" cy="1982375"/>
          </a:xfrm>
          <a:prstGeom prst="straightConnector1">
            <a:avLst/>
          </a:prstGeom>
          <a:noFill/>
          <a:ln w="28575" cap="flat" cmpd="sng">
            <a:solidFill>
              <a:schemeClr val="accent1"/>
            </a:solidFill>
            <a:prstDash val="solid"/>
            <a:round/>
            <a:headEnd type="none" w="med" len="med"/>
            <a:tailEnd type="triangle" w="med" len="med"/>
          </a:ln>
        </p:spPr>
      </p:cxnSp>
      <p:cxnSp>
        <p:nvCxnSpPr>
          <p:cNvPr id="12" name="Google Shape;108;p16">
            <a:extLst>
              <a:ext uri="{FF2B5EF4-FFF2-40B4-BE49-F238E27FC236}">
                <a16:creationId xmlns:a16="http://schemas.microsoft.com/office/drawing/2014/main" id="{F88CD167-94C8-49E3-0301-F340C14D3E46}"/>
              </a:ext>
            </a:extLst>
          </p:cNvPr>
          <p:cNvCxnSpPr/>
          <p:nvPr/>
        </p:nvCxnSpPr>
        <p:spPr>
          <a:xfrm rot="10800000" flipH="1">
            <a:off x="6558676" y="4733041"/>
            <a:ext cx="2164800" cy="998785"/>
          </a:xfrm>
          <a:prstGeom prst="straightConnector1">
            <a:avLst/>
          </a:prstGeom>
          <a:noFill/>
          <a:ln w="28575" cap="flat" cmpd="sng">
            <a:solidFill>
              <a:srgbClr val="980000"/>
            </a:solidFill>
            <a:prstDash val="solid"/>
            <a:round/>
            <a:headEnd type="none" w="med" len="med"/>
            <a:tailEnd type="triangle" w="med" len="med"/>
          </a:ln>
        </p:spPr>
      </p:cxnSp>
      <p:sp>
        <p:nvSpPr>
          <p:cNvPr id="13" name="Google Shape;109;p16">
            <a:extLst>
              <a:ext uri="{FF2B5EF4-FFF2-40B4-BE49-F238E27FC236}">
                <a16:creationId xmlns:a16="http://schemas.microsoft.com/office/drawing/2014/main" id="{246852EB-8D2A-EE56-D709-8F27103EEBEF}"/>
              </a:ext>
            </a:extLst>
          </p:cNvPr>
          <p:cNvSpPr txBox="1"/>
          <p:nvPr/>
        </p:nvSpPr>
        <p:spPr>
          <a:xfrm>
            <a:off x="7987826" y="3432907"/>
            <a:ext cx="2355122" cy="546788"/>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GB" sz="2400" i="1" dirty="0">
                <a:solidFill>
                  <a:schemeClr val="accent1"/>
                </a:solidFill>
                <a:latin typeface="Constantia"/>
                <a:ea typeface="Roboto Serif"/>
                <a:cs typeface="Roboto Serif"/>
                <a:sym typeface="Roboto Serif"/>
              </a:rPr>
              <a:t>French macaron</a:t>
            </a:r>
            <a:endParaRPr lang="en-GB" sz="2400" dirty="0">
              <a:solidFill>
                <a:schemeClr val="accent1"/>
              </a:solidFill>
              <a:latin typeface="Constantia"/>
              <a:ea typeface="Roboto Serif"/>
              <a:cs typeface="Roboto Serif"/>
            </a:endParaRPr>
          </a:p>
        </p:txBody>
      </p:sp>
      <p:sp>
        <p:nvSpPr>
          <p:cNvPr id="14" name="Google Shape;110;p16">
            <a:extLst>
              <a:ext uri="{FF2B5EF4-FFF2-40B4-BE49-F238E27FC236}">
                <a16:creationId xmlns:a16="http://schemas.microsoft.com/office/drawing/2014/main" id="{57B90F29-AED9-3218-795E-537CD90AC971}"/>
              </a:ext>
            </a:extLst>
          </p:cNvPr>
          <p:cNvSpPr txBox="1"/>
          <p:nvPr/>
        </p:nvSpPr>
        <p:spPr>
          <a:xfrm>
            <a:off x="8724409" y="4425227"/>
            <a:ext cx="3248488" cy="443375"/>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GB" sz="2400" i="1" dirty="0">
                <a:solidFill>
                  <a:srgbClr val="980000"/>
                </a:solidFill>
                <a:latin typeface="Constantia"/>
                <a:ea typeface="Roboto Serif"/>
                <a:cs typeface="Roboto Serif"/>
                <a:sym typeface="Roboto Serif"/>
              </a:rPr>
              <a:t>apple pie</a:t>
            </a:r>
            <a:endParaRPr lang="en-GB" sz="2400" dirty="0">
              <a:solidFill>
                <a:srgbClr val="980000"/>
              </a:solidFill>
              <a:latin typeface="Constantia"/>
              <a:ea typeface="Roboto Serif"/>
              <a:cs typeface="Roboto Serif"/>
            </a:endParaRPr>
          </a:p>
        </p:txBody>
      </p:sp>
      <p:cxnSp>
        <p:nvCxnSpPr>
          <p:cNvPr id="23" name="Google Shape;55;p13">
            <a:extLst>
              <a:ext uri="{FF2B5EF4-FFF2-40B4-BE49-F238E27FC236}">
                <a16:creationId xmlns:a16="http://schemas.microsoft.com/office/drawing/2014/main" id="{1A03887B-DC57-B954-059E-784A1B19A718}"/>
              </a:ext>
            </a:extLst>
          </p:cNvPr>
          <p:cNvCxnSpPr/>
          <p:nvPr/>
        </p:nvCxnSpPr>
        <p:spPr>
          <a:xfrm flipV="1">
            <a:off x="6546601" y="5729629"/>
            <a:ext cx="4533898" cy="4395"/>
          </a:xfrm>
          <a:prstGeom prst="straightConnector1">
            <a:avLst/>
          </a:prstGeom>
          <a:noFill/>
          <a:ln w="28575" cap="flat" cmpd="sng">
            <a:solidFill>
              <a:schemeClr val="dk2"/>
            </a:solidFill>
            <a:prstDash val="solid"/>
            <a:round/>
            <a:headEnd type="none" w="med" len="med"/>
            <a:tailEnd type="triangle" w="med" len="med"/>
          </a:ln>
        </p:spPr>
      </p:cxnSp>
      <p:sp>
        <p:nvSpPr>
          <p:cNvPr id="6" name="TextBox 5">
            <a:extLst>
              <a:ext uri="{FF2B5EF4-FFF2-40B4-BE49-F238E27FC236}">
                <a16:creationId xmlns:a16="http://schemas.microsoft.com/office/drawing/2014/main" id="{BEB5F659-D94B-DAFA-9574-B1AAE0E9D1E6}"/>
              </a:ext>
            </a:extLst>
          </p:cNvPr>
          <p:cNvSpPr txBox="1"/>
          <p:nvPr/>
        </p:nvSpPr>
        <p:spPr>
          <a:xfrm>
            <a:off x="7530192" y="2596242"/>
            <a:ext cx="312283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latin typeface="Comic Sans MS"/>
              </a:rPr>
              <a:t>almond-based deserts</a:t>
            </a:r>
            <a:endParaRPr lang="en-US" dirty="0"/>
          </a:p>
        </p:txBody>
      </p:sp>
      <p:sp>
        <p:nvSpPr>
          <p:cNvPr id="25" name="TextBox 24">
            <a:extLst>
              <a:ext uri="{FF2B5EF4-FFF2-40B4-BE49-F238E27FC236}">
                <a16:creationId xmlns:a16="http://schemas.microsoft.com/office/drawing/2014/main" id="{832AFF85-DB34-785E-C44E-5D92A6C40068}"/>
              </a:ext>
            </a:extLst>
          </p:cNvPr>
          <p:cNvSpPr txBox="1"/>
          <p:nvPr/>
        </p:nvSpPr>
        <p:spPr>
          <a:xfrm>
            <a:off x="8573323" y="5294070"/>
            <a:ext cx="291873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latin typeface="Comic Sans MS"/>
              </a:rPr>
              <a:t>apple-based deserts</a:t>
            </a:r>
            <a:endParaRPr lang="en-US" dirty="0">
              <a:latin typeface="Comic Sans MS"/>
            </a:endParaRPr>
          </a:p>
        </p:txBody>
      </p:sp>
      <p:cxnSp>
        <p:nvCxnSpPr>
          <p:cNvPr id="27" name="Google Shape;79;p14">
            <a:extLst>
              <a:ext uri="{FF2B5EF4-FFF2-40B4-BE49-F238E27FC236}">
                <a16:creationId xmlns:a16="http://schemas.microsoft.com/office/drawing/2014/main" id="{F147015C-DF63-5286-B5AD-519586E406EA}"/>
              </a:ext>
            </a:extLst>
          </p:cNvPr>
          <p:cNvCxnSpPr/>
          <p:nvPr/>
        </p:nvCxnSpPr>
        <p:spPr>
          <a:xfrm flipV="1">
            <a:off x="6579303" y="3698660"/>
            <a:ext cx="1304550" cy="2014874"/>
          </a:xfrm>
          <a:prstGeom prst="straightConnector1">
            <a:avLst/>
          </a:prstGeom>
          <a:noFill/>
          <a:ln w="57150" cap="flat" cmpd="sng">
            <a:solidFill>
              <a:srgbClr val="FF9900"/>
            </a:solidFill>
            <a:prstDash val="solid"/>
            <a:round/>
            <a:headEnd type="none" w="med" len="med"/>
            <a:tailEnd type="triangle" w="med" len="med"/>
          </a:ln>
        </p:spPr>
      </p:cxnSp>
      <p:cxnSp>
        <p:nvCxnSpPr>
          <p:cNvPr id="15" name="Google Shape;107;p16">
            <a:extLst>
              <a:ext uri="{FF2B5EF4-FFF2-40B4-BE49-F238E27FC236}">
                <a16:creationId xmlns:a16="http://schemas.microsoft.com/office/drawing/2014/main" id="{F04E060A-4BED-EA3E-AF36-D6BEFBF6C8D6}"/>
              </a:ext>
            </a:extLst>
          </p:cNvPr>
          <p:cNvCxnSpPr/>
          <p:nvPr/>
        </p:nvCxnSpPr>
        <p:spPr>
          <a:xfrm flipV="1">
            <a:off x="6555420" y="3502728"/>
            <a:ext cx="1330150" cy="2217325"/>
          </a:xfrm>
          <a:prstGeom prst="straightConnector1">
            <a:avLst/>
          </a:prstGeom>
          <a:noFill/>
          <a:ln w="28575" cap="flat" cmpd="sng">
            <a:solidFill>
              <a:schemeClr val="accent1"/>
            </a:solidFill>
            <a:prstDash val="solid"/>
            <a:round/>
            <a:headEnd type="none" w="med" len="med"/>
            <a:tailEnd type="triangle" w="med" len="med"/>
          </a:ln>
        </p:spPr>
      </p:cxnSp>
      <p:sp>
        <p:nvSpPr>
          <p:cNvPr id="17" name="Google Shape;109;p16">
            <a:extLst>
              <a:ext uri="{FF2B5EF4-FFF2-40B4-BE49-F238E27FC236}">
                <a16:creationId xmlns:a16="http://schemas.microsoft.com/office/drawing/2014/main" id="{5D528281-797E-E91A-D3AA-929C708B96BA}"/>
              </a:ext>
            </a:extLst>
          </p:cNvPr>
          <p:cNvSpPr txBox="1"/>
          <p:nvPr/>
        </p:nvSpPr>
        <p:spPr>
          <a:xfrm>
            <a:off x="7911626" y="2963007"/>
            <a:ext cx="2355122" cy="546788"/>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GB" sz="2400" i="1" dirty="0">
                <a:solidFill>
                  <a:schemeClr val="accent1"/>
                </a:solidFill>
                <a:latin typeface="Constantia"/>
                <a:ea typeface="Roboto Serif"/>
                <a:cs typeface="Roboto Serif"/>
                <a:sym typeface="Roboto Serif"/>
              </a:rPr>
              <a:t>Italian macaron</a:t>
            </a:r>
            <a:endParaRPr lang="en-GB" sz="2400" dirty="0">
              <a:solidFill>
                <a:schemeClr val="accent1"/>
              </a:solidFill>
              <a:latin typeface="Constantia"/>
              <a:ea typeface="Roboto Serif"/>
              <a:cs typeface="Roboto Serif"/>
            </a:endParaRPr>
          </a:p>
        </p:txBody>
      </p:sp>
    </p:spTree>
    <p:extLst>
      <p:ext uri="{BB962C8B-B14F-4D97-AF65-F5344CB8AC3E}">
        <p14:creationId xmlns:p14="http://schemas.microsoft.com/office/powerpoint/2010/main" val="208803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P spid="13" grpId="0"/>
      <p:bldP spid="14" grpId="0"/>
      <p:bldP spid="6" grpId="0"/>
      <p:bldP spid="25" grpId="0"/>
      <p:bldP spid="1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2910-E56F-B302-99FF-D520F46CEB44}"/>
              </a:ext>
            </a:extLst>
          </p:cNvPr>
          <p:cNvSpPr>
            <a:spLocks noGrp="1"/>
          </p:cNvSpPr>
          <p:nvPr>
            <p:ph type="title"/>
          </p:nvPr>
        </p:nvSpPr>
        <p:spPr/>
        <p:txBody>
          <a:bodyPr/>
          <a:lstStyle/>
          <a:p>
            <a:r>
              <a:rPr lang="en-GB" dirty="0"/>
              <a:t>Remember this guy...?</a:t>
            </a:r>
          </a:p>
        </p:txBody>
      </p:sp>
      <p:pic>
        <p:nvPicPr>
          <p:cNvPr id="4" name="Picture 3">
            <a:extLst>
              <a:ext uri="{FF2B5EF4-FFF2-40B4-BE49-F238E27FC236}">
                <a16:creationId xmlns:a16="http://schemas.microsoft.com/office/drawing/2014/main" id="{B656A8D8-2221-1235-8E48-AEB1F8024D9E}"/>
              </a:ext>
            </a:extLst>
          </p:cNvPr>
          <p:cNvPicPr>
            <a:picLocks noChangeAspect="1"/>
          </p:cNvPicPr>
          <p:nvPr/>
        </p:nvPicPr>
        <p:blipFill>
          <a:blip r:embed="rId2"/>
          <a:stretch>
            <a:fillRect/>
          </a:stretch>
        </p:blipFill>
        <p:spPr>
          <a:xfrm>
            <a:off x="5348288" y="2237413"/>
            <a:ext cx="1495425" cy="2952750"/>
          </a:xfrm>
          <a:prstGeom prst="rect">
            <a:avLst/>
          </a:prstGeom>
        </p:spPr>
      </p:pic>
    </p:spTree>
    <p:extLst>
      <p:ext uri="{BB962C8B-B14F-4D97-AF65-F5344CB8AC3E}">
        <p14:creationId xmlns:p14="http://schemas.microsoft.com/office/powerpoint/2010/main" val="1464446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8" name="Google Shape;218;p34"/>
          <p:cNvSpPr/>
          <p:nvPr/>
        </p:nvSpPr>
        <p:spPr>
          <a:xfrm>
            <a:off x="5602566" y="2177140"/>
            <a:ext cx="3251200" cy="3566000"/>
          </a:xfrm>
          <a:prstGeom prst="roundRect">
            <a:avLst>
              <a:gd name="adj" fmla="val 16667"/>
            </a:avLst>
          </a:prstGeom>
          <a:solidFill>
            <a:srgbClr val="DFE3E5"/>
          </a:solidFill>
          <a:ln w="9525" cap="flat" cmpd="sng">
            <a:solidFill>
              <a:srgbClr val="335B74"/>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2489">
              <a:latin typeface="Calibri"/>
              <a:ea typeface="Calibri"/>
              <a:cs typeface="Calibri"/>
              <a:sym typeface="Calibri"/>
            </a:endParaRPr>
          </a:p>
        </p:txBody>
      </p:sp>
      <p:graphicFrame>
        <p:nvGraphicFramePr>
          <p:cNvPr id="219" name="Google Shape;219;p34"/>
          <p:cNvGraphicFramePr/>
          <p:nvPr/>
        </p:nvGraphicFramePr>
        <p:xfrm>
          <a:off x="382638" y="2375340"/>
          <a:ext cx="825800" cy="3200160"/>
        </p:xfrm>
        <a:graphic>
          <a:graphicData uri="http://schemas.openxmlformats.org/drawingml/2006/table">
            <a:tbl>
              <a:tblPr>
                <a:noFill/>
              </a:tblPr>
              <a:tblGrid>
                <a:gridCol w="825800">
                  <a:extLst>
                    <a:ext uri="{9D8B030D-6E8A-4147-A177-3AD203B41FA5}">
                      <a16:colId xmlns:a16="http://schemas.microsoft.com/office/drawing/2014/main" val="20000"/>
                    </a:ext>
                  </a:extLst>
                </a:gridCol>
              </a:tblGrid>
              <a:tr h="528280">
                <a:tc>
                  <a:txBody>
                    <a:bodyPr/>
                    <a:lstStyle/>
                    <a:p>
                      <a:pPr marL="0" lvl="0" indent="0" algn="ctr" rtl="0">
                        <a:spcBef>
                          <a:spcPts val="0"/>
                        </a:spcBef>
                        <a:spcAft>
                          <a:spcPts val="0"/>
                        </a:spcAft>
                        <a:buNone/>
                      </a:pPr>
                      <a:r>
                        <a:rPr lang="en-GB" sz="1900"/>
                        <a:t>‘the’</a:t>
                      </a:r>
                      <a:endParaRPr sz="1900"/>
                    </a:p>
                  </a:txBody>
                  <a:tcPr marL="121900" marR="121900" marT="121900" marB="121900"/>
                </a:tc>
                <a:extLst>
                  <a:ext uri="{0D108BD9-81ED-4DB2-BD59-A6C34878D82A}">
                    <a16:rowId xmlns:a16="http://schemas.microsoft.com/office/drawing/2014/main" val="10000"/>
                  </a:ext>
                </a:extLst>
              </a:tr>
              <a:tr h="528280">
                <a:tc>
                  <a:txBody>
                    <a:bodyPr/>
                    <a:lstStyle/>
                    <a:p>
                      <a:pPr marL="0" lvl="0" indent="0" algn="ctr" rtl="0">
                        <a:spcBef>
                          <a:spcPts val="0"/>
                        </a:spcBef>
                        <a:spcAft>
                          <a:spcPts val="0"/>
                        </a:spcAft>
                        <a:buNone/>
                      </a:pPr>
                      <a:r>
                        <a:rPr lang="en-GB" sz="1900"/>
                        <a:t>‘cat’</a:t>
                      </a:r>
                      <a:endParaRPr sz="1900"/>
                    </a:p>
                  </a:txBody>
                  <a:tcPr marL="121900" marR="121900" marT="121900" marB="121900"/>
                </a:tc>
                <a:extLst>
                  <a:ext uri="{0D108BD9-81ED-4DB2-BD59-A6C34878D82A}">
                    <a16:rowId xmlns:a16="http://schemas.microsoft.com/office/drawing/2014/main" val="10001"/>
                  </a:ext>
                </a:extLst>
              </a:tr>
              <a:tr h="528280">
                <a:tc>
                  <a:txBody>
                    <a:bodyPr/>
                    <a:lstStyle/>
                    <a:p>
                      <a:pPr marL="0" lvl="0" indent="0" algn="ctr" rtl="0">
                        <a:spcBef>
                          <a:spcPts val="0"/>
                        </a:spcBef>
                        <a:spcAft>
                          <a:spcPts val="0"/>
                        </a:spcAft>
                        <a:buNone/>
                      </a:pPr>
                      <a:r>
                        <a:rPr lang="en-GB" sz="1900"/>
                        <a:t>‘sat’</a:t>
                      </a:r>
                      <a:endParaRPr sz="1900"/>
                    </a:p>
                  </a:txBody>
                  <a:tcPr marL="121900" marR="121900" marT="121900" marB="121900"/>
                </a:tc>
                <a:extLst>
                  <a:ext uri="{0D108BD9-81ED-4DB2-BD59-A6C34878D82A}">
                    <a16:rowId xmlns:a16="http://schemas.microsoft.com/office/drawing/2014/main" val="10002"/>
                  </a:ext>
                </a:extLst>
              </a:tr>
              <a:tr h="528280">
                <a:tc>
                  <a:txBody>
                    <a:bodyPr/>
                    <a:lstStyle/>
                    <a:p>
                      <a:pPr marL="0" lvl="0" indent="0" algn="ctr" rtl="0">
                        <a:spcBef>
                          <a:spcPts val="0"/>
                        </a:spcBef>
                        <a:spcAft>
                          <a:spcPts val="0"/>
                        </a:spcAft>
                        <a:buNone/>
                      </a:pPr>
                      <a:r>
                        <a:rPr lang="en-GB" sz="1900"/>
                        <a:t>‘on’</a:t>
                      </a:r>
                      <a:endParaRPr sz="1900"/>
                    </a:p>
                  </a:txBody>
                  <a:tcPr marL="121900" marR="121900" marT="121900" marB="121900"/>
                </a:tc>
                <a:extLst>
                  <a:ext uri="{0D108BD9-81ED-4DB2-BD59-A6C34878D82A}">
                    <a16:rowId xmlns:a16="http://schemas.microsoft.com/office/drawing/2014/main" val="10003"/>
                  </a:ext>
                </a:extLst>
              </a:tr>
              <a:tr h="528280">
                <a:tc>
                  <a:txBody>
                    <a:bodyPr/>
                    <a:lstStyle/>
                    <a:p>
                      <a:pPr marL="0" lvl="0" indent="0" algn="ctr" rtl="0">
                        <a:spcBef>
                          <a:spcPts val="0"/>
                        </a:spcBef>
                        <a:spcAft>
                          <a:spcPts val="0"/>
                        </a:spcAft>
                        <a:buNone/>
                      </a:pPr>
                      <a:r>
                        <a:rPr lang="en-GB" sz="1900"/>
                        <a:t>‘the’</a:t>
                      </a:r>
                      <a:endParaRPr sz="1900"/>
                    </a:p>
                  </a:txBody>
                  <a:tcPr marL="121900" marR="121900" marT="121900" marB="121900"/>
                </a:tc>
                <a:extLst>
                  <a:ext uri="{0D108BD9-81ED-4DB2-BD59-A6C34878D82A}">
                    <a16:rowId xmlns:a16="http://schemas.microsoft.com/office/drawing/2014/main" val="10004"/>
                  </a:ext>
                </a:extLst>
              </a:tr>
              <a:tr h="528280">
                <a:tc>
                  <a:txBody>
                    <a:bodyPr/>
                    <a:lstStyle/>
                    <a:p>
                      <a:pPr marL="0" lvl="0" indent="0" algn="ctr" rtl="0">
                        <a:spcBef>
                          <a:spcPts val="0"/>
                        </a:spcBef>
                        <a:spcAft>
                          <a:spcPts val="0"/>
                        </a:spcAft>
                        <a:buNone/>
                      </a:pPr>
                      <a:r>
                        <a:rPr lang="en-GB" sz="1900"/>
                        <a:t>‘mat’</a:t>
                      </a:r>
                      <a:endParaRPr sz="1900"/>
                    </a:p>
                  </a:txBody>
                  <a:tcPr marL="121900" marR="121900" marT="121900" marB="121900"/>
                </a:tc>
                <a:extLst>
                  <a:ext uri="{0D108BD9-81ED-4DB2-BD59-A6C34878D82A}">
                    <a16:rowId xmlns:a16="http://schemas.microsoft.com/office/drawing/2014/main" val="10005"/>
                  </a:ext>
                </a:extLst>
              </a:tr>
            </a:tbl>
          </a:graphicData>
        </a:graphic>
      </p:graphicFrame>
      <p:graphicFrame>
        <p:nvGraphicFramePr>
          <p:cNvPr id="220" name="Google Shape;220;p34"/>
          <p:cNvGraphicFramePr/>
          <p:nvPr/>
        </p:nvGraphicFramePr>
        <p:xfrm>
          <a:off x="2052972" y="1847074"/>
          <a:ext cx="1158967" cy="4266880"/>
        </p:xfrm>
        <a:graphic>
          <a:graphicData uri="http://schemas.openxmlformats.org/drawingml/2006/table">
            <a:tbl>
              <a:tblPr>
                <a:noFill/>
              </a:tblPr>
              <a:tblGrid>
                <a:gridCol w="1158967">
                  <a:extLst>
                    <a:ext uri="{9D8B030D-6E8A-4147-A177-3AD203B41FA5}">
                      <a16:colId xmlns:a16="http://schemas.microsoft.com/office/drawing/2014/main" val="20000"/>
                    </a:ext>
                  </a:extLst>
                </a:gridCol>
              </a:tblGrid>
              <a:tr h="528280">
                <a:tc>
                  <a:txBody>
                    <a:bodyPr/>
                    <a:lstStyle/>
                    <a:p>
                      <a:pPr marL="0" lvl="0" indent="0" algn="ctr" rtl="0">
                        <a:spcBef>
                          <a:spcPts val="0"/>
                        </a:spcBef>
                        <a:spcAft>
                          <a:spcPts val="0"/>
                        </a:spcAft>
                        <a:buNone/>
                      </a:pPr>
                      <a:r>
                        <a:rPr lang="en-GB" sz="1900"/>
                        <a:t>‘[CLS]’</a:t>
                      </a:r>
                      <a:endParaRPr sz="1900"/>
                    </a:p>
                  </a:txBody>
                  <a:tcPr marL="121900" marR="121900" marT="121900" marB="121900"/>
                </a:tc>
                <a:extLst>
                  <a:ext uri="{0D108BD9-81ED-4DB2-BD59-A6C34878D82A}">
                    <a16:rowId xmlns:a16="http://schemas.microsoft.com/office/drawing/2014/main" val="10000"/>
                  </a:ext>
                </a:extLst>
              </a:tr>
              <a:tr h="528280">
                <a:tc>
                  <a:txBody>
                    <a:bodyPr/>
                    <a:lstStyle/>
                    <a:p>
                      <a:pPr marL="0" lvl="0" indent="0" algn="ctr" rtl="0">
                        <a:spcBef>
                          <a:spcPts val="0"/>
                        </a:spcBef>
                        <a:spcAft>
                          <a:spcPts val="0"/>
                        </a:spcAft>
                        <a:buNone/>
                      </a:pPr>
                      <a:r>
                        <a:rPr lang="en-GB" sz="1900"/>
                        <a:t>‘the’</a:t>
                      </a:r>
                      <a:endParaRPr sz="1900"/>
                    </a:p>
                  </a:txBody>
                  <a:tcPr marL="121900" marR="121900" marT="121900" marB="121900"/>
                </a:tc>
                <a:extLst>
                  <a:ext uri="{0D108BD9-81ED-4DB2-BD59-A6C34878D82A}">
                    <a16:rowId xmlns:a16="http://schemas.microsoft.com/office/drawing/2014/main" val="10001"/>
                  </a:ext>
                </a:extLst>
              </a:tr>
              <a:tr h="528280">
                <a:tc>
                  <a:txBody>
                    <a:bodyPr/>
                    <a:lstStyle/>
                    <a:p>
                      <a:pPr marL="0" lvl="0" indent="0" algn="ctr" rtl="0">
                        <a:spcBef>
                          <a:spcPts val="0"/>
                        </a:spcBef>
                        <a:spcAft>
                          <a:spcPts val="0"/>
                        </a:spcAft>
                        <a:buNone/>
                      </a:pPr>
                      <a:r>
                        <a:rPr lang="en-GB" sz="1900"/>
                        <a:t>‘cat’</a:t>
                      </a:r>
                      <a:endParaRPr sz="1900"/>
                    </a:p>
                  </a:txBody>
                  <a:tcPr marL="121900" marR="121900" marT="121900" marB="121900"/>
                </a:tc>
                <a:extLst>
                  <a:ext uri="{0D108BD9-81ED-4DB2-BD59-A6C34878D82A}">
                    <a16:rowId xmlns:a16="http://schemas.microsoft.com/office/drawing/2014/main" val="10002"/>
                  </a:ext>
                </a:extLst>
              </a:tr>
              <a:tr h="528280">
                <a:tc>
                  <a:txBody>
                    <a:bodyPr/>
                    <a:lstStyle/>
                    <a:p>
                      <a:pPr marL="0" lvl="0" indent="0" algn="ctr" rtl="0">
                        <a:spcBef>
                          <a:spcPts val="0"/>
                        </a:spcBef>
                        <a:spcAft>
                          <a:spcPts val="0"/>
                        </a:spcAft>
                        <a:buNone/>
                      </a:pPr>
                      <a:r>
                        <a:rPr lang="en-GB" sz="1900"/>
                        <a:t>‘[MASK]’</a:t>
                      </a:r>
                      <a:endParaRPr sz="1900"/>
                    </a:p>
                  </a:txBody>
                  <a:tcPr marL="121900" marR="121900" marT="121900" marB="121900"/>
                </a:tc>
                <a:extLst>
                  <a:ext uri="{0D108BD9-81ED-4DB2-BD59-A6C34878D82A}">
                    <a16:rowId xmlns:a16="http://schemas.microsoft.com/office/drawing/2014/main" val="10003"/>
                  </a:ext>
                </a:extLst>
              </a:tr>
              <a:tr h="528280">
                <a:tc>
                  <a:txBody>
                    <a:bodyPr/>
                    <a:lstStyle/>
                    <a:p>
                      <a:pPr marL="0" lvl="0" indent="0" algn="ctr" rtl="0">
                        <a:spcBef>
                          <a:spcPts val="0"/>
                        </a:spcBef>
                        <a:spcAft>
                          <a:spcPts val="0"/>
                        </a:spcAft>
                        <a:buNone/>
                      </a:pPr>
                      <a:r>
                        <a:rPr lang="en-GB" sz="1900"/>
                        <a:t>‘on’</a:t>
                      </a:r>
                      <a:endParaRPr sz="1900"/>
                    </a:p>
                  </a:txBody>
                  <a:tcPr marL="121900" marR="121900" marT="121900" marB="121900"/>
                </a:tc>
                <a:extLst>
                  <a:ext uri="{0D108BD9-81ED-4DB2-BD59-A6C34878D82A}">
                    <a16:rowId xmlns:a16="http://schemas.microsoft.com/office/drawing/2014/main" val="10004"/>
                  </a:ext>
                </a:extLst>
              </a:tr>
              <a:tr h="528280">
                <a:tc>
                  <a:txBody>
                    <a:bodyPr/>
                    <a:lstStyle/>
                    <a:p>
                      <a:pPr marL="0" lvl="0" indent="0" algn="ctr" rtl="0">
                        <a:spcBef>
                          <a:spcPts val="0"/>
                        </a:spcBef>
                        <a:spcAft>
                          <a:spcPts val="0"/>
                        </a:spcAft>
                        <a:buNone/>
                      </a:pPr>
                      <a:r>
                        <a:rPr lang="en-GB" sz="1900"/>
                        <a:t>‘the’</a:t>
                      </a:r>
                      <a:endParaRPr sz="1900"/>
                    </a:p>
                  </a:txBody>
                  <a:tcPr marL="121900" marR="121900" marT="121900" marB="121900"/>
                </a:tc>
                <a:extLst>
                  <a:ext uri="{0D108BD9-81ED-4DB2-BD59-A6C34878D82A}">
                    <a16:rowId xmlns:a16="http://schemas.microsoft.com/office/drawing/2014/main" val="10005"/>
                  </a:ext>
                </a:extLst>
              </a:tr>
              <a:tr h="528280">
                <a:tc>
                  <a:txBody>
                    <a:bodyPr/>
                    <a:lstStyle/>
                    <a:p>
                      <a:pPr marL="0" lvl="0" indent="0" algn="ctr" rtl="0">
                        <a:spcBef>
                          <a:spcPts val="0"/>
                        </a:spcBef>
                        <a:spcAft>
                          <a:spcPts val="0"/>
                        </a:spcAft>
                        <a:buNone/>
                      </a:pPr>
                      <a:r>
                        <a:rPr lang="en-GB" sz="1900"/>
                        <a:t>‘mat’</a:t>
                      </a:r>
                      <a:endParaRPr sz="1900"/>
                    </a:p>
                  </a:txBody>
                  <a:tcPr marL="121900" marR="121900" marT="121900" marB="121900"/>
                </a:tc>
                <a:extLst>
                  <a:ext uri="{0D108BD9-81ED-4DB2-BD59-A6C34878D82A}">
                    <a16:rowId xmlns:a16="http://schemas.microsoft.com/office/drawing/2014/main" val="10006"/>
                  </a:ext>
                </a:extLst>
              </a:tr>
              <a:tr h="528280">
                <a:tc>
                  <a:txBody>
                    <a:bodyPr/>
                    <a:lstStyle/>
                    <a:p>
                      <a:pPr marL="0" lvl="0" indent="0" algn="ctr" rtl="0">
                        <a:spcBef>
                          <a:spcPts val="0"/>
                        </a:spcBef>
                        <a:spcAft>
                          <a:spcPts val="0"/>
                        </a:spcAft>
                        <a:buNone/>
                      </a:pPr>
                      <a:r>
                        <a:rPr lang="en-GB" sz="1900"/>
                        <a:t>‘[SEP]’</a:t>
                      </a:r>
                      <a:endParaRPr sz="1900"/>
                    </a:p>
                  </a:txBody>
                  <a:tcPr marL="121900" marR="121900" marT="121900" marB="121900"/>
                </a:tc>
                <a:extLst>
                  <a:ext uri="{0D108BD9-81ED-4DB2-BD59-A6C34878D82A}">
                    <a16:rowId xmlns:a16="http://schemas.microsoft.com/office/drawing/2014/main" val="10007"/>
                  </a:ext>
                </a:extLst>
              </a:tr>
            </a:tbl>
          </a:graphicData>
        </a:graphic>
      </p:graphicFrame>
      <p:graphicFrame>
        <p:nvGraphicFramePr>
          <p:cNvPr id="221" name="Google Shape;221;p34"/>
          <p:cNvGraphicFramePr/>
          <p:nvPr/>
        </p:nvGraphicFramePr>
        <p:xfrm>
          <a:off x="4107705" y="1847074"/>
          <a:ext cx="1062100" cy="4266880"/>
        </p:xfrm>
        <a:graphic>
          <a:graphicData uri="http://schemas.openxmlformats.org/drawingml/2006/table">
            <a:tbl>
              <a:tblPr>
                <a:noFill/>
              </a:tblPr>
              <a:tblGrid>
                <a:gridCol w="1062100">
                  <a:extLst>
                    <a:ext uri="{9D8B030D-6E8A-4147-A177-3AD203B41FA5}">
                      <a16:colId xmlns:a16="http://schemas.microsoft.com/office/drawing/2014/main" val="20000"/>
                    </a:ext>
                  </a:extLst>
                </a:gridCol>
              </a:tblGrid>
              <a:tr h="528280">
                <a:tc>
                  <a:txBody>
                    <a:bodyPr/>
                    <a:lstStyle/>
                    <a:p>
                      <a:pPr marL="0" lvl="0" indent="0" algn="ctr" rtl="0">
                        <a:spcBef>
                          <a:spcPts val="0"/>
                        </a:spcBef>
                        <a:spcAft>
                          <a:spcPts val="0"/>
                        </a:spcAft>
                        <a:buNone/>
                      </a:pPr>
                      <a:r>
                        <a:rPr lang="en-GB" sz="1900"/>
                        <a:t>101</a:t>
                      </a:r>
                      <a:endParaRPr sz="1900"/>
                    </a:p>
                  </a:txBody>
                  <a:tcPr marL="121900" marR="121900" marT="121900" marB="121900"/>
                </a:tc>
                <a:extLst>
                  <a:ext uri="{0D108BD9-81ED-4DB2-BD59-A6C34878D82A}">
                    <a16:rowId xmlns:a16="http://schemas.microsoft.com/office/drawing/2014/main" val="10000"/>
                  </a:ext>
                </a:extLst>
              </a:tr>
              <a:tr h="528280">
                <a:tc>
                  <a:txBody>
                    <a:bodyPr/>
                    <a:lstStyle/>
                    <a:p>
                      <a:pPr marL="0" lvl="0" indent="0" algn="ctr" rtl="0">
                        <a:spcBef>
                          <a:spcPts val="0"/>
                        </a:spcBef>
                        <a:spcAft>
                          <a:spcPts val="0"/>
                        </a:spcAft>
                        <a:buNone/>
                      </a:pPr>
                      <a:r>
                        <a:rPr lang="en-GB" sz="1900"/>
                        <a:t>1996</a:t>
                      </a:r>
                      <a:endParaRPr sz="1900"/>
                    </a:p>
                  </a:txBody>
                  <a:tcPr marL="121900" marR="121900" marT="121900" marB="121900"/>
                </a:tc>
                <a:extLst>
                  <a:ext uri="{0D108BD9-81ED-4DB2-BD59-A6C34878D82A}">
                    <a16:rowId xmlns:a16="http://schemas.microsoft.com/office/drawing/2014/main" val="10001"/>
                  </a:ext>
                </a:extLst>
              </a:tr>
              <a:tr h="528280">
                <a:tc>
                  <a:txBody>
                    <a:bodyPr/>
                    <a:lstStyle/>
                    <a:p>
                      <a:pPr marL="0" lvl="0" indent="0" algn="ctr" rtl="0">
                        <a:spcBef>
                          <a:spcPts val="0"/>
                        </a:spcBef>
                        <a:spcAft>
                          <a:spcPts val="0"/>
                        </a:spcAft>
                        <a:buNone/>
                      </a:pPr>
                      <a:r>
                        <a:rPr lang="en-GB" sz="1900"/>
                        <a:t>4937</a:t>
                      </a:r>
                      <a:endParaRPr sz="1900"/>
                    </a:p>
                  </a:txBody>
                  <a:tcPr marL="121900" marR="121900" marT="121900" marB="121900"/>
                </a:tc>
                <a:extLst>
                  <a:ext uri="{0D108BD9-81ED-4DB2-BD59-A6C34878D82A}">
                    <a16:rowId xmlns:a16="http://schemas.microsoft.com/office/drawing/2014/main" val="10002"/>
                  </a:ext>
                </a:extLst>
              </a:tr>
              <a:tr h="528280">
                <a:tc>
                  <a:txBody>
                    <a:bodyPr/>
                    <a:lstStyle/>
                    <a:p>
                      <a:pPr marL="0" lvl="0" indent="0" algn="ctr" rtl="0">
                        <a:spcBef>
                          <a:spcPts val="0"/>
                        </a:spcBef>
                        <a:spcAft>
                          <a:spcPts val="0"/>
                        </a:spcAft>
                        <a:buNone/>
                      </a:pPr>
                      <a:r>
                        <a:rPr lang="en-GB" sz="1900"/>
                        <a:t>103</a:t>
                      </a:r>
                      <a:endParaRPr sz="1900"/>
                    </a:p>
                  </a:txBody>
                  <a:tcPr marL="121900" marR="121900" marT="121900" marB="121900"/>
                </a:tc>
                <a:extLst>
                  <a:ext uri="{0D108BD9-81ED-4DB2-BD59-A6C34878D82A}">
                    <a16:rowId xmlns:a16="http://schemas.microsoft.com/office/drawing/2014/main" val="10003"/>
                  </a:ext>
                </a:extLst>
              </a:tr>
              <a:tr h="528280">
                <a:tc>
                  <a:txBody>
                    <a:bodyPr/>
                    <a:lstStyle/>
                    <a:p>
                      <a:pPr marL="0" lvl="0" indent="0" algn="ctr" rtl="0">
                        <a:spcBef>
                          <a:spcPts val="0"/>
                        </a:spcBef>
                        <a:spcAft>
                          <a:spcPts val="0"/>
                        </a:spcAft>
                        <a:buNone/>
                      </a:pPr>
                      <a:r>
                        <a:rPr lang="en-GB" sz="1900"/>
                        <a:t>2006</a:t>
                      </a:r>
                      <a:endParaRPr sz="1900"/>
                    </a:p>
                  </a:txBody>
                  <a:tcPr marL="121900" marR="121900" marT="121900" marB="121900"/>
                </a:tc>
                <a:extLst>
                  <a:ext uri="{0D108BD9-81ED-4DB2-BD59-A6C34878D82A}">
                    <a16:rowId xmlns:a16="http://schemas.microsoft.com/office/drawing/2014/main" val="10004"/>
                  </a:ext>
                </a:extLst>
              </a:tr>
              <a:tr h="528280">
                <a:tc>
                  <a:txBody>
                    <a:bodyPr/>
                    <a:lstStyle/>
                    <a:p>
                      <a:pPr marL="0" lvl="0" indent="0" algn="ctr" rtl="0">
                        <a:spcBef>
                          <a:spcPts val="0"/>
                        </a:spcBef>
                        <a:spcAft>
                          <a:spcPts val="0"/>
                        </a:spcAft>
                        <a:buNone/>
                      </a:pPr>
                      <a:r>
                        <a:rPr lang="en-GB" sz="1900"/>
                        <a:t>1996</a:t>
                      </a:r>
                      <a:endParaRPr sz="1900"/>
                    </a:p>
                  </a:txBody>
                  <a:tcPr marL="121900" marR="121900" marT="121900" marB="121900"/>
                </a:tc>
                <a:extLst>
                  <a:ext uri="{0D108BD9-81ED-4DB2-BD59-A6C34878D82A}">
                    <a16:rowId xmlns:a16="http://schemas.microsoft.com/office/drawing/2014/main" val="10005"/>
                  </a:ext>
                </a:extLst>
              </a:tr>
              <a:tr h="528280">
                <a:tc>
                  <a:txBody>
                    <a:bodyPr/>
                    <a:lstStyle/>
                    <a:p>
                      <a:pPr marL="0" lvl="0" indent="0" algn="ctr" rtl="0">
                        <a:spcBef>
                          <a:spcPts val="0"/>
                        </a:spcBef>
                        <a:spcAft>
                          <a:spcPts val="0"/>
                        </a:spcAft>
                        <a:buNone/>
                      </a:pPr>
                      <a:r>
                        <a:rPr lang="en-GB" sz="1900"/>
                        <a:t>13523</a:t>
                      </a:r>
                      <a:endParaRPr sz="1900"/>
                    </a:p>
                  </a:txBody>
                  <a:tcPr marL="121900" marR="121900" marT="121900" marB="121900"/>
                </a:tc>
                <a:extLst>
                  <a:ext uri="{0D108BD9-81ED-4DB2-BD59-A6C34878D82A}">
                    <a16:rowId xmlns:a16="http://schemas.microsoft.com/office/drawing/2014/main" val="10006"/>
                  </a:ext>
                </a:extLst>
              </a:tr>
              <a:tr h="528280">
                <a:tc>
                  <a:txBody>
                    <a:bodyPr/>
                    <a:lstStyle/>
                    <a:p>
                      <a:pPr marL="0" lvl="0" indent="0" algn="ctr" rtl="0">
                        <a:spcBef>
                          <a:spcPts val="0"/>
                        </a:spcBef>
                        <a:spcAft>
                          <a:spcPts val="0"/>
                        </a:spcAft>
                        <a:buNone/>
                      </a:pPr>
                      <a:r>
                        <a:rPr lang="en-GB" sz="1900"/>
                        <a:t>102</a:t>
                      </a:r>
                      <a:endParaRPr sz="1900"/>
                    </a:p>
                  </a:txBody>
                  <a:tcPr marL="121900" marR="121900" marT="121900" marB="121900"/>
                </a:tc>
                <a:extLst>
                  <a:ext uri="{0D108BD9-81ED-4DB2-BD59-A6C34878D82A}">
                    <a16:rowId xmlns:a16="http://schemas.microsoft.com/office/drawing/2014/main" val="10007"/>
                  </a:ext>
                </a:extLst>
              </a:tr>
            </a:tbl>
          </a:graphicData>
        </a:graphic>
      </p:graphicFrame>
      <p:graphicFrame>
        <p:nvGraphicFramePr>
          <p:cNvPr id="222" name="Google Shape;222;p34"/>
          <p:cNvGraphicFramePr/>
          <p:nvPr/>
        </p:nvGraphicFramePr>
        <p:xfrm>
          <a:off x="9131704" y="2363340"/>
          <a:ext cx="2590266" cy="1600080"/>
        </p:xfrm>
        <a:graphic>
          <a:graphicData uri="http://schemas.openxmlformats.org/drawingml/2006/table">
            <a:tbl>
              <a:tblPr>
                <a:noFill/>
              </a:tblPr>
              <a:tblGrid>
                <a:gridCol w="1295133">
                  <a:extLst>
                    <a:ext uri="{9D8B030D-6E8A-4147-A177-3AD203B41FA5}">
                      <a16:colId xmlns:a16="http://schemas.microsoft.com/office/drawing/2014/main" val="20000"/>
                    </a:ext>
                  </a:extLst>
                </a:gridCol>
                <a:gridCol w="1295133">
                  <a:extLst>
                    <a:ext uri="{9D8B030D-6E8A-4147-A177-3AD203B41FA5}">
                      <a16:colId xmlns:a16="http://schemas.microsoft.com/office/drawing/2014/main" val="20001"/>
                    </a:ext>
                  </a:extLst>
                </a:gridCol>
              </a:tblGrid>
              <a:tr h="528280">
                <a:tc>
                  <a:txBody>
                    <a:bodyPr/>
                    <a:lstStyle/>
                    <a:p>
                      <a:pPr marL="0" lvl="0" indent="0" algn="ctr" rtl="0">
                        <a:spcBef>
                          <a:spcPts val="0"/>
                        </a:spcBef>
                        <a:spcAft>
                          <a:spcPts val="0"/>
                        </a:spcAft>
                        <a:buNone/>
                      </a:pPr>
                      <a:r>
                        <a:rPr lang="en-GB" sz="1900"/>
                        <a:t>‘sat’</a:t>
                      </a:r>
                      <a:endParaRPr sz="1900"/>
                    </a:p>
                  </a:txBody>
                  <a:tcPr marL="121900" marR="121900" marT="121900" marB="121900"/>
                </a:tc>
                <a:tc>
                  <a:txBody>
                    <a:bodyPr/>
                    <a:lstStyle/>
                    <a:p>
                      <a:pPr marL="0" lvl="0" indent="0" algn="ctr" rtl="0">
                        <a:spcBef>
                          <a:spcPts val="0"/>
                        </a:spcBef>
                        <a:spcAft>
                          <a:spcPts val="0"/>
                        </a:spcAft>
                        <a:buNone/>
                      </a:pPr>
                      <a:r>
                        <a:rPr lang="en-GB" sz="1900"/>
                        <a:t>0.19</a:t>
                      </a:r>
                      <a:endParaRPr sz="1900"/>
                    </a:p>
                  </a:txBody>
                  <a:tcPr marL="121900" marR="121900" marT="121900" marB="121900"/>
                </a:tc>
                <a:extLst>
                  <a:ext uri="{0D108BD9-81ED-4DB2-BD59-A6C34878D82A}">
                    <a16:rowId xmlns:a16="http://schemas.microsoft.com/office/drawing/2014/main" val="10000"/>
                  </a:ext>
                </a:extLst>
              </a:tr>
              <a:tr h="528280">
                <a:tc>
                  <a:txBody>
                    <a:bodyPr/>
                    <a:lstStyle/>
                    <a:p>
                      <a:pPr marL="0" lvl="0" indent="0" algn="ctr" rtl="0">
                        <a:spcBef>
                          <a:spcPts val="0"/>
                        </a:spcBef>
                        <a:spcAft>
                          <a:spcPts val="0"/>
                        </a:spcAft>
                        <a:buNone/>
                      </a:pPr>
                      <a:r>
                        <a:rPr lang="en-GB" sz="1900"/>
                        <a:t>‘was’</a:t>
                      </a:r>
                      <a:endParaRPr sz="1900"/>
                    </a:p>
                  </a:txBody>
                  <a:tcPr marL="121900" marR="121900" marT="121900" marB="121900"/>
                </a:tc>
                <a:tc>
                  <a:txBody>
                    <a:bodyPr/>
                    <a:lstStyle/>
                    <a:p>
                      <a:pPr marL="0" lvl="0" indent="0" algn="ctr" rtl="0">
                        <a:spcBef>
                          <a:spcPts val="0"/>
                        </a:spcBef>
                        <a:spcAft>
                          <a:spcPts val="0"/>
                        </a:spcAft>
                        <a:buNone/>
                      </a:pPr>
                      <a:r>
                        <a:rPr lang="en-GB" sz="1900"/>
                        <a:t>0.14</a:t>
                      </a:r>
                      <a:endParaRPr sz="1900"/>
                    </a:p>
                  </a:txBody>
                  <a:tcPr marL="121900" marR="121900" marT="121900" marB="121900"/>
                </a:tc>
                <a:extLst>
                  <a:ext uri="{0D108BD9-81ED-4DB2-BD59-A6C34878D82A}">
                    <a16:rowId xmlns:a16="http://schemas.microsoft.com/office/drawing/2014/main" val="10001"/>
                  </a:ext>
                </a:extLst>
              </a:tr>
              <a:tr h="528280">
                <a:tc>
                  <a:txBody>
                    <a:bodyPr/>
                    <a:lstStyle/>
                    <a:p>
                      <a:pPr marL="0" lvl="0" indent="0" algn="ctr" rtl="0">
                        <a:spcBef>
                          <a:spcPts val="0"/>
                        </a:spcBef>
                        <a:spcAft>
                          <a:spcPts val="0"/>
                        </a:spcAft>
                        <a:buNone/>
                      </a:pPr>
                      <a:r>
                        <a:rPr lang="en-GB" sz="1900"/>
                        <a:t>‘lay’</a:t>
                      </a:r>
                      <a:endParaRPr sz="1900"/>
                    </a:p>
                  </a:txBody>
                  <a:tcPr marL="121900" marR="121900" marT="121900" marB="121900"/>
                </a:tc>
                <a:tc>
                  <a:txBody>
                    <a:bodyPr/>
                    <a:lstStyle/>
                    <a:p>
                      <a:pPr marL="0" lvl="0" indent="0" algn="ctr" rtl="0">
                        <a:spcBef>
                          <a:spcPts val="0"/>
                        </a:spcBef>
                        <a:spcAft>
                          <a:spcPts val="0"/>
                        </a:spcAft>
                        <a:buNone/>
                      </a:pPr>
                      <a:r>
                        <a:rPr lang="en-GB" sz="1900"/>
                        <a:t>0.07</a:t>
                      </a:r>
                      <a:endParaRPr sz="1900"/>
                    </a:p>
                  </a:txBody>
                  <a:tcPr marL="121900" marR="121900" marT="121900" marB="121900"/>
                </a:tc>
                <a:extLst>
                  <a:ext uri="{0D108BD9-81ED-4DB2-BD59-A6C34878D82A}">
                    <a16:rowId xmlns:a16="http://schemas.microsoft.com/office/drawing/2014/main" val="10002"/>
                  </a:ext>
                </a:extLst>
              </a:tr>
            </a:tbl>
          </a:graphicData>
        </a:graphic>
      </p:graphicFrame>
      <p:grpSp>
        <p:nvGrpSpPr>
          <p:cNvPr id="223" name="Google Shape;223;p34"/>
          <p:cNvGrpSpPr/>
          <p:nvPr/>
        </p:nvGrpSpPr>
        <p:grpSpPr>
          <a:xfrm>
            <a:off x="10384038" y="4175574"/>
            <a:ext cx="85600" cy="625667"/>
            <a:chOff x="9966150" y="4193875"/>
            <a:chExt cx="64200" cy="469250"/>
          </a:xfrm>
        </p:grpSpPr>
        <p:sp>
          <p:nvSpPr>
            <p:cNvPr id="224" name="Google Shape;224;p34"/>
            <p:cNvSpPr/>
            <p:nvPr/>
          </p:nvSpPr>
          <p:spPr>
            <a:xfrm>
              <a:off x="9966150" y="4193875"/>
              <a:ext cx="64200" cy="75300"/>
            </a:xfrm>
            <a:prstGeom prst="ellipse">
              <a:avLst/>
            </a:prstGeom>
            <a:solidFill>
              <a:srgbClr val="DFE3E5"/>
            </a:solidFill>
            <a:ln w="9525" cap="flat" cmpd="sng">
              <a:solidFill>
                <a:srgbClr val="335B74"/>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2489">
                <a:latin typeface="Calibri"/>
                <a:ea typeface="Calibri"/>
                <a:cs typeface="Calibri"/>
                <a:sym typeface="Calibri"/>
              </a:endParaRPr>
            </a:p>
          </p:txBody>
        </p:sp>
        <p:sp>
          <p:nvSpPr>
            <p:cNvPr id="225" name="Google Shape;225;p34"/>
            <p:cNvSpPr/>
            <p:nvPr/>
          </p:nvSpPr>
          <p:spPr>
            <a:xfrm>
              <a:off x="9966150" y="4390850"/>
              <a:ext cx="64200" cy="75300"/>
            </a:xfrm>
            <a:prstGeom prst="ellipse">
              <a:avLst/>
            </a:prstGeom>
            <a:solidFill>
              <a:srgbClr val="DFE3E5"/>
            </a:solidFill>
            <a:ln w="9525" cap="flat" cmpd="sng">
              <a:solidFill>
                <a:srgbClr val="335B74"/>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2489">
                <a:latin typeface="Calibri"/>
                <a:ea typeface="Calibri"/>
                <a:cs typeface="Calibri"/>
                <a:sym typeface="Calibri"/>
              </a:endParaRPr>
            </a:p>
          </p:txBody>
        </p:sp>
        <p:sp>
          <p:nvSpPr>
            <p:cNvPr id="226" name="Google Shape;226;p34"/>
            <p:cNvSpPr/>
            <p:nvPr/>
          </p:nvSpPr>
          <p:spPr>
            <a:xfrm>
              <a:off x="9966150" y="4587825"/>
              <a:ext cx="64200" cy="75300"/>
            </a:xfrm>
            <a:prstGeom prst="ellipse">
              <a:avLst/>
            </a:prstGeom>
            <a:solidFill>
              <a:srgbClr val="DFE3E5"/>
            </a:solidFill>
            <a:ln w="9525" cap="flat" cmpd="sng">
              <a:solidFill>
                <a:srgbClr val="335B74"/>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2489">
                <a:latin typeface="Calibri"/>
                <a:ea typeface="Calibri"/>
                <a:cs typeface="Calibri"/>
                <a:sym typeface="Calibri"/>
              </a:endParaRPr>
            </a:p>
          </p:txBody>
        </p:sp>
      </p:grpSp>
      <p:graphicFrame>
        <p:nvGraphicFramePr>
          <p:cNvPr id="227" name="Google Shape;227;p34"/>
          <p:cNvGraphicFramePr/>
          <p:nvPr/>
        </p:nvGraphicFramePr>
        <p:xfrm>
          <a:off x="9131704" y="5028674"/>
          <a:ext cx="2590266" cy="533360"/>
        </p:xfrm>
        <a:graphic>
          <a:graphicData uri="http://schemas.openxmlformats.org/drawingml/2006/table">
            <a:tbl>
              <a:tblPr>
                <a:noFill/>
              </a:tblPr>
              <a:tblGrid>
                <a:gridCol w="1295133">
                  <a:extLst>
                    <a:ext uri="{9D8B030D-6E8A-4147-A177-3AD203B41FA5}">
                      <a16:colId xmlns:a16="http://schemas.microsoft.com/office/drawing/2014/main" val="20000"/>
                    </a:ext>
                  </a:extLst>
                </a:gridCol>
                <a:gridCol w="1295133">
                  <a:extLst>
                    <a:ext uri="{9D8B030D-6E8A-4147-A177-3AD203B41FA5}">
                      <a16:colId xmlns:a16="http://schemas.microsoft.com/office/drawing/2014/main" val="20001"/>
                    </a:ext>
                  </a:extLst>
                </a:gridCol>
              </a:tblGrid>
              <a:tr h="528280">
                <a:tc>
                  <a:txBody>
                    <a:bodyPr/>
                    <a:lstStyle/>
                    <a:p>
                      <a:pPr marL="0" lvl="0" indent="0" algn="ctr" rtl="0">
                        <a:spcBef>
                          <a:spcPts val="0"/>
                        </a:spcBef>
                        <a:spcAft>
                          <a:spcPts val="0"/>
                        </a:spcAft>
                        <a:buNone/>
                      </a:pPr>
                      <a:r>
                        <a:rPr lang="en-GB" sz="1900"/>
                        <a:t>‘hippo’</a:t>
                      </a:r>
                      <a:endParaRPr sz="1900"/>
                    </a:p>
                  </a:txBody>
                  <a:tcPr marL="121900" marR="121900" marT="121900" marB="121900"/>
                </a:tc>
                <a:tc>
                  <a:txBody>
                    <a:bodyPr/>
                    <a:lstStyle/>
                    <a:p>
                      <a:pPr marL="0" lvl="0" indent="0" algn="ctr" rtl="0">
                        <a:spcBef>
                          <a:spcPts val="0"/>
                        </a:spcBef>
                        <a:spcAft>
                          <a:spcPts val="0"/>
                        </a:spcAft>
                        <a:buNone/>
                      </a:pPr>
                      <a:r>
                        <a:rPr lang="en-GB" sz="1900"/>
                        <a:t>0.000001</a:t>
                      </a:r>
                      <a:endParaRPr sz="1900"/>
                    </a:p>
                  </a:txBody>
                  <a:tcPr marL="121900" marR="121900" marT="121900" marB="121900"/>
                </a:tc>
                <a:extLst>
                  <a:ext uri="{0D108BD9-81ED-4DB2-BD59-A6C34878D82A}">
                    <a16:rowId xmlns:a16="http://schemas.microsoft.com/office/drawing/2014/main" val="10000"/>
                  </a:ext>
                </a:extLst>
              </a:tr>
            </a:tbl>
          </a:graphicData>
        </a:graphic>
      </p:graphicFrame>
      <p:sp>
        <p:nvSpPr>
          <p:cNvPr id="228" name="Google Shape;228;p34"/>
          <p:cNvSpPr/>
          <p:nvPr/>
        </p:nvSpPr>
        <p:spPr>
          <a:xfrm>
            <a:off x="1251504" y="3861740"/>
            <a:ext cx="758400" cy="196800"/>
          </a:xfrm>
          <a:prstGeom prst="rightArrow">
            <a:avLst>
              <a:gd name="adj1" fmla="val 50000"/>
              <a:gd name="adj2" fmla="val 50000"/>
            </a:avLst>
          </a:prstGeom>
          <a:solidFill>
            <a:srgbClr val="DFE3E5"/>
          </a:solidFill>
          <a:ln w="9525" cap="flat" cmpd="sng">
            <a:solidFill>
              <a:srgbClr val="335B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2489">
              <a:latin typeface="Calibri"/>
              <a:ea typeface="Calibri"/>
              <a:cs typeface="Calibri"/>
              <a:sym typeface="Calibri"/>
            </a:endParaRPr>
          </a:p>
        </p:txBody>
      </p:sp>
      <p:sp>
        <p:nvSpPr>
          <p:cNvPr id="229" name="Google Shape;229;p34"/>
          <p:cNvSpPr/>
          <p:nvPr/>
        </p:nvSpPr>
        <p:spPr>
          <a:xfrm>
            <a:off x="3280622" y="3861740"/>
            <a:ext cx="758400" cy="196800"/>
          </a:xfrm>
          <a:prstGeom prst="rightArrow">
            <a:avLst>
              <a:gd name="adj1" fmla="val 50000"/>
              <a:gd name="adj2" fmla="val 50000"/>
            </a:avLst>
          </a:prstGeom>
          <a:solidFill>
            <a:srgbClr val="DFE3E5"/>
          </a:solidFill>
          <a:ln w="9525" cap="flat" cmpd="sng">
            <a:solidFill>
              <a:srgbClr val="335B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2489">
              <a:latin typeface="Calibri"/>
              <a:ea typeface="Calibri"/>
              <a:cs typeface="Calibri"/>
              <a:sym typeface="Calibri"/>
            </a:endParaRPr>
          </a:p>
        </p:txBody>
      </p:sp>
      <p:sp>
        <p:nvSpPr>
          <p:cNvPr id="230" name="Google Shape;230;p34"/>
          <p:cNvSpPr/>
          <p:nvPr/>
        </p:nvSpPr>
        <p:spPr>
          <a:xfrm>
            <a:off x="5300632" y="3861740"/>
            <a:ext cx="912400" cy="196800"/>
          </a:xfrm>
          <a:prstGeom prst="rightArrow">
            <a:avLst>
              <a:gd name="adj1" fmla="val 50000"/>
              <a:gd name="adj2" fmla="val 50000"/>
            </a:avLst>
          </a:prstGeom>
          <a:solidFill>
            <a:srgbClr val="DFE3E5"/>
          </a:solidFill>
          <a:ln w="9525" cap="flat" cmpd="sng">
            <a:solidFill>
              <a:srgbClr val="335B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2489">
              <a:latin typeface="Calibri"/>
              <a:ea typeface="Calibri"/>
              <a:cs typeface="Calibri"/>
              <a:sym typeface="Calibri"/>
            </a:endParaRPr>
          </a:p>
        </p:txBody>
      </p:sp>
      <p:sp>
        <p:nvSpPr>
          <p:cNvPr id="231" name="Google Shape;231;p34"/>
          <p:cNvSpPr/>
          <p:nvPr/>
        </p:nvSpPr>
        <p:spPr>
          <a:xfrm>
            <a:off x="8209031" y="3861740"/>
            <a:ext cx="826000" cy="196800"/>
          </a:xfrm>
          <a:prstGeom prst="rightArrow">
            <a:avLst>
              <a:gd name="adj1" fmla="val 50000"/>
              <a:gd name="adj2" fmla="val 50000"/>
            </a:avLst>
          </a:prstGeom>
          <a:solidFill>
            <a:srgbClr val="DFE3E5"/>
          </a:solidFill>
          <a:ln w="9525" cap="flat" cmpd="sng">
            <a:solidFill>
              <a:srgbClr val="335B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2489">
              <a:latin typeface="Calibri"/>
              <a:ea typeface="Calibri"/>
              <a:cs typeface="Calibri"/>
              <a:sym typeface="Calibri"/>
            </a:endParaRPr>
          </a:p>
        </p:txBody>
      </p:sp>
      <p:pic>
        <p:nvPicPr>
          <p:cNvPr id="232" name="Google Shape;232;p34"/>
          <p:cNvPicPr preferRelativeResize="0"/>
          <p:nvPr/>
        </p:nvPicPr>
        <p:blipFill>
          <a:blip r:embed="rId3">
            <a:alphaModFix/>
          </a:blip>
          <a:stretch>
            <a:fillRect/>
          </a:stretch>
        </p:blipFill>
        <p:spPr>
          <a:xfrm>
            <a:off x="4665939" y="2252000"/>
            <a:ext cx="5124465" cy="3416292"/>
          </a:xfrm>
          <a:prstGeom prst="rect">
            <a:avLst/>
          </a:prstGeom>
          <a:noFill/>
          <a:ln>
            <a:noFill/>
          </a:ln>
        </p:spPr>
      </p:pic>
      <p:sp>
        <p:nvSpPr>
          <p:cNvPr id="5" name="Google Shape;211;p33">
            <a:extLst>
              <a:ext uri="{FF2B5EF4-FFF2-40B4-BE49-F238E27FC236}">
                <a16:creationId xmlns:a16="http://schemas.microsoft.com/office/drawing/2014/main" id="{E0E47159-A9F5-6412-F898-29C79B02E900}"/>
              </a:ext>
            </a:extLst>
          </p:cNvPr>
          <p:cNvSpPr/>
          <p:nvPr/>
        </p:nvSpPr>
        <p:spPr>
          <a:xfrm>
            <a:off x="2052971" y="3440514"/>
            <a:ext cx="1158800" cy="528400"/>
          </a:xfrm>
          <a:prstGeom prst="rect">
            <a:avLst/>
          </a:prstGeom>
          <a:noFill/>
          <a:ln w="19050" cap="flat" cmpd="sng">
            <a:solidFill>
              <a:srgbClr val="9900F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sz="2489">
              <a:latin typeface="Source Code Pro"/>
              <a:ea typeface="Source Code Pro"/>
              <a:cs typeface="Source Code Pro"/>
              <a:sym typeface="Source Code Pro"/>
            </a:endParaRPr>
          </a:p>
        </p:txBody>
      </p:sp>
      <p:sp>
        <p:nvSpPr>
          <p:cNvPr id="7" name="Google Shape;195;p33">
            <a:extLst>
              <a:ext uri="{FF2B5EF4-FFF2-40B4-BE49-F238E27FC236}">
                <a16:creationId xmlns:a16="http://schemas.microsoft.com/office/drawing/2014/main" id="{055C77B6-9701-0DEB-0EE9-EA42C30DD5F5}"/>
              </a:ext>
            </a:extLst>
          </p:cNvPr>
          <p:cNvSpPr txBox="1"/>
          <p:nvPr/>
        </p:nvSpPr>
        <p:spPr>
          <a:xfrm>
            <a:off x="435173" y="547190"/>
            <a:ext cx="13160400" cy="1091200"/>
          </a:xfrm>
          <a:prstGeom prst="rect">
            <a:avLst/>
          </a:prstGeom>
          <a:noFill/>
          <a:ln>
            <a:noFill/>
          </a:ln>
        </p:spPr>
        <p:txBody>
          <a:bodyPr spcFirstLastPara="1" wrap="square" lIns="0" tIns="60933" rIns="0" bIns="60933"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GB" sz="2700" b="1" u="sng">
                <a:solidFill>
                  <a:srgbClr val="3F3F3F"/>
                </a:solidFill>
                <a:latin typeface="Source Code Pro"/>
                <a:ea typeface="Source Code Pro"/>
                <a:cs typeface="Source Code Pro"/>
                <a:sym typeface="Source Code Pro"/>
              </a:rPr>
              <a:t>B</a:t>
            </a:r>
            <a:r>
              <a:rPr lang="en-GB" sz="2700">
                <a:solidFill>
                  <a:srgbClr val="3F3F3F"/>
                </a:solidFill>
                <a:latin typeface="Source Code Pro"/>
                <a:ea typeface="Source Code Pro"/>
                <a:cs typeface="Source Code Pro"/>
                <a:sym typeface="Source Code Pro"/>
              </a:rPr>
              <a:t>idirectional </a:t>
            </a:r>
            <a:r>
              <a:rPr lang="en-GB" sz="2700" b="1" u="sng">
                <a:solidFill>
                  <a:srgbClr val="3F3F3F"/>
                </a:solidFill>
                <a:latin typeface="Source Code Pro"/>
                <a:ea typeface="Source Code Pro"/>
                <a:cs typeface="Source Code Pro"/>
                <a:sym typeface="Source Code Pro"/>
              </a:rPr>
              <a:t>E</a:t>
            </a:r>
            <a:r>
              <a:rPr lang="en-GB" sz="2700">
                <a:solidFill>
                  <a:srgbClr val="3F3F3F"/>
                </a:solidFill>
                <a:latin typeface="Source Code Pro"/>
                <a:ea typeface="Source Code Pro"/>
                <a:cs typeface="Source Code Pro"/>
                <a:sym typeface="Source Code Pro"/>
              </a:rPr>
              <a:t>ncoder </a:t>
            </a:r>
            <a:r>
              <a:rPr lang="en-GB" sz="2700" b="1" u="sng">
                <a:solidFill>
                  <a:srgbClr val="3F3F3F"/>
                </a:solidFill>
                <a:latin typeface="Source Code Pro"/>
                <a:ea typeface="Source Code Pro"/>
                <a:cs typeface="Source Code Pro"/>
                <a:sym typeface="Source Code Pro"/>
              </a:rPr>
              <a:t>R</a:t>
            </a:r>
            <a:r>
              <a:rPr lang="en-GB" sz="2700">
                <a:solidFill>
                  <a:srgbClr val="3F3F3F"/>
                </a:solidFill>
                <a:latin typeface="Source Code Pro"/>
                <a:ea typeface="Source Code Pro"/>
                <a:cs typeface="Source Code Pro"/>
                <a:sym typeface="Source Code Pro"/>
              </a:rPr>
              <a:t>epresentations from </a:t>
            </a:r>
            <a:r>
              <a:rPr lang="en-GB" sz="2700" b="1" u="sng">
                <a:solidFill>
                  <a:srgbClr val="3F3F3F"/>
                </a:solidFill>
                <a:latin typeface="Source Code Pro"/>
                <a:ea typeface="Source Code Pro"/>
                <a:cs typeface="Source Code Pro"/>
                <a:sym typeface="Source Code Pro"/>
              </a:rPr>
              <a:t>T</a:t>
            </a:r>
            <a:r>
              <a:rPr lang="en-GB" sz="2700">
                <a:solidFill>
                  <a:srgbClr val="3F3F3F"/>
                </a:solidFill>
                <a:latin typeface="Source Code Pro"/>
                <a:ea typeface="Source Code Pro"/>
                <a:cs typeface="Source Code Pro"/>
                <a:sym typeface="Source Code Pro"/>
              </a:rPr>
              <a:t>ransformers</a:t>
            </a:r>
            <a:endParaRPr lang="en-GB" sz="2700">
              <a:latin typeface="Source Code Pro"/>
              <a:ea typeface="Source Code Pro"/>
              <a:cs typeface="Source Code Pro"/>
              <a:sym typeface="Source Code Pro"/>
            </a:endParaRPr>
          </a:p>
          <a:p>
            <a:pPr marL="0" lvl="0" indent="0" algn="l">
              <a:lnSpc>
                <a:spcPct val="90000"/>
              </a:lnSpc>
              <a:spcBef>
                <a:spcPts val="1600"/>
              </a:spcBef>
              <a:spcAft>
                <a:spcPts val="0"/>
              </a:spcAft>
              <a:buNone/>
            </a:pPr>
            <a:endParaRPr lang="en-GB" sz="2667">
              <a:solidFill>
                <a:srgbClr val="3F3F3F"/>
              </a:solidFill>
              <a:latin typeface="Calibri"/>
              <a:ea typeface="Calibri"/>
              <a:cs typeface="Calibri"/>
            </a:endParaRPr>
          </a:p>
          <a:p>
            <a:pPr marL="0" lvl="0" indent="0" algn="l" rtl="0">
              <a:lnSpc>
                <a:spcPct val="90000"/>
              </a:lnSpc>
              <a:spcBef>
                <a:spcPts val="1600"/>
              </a:spcBef>
              <a:spcAft>
                <a:spcPts val="0"/>
              </a:spcAft>
              <a:buNone/>
            </a:pPr>
            <a:endParaRPr sz="3200">
              <a:solidFill>
                <a:srgbClr val="3F3F3F"/>
              </a:solidFill>
              <a:latin typeface="Calibri"/>
              <a:ea typeface="Calibri"/>
              <a:cs typeface="Calibri"/>
            </a:endParaRPr>
          </a:p>
          <a:p>
            <a:pPr marL="0" lvl="0" indent="0" algn="l" rtl="0">
              <a:lnSpc>
                <a:spcPct val="90000"/>
              </a:lnSpc>
              <a:spcBef>
                <a:spcPts val="1600"/>
              </a:spcBef>
              <a:spcAft>
                <a:spcPts val="0"/>
              </a:spcAft>
              <a:buNone/>
            </a:pPr>
            <a:endParaRPr sz="2667">
              <a:solidFill>
                <a:srgbClr val="3F3F3F"/>
              </a:solidFill>
              <a:latin typeface="Calibri"/>
              <a:ea typeface="Calibri"/>
              <a:cs typeface="Calibri"/>
            </a:endParaRPr>
          </a:p>
          <a:p>
            <a:pPr marL="0" lvl="0" indent="0" algn="l" rtl="0">
              <a:lnSpc>
                <a:spcPct val="90000"/>
              </a:lnSpc>
              <a:spcBef>
                <a:spcPts val="1600"/>
              </a:spcBef>
              <a:spcAft>
                <a:spcPts val="0"/>
              </a:spcAft>
              <a:buNone/>
            </a:pPr>
            <a:endParaRPr sz="2667">
              <a:solidFill>
                <a:srgbClr val="3F3F3F"/>
              </a:solidFill>
              <a:latin typeface="Calibri"/>
              <a:ea typeface="Calibri"/>
              <a:cs typeface="Calibri"/>
              <a:sym typeface="Calibri"/>
            </a:endParaRPr>
          </a:p>
          <a:p>
            <a:pPr marL="0" lvl="0" indent="0" algn="l" rtl="0">
              <a:lnSpc>
                <a:spcPct val="90000"/>
              </a:lnSpc>
              <a:spcBef>
                <a:spcPts val="1600"/>
              </a:spcBef>
              <a:spcAft>
                <a:spcPts val="267"/>
              </a:spcAft>
              <a:buNone/>
            </a:pPr>
            <a:endParaRPr sz="2667">
              <a:solidFill>
                <a:srgbClr val="3F3F3F"/>
              </a:solidFill>
              <a:latin typeface="Calibri"/>
              <a:ea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987CB-B37A-146B-36DA-DC863E17011B}"/>
              </a:ext>
            </a:extLst>
          </p:cNvPr>
          <p:cNvSpPr>
            <a:spLocks noGrp="1"/>
          </p:cNvSpPr>
          <p:nvPr>
            <p:ph type="title"/>
          </p:nvPr>
        </p:nvSpPr>
        <p:spPr/>
        <p:txBody>
          <a:bodyPr/>
          <a:lstStyle/>
          <a:p>
            <a:r>
              <a:rPr lang="en-GB" dirty="0"/>
              <a:t>Embedding models</a:t>
            </a:r>
          </a:p>
        </p:txBody>
      </p:sp>
      <p:sp>
        <p:nvSpPr>
          <p:cNvPr id="3" name="Text Placeholder 2">
            <a:extLst>
              <a:ext uri="{FF2B5EF4-FFF2-40B4-BE49-F238E27FC236}">
                <a16:creationId xmlns:a16="http://schemas.microsoft.com/office/drawing/2014/main" id="{9013E6D2-AECE-409E-C428-5B235BED8BBA}"/>
              </a:ext>
            </a:extLst>
          </p:cNvPr>
          <p:cNvSpPr>
            <a:spLocks noGrp="1"/>
          </p:cNvSpPr>
          <p:nvPr>
            <p:ph type="body" idx="1"/>
          </p:nvPr>
        </p:nvSpPr>
        <p:spPr/>
        <p:txBody>
          <a:bodyPr/>
          <a:lstStyle/>
          <a:p>
            <a:pPr marL="152400" indent="0">
              <a:buNone/>
            </a:pPr>
            <a:r>
              <a:rPr lang="en-GB" dirty="0"/>
              <a:t>Embedding models like BERT are given access to the full sentence</a:t>
            </a:r>
          </a:p>
          <a:p>
            <a:pPr marL="152400" indent="0">
              <a:buNone/>
            </a:pPr>
            <a:endParaRPr lang="en-GB" dirty="0"/>
          </a:p>
          <a:p>
            <a:pPr marL="152400" indent="0">
              <a:buNone/>
            </a:pPr>
            <a:r>
              <a:rPr lang="en-GB" dirty="0"/>
              <a:t>The final output of the attention heads was something like:</a:t>
            </a:r>
          </a:p>
          <a:p>
            <a:pPr marL="152400" indent="0">
              <a:buNone/>
            </a:pPr>
            <a:endParaRPr lang="en-GB" dirty="0"/>
          </a:p>
          <a:p>
            <a:pPr marL="152400" indent="0">
              <a:buNone/>
            </a:pPr>
            <a:endParaRPr lang="en-GB" dirty="0"/>
          </a:p>
          <a:p>
            <a:pPr marL="608965" indent="-456565" algn="ctr">
              <a:buNone/>
            </a:pPr>
            <a:r>
              <a:rPr lang="en-GB" dirty="0">
                <a:solidFill>
                  <a:schemeClr val="bg2">
                    <a:lumMod val="49000"/>
                  </a:schemeClr>
                </a:solidFill>
                <a:latin typeface="Consolas"/>
              </a:rPr>
              <a:t>[</a:t>
            </a:r>
            <a:r>
              <a:rPr lang="en-GB" dirty="0" err="1">
                <a:solidFill>
                  <a:schemeClr val="bg2">
                    <a:lumMod val="49000"/>
                  </a:schemeClr>
                </a:solidFill>
                <a:latin typeface="Consolas"/>
              </a:rPr>
              <a:t>sequence_length</a:t>
            </a:r>
            <a:r>
              <a:rPr lang="en-GB" dirty="0">
                <a:solidFill>
                  <a:schemeClr val="bg2">
                    <a:lumMod val="49000"/>
                  </a:schemeClr>
                </a:solidFill>
                <a:latin typeface="Consolas"/>
              </a:rPr>
              <a:t>, </a:t>
            </a:r>
            <a:r>
              <a:rPr lang="en-GB" dirty="0" err="1">
                <a:solidFill>
                  <a:schemeClr val="bg2">
                    <a:lumMod val="49000"/>
                  </a:schemeClr>
                </a:solidFill>
                <a:latin typeface="Consolas"/>
              </a:rPr>
              <a:t>embedding_dim</a:t>
            </a:r>
            <a:r>
              <a:rPr lang="en-GB" dirty="0">
                <a:solidFill>
                  <a:schemeClr val="bg2">
                    <a:lumMod val="49000"/>
                  </a:schemeClr>
                </a:solidFill>
                <a:latin typeface="Consolas"/>
              </a:rPr>
              <a:t>]</a:t>
            </a:r>
          </a:p>
          <a:p>
            <a:pPr marL="152400" indent="0">
              <a:buNone/>
            </a:pPr>
            <a:endParaRPr lang="en-GB" dirty="0"/>
          </a:p>
          <a:p>
            <a:pPr marL="152400" indent="0">
              <a:buNone/>
            </a:pPr>
            <a:r>
              <a:rPr lang="en-GB" dirty="0"/>
              <a:t>Maybe we can pool these together:</a:t>
            </a:r>
          </a:p>
          <a:p>
            <a:pPr marL="152400" indent="0">
              <a:buNone/>
            </a:pPr>
            <a:endParaRPr lang="en-GB" dirty="0"/>
          </a:p>
          <a:p>
            <a:pPr marL="152400" indent="0" algn="ctr">
              <a:buNone/>
            </a:pPr>
            <a:r>
              <a:rPr lang="en-GB" dirty="0">
                <a:solidFill>
                  <a:schemeClr val="bg2">
                    <a:lumMod val="49000"/>
                  </a:schemeClr>
                </a:solidFill>
                <a:latin typeface="Consolas"/>
              </a:rPr>
              <a:t>[</a:t>
            </a:r>
            <a:r>
              <a:rPr lang="en-GB" dirty="0" err="1">
                <a:solidFill>
                  <a:schemeClr val="bg2">
                    <a:lumMod val="49000"/>
                  </a:schemeClr>
                </a:solidFill>
                <a:latin typeface="Consolas"/>
              </a:rPr>
              <a:t>sequence_length</a:t>
            </a:r>
            <a:r>
              <a:rPr lang="en-GB" dirty="0">
                <a:solidFill>
                  <a:schemeClr val="bg2">
                    <a:lumMod val="49000"/>
                  </a:schemeClr>
                </a:solidFill>
                <a:latin typeface="Consolas"/>
              </a:rPr>
              <a:t>, </a:t>
            </a:r>
            <a:r>
              <a:rPr lang="en-GB" dirty="0" err="1">
                <a:solidFill>
                  <a:schemeClr val="bg2">
                    <a:lumMod val="49000"/>
                  </a:schemeClr>
                </a:solidFill>
                <a:latin typeface="Consolas"/>
              </a:rPr>
              <a:t>embedding_dim</a:t>
            </a:r>
            <a:r>
              <a:rPr lang="en-GB" dirty="0">
                <a:solidFill>
                  <a:schemeClr val="bg2">
                    <a:lumMod val="49000"/>
                  </a:schemeClr>
                </a:solidFill>
                <a:latin typeface="Consolas"/>
              </a:rPr>
              <a:t>] </a:t>
            </a:r>
            <a:r>
              <a:rPr lang="en-GB" dirty="0">
                <a:solidFill>
                  <a:schemeClr val="bg2">
                    <a:lumMod val="49000"/>
                  </a:schemeClr>
                </a:solidFill>
                <a:latin typeface="Consolas"/>
                <a:ea typeface="+mn-lt"/>
                <a:cs typeface="+mn-lt"/>
              </a:rPr>
              <a:t>→ [1, </a:t>
            </a:r>
            <a:r>
              <a:rPr lang="en-GB" dirty="0" err="1">
                <a:solidFill>
                  <a:schemeClr val="bg2">
                    <a:lumMod val="49000"/>
                  </a:schemeClr>
                </a:solidFill>
                <a:latin typeface="Consolas"/>
                <a:ea typeface="+mn-lt"/>
                <a:cs typeface="+mn-lt"/>
              </a:rPr>
              <a:t>embedding_dim</a:t>
            </a:r>
            <a:r>
              <a:rPr lang="en-GB" dirty="0">
                <a:solidFill>
                  <a:schemeClr val="bg2">
                    <a:lumMod val="49000"/>
                  </a:schemeClr>
                </a:solidFill>
                <a:latin typeface="Consolas"/>
                <a:ea typeface="+mn-lt"/>
                <a:cs typeface="+mn-lt"/>
              </a:rPr>
              <a:t>]</a:t>
            </a:r>
            <a:endParaRPr lang="en-GB" dirty="0">
              <a:solidFill>
                <a:schemeClr val="bg2">
                  <a:lumMod val="49000"/>
                </a:schemeClr>
              </a:solidFill>
            </a:endParaRPr>
          </a:p>
        </p:txBody>
      </p:sp>
    </p:spTree>
    <p:extLst>
      <p:ext uri="{BB962C8B-B14F-4D97-AF65-F5344CB8AC3E}">
        <p14:creationId xmlns:p14="http://schemas.microsoft.com/office/powerpoint/2010/main" val="39145758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E9613-BA0C-5255-0778-2E621D81894B}"/>
              </a:ext>
            </a:extLst>
          </p:cNvPr>
          <p:cNvSpPr>
            <a:spLocks noGrp="1"/>
          </p:cNvSpPr>
          <p:nvPr>
            <p:ph type="title"/>
          </p:nvPr>
        </p:nvSpPr>
        <p:spPr/>
        <p:txBody>
          <a:bodyPr/>
          <a:lstStyle/>
          <a:p>
            <a:r>
              <a:rPr lang="en-GB" dirty="0"/>
              <a:t>Embedding models</a:t>
            </a:r>
          </a:p>
        </p:txBody>
      </p:sp>
      <p:sp>
        <p:nvSpPr>
          <p:cNvPr id="3" name="Text Placeholder 2">
            <a:extLst>
              <a:ext uri="{FF2B5EF4-FFF2-40B4-BE49-F238E27FC236}">
                <a16:creationId xmlns:a16="http://schemas.microsoft.com/office/drawing/2014/main" id="{1445CA84-5153-2B03-3084-4860817D4700}"/>
              </a:ext>
            </a:extLst>
          </p:cNvPr>
          <p:cNvSpPr>
            <a:spLocks noGrp="1"/>
          </p:cNvSpPr>
          <p:nvPr>
            <p:ph type="body" idx="1"/>
          </p:nvPr>
        </p:nvSpPr>
        <p:spPr/>
        <p:txBody>
          <a:bodyPr/>
          <a:lstStyle/>
          <a:p>
            <a:pPr marL="152400" indent="0">
              <a:buNone/>
            </a:pPr>
            <a:r>
              <a:rPr lang="en-GB" dirty="0"/>
              <a:t>Modern embedding models typically use more advanced methods:</a:t>
            </a:r>
            <a:endParaRPr lang="en-US" dirty="0"/>
          </a:p>
          <a:p>
            <a:pPr marL="152400" indent="0">
              <a:buNone/>
            </a:pPr>
            <a:endParaRPr lang="en-GB" dirty="0"/>
          </a:p>
          <a:p>
            <a:pPr marL="609600" indent="-457200">
              <a:buFont typeface="Calibri" panose="020B0604020202020204" pitchFamily="34" charset="0"/>
              <a:buChar char="-"/>
            </a:pPr>
            <a:r>
              <a:rPr lang="en-GB" dirty="0"/>
              <a:t>Contrastive learning</a:t>
            </a:r>
          </a:p>
          <a:p>
            <a:pPr marL="609600" indent="-457200">
              <a:buFont typeface="Calibri" panose="020B0604020202020204" pitchFamily="34" charset="0"/>
              <a:buChar char="-"/>
            </a:pPr>
            <a:r>
              <a:rPr lang="en-GB" dirty="0" err="1"/>
              <a:t>Matroyshka</a:t>
            </a:r>
            <a:r>
              <a:rPr lang="en-GB" dirty="0"/>
              <a:t> representation learning</a:t>
            </a:r>
          </a:p>
        </p:txBody>
      </p:sp>
    </p:spTree>
    <p:extLst>
      <p:ext uri="{BB962C8B-B14F-4D97-AF65-F5344CB8AC3E}">
        <p14:creationId xmlns:p14="http://schemas.microsoft.com/office/powerpoint/2010/main" val="4692758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E2871-D8C3-ACA3-3A08-0BEC2C0201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19AA78-8BA6-F782-5803-B3F3ADF61186}"/>
              </a:ext>
            </a:extLst>
          </p:cNvPr>
          <p:cNvSpPr>
            <a:spLocks noGrp="1"/>
          </p:cNvSpPr>
          <p:nvPr>
            <p:ph type="title"/>
          </p:nvPr>
        </p:nvSpPr>
        <p:spPr/>
        <p:txBody>
          <a:bodyPr/>
          <a:lstStyle/>
          <a:p>
            <a:r>
              <a:rPr lang="en-GB" dirty="0"/>
              <a:t>Embedding models</a:t>
            </a:r>
          </a:p>
        </p:txBody>
      </p:sp>
      <p:sp>
        <p:nvSpPr>
          <p:cNvPr id="3" name="Text Placeholder 2">
            <a:extLst>
              <a:ext uri="{FF2B5EF4-FFF2-40B4-BE49-F238E27FC236}">
                <a16:creationId xmlns:a16="http://schemas.microsoft.com/office/drawing/2014/main" id="{4A49D9A0-6F7D-23B7-8512-96B05CFE47F4}"/>
              </a:ext>
            </a:extLst>
          </p:cNvPr>
          <p:cNvSpPr>
            <a:spLocks noGrp="1"/>
          </p:cNvSpPr>
          <p:nvPr>
            <p:ph type="body" idx="1"/>
          </p:nvPr>
        </p:nvSpPr>
        <p:spPr/>
        <p:txBody>
          <a:bodyPr/>
          <a:lstStyle/>
          <a:p>
            <a:pPr marL="152400" indent="0">
              <a:buNone/>
            </a:pPr>
            <a:r>
              <a:rPr lang="en-GB" dirty="0"/>
              <a:t>The point is we can go from this:</a:t>
            </a:r>
            <a:endParaRPr lang="en-US" dirty="0"/>
          </a:p>
          <a:p>
            <a:pPr marL="152400" indent="0">
              <a:buNone/>
            </a:pPr>
            <a:endParaRPr lang="en-GB" dirty="0"/>
          </a:p>
          <a:p>
            <a:pPr marL="152400" indent="0">
              <a:buNone/>
            </a:pPr>
            <a:r>
              <a:rPr lang="en-GB" sz="1200" i="1" dirty="0">
                <a:solidFill>
                  <a:srgbClr val="202122"/>
                </a:solidFill>
                <a:latin typeface="sans-serif"/>
              </a:rPr>
              <a:t>Four score and seven years ago our fathers brought forth on this continent, a new nation, conceived in Liberty, and dedicated to the proposition that all men are created equal. Now we are engaged in a great civil war, testing whether that nation, or any nation so conceived and so dedicated, can long endure. We are met on a great battle-field of that war. We have come to dedicate a portion of that field, as a final resting place for those who here gave their lives that that nation might live. It is altogether fitting and proper that we should do this. But, in a larger sense, we can not dedicate—we can not consecrate—we can not hallow—this ground. The brave men, living and dead, who struggled here, have consecrated it, far above our poor power to add or detract. The world will little note, nor long remember what we say here, but it can never forget what they did here. It is for us the living, rather, to be dedicated here to the unfinished work which they who fought here have thus far so nobly advanced. It is rather for us to be here dedicated to the great task remaining before us—that from these </a:t>
            </a:r>
            <a:r>
              <a:rPr lang="en-GB" sz="1200" i="1" dirty="0" err="1">
                <a:solidFill>
                  <a:srgbClr val="202122"/>
                </a:solidFill>
                <a:latin typeface="sans-serif"/>
              </a:rPr>
              <a:t>honored</a:t>
            </a:r>
            <a:r>
              <a:rPr lang="en-GB" sz="1200" i="1" dirty="0">
                <a:solidFill>
                  <a:srgbClr val="202122"/>
                </a:solidFill>
                <a:latin typeface="sans-serif"/>
              </a:rPr>
              <a:t> dead we take increased devotion to that cause for which they gave the last full measure of devotion—that we here highly resolve that these dead shall not have died in vain—that this nation, under God, shall have a new birth of freedom—and that government of the people, by the people, for the people, shall not perish from the earth.</a:t>
            </a:r>
            <a:endParaRPr lang="en-GB" i="1" dirty="0"/>
          </a:p>
          <a:p>
            <a:pPr marL="152400" indent="0">
              <a:buNone/>
            </a:pPr>
            <a:endParaRPr lang="en-GB" sz="1200" dirty="0">
              <a:solidFill>
                <a:srgbClr val="202122"/>
              </a:solidFill>
              <a:latin typeface="sans-serif"/>
            </a:endParaRPr>
          </a:p>
          <a:p>
            <a:pPr marL="152400" indent="0">
              <a:buNone/>
            </a:pPr>
            <a:endParaRPr lang="en-GB" sz="1200" dirty="0">
              <a:solidFill>
                <a:srgbClr val="202122"/>
              </a:solidFill>
              <a:latin typeface="sans-serif"/>
            </a:endParaRPr>
          </a:p>
          <a:p>
            <a:pPr marL="152400" indent="0">
              <a:buNone/>
            </a:pPr>
            <a:r>
              <a:rPr lang="en-GB" dirty="0">
                <a:solidFill>
                  <a:srgbClr val="202122"/>
                </a:solidFill>
                <a:latin typeface="Aptos"/>
                <a:ea typeface="+mn-lt"/>
                <a:cs typeface="+mn-lt"/>
              </a:rPr>
              <a:t>to this:</a:t>
            </a:r>
          </a:p>
          <a:p>
            <a:pPr marL="152400" indent="0">
              <a:buNone/>
            </a:pPr>
            <a:endParaRPr lang="en-GB" dirty="0">
              <a:solidFill>
                <a:srgbClr val="202122"/>
              </a:solidFill>
              <a:latin typeface="Aptos"/>
              <a:ea typeface="+mn-lt"/>
              <a:cs typeface="+mn-lt"/>
            </a:endParaRPr>
          </a:p>
          <a:p>
            <a:pPr marL="152400" indent="0" algn="ctr">
              <a:buNone/>
            </a:pPr>
            <a:r>
              <a:rPr lang="en-GB" dirty="0">
                <a:solidFill>
                  <a:schemeClr val="bg2">
                    <a:lumMod val="49000"/>
                  </a:schemeClr>
                </a:solidFill>
                <a:latin typeface="Consolas"/>
                <a:ea typeface="+mn-lt"/>
                <a:cs typeface="+mn-lt"/>
              </a:rPr>
              <a:t>[0.0784, -0.7839, 0.5729, 0.1272, 0.9236, …, -0.2781]</a:t>
            </a:r>
          </a:p>
        </p:txBody>
      </p:sp>
    </p:spTree>
    <p:extLst>
      <p:ext uri="{BB962C8B-B14F-4D97-AF65-F5344CB8AC3E}">
        <p14:creationId xmlns:p14="http://schemas.microsoft.com/office/powerpoint/2010/main" val="2733547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AA68A-EBFF-162D-923D-A5CBBE66B681}"/>
              </a:ext>
            </a:extLst>
          </p:cNvPr>
          <p:cNvSpPr>
            <a:spLocks noGrp="1"/>
          </p:cNvSpPr>
          <p:nvPr>
            <p:ph type="title"/>
          </p:nvPr>
        </p:nvSpPr>
        <p:spPr/>
        <p:txBody>
          <a:bodyPr/>
          <a:lstStyle/>
          <a:p>
            <a:r>
              <a:rPr lang="en-GB" dirty="0"/>
              <a:t>The RAG Pipeline</a:t>
            </a:r>
          </a:p>
        </p:txBody>
      </p:sp>
      <p:pic>
        <p:nvPicPr>
          <p:cNvPr id="4" name="Picture 3" descr="A diagram of a diagram&#10;&#10;Description automatically generated">
            <a:extLst>
              <a:ext uri="{FF2B5EF4-FFF2-40B4-BE49-F238E27FC236}">
                <a16:creationId xmlns:a16="http://schemas.microsoft.com/office/drawing/2014/main" id="{A77467EB-061F-15F2-078A-76B038BFC874}"/>
              </a:ext>
            </a:extLst>
          </p:cNvPr>
          <p:cNvPicPr>
            <a:picLocks noChangeAspect="1"/>
          </p:cNvPicPr>
          <p:nvPr/>
        </p:nvPicPr>
        <p:blipFill>
          <a:blip r:embed="rId2"/>
          <a:stretch>
            <a:fillRect/>
          </a:stretch>
        </p:blipFill>
        <p:spPr>
          <a:xfrm>
            <a:off x="4914781" y="2029872"/>
            <a:ext cx="6630119" cy="4467948"/>
          </a:xfrm>
          <a:prstGeom prst="rect">
            <a:avLst/>
          </a:prstGeom>
        </p:spPr>
      </p:pic>
      <p:pic>
        <p:nvPicPr>
          <p:cNvPr id="5" name="Picture 4" descr="A diagram of a document&#10;&#10;Description automatically generated">
            <a:extLst>
              <a:ext uri="{FF2B5EF4-FFF2-40B4-BE49-F238E27FC236}">
                <a16:creationId xmlns:a16="http://schemas.microsoft.com/office/drawing/2014/main" id="{0EBC2882-4020-229F-82F9-7EE41CF105D5}"/>
              </a:ext>
            </a:extLst>
          </p:cNvPr>
          <p:cNvPicPr>
            <a:picLocks noChangeAspect="1"/>
          </p:cNvPicPr>
          <p:nvPr/>
        </p:nvPicPr>
        <p:blipFill>
          <a:blip r:embed="rId3"/>
          <a:stretch>
            <a:fillRect/>
          </a:stretch>
        </p:blipFill>
        <p:spPr>
          <a:xfrm>
            <a:off x="799381" y="3428796"/>
            <a:ext cx="3657600" cy="3163904"/>
          </a:xfrm>
          <a:prstGeom prst="rect">
            <a:avLst/>
          </a:prstGeom>
        </p:spPr>
      </p:pic>
      <p:sp>
        <p:nvSpPr>
          <p:cNvPr id="8" name="Rectangle 7">
            <a:extLst>
              <a:ext uri="{FF2B5EF4-FFF2-40B4-BE49-F238E27FC236}">
                <a16:creationId xmlns:a16="http://schemas.microsoft.com/office/drawing/2014/main" id="{6A4B2A47-4297-BD1B-523A-004A295C6735}"/>
              </a:ext>
            </a:extLst>
          </p:cNvPr>
          <p:cNvSpPr/>
          <p:nvPr/>
        </p:nvSpPr>
        <p:spPr>
          <a:xfrm>
            <a:off x="377921" y="5008225"/>
            <a:ext cx="4079393" cy="224751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Arrow: Left 10">
            <a:extLst>
              <a:ext uri="{FF2B5EF4-FFF2-40B4-BE49-F238E27FC236}">
                <a16:creationId xmlns:a16="http://schemas.microsoft.com/office/drawing/2014/main" id="{8F65BC58-8AE0-4A00-89FE-70DA817D2525}"/>
              </a:ext>
            </a:extLst>
          </p:cNvPr>
          <p:cNvSpPr/>
          <p:nvPr/>
        </p:nvSpPr>
        <p:spPr>
          <a:xfrm rot="10800000">
            <a:off x="3630853" y="4171950"/>
            <a:ext cx="1308484" cy="446424"/>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4513346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99C2F-3162-9849-B424-5658F45A15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731FDA-B5F8-4CCD-6277-2C9AFA018564}"/>
              </a:ext>
            </a:extLst>
          </p:cNvPr>
          <p:cNvSpPr>
            <a:spLocks noGrp="1"/>
          </p:cNvSpPr>
          <p:nvPr>
            <p:ph type="title"/>
          </p:nvPr>
        </p:nvSpPr>
        <p:spPr/>
        <p:txBody>
          <a:bodyPr/>
          <a:lstStyle/>
          <a:p>
            <a:r>
              <a:rPr lang="en-GB" dirty="0"/>
              <a:t>Back to the kitchen</a:t>
            </a:r>
          </a:p>
        </p:txBody>
      </p:sp>
      <p:sp>
        <p:nvSpPr>
          <p:cNvPr id="3" name="Content Placeholder 2">
            <a:extLst>
              <a:ext uri="{FF2B5EF4-FFF2-40B4-BE49-F238E27FC236}">
                <a16:creationId xmlns:a16="http://schemas.microsoft.com/office/drawing/2014/main" id="{96CB96F0-1B30-1B95-4B15-F369E37283E0}"/>
              </a:ext>
            </a:extLst>
          </p:cNvPr>
          <p:cNvSpPr>
            <a:spLocks noGrp="1"/>
          </p:cNvSpPr>
          <p:nvPr>
            <p:ph idx="1"/>
          </p:nvPr>
        </p:nvSpPr>
        <p:spPr/>
        <p:txBody>
          <a:bodyPr vert="horz" lIns="91440" tIns="45720" rIns="91440" bIns="45720" rtlCol="0" anchor="t">
            <a:normAutofit/>
          </a:bodyPr>
          <a:lstStyle/>
          <a:p>
            <a:pPr>
              <a:buNone/>
            </a:pPr>
            <a:endParaRPr lang="en-GB" sz="1800" dirty="0">
              <a:solidFill>
                <a:srgbClr val="0B7743"/>
              </a:solidFill>
              <a:latin typeface="Source Code Pro"/>
              <a:ea typeface="Source Code Pro"/>
            </a:endParaRPr>
          </a:p>
          <a:p>
            <a:pPr>
              <a:buNone/>
            </a:pPr>
            <a:endParaRPr lang="en-GB" sz="1800" dirty="0">
              <a:solidFill>
                <a:srgbClr val="0B7743"/>
              </a:solidFill>
              <a:latin typeface="Source Code Pro"/>
              <a:ea typeface="Source Code Pro"/>
            </a:endParaRPr>
          </a:p>
          <a:p>
            <a:pPr>
              <a:buNone/>
            </a:pPr>
            <a:r>
              <a:rPr lang="en-GB" sz="1800" dirty="0">
                <a:solidFill>
                  <a:srgbClr val="0B7743"/>
                </a:solidFill>
                <a:latin typeface="Source Code Pro"/>
                <a:ea typeface="Source Code Pro"/>
              </a:rPr>
              <a:t>‘system’</a:t>
            </a:r>
            <a:r>
              <a:rPr lang="en-GB" sz="1800" dirty="0">
                <a:solidFill>
                  <a:srgbClr val="666666"/>
                </a:solidFill>
                <a:latin typeface="Source Code Pro"/>
                <a:ea typeface="Source Code Pro"/>
              </a:rPr>
              <a:t>    : </a:t>
            </a:r>
            <a:r>
              <a:rPr lang="en-GB" sz="1800" dirty="0">
                <a:solidFill>
                  <a:srgbClr val="9325A5"/>
                </a:solidFill>
                <a:latin typeface="Source Code Pro"/>
                <a:ea typeface="Source Code Pro"/>
              </a:rPr>
              <a:t>“You are an expert in baking.”</a:t>
            </a:r>
            <a:endParaRPr lang="en-GB" dirty="0"/>
          </a:p>
          <a:p>
            <a:pPr>
              <a:buNone/>
            </a:pPr>
            <a:r>
              <a:rPr lang="en-GB" sz="1800" dirty="0">
                <a:solidFill>
                  <a:srgbClr val="0B7743"/>
                </a:solidFill>
                <a:latin typeface="Source Code Pro"/>
                <a:ea typeface="Source Code Pro"/>
              </a:rPr>
              <a:t>‘user’</a:t>
            </a:r>
            <a:r>
              <a:rPr lang="en-GB" sz="1800" dirty="0">
                <a:solidFill>
                  <a:srgbClr val="666666"/>
                </a:solidFill>
                <a:latin typeface="Source Code Pro"/>
                <a:ea typeface="Source Code Pro"/>
              </a:rPr>
              <a:t>      : </a:t>
            </a:r>
            <a:r>
              <a:rPr lang="en-GB" sz="1800" dirty="0">
                <a:solidFill>
                  <a:srgbClr val="9325A5"/>
                </a:solidFill>
                <a:latin typeface="Source Code Pro"/>
                <a:ea typeface="Source Code Pro"/>
              </a:rPr>
              <a:t>“Provide me a recipe for macarons.”</a:t>
            </a:r>
            <a:endParaRPr lang="en-GB"/>
          </a:p>
          <a:p>
            <a:pPr>
              <a:buNone/>
            </a:pPr>
            <a:r>
              <a:rPr lang="en-GB" sz="1800" dirty="0" err="1">
                <a:solidFill>
                  <a:schemeClr val="tx1">
                    <a:lumMod val="76000"/>
                    <a:lumOff val="24000"/>
                  </a:schemeClr>
                </a:solidFill>
                <a:latin typeface="Source Code Pro"/>
                <a:ea typeface="Source Code Pro"/>
              </a:rPr>
              <a:t>user_query</a:t>
            </a:r>
            <a:r>
              <a:rPr lang="en-GB" sz="1800" dirty="0">
                <a:solidFill>
                  <a:schemeClr val="tx1">
                    <a:lumMod val="76000"/>
                    <a:lumOff val="24000"/>
                  </a:schemeClr>
                </a:solidFill>
                <a:latin typeface="Source Code Pro"/>
                <a:ea typeface="Source Code Pro"/>
              </a:rPr>
              <a:t> -&gt; </a:t>
            </a:r>
            <a:r>
              <a:rPr lang="en-GB" sz="1800" dirty="0" err="1">
                <a:solidFill>
                  <a:schemeClr val="tx1">
                    <a:lumMod val="76000"/>
                    <a:lumOff val="24000"/>
                  </a:schemeClr>
                </a:solidFill>
                <a:latin typeface="Source Code Pro"/>
                <a:ea typeface="Source Code Pro"/>
              </a:rPr>
              <a:t>embed_query</a:t>
            </a:r>
            <a:r>
              <a:rPr lang="en-GB" sz="1800" dirty="0">
                <a:solidFill>
                  <a:schemeClr val="tx1">
                    <a:lumMod val="76000"/>
                    <a:lumOff val="24000"/>
                  </a:schemeClr>
                </a:solidFill>
                <a:latin typeface="Source Code Pro"/>
                <a:ea typeface="Source Code Pro"/>
              </a:rPr>
              <a:t> -&gt; search database -&gt; </a:t>
            </a:r>
            <a:r>
              <a:rPr lang="en-GB" sz="1800" dirty="0" err="1">
                <a:solidFill>
                  <a:schemeClr val="tx1">
                    <a:lumMod val="76000"/>
                    <a:lumOff val="24000"/>
                  </a:schemeClr>
                </a:solidFill>
                <a:latin typeface="Source Code Pro"/>
                <a:ea typeface="Source Code Pro"/>
              </a:rPr>
              <a:t>top_k_results</a:t>
            </a:r>
            <a:endParaRPr lang="en-GB" sz="1800" dirty="0">
              <a:solidFill>
                <a:schemeClr val="tx1">
                  <a:lumMod val="76000"/>
                  <a:lumOff val="24000"/>
                </a:schemeClr>
              </a:solidFill>
              <a:latin typeface="Source Code Pro"/>
              <a:ea typeface="Source Code Pro"/>
            </a:endParaRPr>
          </a:p>
          <a:p>
            <a:pPr>
              <a:buNone/>
            </a:pPr>
            <a:r>
              <a:rPr lang="en-GB" sz="1800" dirty="0">
                <a:solidFill>
                  <a:srgbClr val="0B7743"/>
                </a:solidFill>
                <a:latin typeface="Source Code Pro"/>
                <a:ea typeface="Source Code Pro"/>
              </a:rPr>
              <a:t>‘knowledge’</a:t>
            </a:r>
            <a:r>
              <a:rPr lang="en-GB" sz="1800" dirty="0">
                <a:solidFill>
                  <a:srgbClr val="666666"/>
                </a:solidFill>
                <a:latin typeface="Source Code Pro"/>
                <a:ea typeface="Source Code Pro"/>
              </a:rPr>
              <a:t> : </a:t>
            </a:r>
            <a:r>
              <a:rPr lang="en-GB" sz="1800" dirty="0">
                <a:solidFill>
                  <a:srgbClr val="9325A5"/>
                </a:solidFill>
                <a:latin typeface="Source Code Pro"/>
                <a:ea typeface="Source Code Pro"/>
              </a:rPr>
              <a:t>“[Top Recipe 1, Top Recipe 2, Top Recipe k]”</a:t>
            </a:r>
            <a:endParaRPr lang="en-GB" dirty="0"/>
          </a:p>
          <a:p>
            <a:pPr marL="0" indent="0">
              <a:buNone/>
            </a:pPr>
            <a:r>
              <a:rPr lang="en-GB" sz="1800" dirty="0">
                <a:solidFill>
                  <a:srgbClr val="0B7743"/>
                </a:solidFill>
                <a:latin typeface="Source Code Pro"/>
                <a:ea typeface="Source Code Pro"/>
              </a:rPr>
              <a:t>‘assistant’</a:t>
            </a:r>
            <a:r>
              <a:rPr lang="en-GB" sz="1800" dirty="0">
                <a:solidFill>
                  <a:srgbClr val="666666"/>
                </a:solidFill>
                <a:latin typeface="Source Code Pro"/>
                <a:ea typeface="Source Code Pro"/>
              </a:rPr>
              <a:t> : </a:t>
            </a:r>
            <a:r>
              <a:rPr lang="en-GB" sz="1800" dirty="0">
                <a:solidFill>
                  <a:srgbClr val="9325A5"/>
                </a:solidFill>
                <a:latin typeface="Source Code Pro"/>
                <a:ea typeface="Source Code Pro"/>
              </a:rPr>
              <a:t>“Certainly! Here is a recipe for macarons …”</a:t>
            </a:r>
            <a:endParaRPr lang="en-GB" dirty="0"/>
          </a:p>
        </p:txBody>
      </p:sp>
    </p:spTree>
    <p:extLst>
      <p:ext uri="{BB962C8B-B14F-4D97-AF65-F5344CB8AC3E}">
        <p14:creationId xmlns:p14="http://schemas.microsoft.com/office/powerpoint/2010/main" val="28910651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09050-3E94-D366-3D30-938C9CB92D70}"/>
              </a:ext>
            </a:extLst>
          </p:cNvPr>
          <p:cNvSpPr>
            <a:spLocks noGrp="1"/>
          </p:cNvSpPr>
          <p:nvPr>
            <p:ph type="title"/>
          </p:nvPr>
        </p:nvSpPr>
        <p:spPr/>
        <p:txBody>
          <a:bodyPr/>
          <a:lstStyle/>
          <a:p>
            <a:r>
              <a:rPr lang="en-GB" dirty="0"/>
              <a:t>Tools</a:t>
            </a:r>
          </a:p>
        </p:txBody>
      </p:sp>
      <p:graphicFrame>
        <p:nvGraphicFramePr>
          <p:cNvPr id="5" name="Content Placeholder 4">
            <a:extLst>
              <a:ext uri="{FF2B5EF4-FFF2-40B4-BE49-F238E27FC236}">
                <a16:creationId xmlns:a16="http://schemas.microsoft.com/office/drawing/2014/main" id="{3C99A2CF-6201-2BF5-0362-76F511F6A998}"/>
              </a:ext>
            </a:extLst>
          </p:cNvPr>
          <p:cNvGraphicFramePr>
            <a:graphicFrameLocks noGrp="1"/>
          </p:cNvGraphicFramePr>
          <p:nvPr>
            <p:ph idx="1"/>
            <p:extLst>
              <p:ext uri="{D42A27DB-BD31-4B8C-83A1-F6EECF244321}">
                <p14:modId xmlns:p14="http://schemas.microsoft.com/office/powerpoint/2010/main" val="2802296289"/>
              </p:ext>
            </p:extLst>
          </p:nvPr>
        </p:nvGraphicFramePr>
        <p:xfrm>
          <a:off x="2087308" y="2029869"/>
          <a:ext cx="8017356" cy="3648075"/>
        </p:xfrm>
        <a:graphic>
          <a:graphicData uri="http://schemas.openxmlformats.org/drawingml/2006/table">
            <a:tbl>
              <a:tblPr bandRow="1">
                <a:tableStyleId>{5C22544A-7EE6-4342-B048-85BDC9FD1C3A}</a:tableStyleId>
              </a:tblPr>
              <a:tblGrid>
                <a:gridCol w="2036741">
                  <a:extLst>
                    <a:ext uri="{9D8B030D-6E8A-4147-A177-3AD203B41FA5}">
                      <a16:colId xmlns:a16="http://schemas.microsoft.com/office/drawing/2014/main" val="283657678"/>
                    </a:ext>
                  </a:extLst>
                </a:gridCol>
                <a:gridCol w="5980615">
                  <a:extLst>
                    <a:ext uri="{9D8B030D-6E8A-4147-A177-3AD203B41FA5}">
                      <a16:colId xmlns:a16="http://schemas.microsoft.com/office/drawing/2014/main" val="2446216171"/>
                    </a:ext>
                  </a:extLst>
                </a:gridCol>
              </a:tblGrid>
              <a:tr h="2638425">
                <a:tc>
                  <a:txBody>
                    <a:bodyPr/>
                    <a:lstStyle/>
                    <a:p>
                      <a:pPr algn="l" fontAlgn="base">
                        <a:lnSpc>
                          <a:spcPts val="2175"/>
                        </a:lnSpc>
                        <a:buNone/>
                      </a:pPr>
                      <a:r>
                        <a:rPr lang="en-GB" sz="1800" b="0" i="0" u="none" strike="noStrike" dirty="0">
                          <a:solidFill>
                            <a:srgbClr val="0B7743"/>
                          </a:solidFill>
                          <a:effectLst/>
                          <a:latin typeface="Source Code Pro"/>
                        </a:rPr>
                        <a:t>‘system’</a:t>
                      </a:r>
                      <a:endParaRPr lang="en-GB" b="0" i="0" dirty="0">
                        <a:solidFill>
                          <a:srgbClr val="000000"/>
                        </a:solidFill>
                        <a:effectLst/>
                        <a:latin typeface="Source Code Pro"/>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l" fontAlgn="base">
                        <a:lnSpc>
                          <a:spcPts val="2175"/>
                        </a:lnSpc>
                        <a:buNone/>
                      </a:pPr>
                      <a:r>
                        <a:rPr lang="en-GB" sz="1800" b="0" i="0" u="none" strike="noStrike" dirty="0">
                          <a:solidFill>
                            <a:srgbClr val="9325A5"/>
                          </a:solidFill>
                          <a:effectLst/>
                          <a:latin typeface="Source Code Pro"/>
                        </a:rPr>
                        <a:t>“You are a helpful mathematician. You have access to the following functions:</a:t>
                      </a:r>
                      <a:endParaRPr lang="en-GB" b="0" i="0">
                        <a:solidFill>
                          <a:srgbClr val="000000"/>
                        </a:solidFill>
                        <a:effectLst/>
                      </a:endParaRPr>
                    </a:p>
                    <a:p>
                      <a:pPr lvl="0" algn="l">
                        <a:lnSpc>
                          <a:spcPts val="2175"/>
                        </a:lnSpc>
                        <a:buNone/>
                      </a:pPr>
                      <a:endParaRPr lang="en-GB" sz="1800" b="0" i="0" u="none" strike="noStrike" dirty="0">
                        <a:solidFill>
                          <a:srgbClr val="9325A5"/>
                        </a:solidFill>
                        <a:effectLst/>
                        <a:latin typeface="Source Code Pro"/>
                      </a:endParaRPr>
                    </a:p>
                    <a:p>
                      <a:pPr algn="l" fontAlgn="base">
                        <a:lnSpc>
                          <a:spcPts val="2175"/>
                        </a:lnSpc>
                        <a:buNone/>
                      </a:pPr>
                      <a:r>
                        <a:rPr lang="en-GB" sz="1800" b="0" i="0" u="none" strike="noStrike" dirty="0">
                          <a:solidFill>
                            <a:srgbClr val="9325A5"/>
                          </a:solidFill>
                          <a:effectLst/>
                          <a:latin typeface="Source Code Pro"/>
                        </a:rPr>
                        <a:t>{{ </a:t>
                      </a:r>
                      <a:r>
                        <a:rPr lang="en-GB" sz="1800" b="0" i="0" u="none" strike="noStrike" dirty="0" err="1">
                          <a:solidFill>
                            <a:srgbClr val="9325A5"/>
                          </a:solidFill>
                          <a:effectLst/>
                          <a:latin typeface="Source Code Pro"/>
                        </a:rPr>
                        <a:t>tool_schema</a:t>
                      </a:r>
                      <a:r>
                        <a:rPr lang="en-GB" sz="1800" b="0" i="0" u="none" strike="noStrike" dirty="0">
                          <a:solidFill>
                            <a:srgbClr val="9325A5"/>
                          </a:solidFill>
                          <a:effectLst/>
                          <a:latin typeface="Source Code Pro"/>
                        </a:rPr>
                        <a:t> }}</a:t>
                      </a:r>
                      <a:endParaRPr lang="en-GB" b="0" i="0">
                        <a:solidFill>
                          <a:srgbClr val="000000"/>
                        </a:solidFill>
                        <a:effectLst/>
                      </a:endParaRPr>
                    </a:p>
                    <a:p>
                      <a:pPr lvl="0" algn="l">
                        <a:lnSpc>
                          <a:spcPts val="2175"/>
                        </a:lnSpc>
                        <a:buNone/>
                      </a:pPr>
                      <a:endParaRPr lang="en-GB" sz="1800" b="0" i="0" u="none" strike="noStrike" dirty="0">
                        <a:solidFill>
                          <a:srgbClr val="9325A5"/>
                        </a:solidFill>
                        <a:effectLst/>
                        <a:latin typeface="Source Code Pro"/>
                      </a:endParaRPr>
                    </a:p>
                    <a:p>
                      <a:pPr algn="l" fontAlgn="base">
                        <a:lnSpc>
                          <a:spcPts val="2175"/>
                        </a:lnSpc>
                        <a:buNone/>
                      </a:pPr>
                      <a:r>
                        <a:rPr lang="en-GB" sz="1800" b="0" i="0" u="none" strike="noStrike" dirty="0">
                          <a:solidFill>
                            <a:srgbClr val="9325A5"/>
                          </a:solidFill>
                          <a:effectLst/>
                          <a:latin typeface="Source Code Pro"/>
                        </a:rPr>
                        <a:t>If you choose to use the tool, respond in </a:t>
                      </a:r>
                      <a:r>
                        <a:rPr lang="en-GB" sz="1800" b="0" i="0" u="none" strike="noStrike" dirty="0" err="1">
                          <a:solidFill>
                            <a:srgbClr val="9325A5"/>
                          </a:solidFill>
                          <a:effectLst/>
                          <a:latin typeface="Source Code Pro"/>
                        </a:rPr>
                        <a:t>json</a:t>
                      </a:r>
                      <a:r>
                        <a:rPr lang="en-GB" sz="1800" b="0" i="0" u="none" strike="noStrike" dirty="0">
                          <a:solidFill>
                            <a:srgbClr val="9325A5"/>
                          </a:solidFill>
                          <a:effectLst/>
                          <a:latin typeface="Source Code Pro"/>
                        </a:rPr>
                        <a:t> with the correct arguments to the function.”</a:t>
                      </a:r>
                      <a:endParaRPr lang="en-GB" b="0" i="0">
                        <a:solidFill>
                          <a:srgbClr val="000000"/>
                        </a:solidFill>
                        <a:effectLst/>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1810655398"/>
                  </a:ext>
                </a:extLst>
              </a:tr>
              <a:tr h="504825">
                <a:tc>
                  <a:txBody>
                    <a:bodyPr/>
                    <a:lstStyle/>
                    <a:p>
                      <a:pPr algn="l" fontAlgn="base">
                        <a:lnSpc>
                          <a:spcPts val="2175"/>
                        </a:lnSpc>
                        <a:buNone/>
                      </a:pPr>
                      <a:r>
                        <a:rPr lang="en-GB" sz="1800" b="0" i="0" u="none" strike="noStrike" dirty="0">
                          <a:solidFill>
                            <a:srgbClr val="0B7743"/>
                          </a:solidFill>
                          <a:effectLst/>
                          <a:latin typeface="Source Code Pro"/>
                        </a:rPr>
                        <a:t>‘user’</a:t>
                      </a:r>
                      <a:endParaRPr lang="en-GB" b="0" i="0" dirty="0">
                        <a:solidFill>
                          <a:srgbClr val="000000"/>
                        </a:solidFill>
                        <a:effectLst/>
                        <a:latin typeface="Source Code Pro"/>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l" fontAlgn="base">
                        <a:lnSpc>
                          <a:spcPts val="2175"/>
                        </a:lnSpc>
                        <a:buNone/>
                      </a:pPr>
                      <a:r>
                        <a:rPr lang="en-GB" sz="1800" b="0" i="0" u="none" strike="noStrike" dirty="0">
                          <a:solidFill>
                            <a:srgbClr val="9325A5"/>
                          </a:solidFill>
                          <a:effectLst/>
                          <a:latin typeface="Source Code Pro"/>
                        </a:rPr>
                        <a:t>“What is 1056 x 1316?”</a:t>
                      </a:r>
                      <a:endParaRPr lang="en-GB" b="0" i="0" dirty="0">
                        <a:solidFill>
                          <a:srgbClr val="000000"/>
                        </a:solidFill>
                        <a:effectLst/>
                        <a:latin typeface="Source Code Pro"/>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923839307"/>
                  </a:ext>
                </a:extLst>
              </a:tr>
              <a:tr h="504825">
                <a:tc>
                  <a:txBody>
                    <a:bodyPr/>
                    <a:lstStyle/>
                    <a:p>
                      <a:pPr algn="l" fontAlgn="base">
                        <a:lnSpc>
                          <a:spcPts val="2175"/>
                        </a:lnSpc>
                        <a:buNone/>
                      </a:pPr>
                      <a:r>
                        <a:rPr lang="en-GB" sz="1800" b="0" i="0" u="none" strike="noStrike" dirty="0">
                          <a:solidFill>
                            <a:srgbClr val="0B7743"/>
                          </a:solidFill>
                          <a:effectLst/>
                          <a:latin typeface="Source Code Pro"/>
                        </a:rPr>
                        <a:t>‘assistant’</a:t>
                      </a:r>
                      <a:endParaRPr lang="en-GB" b="0" i="0" dirty="0">
                        <a:solidFill>
                          <a:srgbClr val="000000"/>
                        </a:solidFill>
                        <a:effectLst/>
                        <a:latin typeface="Source Code Pro"/>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tc>
                  <a:txBody>
                    <a:bodyPr/>
                    <a:lstStyle/>
                    <a:p>
                      <a:pPr algn="l" fontAlgn="base">
                        <a:lnSpc>
                          <a:spcPts val="2175"/>
                        </a:lnSpc>
                        <a:buNone/>
                      </a:pPr>
                      <a:r>
                        <a:rPr lang="en-GB" sz="1800" b="0" i="0" u="none" strike="noStrike" dirty="0">
                          <a:solidFill>
                            <a:srgbClr val="9325A5"/>
                          </a:solidFill>
                          <a:effectLst/>
                          <a:latin typeface="Source Code Pro"/>
                        </a:rPr>
                        <a:t>“{‘a’:1056, ‘b’:1316}”</a:t>
                      </a:r>
                      <a:endParaRPr lang="en-GB" b="0" i="0" dirty="0">
                        <a:solidFill>
                          <a:srgbClr val="000000"/>
                        </a:solidFill>
                        <a:effectLst/>
                        <a:latin typeface="Source Code Pro"/>
                      </a:endParaRPr>
                    </a:p>
                  </a:txBody>
                  <a:tcPr marL="95250" marR="95250" marT="95250" marB="95250">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noFill/>
                  </a:tcPr>
                </a:tc>
                <a:extLst>
                  <a:ext uri="{0D108BD9-81ED-4DB2-BD59-A6C34878D82A}">
                    <a16:rowId xmlns:a16="http://schemas.microsoft.com/office/drawing/2014/main" val="3157024178"/>
                  </a:ext>
                </a:extLst>
              </a:tr>
            </a:tbl>
          </a:graphicData>
        </a:graphic>
      </p:graphicFrame>
    </p:spTree>
    <p:extLst>
      <p:ext uri="{BB962C8B-B14F-4D97-AF65-F5344CB8AC3E}">
        <p14:creationId xmlns:p14="http://schemas.microsoft.com/office/powerpoint/2010/main" val="19733230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5E0F3-30DF-7E3D-2754-635E1BC87CDD}"/>
              </a:ext>
            </a:extLst>
          </p:cNvPr>
          <p:cNvSpPr>
            <a:spLocks noGrp="1"/>
          </p:cNvSpPr>
          <p:nvPr>
            <p:ph type="title"/>
          </p:nvPr>
        </p:nvSpPr>
        <p:spPr/>
        <p:txBody>
          <a:bodyPr/>
          <a:lstStyle/>
          <a:p>
            <a:r>
              <a:rPr lang="en-GB" dirty="0"/>
              <a:t>Tools</a:t>
            </a:r>
          </a:p>
        </p:txBody>
      </p:sp>
      <p:pic>
        <p:nvPicPr>
          <p:cNvPr id="4" name="Content Placeholder 3">
            <a:extLst>
              <a:ext uri="{FF2B5EF4-FFF2-40B4-BE49-F238E27FC236}">
                <a16:creationId xmlns:a16="http://schemas.microsoft.com/office/drawing/2014/main" id="{E84A8247-E8A3-440D-9244-21C90856CF7D}"/>
              </a:ext>
            </a:extLst>
          </p:cNvPr>
          <p:cNvPicPr>
            <a:picLocks noGrp="1" noChangeAspect="1"/>
          </p:cNvPicPr>
          <p:nvPr>
            <p:ph idx="1"/>
          </p:nvPr>
        </p:nvPicPr>
        <p:blipFill>
          <a:blip r:embed="rId2"/>
          <a:stretch>
            <a:fillRect/>
          </a:stretch>
        </p:blipFill>
        <p:spPr>
          <a:xfrm>
            <a:off x="3563937" y="2253457"/>
            <a:ext cx="5057775" cy="3228975"/>
          </a:xfrm>
          <a:prstGeom prst="rect">
            <a:avLst/>
          </a:prstGeom>
        </p:spPr>
      </p:pic>
    </p:spTree>
    <p:extLst>
      <p:ext uri="{BB962C8B-B14F-4D97-AF65-F5344CB8AC3E}">
        <p14:creationId xmlns:p14="http://schemas.microsoft.com/office/powerpoint/2010/main" val="865101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09D7E-F08D-02D0-83B9-8B919070D4E6}"/>
              </a:ext>
            </a:extLst>
          </p:cNvPr>
          <p:cNvSpPr>
            <a:spLocks noGrp="1"/>
          </p:cNvSpPr>
          <p:nvPr>
            <p:ph type="title"/>
          </p:nvPr>
        </p:nvSpPr>
        <p:spPr/>
        <p:txBody>
          <a:bodyPr/>
          <a:lstStyle/>
          <a:p>
            <a:r>
              <a:rPr lang="en-GB" dirty="0"/>
              <a:t>Tools</a:t>
            </a:r>
          </a:p>
        </p:txBody>
      </p:sp>
      <p:pic>
        <p:nvPicPr>
          <p:cNvPr id="4" name="Content Placeholder 3">
            <a:extLst>
              <a:ext uri="{FF2B5EF4-FFF2-40B4-BE49-F238E27FC236}">
                <a16:creationId xmlns:a16="http://schemas.microsoft.com/office/drawing/2014/main" id="{6DFA782C-205E-17DF-64EC-23CAB765870F}"/>
              </a:ext>
            </a:extLst>
          </p:cNvPr>
          <p:cNvPicPr>
            <a:picLocks noGrp="1" noChangeAspect="1"/>
          </p:cNvPicPr>
          <p:nvPr>
            <p:ph idx="1"/>
          </p:nvPr>
        </p:nvPicPr>
        <p:blipFill>
          <a:blip r:embed="rId2"/>
          <a:stretch>
            <a:fillRect/>
          </a:stretch>
        </p:blipFill>
        <p:spPr>
          <a:xfrm>
            <a:off x="2585506" y="1685925"/>
            <a:ext cx="7020988" cy="4637088"/>
          </a:xfrm>
          <a:prstGeom prst="rect">
            <a:avLst/>
          </a:prstGeom>
        </p:spPr>
      </p:pic>
    </p:spTree>
    <p:extLst>
      <p:ext uri="{BB962C8B-B14F-4D97-AF65-F5344CB8AC3E}">
        <p14:creationId xmlns:p14="http://schemas.microsoft.com/office/powerpoint/2010/main" val="9038697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2E3A1-7CEE-1B7B-BFEB-01CC437B078B}"/>
              </a:ext>
            </a:extLst>
          </p:cNvPr>
          <p:cNvSpPr>
            <a:spLocks noGrp="1"/>
          </p:cNvSpPr>
          <p:nvPr>
            <p:ph type="title"/>
          </p:nvPr>
        </p:nvSpPr>
        <p:spPr/>
        <p:txBody>
          <a:bodyPr/>
          <a:lstStyle/>
          <a:p>
            <a:r>
              <a:rPr lang="en-GB"/>
              <a:t>Tools</a:t>
            </a:r>
          </a:p>
        </p:txBody>
      </p:sp>
      <p:pic>
        <p:nvPicPr>
          <p:cNvPr id="4" name="Picture 3" descr="A diagram of a llama&#10;&#10;AI-generated content may be incorrect.">
            <a:extLst>
              <a:ext uri="{FF2B5EF4-FFF2-40B4-BE49-F238E27FC236}">
                <a16:creationId xmlns:a16="http://schemas.microsoft.com/office/drawing/2014/main" id="{B8607B1A-4424-44E0-1725-5CF1BA26E3FE}"/>
              </a:ext>
            </a:extLst>
          </p:cNvPr>
          <p:cNvPicPr>
            <a:picLocks noChangeAspect="1"/>
          </p:cNvPicPr>
          <p:nvPr/>
        </p:nvPicPr>
        <p:blipFill>
          <a:blip r:embed="rId2"/>
          <a:stretch>
            <a:fillRect/>
          </a:stretch>
        </p:blipFill>
        <p:spPr>
          <a:xfrm>
            <a:off x="1285875" y="1428750"/>
            <a:ext cx="9613900" cy="5429250"/>
          </a:xfrm>
          <a:prstGeom prst="rect">
            <a:avLst/>
          </a:prstGeom>
        </p:spPr>
      </p:pic>
    </p:spTree>
    <p:extLst>
      <p:ext uri="{BB962C8B-B14F-4D97-AF65-F5344CB8AC3E}">
        <p14:creationId xmlns:p14="http://schemas.microsoft.com/office/powerpoint/2010/main" val="18653973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7A5CF-56FA-71DB-6AF5-509715821D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036A6-A66B-E9EF-0680-68D08DC5B7A3}"/>
              </a:ext>
            </a:extLst>
          </p:cNvPr>
          <p:cNvSpPr>
            <a:spLocks noGrp="1"/>
          </p:cNvSpPr>
          <p:nvPr>
            <p:ph type="title"/>
          </p:nvPr>
        </p:nvSpPr>
        <p:spPr/>
        <p:txBody>
          <a:bodyPr/>
          <a:lstStyle/>
          <a:p>
            <a:r>
              <a:rPr lang="en-GB"/>
              <a:t>Misconception</a:t>
            </a:r>
          </a:p>
        </p:txBody>
      </p:sp>
      <p:pic>
        <p:nvPicPr>
          <p:cNvPr id="3" name="Picture 2" descr="9 Practical Kitchen Gadgets You Need To Have – The Happy Eggplant Gourmet  Food &amp; Kitchen Shoppe">
            <a:extLst>
              <a:ext uri="{FF2B5EF4-FFF2-40B4-BE49-F238E27FC236}">
                <a16:creationId xmlns:a16="http://schemas.microsoft.com/office/drawing/2014/main" id="{0400FBFB-D442-9709-25BA-F0590EFC4040}"/>
              </a:ext>
            </a:extLst>
          </p:cNvPr>
          <p:cNvPicPr>
            <a:picLocks noChangeAspect="1"/>
          </p:cNvPicPr>
          <p:nvPr/>
        </p:nvPicPr>
        <p:blipFill>
          <a:blip r:embed="rId2"/>
          <a:stretch>
            <a:fillRect/>
          </a:stretch>
        </p:blipFill>
        <p:spPr>
          <a:xfrm>
            <a:off x="852768" y="2850204"/>
            <a:ext cx="5270125" cy="3292312"/>
          </a:xfrm>
          <a:prstGeom prst="rect">
            <a:avLst/>
          </a:prstGeom>
        </p:spPr>
      </p:pic>
      <p:sp>
        <p:nvSpPr>
          <p:cNvPr id="6" name="Title 1">
            <a:extLst>
              <a:ext uri="{FF2B5EF4-FFF2-40B4-BE49-F238E27FC236}">
                <a16:creationId xmlns:a16="http://schemas.microsoft.com/office/drawing/2014/main" id="{58E74848-8FEC-DE59-C631-C859923E6EDC}"/>
              </a:ext>
            </a:extLst>
          </p:cNvPr>
          <p:cNvSpPr txBox="1">
            <a:spLocks/>
          </p:cNvSpPr>
          <p:nvPr/>
        </p:nvSpPr>
        <p:spPr>
          <a:xfrm>
            <a:off x="603998" y="152045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ea typeface="+mj-lt"/>
                <a:cs typeface="+mj-lt"/>
              </a:rPr>
              <a:t>    ❌         ✅</a:t>
            </a:r>
            <a:endParaRPr lang="en-US"/>
          </a:p>
        </p:txBody>
      </p:sp>
      <p:pic>
        <p:nvPicPr>
          <p:cNvPr id="7" name="Picture 6" descr="50+ Harry Potter Spells Everyone Should Know (and What They Do)">
            <a:extLst>
              <a:ext uri="{FF2B5EF4-FFF2-40B4-BE49-F238E27FC236}">
                <a16:creationId xmlns:a16="http://schemas.microsoft.com/office/drawing/2014/main" id="{A6FDE989-1659-2A8B-4EB8-FE76120F96CE}"/>
              </a:ext>
            </a:extLst>
          </p:cNvPr>
          <p:cNvPicPr>
            <a:picLocks noChangeAspect="1"/>
          </p:cNvPicPr>
          <p:nvPr/>
        </p:nvPicPr>
        <p:blipFill>
          <a:blip r:embed="rId3"/>
          <a:stretch>
            <a:fillRect/>
          </a:stretch>
        </p:blipFill>
        <p:spPr>
          <a:xfrm>
            <a:off x="7076514" y="2846294"/>
            <a:ext cx="4207809" cy="3148853"/>
          </a:xfrm>
          <a:prstGeom prst="rect">
            <a:avLst/>
          </a:prstGeom>
        </p:spPr>
      </p:pic>
    </p:spTree>
    <p:extLst>
      <p:ext uri="{BB962C8B-B14F-4D97-AF65-F5344CB8AC3E}">
        <p14:creationId xmlns:p14="http://schemas.microsoft.com/office/powerpoint/2010/main" val="4169821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8AD0C-0B23-6910-6F79-FCF1D5137FBC}"/>
              </a:ext>
            </a:extLst>
          </p:cNvPr>
          <p:cNvSpPr>
            <a:spLocks noGrp="1"/>
          </p:cNvSpPr>
          <p:nvPr>
            <p:ph type="title"/>
          </p:nvPr>
        </p:nvSpPr>
        <p:spPr/>
        <p:txBody>
          <a:bodyPr/>
          <a:lstStyle/>
          <a:p>
            <a:r>
              <a:rPr lang="en-GB"/>
              <a:t>Agents</a:t>
            </a:r>
          </a:p>
        </p:txBody>
      </p:sp>
      <p:sp>
        <p:nvSpPr>
          <p:cNvPr id="3" name="Content Placeholder 2">
            <a:extLst>
              <a:ext uri="{FF2B5EF4-FFF2-40B4-BE49-F238E27FC236}">
                <a16:creationId xmlns:a16="http://schemas.microsoft.com/office/drawing/2014/main" id="{73298BBD-22F1-A215-4A33-DA4C713D9743}"/>
              </a:ext>
            </a:extLst>
          </p:cNvPr>
          <p:cNvSpPr>
            <a:spLocks noGrp="1"/>
          </p:cNvSpPr>
          <p:nvPr>
            <p:ph idx="1"/>
          </p:nvPr>
        </p:nvSpPr>
        <p:spPr/>
        <p:txBody>
          <a:bodyPr vert="horz" lIns="91440" tIns="45720" rIns="91440" bIns="45720" rtlCol="0" anchor="t">
            <a:normAutofit/>
          </a:bodyPr>
          <a:lstStyle/>
          <a:p>
            <a:r>
              <a:rPr lang="en-GB"/>
              <a:t>What if instead of asking a tool, the LLM asks another LLM?</a:t>
            </a:r>
          </a:p>
          <a:p>
            <a:r>
              <a:rPr lang="en-GB" dirty="0"/>
              <a:t>And so</a:t>
            </a:r>
            <a:r>
              <a:rPr lang="en-GB"/>
              <a:t> on and so on – we create b</a:t>
            </a:r>
            <a:r>
              <a:rPr lang="en-GB" dirty="0"/>
              <a:t>ig complex systems of calls</a:t>
            </a:r>
          </a:p>
          <a:p>
            <a:endParaRPr lang="en-GB" dirty="0"/>
          </a:p>
          <a:p>
            <a:endParaRPr lang="en-GB" dirty="0"/>
          </a:p>
          <a:p>
            <a:r>
              <a:rPr lang="en-GB"/>
              <a:t>                                                  .</a:t>
            </a:r>
            <a:endParaRPr lang="en-GB" dirty="0"/>
          </a:p>
        </p:txBody>
      </p:sp>
      <p:pic>
        <p:nvPicPr>
          <p:cNvPr id="6" name="Picture 5" descr="A close up of a sign&#10;&#10;AI-generated content may be incorrect.">
            <a:extLst>
              <a:ext uri="{FF2B5EF4-FFF2-40B4-BE49-F238E27FC236}">
                <a16:creationId xmlns:a16="http://schemas.microsoft.com/office/drawing/2014/main" id="{6E7E41F0-CAAB-D6D4-3C7E-CF03DB3720BD}"/>
              </a:ext>
            </a:extLst>
          </p:cNvPr>
          <p:cNvPicPr>
            <a:picLocks noChangeAspect="1"/>
          </p:cNvPicPr>
          <p:nvPr/>
        </p:nvPicPr>
        <p:blipFill>
          <a:blip r:embed="rId2"/>
          <a:stretch>
            <a:fillRect/>
          </a:stretch>
        </p:blipFill>
        <p:spPr>
          <a:xfrm>
            <a:off x="1104900" y="3554010"/>
            <a:ext cx="6934200" cy="1447800"/>
          </a:xfrm>
          <a:prstGeom prst="rect">
            <a:avLst/>
          </a:prstGeom>
        </p:spPr>
      </p:pic>
    </p:spTree>
    <p:extLst>
      <p:ext uri="{BB962C8B-B14F-4D97-AF65-F5344CB8AC3E}">
        <p14:creationId xmlns:p14="http://schemas.microsoft.com/office/powerpoint/2010/main" val="11838566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17</Slides>
  <Notes>1</Notes>
  <HiddenSlides>2</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RAG</vt:lpstr>
      <vt:lpstr>Back to the kitchen</vt:lpstr>
      <vt:lpstr>Back to the kitchen</vt:lpstr>
      <vt:lpstr>Back to Vectors</vt:lpstr>
      <vt:lpstr>Remember this guy...?</vt:lpstr>
      <vt:lpstr>PowerPoint Presentation</vt:lpstr>
      <vt:lpstr>Embedding models</vt:lpstr>
      <vt:lpstr>Embedding models</vt:lpstr>
      <vt:lpstr>Embedding models</vt:lpstr>
      <vt:lpstr>The RAG Pipeline</vt:lpstr>
      <vt:lpstr>Back to the kitchen</vt:lpstr>
      <vt:lpstr>Tools</vt:lpstr>
      <vt:lpstr>Tools</vt:lpstr>
      <vt:lpstr>Tools</vt:lpstr>
      <vt:lpstr>Tools</vt:lpstr>
      <vt:lpstr>Misconception</vt:lpstr>
      <vt:lpstr>Agents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243</cp:revision>
  <dcterms:created xsi:type="dcterms:W3CDTF">2025-07-29T08:46:43Z</dcterms:created>
  <dcterms:modified xsi:type="dcterms:W3CDTF">2026-03-04T14:57:40Z</dcterms:modified>
</cp:coreProperties>
</file>