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85" r:id="rId5"/>
    <p:sldId id="259" r:id="rId6"/>
    <p:sldId id="260" r:id="rId7"/>
    <p:sldId id="261" r:id="rId8"/>
    <p:sldId id="262" r:id="rId9"/>
    <p:sldId id="263" r:id="rId10"/>
    <p:sldId id="264" r:id="rId11"/>
    <p:sldId id="286" r:id="rId12"/>
    <p:sldId id="265" r:id="rId13"/>
    <p:sldId id="266" r:id="rId14"/>
    <p:sldId id="267" r:id="rId15"/>
    <p:sldId id="268" r:id="rId16"/>
    <p:sldId id="288" r:id="rId17"/>
    <p:sldId id="291" r:id="rId18"/>
    <p:sldId id="289" r:id="rId19"/>
    <p:sldId id="270" r:id="rId20"/>
    <p:sldId id="271" r:id="rId21"/>
    <p:sldId id="272" r:id="rId22"/>
    <p:sldId id="273" r:id="rId23"/>
    <p:sldId id="274" r:id="rId24"/>
    <p:sldId id="275" r:id="rId25"/>
    <p:sldId id="276" r:id="rId26"/>
    <p:sldId id="27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112"/>
  </p:normalViewPr>
  <p:slideViewPr>
    <p:cSldViewPr snapToGrid="0">
      <p:cViewPr varScale="1">
        <p:scale>
          <a:sx n="98" d="100"/>
          <a:sy n="98" d="100"/>
        </p:scale>
        <p:origin x="13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take a particular look at an example of fine-tuning</a:t>
            </a:r>
          </a:p>
        </p:txBody>
      </p:sp>
      <p:sp>
        <p:nvSpPr>
          <p:cNvPr id="4" name="Slide Number Placeholder 3"/>
          <p:cNvSpPr>
            <a:spLocks noGrp="1"/>
          </p:cNvSpPr>
          <p:nvPr>
            <p:ph type="sldNum" sz="quarter" idx="5"/>
          </p:nvPr>
        </p:nvSpPr>
        <p:spPr/>
        <p:txBody>
          <a:bodyPr/>
          <a:lstStyle/>
          <a:p>
            <a:fld id="{E8383924-A25F-B742-842B-F50923AECB75}" type="slidenum">
              <a:rPr lang="en-US" smtClean="0"/>
              <a:t>4</a:t>
            </a:fld>
            <a:endParaRPr lang="en-US"/>
          </a:p>
        </p:txBody>
      </p:sp>
    </p:spTree>
    <p:extLst>
      <p:ext uri="{BB962C8B-B14F-4D97-AF65-F5344CB8AC3E}">
        <p14:creationId xmlns:p14="http://schemas.microsoft.com/office/powerpoint/2010/main" val="1092676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383924-A25F-B742-842B-F50923AECB75}" type="slidenum">
              <a:rPr lang="en-US" smtClean="0"/>
              <a:t>16</a:t>
            </a:fld>
            <a:endParaRPr lang="en-US"/>
          </a:p>
        </p:txBody>
      </p:sp>
    </p:spTree>
    <p:extLst>
      <p:ext uri="{BB962C8B-B14F-4D97-AF65-F5344CB8AC3E}">
        <p14:creationId xmlns:p14="http://schemas.microsoft.com/office/powerpoint/2010/main" val="1431661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EF17D-20FF-48B1-9057-0B605868CD74}"/>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74281F62-BE20-4082-B36B-873F21EBB4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235F1624-FCCB-4F38-B3CF-A4A9A11F996D}"/>
              </a:ext>
            </a:extLst>
          </p:cNvPr>
          <p:cNvSpPr>
            <a:spLocks noGrp="1"/>
          </p:cNvSpPr>
          <p:nvPr>
            <p:ph type="dt" idx="10"/>
          </p:nvPr>
        </p:nvSpPr>
        <p:spPr/>
        <p:txBody>
          <a:bodyPr/>
          <a:lstStyle/>
          <a:p>
            <a:fld id="{846CE7D5-CF57-46EF-B807-FDD0502418D4}" type="datetimeFigureOut">
              <a:t>9/25/26</a:t>
            </a:fld>
            <a:endParaRPr/>
          </a:p>
        </p:txBody>
      </p:sp>
      <p:sp>
        <p:nvSpPr>
          <p:cNvPr id="5" name="Footer Placeholder 4">
            <a:extLst>
              <a:ext uri="{FF2B5EF4-FFF2-40B4-BE49-F238E27FC236}">
                <a16:creationId xmlns:a16="http://schemas.microsoft.com/office/drawing/2014/main" id="{26EC3656-A7A5-47E8-816E-56FA3954E6A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B08FE18-3C45-455D-AABC-5D7478B18D38}"/>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8297B-D653-4E12-B795-65D3C4BD4E54}"/>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9253E7B-4088-4314-9178-541CFFE79C04}"/>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91C0B94-0B4F-4076-9D5D-1BCC9B158417}"/>
              </a:ext>
            </a:extLst>
          </p:cNvPr>
          <p:cNvSpPr>
            <a:spLocks noGrp="1"/>
          </p:cNvSpPr>
          <p:nvPr>
            <p:ph type="dt" idx="10"/>
          </p:nvPr>
        </p:nvSpPr>
        <p:spPr/>
        <p:txBody>
          <a:bodyPr/>
          <a:lstStyle/>
          <a:p>
            <a:fld id="{846CE7D5-CF57-46EF-B807-FDD0502418D4}" type="datetimeFigureOut">
              <a:t>9/25/26</a:t>
            </a:fld>
            <a:endParaRPr/>
          </a:p>
        </p:txBody>
      </p:sp>
      <p:sp>
        <p:nvSpPr>
          <p:cNvPr id="5" name="Footer Placeholder 4">
            <a:extLst>
              <a:ext uri="{FF2B5EF4-FFF2-40B4-BE49-F238E27FC236}">
                <a16:creationId xmlns:a16="http://schemas.microsoft.com/office/drawing/2014/main" id="{FC812CEE-E31B-4DA3-8CCF-6F714BA1DE1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F190A8A-7A96-45FE-A0CB-7AC89529D52D}"/>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1C631-AEAD-4ACF-90AD-0E14124D989C}"/>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2AB8C1D1-1B20-4FF8-A05C-D1BE18ED01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2FDA011-D9E2-4B4A-AE83-7322AC4BA62E}"/>
              </a:ext>
            </a:extLst>
          </p:cNvPr>
          <p:cNvSpPr>
            <a:spLocks noGrp="1"/>
          </p:cNvSpPr>
          <p:nvPr>
            <p:ph type="dt" idx="10"/>
          </p:nvPr>
        </p:nvSpPr>
        <p:spPr/>
        <p:txBody>
          <a:bodyPr/>
          <a:lstStyle/>
          <a:p>
            <a:fld id="{846CE7D5-CF57-46EF-B807-FDD0502418D4}" type="datetimeFigureOut">
              <a:t>9/25/26</a:t>
            </a:fld>
            <a:endParaRPr/>
          </a:p>
        </p:txBody>
      </p:sp>
      <p:sp>
        <p:nvSpPr>
          <p:cNvPr id="5" name="Footer Placeholder 4">
            <a:extLst>
              <a:ext uri="{FF2B5EF4-FFF2-40B4-BE49-F238E27FC236}">
                <a16:creationId xmlns:a16="http://schemas.microsoft.com/office/drawing/2014/main" id="{74BC66C0-C50F-4AD0-BF14-2EA79663CDD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907BA62-F6EB-4230-8774-A900F6ABF0B9}"/>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148E6-F74D-4B3A-A585-16A8CDAF230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15809A5F-DD17-467B-B32F-D692FDBCF20F}"/>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3BA27D43-74A9-44A1-808D-A0FD9B010DD4}"/>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266A61B-573B-491B-99B7-621586B91251}"/>
              </a:ext>
            </a:extLst>
          </p:cNvPr>
          <p:cNvSpPr>
            <a:spLocks noGrp="1"/>
          </p:cNvSpPr>
          <p:nvPr>
            <p:ph type="dt" idx="10"/>
          </p:nvPr>
        </p:nvSpPr>
        <p:spPr/>
        <p:txBody>
          <a:bodyPr/>
          <a:lstStyle/>
          <a:p>
            <a:fld id="{846CE7D5-CF57-46EF-B807-FDD0502418D4}" type="datetimeFigureOut">
              <a:t>9/25/26</a:t>
            </a:fld>
            <a:endParaRPr/>
          </a:p>
        </p:txBody>
      </p:sp>
      <p:sp>
        <p:nvSpPr>
          <p:cNvPr id="6" name="Footer Placeholder 5">
            <a:extLst>
              <a:ext uri="{FF2B5EF4-FFF2-40B4-BE49-F238E27FC236}">
                <a16:creationId xmlns:a16="http://schemas.microsoft.com/office/drawing/2014/main" id="{83670947-EB82-406B-BE6A-97D4BD7BEF7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2D77D24-3016-415B-908F-C329974920C6}"/>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C1AC8-1E2C-4D3A-B653-3651048A062F}"/>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EB16C3C6-E656-44DF-8FCD-B27CAFBEF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C69DDC5A-692C-4C5F-B376-B9C6D2B543FB}"/>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FEF2B951-BA70-4930-89DA-4A791BB6817E}"/>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B526BA7-D8D9-42FC-827C-2BE2862F7C9A}"/>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A19631B6-01D9-4BB0-AB9B-446A51F21C71}"/>
              </a:ext>
            </a:extLst>
          </p:cNvPr>
          <p:cNvSpPr>
            <a:spLocks noGrp="1"/>
          </p:cNvSpPr>
          <p:nvPr>
            <p:ph type="dt" idx="10"/>
          </p:nvPr>
        </p:nvSpPr>
        <p:spPr/>
        <p:txBody>
          <a:bodyPr/>
          <a:lstStyle/>
          <a:p>
            <a:fld id="{846CE7D5-CF57-46EF-B807-FDD0502418D4}" type="datetimeFigureOut">
              <a:t>9/25/26</a:t>
            </a:fld>
            <a:endParaRPr/>
          </a:p>
        </p:txBody>
      </p:sp>
      <p:sp>
        <p:nvSpPr>
          <p:cNvPr id="8" name="Footer Placeholder 7">
            <a:extLst>
              <a:ext uri="{FF2B5EF4-FFF2-40B4-BE49-F238E27FC236}">
                <a16:creationId xmlns:a16="http://schemas.microsoft.com/office/drawing/2014/main" id="{DF85471C-B713-44A2-B847-0DE3C9E3662A}"/>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5F35B906-8979-4830-BEBA-0239A6BF74AF}"/>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5E684-ED7B-4B55-B3C8-F5A8EA202CBD}"/>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F43EDB2A-32AE-43E8-AAAB-CBA68F067AED}"/>
              </a:ext>
            </a:extLst>
          </p:cNvPr>
          <p:cNvSpPr>
            <a:spLocks noGrp="1"/>
          </p:cNvSpPr>
          <p:nvPr>
            <p:ph type="dt" idx="10"/>
          </p:nvPr>
        </p:nvSpPr>
        <p:spPr/>
        <p:txBody>
          <a:bodyPr/>
          <a:lstStyle/>
          <a:p>
            <a:fld id="{846CE7D5-CF57-46EF-B807-FDD0502418D4}" type="datetimeFigureOut">
              <a:t>9/25/26</a:t>
            </a:fld>
            <a:endParaRPr/>
          </a:p>
        </p:txBody>
      </p:sp>
      <p:sp>
        <p:nvSpPr>
          <p:cNvPr id="4" name="Footer Placeholder 3">
            <a:extLst>
              <a:ext uri="{FF2B5EF4-FFF2-40B4-BE49-F238E27FC236}">
                <a16:creationId xmlns:a16="http://schemas.microsoft.com/office/drawing/2014/main" id="{BB4E5CC2-B69E-46F1-B218-076D63C1F2C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2BC92529-A140-4D56-83BB-91792D8B09BC}"/>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EF3E43-555F-4FAB-B120-A1528357EECE}"/>
              </a:ext>
            </a:extLst>
          </p:cNvPr>
          <p:cNvSpPr>
            <a:spLocks noGrp="1"/>
          </p:cNvSpPr>
          <p:nvPr>
            <p:ph type="dt" idx="10"/>
          </p:nvPr>
        </p:nvSpPr>
        <p:spPr/>
        <p:txBody>
          <a:bodyPr/>
          <a:lstStyle/>
          <a:p>
            <a:fld id="{846CE7D5-CF57-46EF-B807-FDD0502418D4}" type="datetimeFigureOut">
              <a:t>9/25/26</a:t>
            </a:fld>
            <a:endParaRPr/>
          </a:p>
        </p:txBody>
      </p:sp>
      <p:sp>
        <p:nvSpPr>
          <p:cNvPr id="3" name="Footer Placeholder 2">
            <a:extLst>
              <a:ext uri="{FF2B5EF4-FFF2-40B4-BE49-F238E27FC236}">
                <a16:creationId xmlns:a16="http://schemas.microsoft.com/office/drawing/2014/main" id="{DC0AC75E-74F4-497E-812C-39593042FD1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F1E2CBF-BC09-436D-BD6E-529662EF12F5}"/>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0B5BD-757C-4D42-8C80-DB555C35C070}"/>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5015BABE-9D25-49C3-B619-BBC7C0A221B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CEADD8D-23FA-403E-A81E-AE23BDA97DBD}"/>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74EA403-C887-49F1-9037-D2DF8F98D035}"/>
              </a:ext>
            </a:extLst>
          </p:cNvPr>
          <p:cNvSpPr>
            <a:spLocks noGrp="1"/>
          </p:cNvSpPr>
          <p:nvPr>
            <p:ph type="dt" idx="10"/>
          </p:nvPr>
        </p:nvSpPr>
        <p:spPr/>
        <p:txBody>
          <a:bodyPr/>
          <a:lstStyle/>
          <a:p>
            <a:fld id="{846CE7D5-CF57-46EF-B807-FDD0502418D4}" type="datetimeFigureOut">
              <a:t>9/25/26</a:t>
            </a:fld>
            <a:endParaRPr/>
          </a:p>
        </p:txBody>
      </p:sp>
      <p:sp>
        <p:nvSpPr>
          <p:cNvPr id="6" name="Footer Placeholder 5">
            <a:extLst>
              <a:ext uri="{FF2B5EF4-FFF2-40B4-BE49-F238E27FC236}">
                <a16:creationId xmlns:a16="http://schemas.microsoft.com/office/drawing/2014/main" id="{941779A4-D8FA-4796-B419-ED3DF0EC65E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55D77C1-B7A4-40BD-9AB3-AE7B1A59E686}"/>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BE9AA-39BA-4474-A658-A3F37FDB65FD}"/>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9387B1E1-4FAD-40AD-AD48-32EFC9ECD2B6}"/>
              </a:ext>
            </a:extLst>
          </p:cNvPr>
          <p:cNvSpPr>
            <a:spLocks noGrp="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Click icon to add picture</a:t>
            </a:r>
          </a:p>
        </p:txBody>
      </p:sp>
      <p:sp>
        <p:nvSpPr>
          <p:cNvPr id="4" name="Text Placeholder 3">
            <a:extLst>
              <a:ext uri="{FF2B5EF4-FFF2-40B4-BE49-F238E27FC236}">
                <a16:creationId xmlns:a16="http://schemas.microsoft.com/office/drawing/2014/main" id="{5D7874AA-0EE8-4103-8995-978E31AA6FAC}"/>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7B8428C2-D7D0-4E57-A51D-E1AB8102491F}"/>
              </a:ext>
            </a:extLst>
          </p:cNvPr>
          <p:cNvSpPr>
            <a:spLocks noGrp="1"/>
          </p:cNvSpPr>
          <p:nvPr>
            <p:ph type="dt" idx="10"/>
          </p:nvPr>
        </p:nvSpPr>
        <p:spPr/>
        <p:txBody>
          <a:bodyPr/>
          <a:lstStyle/>
          <a:p>
            <a:fld id="{846CE7D5-CF57-46EF-B807-FDD0502418D4}" type="datetimeFigureOut">
              <a:t>9/25/26</a:t>
            </a:fld>
            <a:endParaRPr/>
          </a:p>
        </p:txBody>
      </p:sp>
      <p:sp>
        <p:nvSpPr>
          <p:cNvPr id="6" name="Footer Placeholder 5">
            <a:extLst>
              <a:ext uri="{FF2B5EF4-FFF2-40B4-BE49-F238E27FC236}">
                <a16:creationId xmlns:a16="http://schemas.microsoft.com/office/drawing/2014/main" id="{5C057115-7C5B-4F08-B7C1-1097265E45D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E3E9873-15CB-44A0-9244-0BD384796787}"/>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D0D4F-08A7-4BDF-9E5A-92C8C224DF6F}"/>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4FC7D2AE-FE2B-4C21-9BE4-0F2C55D308B7}"/>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F499A5D-97B2-4F4F-9962-225BB0354681}"/>
              </a:ext>
            </a:extLst>
          </p:cNvPr>
          <p:cNvSpPr>
            <a:spLocks noGrp="1"/>
          </p:cNvSpPr>
          <p:nvPr>
            <p:ph type="dt" idx="10"/>
          </p:nvPr>
        </p:nvSpPr>
        <p:spPr/>
        <p:txBody>
          <a:bodyPr/>
          <a:lstStyle/>
          <a:p>
            <a:fld id="{846CE7D5-CF57-46EF-B807-FDD0502418D4}" type="datetimeFigureOut">
              <a:t>9/25/26</a:t>
            </a:fld>
            <a:endParaRPr/>
          </a:p>
        </p:txBody>
      </p:sp>
      <p:sp>
        <p:nvSpPr>
          <p:cNvPr id="5" name="Footer Placeholder 4">
            <a:extLst>
              <a:ext uri="{FF2B5EF4-FFF2-40B4-BE49-F238E27FC236}">
                <a16:creationId xmlns:a16="http://schemas.microsoft.com/office/drawing/2014/main" id="{AA541EC7-0C62-4474-AE86-F1CFB08D621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75EE51D-28AF-45E7-8429-AE15D3A94472}"/>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4808ED-395F-4FF2-80EA-FBF0F913D2B4}"/>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AEFC990E-42D0-43CE-B543-5E830C4A1648}"/>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DE45EA4-5BE7-4DF8-B839-A53A3F8DC62E}"/>
              </a:ext>
            </a:extLst>
          </p:cNvPr>
          <p:cNvSpPr>
            <a:spLocks noGrp="1"/>
          </p:cNvSpPr>
          <p:nvPr>
            <p:ph type="dt" idx="10"/>
          </p:nvPr>
        </p:nvSpPr>
        <p:spPr/>
        <p:txBody>
          <a:bodyPr/>
          <a:lstStyle/>
          <a:p>
            <a:fld id="{846CE7D5-CF57-46EF-B807-FDD0502418D4}" type="datetimeFigureOut">
              <a:t>9/25/26</a:t>
            </a:fld>
            <a:endParaRPr/>
          </a:p>
        </p:txBody>
      </p:sp>
      <p:sp>
        <p:nvSpPr>
          <p:cNvPr id="5" name="Footer Placeholder 4">
            <a:extLst>
              <a:ext uri="{FF2B5EF4-FFF2-40B4-BE49-F238E27FC236}">
                <a16:creationId xmlns:a16="http://schemas.microsoft.com/office/drawing/2014/main" id="{4D62CFEB-031E-4AF1-AAFA-3AAB9A05049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ED0D80F-B568-40AB-A1ED-9C6F909DD138}"/>
              </a:ext>
            </a:extLst>
          </p:cNvPr>
          <p:cNvSpPr>
            <a:spLocks noGrp="1"/>
          </p:cNvSpPr>
          <p:nvPr>
            <p:ph type="sldNum" idx="12"/>
          </p:nvPr>
        </p:nvSpPr>
        <p:spPr/>
        <p:txBody>
          <a:bodyPr/>
          <a:lstStyle/>
          <a:p>
            <a:fld id="{330EA680-D336-4FF7-8B7A-9848BB0A1C32}"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12C9FE-1585-492C-84B2-822AA9D1AA99}"/>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CDE77EFB-DAD1-4085-A5F1-BF63FD06450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23466AB-5CDB-4189-A539-1441FA4BCF2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846CE7D5-CF57-46EF-B807-FDD0502418D4}" type="datetimeFigureOut">
              <a:t>9/25/26</a:t>
            </a:fld>
            <a:endParaRPr/>
          </a:p>
        </p:txBody>
      </p:sp>
      <p:sp>
        <p:nvSpPr>
          <p:cNvPr id="5" name="Footer Placeholder 4">
            <a:extLst>
              <a:ext uri="{FF2B5EF4-FFF2-40B4-BE49-F238E27FC236}">
                <a16:creationId xmlns:a16="http://schemas.microsoft.com/office/drawing/2014/main" id="{1C038EC3-5A05-4748-93DC-B619B4A3EED8}"/>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8DD4CFAD-FBF1-4264-93C3-A57715C48851}"/>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330EA680-D336-4FF7-8B7A-9848BB0A1C32}"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C6D80-511C-4FCE-974E-2B26C221B90B}"/>
              </a:ext>
            </a:extLst>
          </p:cNvPr>
          <p:cNvSpPr>
            <a:spLocks noGrp="1"/>
          </p:cNvSpPr>
          <p:nvPr>
            <p:ph type="ctrTitle"/>
          </p:nvPr>
        </p:nvSpPr>
        <p:spPr/>
        <p:txBody>
          <a:bodyPr/>
          <a:lstStyle/>
          <a:p>
            <a:pPr algn="l">
              <a:buNone/>
            </a:pPr>
            <a:r>
              <a:t>Fine tuning</a:t>
            </a:r>
          </a:p>
        </p:txBody>
      </p:sp>
      <p:sp>
        <p:nvSpPr>
          <p:cNvPr id="3" name="Subtitle 2">
            <a:extLst>
              <a:ext uri="{FF2B5EF4-FFF2-40B4-BE49-F238E27FC236}">
                <a16:creationId xmlns:a16="http://schemas.microsoft.com/office/drawing/2014/main" id="{3E52520F-0747-4132-A533-9646FC7CD573}"/>
              </a:ext>
            </a:extLst>
          </p:cNvPr>
          <p:cNvSpPr>
            <a:spLocks noGrp="1"/>
          </p:cNvSpPr>
          <p:nvPr>
            <p:ph type="subTitle" idx="1"/>
          </p:nvPr>
        </p:nvSpPr>
        <p:spPr/>
        <p:txBody>
          <a:bodyPr vert="horz" lIns="91440" tIns="45720" rIns="91440" bIns="45720" anchor="t">
            <a:normAutofit/>
          </a:bodyPr>
          <a:lstStyle/>
          <a:p>
            <a:pPr algn="l">
              <a:buNone/>
            </a:pPr>
            <a:r>
              <a:t>This can be hard...</a:t>
            </a:r>
          </a:p>
        </p:txBody>
      </p:sp>
      <p:pic>
        <p:nvPicPr>
          <p:cNvPr id="7" name="Picture 3"/>
          <p:cNvPicPr>
            <a:picLocks noChangeAspect="1"/>
          </p:cNvPicPr>
          <p:nvPr/>
        </p:nvPicPr>
        <p:blipFill>
          <a:blip r:embed="rId3"/>
          <a:stretch>
            <a:fillRect/>
          </a:stretch>
        </p:blipFill>
        <p:spPr>
          <a:xfrm>
            <a:off x="9729884" y="3844540"/>
            <a:ext cx="1876233" cy="2809587"/>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9F883-023F-E83F-3CA6-A48F4262D59E}"/>
              </a:ext>
            </a:extLst>
          </p:cNvPr>
          <p:cNvSpPr>
            <a:spLocks noGrp="1"/>
          </p:cNvSpPr>
          <p:nvPr>
            <p:ph type="title"/>
          </p:nvPr>
        </p:nvSpPr>
        <p:spPr/>
        <p:txBody>
          <a:bodyPr/>
          <a:lstStyle/>
          <a:p>
            <a:r>
              <a:rPr>
                <a:latin typeface="CMU Serif Roman"/>
                <a:ea typeface="CMU Serif Roman"/>
                <a:cs typeface="CMU Serif Roman"/>
              </a:rPr>
              <a:t>Overview</a:t>
            </a:r>
          </a:p>
        </p:txBody>
      </p:sp>
      <p:sp>
        <p:nvSpPr>
          <p:cNvPr id="3" name="Content Placeholder 2">
            <a:extLst>
              <a:ext uri="{FF2B5EF4-FFF2-40B4-BE49-F238E27FC236}">
                <a16:creationId xmlns:a16="http://schemas.microsoft.com/office/drawing/2014/main" id="{2159D3BC-C33D-67A8-234F-164E6ED9B86F}"/>
              </a:ext>
            </a:extLst>
          </p:cNvPr>
          <p:cNvSpPr>
            <a:spLocks noGrp="1"/>
          </p:cNvSpPr>
          <p:nvPr>
            <p:ph idx="1"/>
          </p:nvPr>
        </p:nvSpPr>
        <p:spPr/>
        <p:txBody>
          <a:bodyPr vert="horz" lIns="91440" tIns="45720" rIns="91440" bIns="45720" anchor="t">
            <a:normAutofit/>
          </a:bodyPr>
          <a:lstStyle/>
          <a:p>
            <a:r>
              <a:rPr>
                <a:latin typeface="CMU Serif Roman"/>
                <a:ea typeface="CMU Serif Roman"/>
                <a:cs typeface="CMU Serif Roman"/>
              </a:rPr>
              <a:t>Post-training vs. Fine-tuning</a:t>
            </a:r>
          </a:p>
          <a:p>
            <a:r>
              <a:rPr>
                <a:latin typeface="CMU Serif Roman"/>
                <a:ea typeface="CMU Serif Roman"/>
                <a:cs typeface="CMU Serif Roman"/>
              </a:rPr>
              <a:t>Instruction tuning</a:t>
            </a:r>
          </a:p>
          <a:p>
            <a:r>
              <a:rPr>
                <a:latin typeface="CMU Serif Roman"/>
                <a:ea typeface="CMU Serif Roman"/>
                <a:cs typeface="CMU Serif Roman"/>
              </a:rPr>
              <a:t>LoRA</a:t>
            </a:r>
          </a:p>
          <a:p>
            <a:r>
              <a:rPr>
                <a:latin typeface="CMU Serif Roman"/>
                <a:ea typeface="CMU Serif Roman"/>
                <a:cs typeface="CMU Serif Roman"/>
              </a:rPr>
              <a:t>qLoRA</a:t>
            </a:r>
          </a:p>
        </p:txBody>
      </p:sp>
    </p:spTree>
    <p:extLst>
      <p:ext uri="{BB962C8B-B14F-4D97-AF65-F5344CB8AC3E}">
        <p14:creationId xmlns:p14="http://schemas.microsoft.com/office/powerpoint/2010/main" val="4239584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58774-6613-E599-7090-58B9D1B98E3B}"/>
              </a:ext>
            </a:extLst>
          </p:cNvPr>
          <p:cNvSpPr>
            <a:spLocks noGrp="1"/>
          </p:cNvSpPr>
          <p:nvPr>
            <p:ph type="title"/>
          </p:nvPr>
        </p:nvSpPr>
        <p:spPr/>
        <p:txBody>
          <a:bodyPr/>
          <a:lstStyle/>
          <a:p>
            <a:r>
              <a:rPr>
                <a:latin typeface="CMU Serif Roman"/>
                <a:ea typeface="CMU Serif Roman"/>
                <a:cs typeface="CMU Serif Roman"/>
              </a:rPr>
              <a:t>Post-training vs. Fine-tuning</a:t>
            </a:r>
          </a:p>
        </p:txBody>
      </p:sp>
      <p:sp>
        <p:nvSpPr>
          <p:cNvPr id="3" name="Content Placeholder 2">
            <a:extLst>
              <a:ext uri="{FF2B5EF4-FFF2-40B4-BE49-F238E27FC236}">
                <a16:creationId xmlns:a16="http://schemas.microsoft.com/office/drawing/2014/main" id="{84F41ED1-E8F9-660D-E51E-6BA3C1C9BF8B}"/>
              </a:ext>
            </a:extLst>
          </p:cNvPr>
          <p:cNvSpPr>
            <a:spLocks noGrp="1"/>
          </p:cNvSpPr>
          <p:nvPr>
            <p:ph idx="1"/>
          </p:nvPr>
        </p:nvSpPr>
        <p:spPr/>
        <p:txBody>
          <a:bodyPr/>
          <a:lstStyle/>
          <a:p>
            <a:pPr marL="0" indent="0">
              <a:buNone/>
            </a:pPr>
            <a:r>
              <a:rPr>
                <a:latin typeface="CMU Serif Roman"/>
                <a:ea typeface="CMU Serif Roman"/>
                <a:cs typeface="CMU Serif Roman"/>
              </a:rPr>
              <a:t>Post-training refers to </a:t>
            </a:r>
            <a:r>
              <a:rPr b="1">
                <a:latin typeface="CMU SERIF ROMAN"/>
                <a:ea typeface="CMU SERIF ROMAN"/>
                <a:cs typeface="CMU SERIF ROMAN"/>
              </a:rPr>
              <a:t>everything that happens after the initial pre-training</a:t>
            </a:r>
            <a:r>
              <a:rPr>
                <a:latin typeface="CMU Serif Roman"/>
                <a:ea typeface="CMU Serif Roman"/>
                <a:cs typeface="CMU Serif Roman"/>
              </a:rPr>
              <a:t> phase. It's an umbrella term covering all techniques used to shape model behaviour or align it with human preferences. It includes:</a:t>
            </a:r>
          </a:p>
          <a:p>
            <a:pPr marL="0" indent="0">
              <a:buNone/>
            </a:pPr>
            <a:endParaRPr>
              <a:latin typeface="CMU Serif Roman"/>
              <a:ea typeface="CMU Serif Roman"/>
              <a:cs typeface="CMU Serif Roman"/>
            </a:endParaRPr>
          </a:p>
          <a:p>
            <a:r>
              <a:rPr>
                <a:latin typeface="CMU Serif Roman"/>
                <a:ea typeface="CMU Serif Roman"/>
                <a:cs typeface="CMU Serif Roman"/>
              </a:rPr>
              <a:t>Supervised fine-tuning (e.g. instruction tuning)</a:t>
            </a:r>
          </a:p>
          <a:p>
            <a:r>
              <a:rPr>
                <a:latin typeface="CMU Serif Roman"/>
                <a:ea typeface="CMU Serif Roman"/>
                <a:cs typeface="CMU Serif Roman"/>
              </a:rPr>
              <a:t>RLHF (Reinforcement Learning from Human Feedback)</a:t>
            </a:r>
          </a:p>
          <a:p>
            <a:r>
              <a:rPr>
                <a:latin typeface="CMU Serif Roman"/>
                <a:ea typeface="CMU Serif Roman"/>
                <a:cs typeface="CMU Serif Roman"/>
              </a:rPr>
              <a:t>RLVR (Reinforcement Learning from Verifiable Rewards)</a:t>
            </a:r>
          </a:p>
          <a:p>
            <a:r>
              <a:rPr>
                <a:latin typeface="CMU Serif Roman"/>
                <a:ea typeface="CMU Serif Roman"/>
                <a:cs typeface="CMU Serif Roman"/>
              </a:rPr>
              <a:t>Constitutional AI</a:t>
            </a:r>
          </a:p>
        </p:txBody>
      </p:sp>
      <p:pic>
        <p:nvPicPr>
          <p:cNvPr id="7" name="Picture 3"/>
          <p:cNvPicPr>
            <a:picLocks noChangeAspect="1"/>
          </p:cNvPicPr>
          <p:nvPr/>
        </p:nvPicPr>
        <p:blipFill>
          <a:blip r:embed="rId3"/>
          <a:srcRect l="23473" t="38006" r="63895" b="38380"/>
          <a:stretch>
            <a:fillRect/>
          </a:stretch>
        </p:blipFill>
        <p:spPr>
          <a:xfrm>
            <a:off x="4034936" y="5504277"/>
            <a:ext cx="497305" cy="522171"/>
          </a:xfrm>
          <a:prstGeom prst="rect">
            <a:avLst/>
          </a:prstGeom>
        </p:spPr>
      </p:pic>
    </p:spTree>
    <p:extLst>
      <p:ext uri="{BB962C8B-B14F-4D97-AF65-F5344CB8AC3E}">
        <p14:creationId xmlns:p14="http://schemas.microsoft.com/office/powerpoint/2010/main" val="2837733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90437A4-D6B8-A4E4-F811-ED7AB9619D6B}"/>
              </a:ext>
            </a:extLst>
          </p:cNvPr>
          <p:cNvSpPr txBox="1">
            <a:spLocks/>
          </p:cNvSpPr>
          <p:nvPr/>
        </p:nvSpPr>
        <p:spPr>
          <a:xfrm>
            <a:off x="838200" y="2071865"/>
            <a:ext cx="10515600" cy="4351338"/>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CMU Serif Roman" panose="02000603000000000000" pitchFamily="2" charset="0"/>
                <a:ea typeface="CMU Serif Roman" panose="02000603000000000000" pitchFamily="2" charset="0"/>
                <a:cs typeface="CMU Serif Roman" panose="02000603000000000000" pitchFamily="2" charset="0"/>
              </a:rPr>
              <a:t>Fine-tuning refers to adapting a pre-trained foundation model to a specific downstream task / domain via post-training on a usually small specialized dataset.</a:t>
            </a:r>
          </a:p>
          <a:p>
            <a:pPr marL="0" indent="0">
              <a:buFont typeface="Arial" panose="020B0604020202020204" pitchFamily="34" charset="0"/>
              <a:buNone/>
            </a:pPr>
            <a:endParaRPr lang="en-US" dirty="0">
              <a:latin typeface="CMU Serif Roman" panose="02000603000000000000" pitchFamily="2" charset="0"/>
              <a:ea typeface="CMU Serif Roman" panose="02000603000000000000" pitchFamily="2" charset="0"/>
              <a:cs typeface="CMU Serif Roman" panose="02000603000000000000" pitchFamily="2" charset="0"/>
            </a:endParaRPr>
          </a:p>
        </p:txBody>
      </p:sp>
      <p:sp>
        <p:nvSpPr>
          <p:cNvPr id="6" name="Content Placeholder 2">
            <a:extLst>
              <a:ext uri="{FF2B5EF4-FFF2-40B4-BE49-F238E27FC236}">
                <a16:creationId xmlns:a16="http://schemas.microsoft.com/office/drawing/2014/main" id="{C7DB37FC-B79E-ECC9-1FEE-29CBECA55894}"/>
              </a:ext>
            </a:extLst>
          </p:cNvPr>
          <p:cNvSpPr txBox="1">
            <a:spLocks/>
          </p:cNvSpPr>
          <p:nvPr/>
        </p:nvSpPr>
        <p:spPr>
          <a:xfrm>
            <a:off x="8932052" y="5623147"/>
            <a:ext cx="3118738" cy="52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rPr>
              <a:t>Source: Google Cloud</a:t>
            </a:r>
          </a:p>
          <a:p>
            <a:endParaRPr lang="en-US"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endParaRPr>
          </a:p>
          <a:p>
            <a:endParaRPr lang="en-US"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endParaRPr>
          </a:p>
        </p:txBody>
      </p:sp>
      <p:pic>
        <p:nvPicPr>
          <p:cNvPr id="7" name="Picture 6" descr="Supervised Fine Tuning for Gemini LLM | Google Cloud Blog">
            <a:extLst>
              <a:ext uri="{FF2B5EF4-FFF2-40B4-BE49-F238E27FC236}">
                <a16:creationId xmlns:a16="http://schemas.microsoft.com/office/drawing/2014/main" id="{CBD22D6A-B556-C5D6-38FB-863384A53E17}"/>
              </a:ext>
            </a:extLst>
          </p:cNvPr>
          <p:cNvPicPr>
            <a:picLocks noChangeAspect="1"/>
          </p:cNvPicPr>
          <p:nvPr/>
        </p:nvPicPr>
        <p:blipFill>
          <a:blip r:embed="rId3"/>
          <a:stretch>
            <a:fillRect/>
          </a:stretch>
        </p:blipFill>
        <p:spPr>
          <a:xfrm>
            <a:off x="2410425" y="768522"/>
            <a:ext cx="7371149" cy="3551282"/>
          </a:xfrm>
          <a:prstGeom prst="rect">
            <a:avLst/>
          </a:prstGeom>
        </p:spPr>
      </p:pic>
    </p:spTree>
    <p:extLst>
      <p:ext uri="{BB962C8B-B14F-4D97-AF65-F5344CB8AC3E}">
        <p14:creationId xmlns:p14="http://schemas.microsoft.com/office/powerpoint/2010/main" val="2472657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CDFEA-AE46-A8D2-6349-F12A48FDAA89}"/>
              </a:ext>
            </a:extLst>
          </p:cNvPr>
          <p:cNvSpPr>
            <a:spLocks noGrp="1"/>
          </p:cNvSpPr>
          <p:nvPr>
            <p:ph type="title"/>
          </p:nvPr>
        </p:nvSpPr>
        <p:spPr/>
        <p:txBody>
          <a:bodyPr/>
          <a:lstStyle/>
          <a:p>
            <a:r>
              <a:t>Alpaca</a:t>
            </a:r>
          </a:p>
        </p:txBody>
      </p:sp>
      <p:sp>
        <p:nvSpPr>
          <p:cNvPr id="3" name="Content Placeholder 2">
            <a:extLst>
              <a:ext uri="{FF2B5EF4-FFF2-40B4-BE49-F238E27FC236}">
                <a16:creationId xmlns:a16="http://schemas.microsoft.com/office/drawing/2014/main" id="{FCCE7A79-CEF0-24C7-E9CF-8A728F33B614}"/>
              </a:ext>
            </a:extLst>
          </p:cNvPr>
          <p:cNvSpPr>
            <a:spLocks noGrp="1"/>
          </p:cNvSpPr>
          <p:nvPr>
            <p:ph idx="1"/>
          </p:nvPr>
        </p:nvSpPr>
        <p:spPr/>
        <p:txBody>
          <a:bodyPr vert="horz" lIns="91440" tIns="45720" rIns="91440" bIns="45720" anchor="t">
            <a:normAutofit/>
          </a:bodyPr>
          <a:lstStyle/>
          <a:p>
            <a:pPr marL="0" indent="0">
              <a:buNone/>
            </a:pPr>
            <a:r>
              <a:rPr sz="1800">
                <a:latin typeface="IBM Plex Mono"/>
                <a:ea typeface="IBM Plex Mono"/>
                <a:cs typeface="IBM Plex Mono"/>
              </a:rPr>
              <a:t>Below is an instruction that describes a task. Write a response that appropriately completes the request.</a:t>
            </a:r>
            <a:endParaRPr sz="1800">
              <a:latin typeface="Aptos"/>
              <a:ea typeface="Aptos"/>
              <a:cs typeface="Aptos"/>
            </a:endParaRPr>
          </a:p>
          <a:p>
            <a:pPr marL="0" indent="0">
              <a:buNone/>
            </a:pPr>
            <a:endParaRPr sz="1800">
              <a:latin typeface="IBM Plex Mono"/>
              <a:ea typeface="IBM Plex Mono"/>
              <a:cs typeface="IBM Plex Mono"/>
            </a:endParaRPr>
          </a:p>
          <a:p>
            <a:pPr marL="0" indent="0">
              <a:buNone/>
            </a:pPr>
            <a:r>
              <a:rPr sz="1800">
                <a:latin typeface="IBM Plex Mono"/>
                <a:ea typeface="IBM Plex Mono"/>
                <a:cs typeface="IBM Plex Mono"/>
              </a:rPr>
              <a:t>### Instruction:</a:t>
            </a:r>
            <a:endParaRPr sz="1800">
              <a:latin typeface="Aptos"/>
              <a:ea typeface="Aptos"/>
              <a:cs typeface="Aptos"/>
            </a:endParaRPr>
          </a:p>
          <a:p>
            <a:pPr marL="0" indent="0">
              <a:buNone/>
            </a:pPr>
            <a:r>
              <a:rPr sz="1800">
                <a:latin typeface="IBM Plex Mono"/>
                <a:ea typeface="IBM Plex Mono"/>
                <a:cs typeface="IBM Plex Mono"/>
              </a:rPr>
              <a:t>Discuss the causes of the Great Depression</a:t>
            </a:r>
            <a:endParaRPr sz="1800">
              <a:latin typeface="Aptos"/>
              <a:ea typeface="Aptos"/>
              <a:cs typeface="Aptos"/>
            </a:endParaRPr>
          </a:p>
          <a:p>
            <a:pPr marL="0" indent="0">
              <a:buNone/>
            </a:pPr>
            <a:endParaRPr sz="1800">
              <a:latin typeface="IBM Plex Mono"/>
              <a:ea typeface="IBM Plex Mono"/>
              <a:cs typeface="IBM Plex Mono"/>
            </a:endParaRPr>
          </a:p>
          <a:p>
            <a:pPr marL="0" indent="0">
              <a:buNone/>
            </a:pPr>
            <a:r>
              <a:rPr sz="1800">
                <a:latin typeface="IBM Plex Mono"/>
                <a:ea typeface="IBM Plex Mono"/>
                <a:cs typeface="IBM Plex Mono"/>
              </a:rPr>
              <a:t>### Response:</a:t>
            </a:r>
            <a:endParaRPr sz="1800">
              <a:latin typeface="Aptos"/>
              <a:ea typeface="Aptos"/>
              <a:cs typeface="Aptos"/>
            </a:endParaRPr>
          </a:p>
          <a:p>
            <a:pPr marL="0" indent="0">
              <a:buNone/>
            </a:pPr>
            <a:r>
              <a:rPr sz="1800">
                <a:latin typeface="IBM Plex Mono"/>
                <a:ea typeface="IBM Plex Mono"/>
                <a:cs typeface="IBM Plex Mono"/>
              </a:rPr>
              <a:t>The Great Depression was a severe global economic downturn that lasted from 1929 to 1939. It was caused by several factors, including the stock market crash of 1929, structural weaknesses in the economy, low consumer spending, high unemployment, and a lack of confidence in the banking system. Other contributing factors included overproduction of commodities, reliance on borrowing to finance investments, agricultural overproduction, and a decrease in international trade.</a:t>
            </a:r>
            <a:endParaRPr sz="1800"/>
          </a:p>
          <a:p>
            <a:pPr marL="0" indent="0">
              <a:buNone/>
            </a:pPr>
            <a:endParaRPr sz="900">
              <a:latin typeface="IBM Plex Mono"/>
              <a:ea typeface="IBM Plex Mono"/>
              <a:cs typeface="IBM Plex Mono"/>
            </a:endParaRPr>
          </a:p>
          <a:p>
            <a:pPr marL="0" indent="0">
              <a:buNone/>
            </a:pPr>
            <a:endParaRPr sz="900">
              <a:latin typeface="IBM Plex Mono"/>
              <a:ea typeface="IBM Plex Mono"/>
              <a:cs typeface="IBM Plex Mono"/>
            </a:endParaRPr>
          </a:p>
        </p:txBody>
      </p:sp>
    </p:spTree>
    <p:extLst>
      <p:ext uri="{BB962C8B-B14F-4D97-AF65-F5344CB8AC3E}">
        <p14:creationId xmlns:p14="http://schemas.microsoft.com/office/powerpoint/2010/main" val="155390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525DB-0145-62C1-E45B-3D2452A816BE}"/>
              </a:ext>
            </a:extLst>
          </p:cNvPr>
          <p:cNvSpPr>
            <a:spLocks noGrp="1"/>
          </p:cNvSpPr>
          <p:nvPr>
            <p:ph type="title"/>
          </p:nvPr>
        </p:nvSpPr>
        <p:spPr/>
        <p:txBody>
          <a:bodyPr/>
          <a:lstStyle/>
          <a:p>
            <a:r>
              <a:t>Why?</a:t>
            </a:r>
          </a:p>
        </p:txBody>
      </p:sp>
      <p:sp>
        <p:nvSpPr>
          <p:cNvPr id="3" name="Content Placeholder 2">
            <a:extLst>
              <a:ext uri="{FF2B5EF4-FFF2-40B4-BE49-F238E27FC236}">
                <a16:creationId xmlns:a16="http://schemas.microsoft.com/office/drawing/2014/main" id="{29EBD1FA-D682-C3FC-5EBD-A625FF36D2BB}"/>
              </a:ext>
            </a:extLst>
          </p:cNvPr>
          <p:cNvSpPr>
            <a:spLocks noGrp="1"/>
          </p:cNvSpPr>
          <p:nvPr>
            <p:ph idx="1"/>
          </p:nvPr>
        </p:nvSpPr>
        <p:spPr/>
        <p:txBody>
          <a:bodyPr vert="horz" lIns="91440" tIns="45720" rIns="91440" bIns="45720" anchor="t">
            <a:normAutofit/>
          </a:bodyPr>
          <a:lstStyle/>
          <a:p>
            <a:pPr marL="0" indent="0">
              <a:buNone/>
            </a:pPr>
            <a:r>
              <a:t>We have been doing next token prediction on trillions of tokens...</a:t>
            </a:r>
          </a:p>
          <a:p>
            <a:pPr marL="0" indent="0">
              <a:buNone/>
            </a:pPr>
            <a:endParaRPr/>
          </a:p>
          <a:p>
            <a:pPr marL="0" indent="0">
              <a:buNone/>
            </a:pPr>
            <a:r>
              <a:t>...and that's it...</a:t>
            </a:r>
          </a:p>
          <a:p>
            <a:pPr marL="0" indent="0">
              <a:buNone/>
            </a:pPr>
            <a:endParaRPr/>
          </a:p>
          <a:p>
            <a:pPr marL="0" indent="0">
              <a:buNone/>
            </a:pPr>
            <a:r>
              <a:t>We've built a very expensive next word predictor</a:t>
            </a:r>
          </a:p>
          <a:p>
            <a:pPr marL="0" indent="0">
              <a:buNone/>
            </a:pPr>
            <a:endParaRPr/>
          </a:p>
          <a:p>
            <a:pPr marL="0" indent="0">
              <a:buNone/>
            </a:pPr>
            <a:r>
              <a:t>We want an </a:t>
            </a:r>
            <a:r>
              <a:rPr b="1" i="1">
                <a:solidFill>
                  <a:srgbClr val="7030A0"/>
                </a:solidFill>
              </a:rPr>
              <a:t>assistant</a:t>
            </a:r>
          </a:p>
        </p:txBody>
      </p:sp>
    </p:spTree>
    <p:extLst>
      <p:ext uri="{BB962C8B-B14F-4D97-AF65-F5344CB8AC3E}">
        <p14:creationId xmlns:p14="http://schemas.microsoft.com/office/powerpoint/2010/main" val="3079638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03185-E90A-399B-FAE1-30FCA26CD07C}"/>
              </a:ext>
            </a:extLst>
          </p:cNvPr>
          <p:cNvSpPr>
            <a:spLocks noGrp="1"/>
          </p:cNvSpPr>
          <p:nvPr>
            <p:ph type="title"/>
          </p:nvPr>
        </p:nvSpPr>
        <p:spPr/>
        <p:txBody>
          <a:bodyPr/>
          <a:lstStyle/>
          <a:p>
            <a:r>
              <a:rPr dirty="0"/>
              <a:t>Instruction tuning</a:t>
            </a:r>
          </a:p>
        </p:txBody>
      </p:sp>
      <p:sp>
        <p:nvSpPr>
          <p:cNvPr id="3" name="Content Placeholder 2">
            <a:extLst>
              <a:ext uri="{FF2B5EF4-FFF2-40B4-BE49-F238E27FC236}">
                <a16:creationId xmlns:a16="http://schemas.microsoft.com/office/drawing/2014/main" id="{77CFF92F-F98B-7599-1B75-BB402476415F}"/>
              </a:ext>
            </a:extLst>
          </p:cNvPr>
          <p:cNvSpPr>
            <a:spLocks noGrp="1"/>
          </p:cNvSpPr>
          <p:nvPr>
            <p:ph idx="1"/>
          </p:nvPr>
        </p:nvSpPr>
        <p:spPr/>
        <p:txBody>
          <a:bodyPr vert="horz" lIns="91440" tIns="45720" rIns="91440" bIns="45720" anchor="t">
            <a:normAutofit/>
          </a:bodyPr>
          <a:lstStyle/>
          <a:p>
            <a:pPr marL="0" indent="0">
              <a:lnSpc>
                <a:spcPct val="114999"/>
              </a:lnSpc>
              <a:spcBef>
                <a:spcPts val="0"/>
              </a:spcBef>
              <a:buNone/>
            </a:pPr>
            <a:r>
              <a:rPr sz="1700" dirty="0">
                <a:solidFill>
                  <a:srgbClr val="666666"/>
                </a:solidFill>
                <a:latin typeface="Source Code Pro"/>
                <a:ea typeface="Source Code Pro"/>
                <a:cs typeface="Source Code Pro"/>
              </a:rPr>
              <a:t>&lt;|</a:t>
            </a:r>
            <a:r>
              <a:rPr sz="1700" dirty="0" err="1">
                <a:solidFill>
                  <a:srgbClr val="666666"/>
                </a:solidFill>
                <a:latin typeface="Source Code Pro"/>
                <a:ea typeface="Source Code Pro"/>
                <a:cs typeface="Source Code Pro"/>
              </a:rPr>
              <a:t>begin_of_text</a:t>
            </a:r>
            <a:r>
              <a:rPr sz="1700" dirty="0">
                <a:solidFill>
                  <a:srgbClr val="666666"/>
                </a:solidFill>
                <a:latin typeface="Source Code Pro"/>
                <a:ea typeface="Source Code Pro"/>
                <a:cs typeface="Source Code Pro"/>
              </a:rPr>
              <a:t>|&gt;&lt;|</a:t>
            </a:r>
            <a:r>
              <a:rPr sz="1700" dirty="0" err="1">
                <a:solidFill>
                  <a:srgbClr val="666666"/>
                </a:solidFill>
                <a:latin typeface="Source Code Pro"/>
                <a:ea typeface="Source Code Pro"/>
                <a:cs typeface="Source Code Pro"/>
              </a:rPr>
              <a:t>start_header_id</a:t>
            </a:r>
            <a:r>
              <a:rPr sz="1700" dirty="0">
                <a:solidFill>
                  <a:srgbClr val="666666"/>
                </a:solidFill>
                <a:latin typeface="Source Code Pro"/>
                <a:ea typeface="Source Code Pro"/>
                <a:cs typeface="Source Code Pro"/>
              </a:rPr>
              <a:t>|&gt;</a:t>
            </a:r>
            <a:r>
              <a:rPr sz="1700" dirty="0">
                <a:solidFill>
                  <a:srgbClr val="0B7743"/>
                </a:solidFill>
                <a:latin typeface="Source Code Pro"/>
                <a:ea typeface="Source Code Pro"/>
                <a:cs typeface="Source Code Pro"/>
              </a:rPr>
              <a:t>system</a:t>
            </a:r>
            <a:r>
              <a:rPr sz="1700" dirty="0">
                <a:solidFill>
                  <a:srgbClr val="666666"/>
                </a:solidFill>
                <a:latin typeface="Source Code Pro"/>
                <a:ea typeface="Source Code Pro"/>
                <a:cs typeface="Source Code Pro"/>
              </a:rPr>
              <a:t>&lt;|</a:t>
            </a:r>
            <a:r>
              <a:rPr sz="1700" dirty="0" err="1">
                <a:solidFill>
                  <a:srgbClr val="666666"/>
                </a:solidFill>
                <a:latin typeface="Source Code Pro"/>
                <a:ea typeface="Source Code Pro"/>
                <a:cs typeface="Source Code Pro"/>
              </a:rPr>
              <a:t>end_header_id</a:t>
            </a:r>
            <a:r>
              <a:rPr sz="1700" dirty="0">
                <a:solidFill>
                  <a:srgbClr val="666666"/>
                </a:solidFill>
                <a:latin typeface="Source Code Pro"/>
                <a:ea typeface="Source Code Pro"/>
                <a:cs typeface="Source Code Pro"/>
              </a:rPr>
              <a:t>|&gt;</a:t>
            </a:r>
            <a:endParaRPr sz="1700" dirty="0">
              <a:solidFill>
                <a:srgbClr val="00FDC8"/>
              </a:solidFill>
              <a:latin typeface="Source Code Pro"/>
              <a:ea typeface="Source Code Pro"/>
              <a:cs typeface="Source Code Pro"/>
            </a:endParaRPr>
          </a:p>
          <a:p>
            <a:pPr marL="0" indent="0">
              <a:lnSpc>
                <a:spcPct val="114999"/>
              </a:lnSpc>
              <a:spcBef>
                <a:spcPts val="1200"/>
              </a:spcBef>
              <a:buNone/>
            </a:pPr>
            <a:r>
              <a:rPr sz="1700" dirty="0">
                <a:solidFill>
                  <a:srgbClr val="9325A5"/>
                </a:solidFill>
                <a:latin typeface="Source Code Pro"/>
                <a:ea typeface="Source Code Pro"/>
                <a:cs typeface="Source Code Pro"/>
              </a:rPr>
              <a:t>You are an expert in baking.</a:t>
            </a:r>
            <a:r>
              <a:rPr sz="1700" dirty="0">
                <a:solidFill>
                  <a:srgbClr val="666666"/>
                </a:solidFill>
                <a:latin typeface="Source Code Pro"/>
                <a:ea typeface="Source Code Pro"/>
                <a:cs typeface="Source Code Pro"/>
              </a:rPr>
              <a:t>&lt;|</a:t>
            </a:r>
            <a:r>
              <a:rPr sz="1700" dirty="0" err="1">
                <a:solidFill>
                  <a:srgbClr val="666666"/>
                </a:solidFill>
                <a:latin typeface="Source Code Pro"/>
                <a:ea typeface="Source Code Pro"/>
                <a:cs typeface="Source Code Pro"/>
              </a:rPr>
              <a:t>eot_id</a:t>
            </a:r>
            <a:r>
              <a:rPr sz="1700" dirty="0">
                <a:solidFill>
                  <a:srgbClr val="666666"/>
                </a:solidFill>
                <a:latin typeface="Source Code Pro"/>
                <a:ea typeface="Source Code Pro"/>
                <a:cs typeface="Source Code Pro"/>
              </a:rPr>
              <a:t>|&gt;</a:t>
            </a:r>
            <a:endParaRPr sz="1700" dirty="0">
              <a:solidFill>
                <a:srgbClr val="00FDC8"/>
              </a:solidFill>
              <a:latin typeface="Source Code Pro"/>
              <a:ea typeface="Source Code Pro"/>
              <a:cs typeface="Source Code Pro"/>
            </a:endParaRPr>
          </a:p>
          <a:p>
            <a:pPr marL="0" indent="0">
              <a:lnSpc>
                <a:spcPct val="114999"/>
              </a:lnSpc>
              <a:spcBef>
                <a:spcPts val="1200"/>
              </a:spcBef>
              <a:buNone/>
            </a:pPr>
            <a:endParaRPr sz="1700" dirty="0">
              <a:solidFill>
                <a:srgbClr val="666666"/>
              </a:solidFill>
              <a:latin typeface="Source Code Pro"/>
              <a:ea typeface="Source Code Pro"/>
              <a:cs typeface="Source Code Pro"/>
            </a:endParaRPr>
          </a:p>
          <a:p>
            <a:pPr marL="0" indent="0">
              <a:lnSpc>
                <a:spcPct val="114999"/>
              </a:lnSpc>
              <a:spcBef>
                <a:spcPts val="1200"/>
              </a:spcBef>
              <a:buNone/>
            </a:pPr>
            <a:r>
              <a:rPr sz="1700" dirty="0">
                <a:solidFill>
                  <a:srgbClr val="666666"/>
                </a:solidFill>
                <a:latin typeface="Source Code Pro"/>
                <a:ea typeface="Source Code Pro"/>
                <a:cs typeface="Source Code Pro"/>
              </a:rPr>
              <a:t>&lt;|</a:t>
            </a:r>
            <a:r>
              <a:rPr sz="1700" dirty="0" err="1">
                <a:solidFill>
                  <a:srgbClr val="666666"/>
                </a:solidFill>
                <a:latin typeface="Source Code Pro"/>
                <a:ea typeface="Source Code Pro"/>
                <a:cs typeface="Source Code Pro"/>
              </a:rPr>
              <a:t>start_header_id</a:t>
            </a:r>
            <a:r>
              <a:rPr sz="1700" dirty="0">
                <a:solidFill>
                  <a:srgbClr val="666666"/>
                </a:solidFill>
                <a:latin typeface="Source Code Pro"/>
                <a:ea typeface="Source Code Pro"/>
                <a:cs typeface="Source Code Pro"/>
              </a:rPr>
              <a:t>|&gt;</a:t>
            </a:r>
            <a:r>
              <a:rPr sz="1700" dirty="0">
                <a:solidFill>
                  <a:srgbClr val="0B7743"/>
                </a:solidFill>
                <a:latin typeface="Source Code Pro"/>
                <a:ea typeface="Source Code Pro"/>
                <a:cs typeface="Source Code Pro"/>
              </a:rPr>
              <a:t>user</a:t>
            </a:r>
            <a:r>
              <a:rPr sz="1700" dirty="0">
                <a:solidFill>
                  <a:srgbClr val="666666"/>
                </a:solidFill>
                <a:latin typeface="Source Code Pro"/>
                <a:ea typeface="Source Code Pro"/>
                <a:cs typeface="Source Code Pro"/>
              </a:rPr>
              <a:t>&lt;|</a:t>
            </a:r>
            <a:r>
              <a:rPr sz="1700" dirty="0" err="1">
                <a:solidFill>
                  <a:srgbClr val="666666"/>
                </a:solidFill>
                <a:latin typeface="Source Code Pro"/>
                <a:ea typeface="Source Code Pro"/>
                <a:cs typeface="Source Code Pro"/>
              </a:rPr>
              <a:t>end_header_id</a:t>
            </a:r>
            <a:r>
              <a:rPr sz="1700" dirty="0">
                <a:solidFill>
                  <a:srgbClr val="666666"/>
                </a:solidFill>
                <a:latin typeface="Source Code Pro"/>
                <a:ea typeface="Source Code Pro"/>
                <a:cs typeface="Source Code Pro"/>
              </a:rPr>
              <a:t>|&gt;</a:t>
            </a:r>
            <a:endParaRPr sz="1700" dirty="0">
              <a:solidFill>
                <a:srgbClr val="00FDC8"/>
              </a:solidFill>
              <a:latin typeface="Source Code Pro"/>
              <a:ea typeface="Source Code Pro"/>
              <a:cs typeface="Source Code Pro"/>
            </a:endParaRPr>
          </a:p>
          <a:p>
            <a:pPr marL="0" indent="0">
              <a:lnSpc>
                <a:spcPct val="114999"/>
              </a:lnSpc>
              <a:spcBef>
                <a:spcPts val="1200"/>
              </a:spcBef>
              <a:buNone/>
            </a:pPr>
            <a:r>
              <a:rPr sz="1700" dirty="0">
                <a:solidFill>
                  <a:srgbClr val="9325A5"/>
                </a:solidFill>
                <a:latin typeface="Source Code Pro"/>
                <a:ea typeface="Source Code Pro"/>
                <a:cs typeface="Source Code Pro"/>
              </a:rPr>
              <a:t>Provide me a recipe for macarons.</a:t>
            </a:r>
            <a:r>
              <a:rPr sz="1700" dirty="0">
                <a:solidFill>
                  <a:srgbClr val="666666"/>
                </a:solidFill>
                <a:latin typeface="Source Code Pro"/>
                <a:ea typeface="Source Code Pro"/>
                <a:cs typeface="Source Code Pro"/>
              </a:rPr>
              <a:t>&lt;|</a:t>
            </a:r>
            <a:r>
              <a:rPr sz="1700" dirty="0" err="1">
                <a:solidFill>
                  <a:srgbClr val="666666"/>
                </a:solidFill>
                <a:latin typeface="Source Code Pro"/>
                <a:ea typeface="Source Code Pro"/>
                <a:cs typeface="Source Code Pro"/>
              </a:rPr>
              <a:t>eot_id</a:t>
            </a:r>
            <a:r>
              <a:rPr sz="1700" dirty="0">
                <a:solidFill>
                  <a:srgbClr val="666666"/>
                </a:solidFill>
                <a:latin typeface="Source Code Pro"/>
                <a:ea typeface="Source Code Pro"/>
                <a:cs typeface="Source Code Pro"/>
              </a:rPr>
              <a:t>|&gt;</a:t>
            </a:r>
            <a:endParaRPr sz="1700" dirty="0">
              <a:solidFill>
                <a:srgbClr val="00FDC8"/>
              </a:solidFill>
              <a:latin typeface="Source Code Pro"/>
              <a:ea typeface="Source Code Pro"/>
              <a:cs typeface="Source Code Pro"/>
            </a:endParaRPr>
          </a:p>
          <a:p>
            <a:pPr marL="0" indent="0">
              <a:lnSpc>
                <a:spcPct val="114999"/>
              </a:lnSpc>
              <a:spcBef>
                <a:spcPts val="1200"/>
              </a:spcBef>
              <a:buNone/>
            </a:pPr>
            <a:endParaRPr sz="1700" dirty="0">
              <a:solidFill>
                <a:srgbClr val="666666"/>
              </a:solidFill>
              <a:latin typeface="Source Code Pro"/>
              <a:ea typeface="Source Code Pro"/>
              <a:cs typeface="Source Code Pro"/>
            </a:endParaRPr>
          </a:p>
          <a:p>
            <a:pPr marL="0" indent="0">
              <a:lnSpc>
                <a:spcPct val="114999"/>
              </a:lnSpc>
              <a:spcBef>
                <a:spcPts val="1200"/>
              </a:spcBef>
              <a:buNone/>
            </a:pPr>
            <a:r>
              <a:rPr sz="1700" dirty="0">
                <a:solidFill>
                  <a:srgbClr val="666666"/>
                </a:solidFill>
                <a:latin typeface="Source Code Pro"/>
                <a:ea typeface="Source Code Pro"/>
                <a:cs typeface="Source Code Pro"/>
              </a:rPr>
              <a:t>&lt;|</a:t>
            </a:r>
            <a:r>
              <a:rPr sz="1700" dirty="0" err="1">
                <a:solidFill>
                  <a:srgbClr val="666666"/>
                </a:solidFill>
                <a:latin typeface="Source Code Pro"/>
                <a:ea typeface="Source Code Pro"/>
                <a:cs typeface="Source Code Pro"/>
              </a:rPr>
              <a:t>start_header_id</a:t>
            </a:r>
            <a:r>
              <a:rPr sz="1700" dirty="0">
                <a:solidFill>
                  <a:srgbClr val="666666"/>
                </a:solidFill>
                <a:latin typeface="Source Code Pro"/>
                <a:ea typeface="Source Code Pro"/>
                <a:cs typeface="Source Code Pro"/>
              </a:rPr>
              <a:t>|&gt;</a:t>
            </a:r>
            <a:r>
              <a:rPr sz="1700" dirty="0">
                <a:solidFill>
                  <a:srgbClr val="0B7743"/>
                </a:solidFill>
                <a:latin typeface="Source Code Pro"/>
                <a:ea typeface="Source Code Pro"/>
                <a:cs typeface="Source Code Pro"/>
              </a:rPr>
              <a:t>assistant</a:t>
            </a:r>
            <a:r>
              <a:rPr sz="1700" dirty="0">
                <a:solidFill>
                  <a:srgbClr val="666666"/>
                </a:solidFill>
                <a:latin typeface="Source Code Pro"/>
                <a:ea typeface="Source Code Pro"/>
                <a:cs typeface="Source Code Pro"/>
              </a:rPr>
              <a:t>&lt;|</a:t>
            </a:r>
            <a:r>
              <a:rPr sz="1700" dirty="0" err="1">
                <a:solidFill>
                  <a:srgbClr val="666666"/>
                </a:solidFill>
                <a:latin typeface="Source Code Pro"/>
                <a:ea typeface="Source Code Pro"/>
                <a:cs typeface="Source Code Pro"/>
              </a:rPr>
              <a:t>end_header_id</a:t>
            </a:r>
            <a:r>
              <a:rPr sz="1700" dirty="0">
                <a:solidFill>
                  <a:srgbClr val="666666"/>
                </a:solidFill>
                <a:latin typeface="Source Code Pro"/>
                <a:ea typeface="Source Code Pro"/>
                <a:cs typeface="Source Code Pro"/>
              </a:rPr>
              <a:t>|&gt;</a:t>
            </a:r>
            <a:endParaRPr sz="1700" dirty="0">
              <a:solidFill>
                <a:srgbClr val="00FDC8"/>
              </a:solidFill>
              <a:latin typeface="Source Code Pro"/>
              <a:ea typeface="Source Code Pro"/>
              <a:cs typeface="Source Code Pro"/>
            </a:endParaRPr>
          </a:p>
          <a:p>
            <a:pPr marL="0" indent="0">
              <a:lnSpc>
                <a:spcPct val="114999"/>
              </a:lnSpc>
              <a:spcBef>
                <a:spcPts val="1200"/>
              </a:spcBef>
              <a:spcAft>
                <a:spcPts val="1200"/>
              </a:spcAft>
              <a:buNone/>
            </a:pPr>
            <a:r>
              <a:rPr sz="1700" dirty="0">
                <a:solidFill>
                  <a:srgbClr val="9325A5"/>
                </a:solidFill>
                <a:latin typeface="Source Code Pro"/>
                <a:ea typeface="Source Code Pro"/>
                <a:cs typeface="Source Code Pro"/>
              </a:rPr>
              <a:t>Certainly! Here is a recipe for macarons …</a:t>
            </a:r>
            <a:r>
              <a:rPr sz="1700" dirty="0">
                <a:solidFill>
                  <a:srgbClr val="666666"/>
                </a:solidFill>
                <a:latin typeface="Source Code Pro"/>
                <a:ea typeface="Source Code Pro"/>
                <a:cs typeface="Source Code Pro"/>
              </a:rPr>
              <a:t>&lt;|</a:t>
            </a:r>
            <a:r>
              <a:rPr sz="1700" dirty="0" err="1">
                <a:solidFill>
                  <a:srgbClr val="666666"/>
                </a:solidFill>
                <a:latin typeface="Source Code Pro"/>
                <a:ea typeface="Source Code Pro"/>
                <a:cs typeface="Source Code Pro"/>
              </a:rPr>
              <a:t>eot_id</a:t>
            </a:r>
            <a:r>
              <a:rPr sz="1700" dirty="0">
                <a:solidFill>
                  <a:srgbClr val="666666"/>
                </a:solidFill>
                <a:latin typeface="Source Code Pro"/>
                <a:ea typeface="Source Code Pro"/>
                <a:cs typeface="Source Code Pro"/>
              </a:rPr>
              <a:t>|&gt;</a:t>
            </a:r>
            <a:endParaRPr dirty="0"/>
          </a:p>
          <a:p>
            <a:pPr marL="0" indent="0">
              <a:buNone/>
            </a:pPr>
            <a:endParaRPr sz="900" dirty="0">
              <a:latin typeface="IBM Plex Mono"/>
              <a:ea typeface="IBM Plex Mono"/>
              <a:cs typeface="IBM Plex Mono"/>
            </a:endParaRPr>
          </a:p>
          <a:p>
            <a:pPr marL="0" indent="0">
              <a:buNone/>
            </a:pPr>
            <a:endParaRPr sz="900" dirty="0">
              <a:latin typeface="IBM Plex Mono"/>
              <a:ea typeface="IBM Plex Mono"/>
              <a:cs typeface="IBM Plex Mono"/>
            </a:endParaRPr>
          </a:p>
        </p:txBody>
      </p:sp>
      <p:sp>
        <p:nvSpPr>
          <p:cNvPr id="4" name="Oval 3">
            <a:extLst>
              <a:ext uri="{FF2B5EF4-FFF2-40B4-BE49-F238E27FC236}">
                <a16:creationId xmlns:a16="http://schemas.microsoft.com/office/drawing/2014/main" id="{BF4D4207-3E47-41C9-E3E9-4723E6872A8C}"/>
              </a:ext>
            </a:extLst>
          </p:cNvPr>
          <p:cNvSpPr>
            <a:spLocks noGrp="1"/>
          </p:cNvSpPr>
          <p:nvPr/>
        </p:nvSpPr>
        <p:spPr>
          <a:xfrm>
            <a:off x="6373090" y="1708728"/>
            <a:ext cx="2339877" cy="654241"/>
          </a:xfrm>
          <a:custGeom>
            <a:avLst/>
            <a:gdLst>
              <a:gd name="csX0" fmla="*/ 0 w 2339877"/>
              <a:gd name="csY0" fmla="*/ 327121 h 654241"/>
              <a:gd name="csX1" fmla="*/ 1169939 w 2339877"/>
              <a:gd name="csY1" fmla="*/ 0 h 654241"/>
              <a:gd name="csX2" fmla="*/ 2339878 w 2339877"/>
              <a:gd name="csY2" fmla="*/ 327121 h 654241"/>
              <a:gd name="csX3" fmla="*/ 1169939 w 2339877"/>
              <a:gd name="csY3" fmla="*/ 654242 h 654241"/>
              <a:gd name="csX4" fmla="*/ 0 w 2339877"/>
              <a:gd name="csY4" fmla="*/ 327121 h 654241"/>
            </a:gdLst>
            <a:ahLst/>
            <a:cxnLst/>
            <a:rect l="l" t="t" r="r" b="b"/>
            <a:pathLst>
              <a:path w="2339877" h="654241">
                <a:moveTo>
                  <a:pt x="0" y="327121"/>
                </a:moveTo>
                <a:cubicBezTo>
                  <a:pt x="-14328" y="101478"/>
                  <a:pt x="502679" y="1819"/>
                  <a:pt x="1169939" y="0"/>
                </a:cubicBezTo>
                <a:cubicBezTo>
                  <a:pt x="1813129" y="4109"/>
                  <a:pt x="2319162" y="124682"/>
                  <a:pt x="2339878" y="327121"/>
                </a:cubicBezTo>
                <a:cubicBezTo>
                  <a:pt x="2381087" y="577447"/>
                  <a:pt x="1916196" y="681226"/>
                  <a:pt x="1169939" y="654242"/>
                </a:cubicBezTo>
                <a:cubicBezTo>
                  <a:pt x="516356" y="659409"/>
                  <a:pt x="-32724" y="478340"/>
                  <a:pt x="0" y="327121"/>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E5680F01-F667-F8E0-8FFB-A1005D6A0A87}"/>
              </a:ext>
            </a:extLst>
          </p:cNvPr>
          <p:cNvSpPr>
            <a:spLocks noGrp="1"/>
          </p:cNvSpPr>
          <p:nvPr/>
        </p:nvSpPr>
        <p:spPr>
          <a:xfrm>
            <a:off x="5195454" y="3486728"/>
            <a:ext cx="1370059" cy="654241"/>
          </a:xfrm>
          <a:custGeom>
            <a:avLst/>
            <a:gdLst>
              <a:gd name="csX0" fmla="*/ 0 w 1370059"/>
              <a:gd name="csY0" fmla="*/ 327121 h 654241"/>
              <a:gd name="csX1" fmla="*/ 685030 w 1370059"/>
              <a:gd name="csY1" fmla="*/ 0 h 654241"/>
              <a:gd name="csX2" fmla="*/ 1370060 w 1370059"/>
              <a:gd name="csY2" fmla="*/ 327121 h 654241"/>
              <a:gd name="csX3" fmla="*/ 685030 w 1370059"/>
              <a:gd name="csY3" fmla="*/ 654242 h 654241"/>
              <a:gd name="csX4" fmla="*/ 0 w 1370059"/>
              <a:gd name="csY4" fmla="*/ 327121 h 654241"/>
            </a:gdLst>
            <a:ahLst/>
            <a:cxnLst/>
            <a:rect l="l" t="t" r="r" b="b"/>
            <a:pathLst>
              <a:path w="1370059" h="654241">
                <a:moveTo>
                  <a:pt x="0" y="327121"/>
                </a:moveTo>
                <a:cubicBezTo>
                  <a:pt x="-15708" y="97147"/>
                  <a:pt x="246192" y="5210"/>
                  <a:pt x="685030" y="0"/>
                </a:cubicBezTo>
                <a:cubicBezTo>
                  <a:pt x="1060413" y="4109"/>
                  <a:pt x="1349344" y="124682"/>
                  <a:pt x="1370060" y="327121"/>
                </a:cubicBezTo>
                <a:cubicBezTo>
                  <a:pt x="1396052" y="551723"/>
                  <a:pt x="1131503" y="672608"/>
                  <a:pt x="685030" y="654242"/>
                </a:cubicBezTo>
                <a:cubicBezTo>
                  <a:pt x="299254" y="659409"/>
                  <a:pt x="-32724" y="478340"/>
                  <a:pt x="0" y="327121"/>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B389C06C-0000-0390-295B-46B186E811C9}"/>
              </a:ext>
            </a:extLst>
          </p:cNvPr>
          <p:cNvSpPr>
            <a:spLocks noGrp="1"/>
          </p:cNvSpPr>
          <p:nvPr/>
        </p:nvSpPr>
        <p:spPr>
          <a:xfrm>
            <a:off x="4710544" y="2293697"/>
            <a:ext cx="1370059" cy="654241"/>
          </a:xfrm>
          <a:custGeom>
            <a:avLst/>
            <a:gdLst>
              <a:gd name="csX0" fmla="*/ 0 w 1370059"/>
              <a:gd name="csY0" fmla="*/ 327121 h 654241"/>
              <a:gd name="csX1" fmla="*/ 685030 w 1370059"/>
              <a:gd name="csY1" fmla="*/ 0 h 654241"/>
              <a:gd name="csX2" fmla="*/ 1370060 w 1370059"/>
              <a:gd name="csY2" fmla="*/ 327121 h 654241"/>
              <a:gd name="csX3" fmla="*/ 685030 w 1370059"/>
              <a:gd name="csY3" fmla="*/ 654242 h 654241"/>
              <a:gd name="csX4" fmla="*/ 0 w 1370059"/>
              <a:gd name="csY4" fmla="*/ 327121 h 654241"/>
            </a:gdLst>
            <a:ahLst/>
            <a:cxnLst/>
            <a:rect l="l" t="t" r="r" b="b"/>
            <a:pathLst>
              <a:path w="1370059" h="654241">
                <a:moveTo>
                  <a:pt x="0" y="327121"/>
                </a:moveTo>
                <a:cubicBezTo>
                  <a:pt x="-15708" y="97147"/>
                  <a:pt x="246192" y="5210"/>
                  <a:pt x="685030" y="0"/>
                </a:cubicBezTo>
                <a:cubicBezTo>
                  <a:pt x="1060413" y="4109"/>
                  <a:pt x="1349344" y="124682"/>
                  <a:pt x="1370060" y="327121"/>
                </a:cubicBezTo>
                <a:cubicBezTo>
                  <a:pt x="1396052" y="551723"/>
                  <a:pt x="1131503" y="672608"/>
                  <a:pt x="685030" y="654242"/>
                </a:cubicBezTo>
                <a:cubicBezTo>
                  <a:pt x="299254" y="659409"/>
                  <a:pt x="-32724" y="478340"/>
                  <a:pt x="0" y="327121"/>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Oval 6">
            <a:extLst>
              <a:ext uri="{FF2B5EF4-FFF2-40B4-BE49-F238E27FC236}">
                <a16:creationId xmlns:a16="http://schemas.microsoft.com/office/drawing/2014/main" id="{55D9235D-84C2-FCFD-81EA-F24A15883F78}"/>
              </a:ext>
            </a:extLst>
          </p:cNvPr>
          <p:cNvSpPr>
            <a:spLocks noGrp="1"/>
          </p:cNvSpPr>
          <p:nvPr/>
        </p:nvSpPr>
        <p:spPr>
          <a:xfrm>
            <a:off x="6334605" y="4826000"/>
            <a:ext cx="1370059" cy="654241"/>
          </a:xfrm>
          <a:custGeom>
            <a:avLst/>
            <a:gdLst>
              <a:gd name="csX0" fmla="*/ 0 w 1370059"/>
              <a:gd name="csY0" fmla="*/ 327121 h 654241"/>
              <a:gd name="csX1" fmla="*/ 685030 w 1370059"/>
              <a:gd name="csY1" fmla="*/ 0 h 654241"/>
              <a:gd name="csX2" fmla="*/ 1370060 w 1370059"/>
              <a:gd name="csY2" fmla="*/ 327121 h 654241"/>
              <a:gd name="csX3" fmla="*/ 685030 w 1370059"/>
              <a:gd name="csY3" fmla="*/ 654242 h 654241"/>
              <a:gd name="csX4" fmla="*/ 0 w 1370059"/>
              <a:gd name="csY4" fmla="*/ 327121 h 654241"/>
            </a:gdLst>
            <a:ahLst/>
            <a:cxnLst/>
            <a:rect l="l" t="t" r="r" b="b"/>
            <a:pathLst>
              <a:path w="1370059" h="654241">
                <a:moveTo>
                  <a:pt x="0" y="327121"/>
                </a:moveTo>
                <a:cubicBezTo>
                  <a:pt x="-15708" y="97147"/>
                  <a:pt x="246192" y="5210"/>
                  <a:pt x="685030" y="0"/>
                </a:cubicBezTo>
                <a:cubicBezTo>
                  <a:pt x="1060413" y="4109"/>
                  <a:pt x="1349344" y="124682"/>
                  <a:pt x="1370060" y="327121"/>
                </a:cubicBezTo>
                <a:cubicBezTo>
                  <a:pt x="1396052" y="551723"/>
                  <a:pt x="1131503" y="672608"/>
                  <a:pt x="685030" y="654242"/>
                </a:cubicBezTo>
                <a:cubicBezTo>
                  <a:pt x="299254" y="659409"/>
                  <a:pt x="-32724" y="478340"/>
                  <a:pt x="0" y="327121"/>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Oval 7">
            <a:extLst>
              <a:ext uri="{FF2B5EF4-FFF2-40B4-BE49-F238E27FC236}">
                <a16:creationId xmlns:a16="http://schemas.microsoft.com/office/drawing/2014/main" id="{89222960-5420-560F-2252-D0EBA9FC3BD0}"/>
              </a:ext>
            </a:extLst>
          </p:cNvPr>
          <p:cNvSpPr>
            <a:spLocks noGrp="1"/>
          </p:cNvSpPr>
          <p:nvPr/>
        </p:nvSpPr>
        <p:spPr>
          <a:xfrm>
            <a:off x="3086485" y="1685636"/>
            <a:ext cx="2493815" cy="661938"/>
          </a:xfrm>
          <a:custGeom>
            <a:avLst/>
            <a:gdLst>
              <a:gd name="csX0" fmla="*/ 0 w 2493815"/>
              <a:gd name="csY0" fmla="*/ 330969 h 661938"/>
              <a:gd name="csX1" fmla="*/ 1246908 w 2493815"/>
              <a:gd name="csY1" fmla="*/ 0 h 661938"/>
              <a:gd name="csX2" fmla="*/ 2493816 w 2493815"/>
              <a:gd name="csY2" fmla="*/ 330969 h 661938"/>
              <a:gd name="csX3" fmla="*/ 1246908 w 2493815"/>
              <a:gd name="csY3" fmla="*/ 661938 h 661938"/>
              <a:gd name="csX4" fmla="*/ 0 w 2493815"/>
              <a:gd name="csY4" fmla="*/ 330969 h 661938"/>
            </a:gdLst>
            <a:ahLst/>
            <a:cxnLst/>
            <a:rect l="l" t="t" r="r" b="b"/>
            <a:pathLst>
              <a:path w="2493815" h="661938">
                <a:moveTo>
                  <a:pt x="0" y="330969"/>
                </a:moveTo>
                <a:cubicBezTo>
                  <a:pt x="-33450" y="43177"/>
                  <a:pt x="406819" y="13040"/>
                  <a:pt x="1246908" y="0"/>
                </a:cubicBezTo>
                <a:cubicBezTo>
                  <a:pt x="1904874" y="42743"/>
                  <a:pt x="2466444" y="119409"/>
                  <a:pt x="2493816" y="330969"/>
                </a:cubicBezTo>
                <a:cubicBezTo>
                  <a:pt x="2552375" y="612748"/>
                  <a:pt x="2034624" y="688639"/>
                  <a:pt x="1246908" y="661938"/>
                </a:cubicBezTo>
                <a:cubicBezTo>
                  <a:pt x="547733" y="669245"/>
                  <a:pt x="-6237" y="508146"/>
                  <a:pt x="0" y="330969"/>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Oval 8">
            <a:extLst>
              <a:ext uri="{FF2B5EF4-FFF2-40B4-BE49-F238E27FC236}">
                <a16:creationId xmlns:a16="http://schemas.microsoft.com/office/drawing/2014/main" id="{1BFDD5B3-ED7C-78CF-B2DD-FA596CD574A2}"/>
              </a:ext>
            </a:extLst>
          </p:cNvPr>
          <p:cNvSpPr>
            <a:spLocks noGrp="1"/>
          </p:cNvSpPr>
          <p:nvPr/>
        </p:nvSpPr>
        <p:spPr>
          <a:xfrm>
            <a:off x="838969" y="1685637"/>
            <a:ext cx="2339877" cy="654241"/>
          </a:xfrm>
          <a:custGeom>
            <a:avLst/>
            <a:gdLst>
              <a:gd name="csX0" fmla="*/ 0 w 2339877"/>
              <a:gd name="csY0" fmla="*/ 327121 h 654241"/>
              <a:gd name="csX1" fmla="*/ 1169939 w 2339877"/>
              <a:gd name="csY1" fmla="*/ 0 h 654241"/>
              <a:gd name="csX2" fmla="*/ 2339878 w 2339877"/>
              <a:gd name="csY2" fmla="*/ 327121 h 654241"/>
              <a:gd name="csX3" fmla="*/ 1169939 w 2339877"/>
              <a:gd name="csY3" fmla="*/ 654242 h 654241"/>
              <a:gd name="csX4" fmla="*/ 0 w 2339877"/>
              <a:gd name="csY4" fmla="*/ 327121 h 654241"/>
            </a:gdLst>
            <a:ahLst/>
            <a:cxnLst/>
            <a:rect l="l" t="t" r="r" b="b"/>
            <a:pathLst>
              <a:path w="2339877" h="654241">
                <a:moveTo>
                  <a:pt x="0" y="327121"/>
                </a:moveTo>
                <a:cubicBezTo>
                  <a:pt x="-14328" y="101478"/>
                  <a:pt x="502679" y="1819"/>
                  <a:pt x="1169939" y="0"/>
                </a:cubicBezTo>
                <a:cubicBezTo>
                  <a:pt x="1813129" y="4109"/>
                  <a:pt x="2319162" y="124682"/>
                  <a:pt x="2339878" y="327121"/>
                </a:cubicBezTo>
                <a:cubicBezTo>
                  <a:pt x="2381087" y="577447"/>
                  <a:pt x="1916196" y="681226"/>
                  <a:pt x="1169939" y="654242"/>
                </a:cubicBezTo>
                <a:cubicBezTo>
                  <a:pt x="516356" y="659409"/>
                  <a:pt x="-32724" y="478340"/>
                  <a:pt x="0" y="327121"/>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27C592C4-BDB6-A00C-E2C2-4646B06C1C77}"/>
              </a:ext>
            </a:extLst>
          </p:cNvPr>
          <p:cNvSpPr>
            <a:spLocks noGrp="1"/>
          </p:cNvSpPr>
          <p:nvPr/>
        </p:nvSpPr>
        <p:spPr>
          <a:xfrm>
            <a:off x="877454" y="3001819"/>
            <a:ext cx="2539997" cy="700422"/>
          </a:xfrm>
          <a:custGeom>
            <a:avLst/>
            <a:gdLst>
              <a:gd name="csX0" fmla="*/ 0 w 2539997"/>
              <a:gd name="csY0" fmla="*/ 350211 h 700422"/>
              <a:gd name="csX1" fmla="*/ 1269999 w 2539997"/>
              <a:gd name="csY1" fmla="*/ 0 h 700422"/>
              <a:gd name="csX2" fmla="*/ 2539998 w 2539997"/>
              <a:gd name="csY2" fmla="*/ 350211 h 700422"/>
              <a:gd name="csX3" fmla="*/ 1269999 w 2539997"/>
              <a:gd name="csY3" fmla="*/ 700422 h 700422"/>
              <a:gd name="csX4" fmla="*/ 0 w 2539997"/>
              <a:gd name="csY4" fmla="*/ 350211 h 700422"/>
            </a:gdLst>
            <a:ahLst/>
            <a:cxnLst/>
            <a:rect l="l" t="t" r="r" b="b"/>
            <a:pathLst>
              <a:path w="2539997" h="700422">
                <a:moveTo>
                  <a:pt x="0" y="350211"/>
                </a:moveTo>
                <a:cubicBezTo>
                  <a:pt x="-14082" y="112589"/>
                  <a:pt x="491305" y="6655"/>
                  <a:pt x="1269999" y="0"/>
                </a:cubicBezTo>
                <a:cubicBezTo>
                  <a:pt x="1949888" y="29968"/>
                  <a:pt x="2514491" y="129984"/>
                  <a:pt x="2539998" y="350211"/>
                </a:cubicBezTo>
                <a:cubicBezTo>
                  <a:pt x="2601763" y="648037"/>
                  <a:pt x="2118805" y="740151"/>
                  <a:pt x="1269999" y="700422"/>
                </a:cubicBezTo>
                <a:cubicBezTo>
                  <a:pt x="532324" y="725599"/>
                  <a:pt x="-40837" y="506882"/>
                  <a:pt x="0" y="350211"/>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B2FDECB0-DD7F-CF54-549B-FA478E59A59F}"/>
              </a:ext>
            </a:extLst>
          </p:cNvPr>
          <p:cNvSpPr>
            <a:spLocks noGrp="1"/>
          </p:cNvSpPr>
          <p:nvPr/>
        </p:nvSpPr>
        <p:spPr>
          <a:xfrm>
            <a:off x="3871575" y="3017213"/>
            <a:ext cx="2255210" cy="700422"/>
          </a:xfrm>
          <a:custGeom>
            <a:avLst/>
            <a:gdLst>
              <a:gd name="csX0" fmla="*/ 0 w 2255210"/>
              <a:gd name="csY0" fmla="*/ 350211 h 700422"/>
              <a:gd name="csX1" fmla="*/ 1127605 w 2255210"/>
              <a:gd name="csY1" fmla="*/ 0 h 700422"/>
              <a:gd name="csX2" fmla="*/ 2255210 w 2255210"/>
              <a:gd name="csY2" fmla="*/ 350211 h 700422"/>
              <a:gd name="csX3" fmla="*/ 1127605 w 2255210"/>
              <a:gd name="csY3" fmla="*/ 700422 h 700422"/>
              <a:gd name="csX4" fmla="*/ 0 w 2255210"/>
              <a:gd name="csY4" fmla="*/ 350211 h 700422"/>
            </a:gdLst>
            <a:ahLst/>
            <a:cxnLst/>
            <a:rect l="l" t="t" r="r" b="b"/>
            <a:pathLst>
              <a:path w="2255210" h="700422">
                <a:moveTo>
                  <a:pt x="0" y="350211"/>
                </a:moveTo>
                <a:cubicBezTo>
                  <a:pt x="-4746" y="141898"/>
                  <a:pt x="412861" y="7920"/>
                  <a:pt x="1127605" y="0"/>
                </a:cubicBezTo>
                <a:cubicBezTo>
                  <a:pt x="1728852" y="29968"/>
                  <a:pt x="2229703" y="129984"/>
                  <a:pt x="2255210" y="350211"/>
                </a:cubicBezTo>
                <a:cubicBezTo>
                  <a:pt x="2320869" y="654619"/>
                  <a:pt x="1777635" y="707772"/>
                  <a:pt x="1127605" y="700422"/>
                </a:cubicBezTo>
                <a:cubicBezTo>
                  <a:pt x="468572" y="725599"/>
                  <a:pt x="-40837" y="506882"/>
                  <a:pt x="0" y="350211"/>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Oval 11">
            <a:extLst>
              <a:ext uri="{FF2B5EF4-FFF2-40B4-BE49-F238E27FC236}">
                <a16:creationId xmlns:a16="http://schemas.microsoft.com/office/drawing/2014/main" id="{F6405785-CAEC-3131-A141-9F4EB96DB8F5}"/>
              </a:ext>
            </a:extLst>
          </p:cNvPr>
          <p:cNvSpPr>
            <a:spLocks noGrp="1"/>
          </p:cNvSpPr>
          <p:nvPr/>
        </p:nvSpPr>
        <p:spPr>
          <a:xfrm>
            <a:off x="892848" y="4318000"/>
            <a:ext cx="2555390" cy="700422"/>
          </a:xfrm>
          <a:custGeom>
            <a:avLst/>
            <a:gdLst>
              <a:gd name="csX0" fmla="*/ 0 w 2555390"/>
              <a:gd name="csY0" fmla="*/ 350211 h 700422"/>
              <a:gd name="csX1" fmla="*/ 1277695 w 2555390"/>
              <a:gd name="csY1" fmla="*/ 0 h 700422"/>
              <a:gd name="csX2" fmla="*/ 2555390 w 2555390"/>
              <a:gd name="csY2" fmla="*/ 350211 h 700422"/>
              <a:gd name="csX3" fmla="*/ 1277695 w 2555390"/>
              <a:gd name="csY3" fmla="*/ 700422 h 700422"/>
              <a:gd name="csX4" fmla="*/ 0 w 2555390"/>
              <a:gd name="csY4" fmla="*/ 350211 h 700422"/>
            </a:gdLst>
            <a:ahLst/>
            <a:cxnLst/>
            <a:rect l="l" t="t" r="r" b="b"/>
            <a:pathLst>
              <a:path w="2555390" h="700422">
                <a:moveTo>
                  <a:pt x="0" y="350211"/>
                </a:moveTo>
                <a:cubicBezTo>
                  <a:pt x="-7923" y="131923"/>
                  <a:pt x="481617" y="7786"/>
                  <a:pt x="1277695" y="0"/>
                </a:cubicBezTo>
                <a:cubicBezTo>
                  <a:pt x="1961834" y="29968"/>
                  <a:pt x="2529883" y="129984"/>
                  <a:pt x="2555390" y="350211"/>
                </a:cubicBezTo>
                <a:cubicBezTo>
                  <a:pt x="2599146" y="617593"/>
                  <a:pt x="2004882" y="706226"/>
                  <a:pt x="1277695" y="700422"/>
                </a:cubicBezTo>
                <a:cubicBezTo>
                  <a:pt x="535770" y="725599"/>
                  <a:pt x="-40837" y="506882"/>
                  <a:pt x="0" y="350211"/>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880A20B4-3D66-6DB8-E9BD-B039C15B2888}"/>
              </a:ext>
            </a:extLst>
          </p:cNvPr>
          <p:cNvSpPr>
            <a:spLocks noGrp="1"/>
          </p:cNvSpPr>
          <p:nvPr/>
        </p:nvSpPr>
        <p:spPr>
          <a:xfrm>
            <a:off x="4471938" y="4356485"/>
            <a:ext cx="2355269" cy="761996"/>
          </a:xfrm>
          <a:custGeom>
            <a:avLst/>
            <a:gdLst>
              <a:gd name="csX0" fmla="*/ 0 w 2355269"/>
              <a:gd name="csY0" fmla="*/ 380998 h 761996"/>
              <a:gd name="csX1" fmla="*/ 1177635 w 2355269"/>
              <a:gd name="csY1" fmla="*/ 0 h 761996"/>
              <a:gd name="csX2" fmla="*/ 2355270 w 2355269"/>
              <a:gd name="csY2" fmla="*/ 380998 h 761996"/>
              <a:gd name="csX3" fmla="*/ 1177635 w 2355269"/>
              <a:gd name="csY3" fmla="*/ 761996 h 761996"/>
              <a:gd name="csX4" fmla="*/ 0 w 2355269"/>
              <a:gd name="csY4" fmla="*/ 380998 h 761996"/>
            </a:gdLst>
            <a:ahLst/>
            <a:cxnLst/>
            <a:rect l="l" t="t" r="r" b="b"/>
            <a:pathLst>
              <a:path w="2355269" h="761996">
                <a:moveTo>
                  <a:pt x="0" y="380998"/>
                </a:moveTo>
                <a:cubicBezTo>
                  <a:pt x="-42035" y="38626"/>
                  <a:pt x="437790" y="7702"/>
                  <a:pt x="1177635" y="0"/>
                </a:cubicBezTo>
                <a:cubicBezTo>
                  <a:pt x="1818343" y="13488"/>
                  <a:pt x="2341396" y="155996"/>
                  <a:pt x="2355270" y="380998"/>
                </a:cubicBezTo>
                <a:cubicBezTo>
                  <a:pt x="2422347" y="704805"/>
                  <a:pt x="1947541" y="794208"/>
                  <a:pt x="1177635" y="761996"/>
                </a:cubicBezTo>
                <a:cubicBezTo>
                  <a:pt x="496626" y="783248"/>
                  <a:pt x="-26847" y="567260"/>
                  <a:pt x="0" y="380998"/>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CAE6B1F6-9BA8-C6D2-EDA9-BB400380A643}"/>
              </a:ext>
            </a:extLst>
          </p:cNvPr>
          <p:cNvSpPr>
            <a:spLocks noGrp="1"/>
          </p:cNvSpPr>
          <p:nvPr/>
        </p:nvSpPr>
        <p:spPr>
          <a:xfrm>
            <a:off x="7704666" y="3294303"/>
            <a:ext cx="3432849" cy="523220"/>
          </a:xfrm>
          <a:prstGeom prst="rect">
            <a:avLst/>
          </a:prstGeom>
          <a:noFill/>
        </p:spPr>
        <p:txBody>
          <a:bodyPr rot="0" spcFirstLastPara="0" vert="horz" wrap="square" lIns="91440" tIns="45720" rIns="91440" bIns="45720" anchor="t">
            <a:spAutoFit/>
          </a:bodyPr>
          <a:lstStyle/>
          <a:p>
            <a:r>
              <a:rPr sz="2800" b="1" dirty="0">
                <a:ea typeface="IBM Plex Mono"/>
                <a:cs typeface="IBM Plex Mono"/>
              </a:rPr>
              <a:t>special tokens</a:t>
            </a:r>
          </a:p>
        </p:txBody>
      </p:sp>
    </p:spTree>
    <p:extLst>
      <p:ext uri="{BB962C8B-B14F-4D97-AF65-F5344CB8AC3E}">
        <p14:creationId xmlns:p14="http://schemas.microsoft.com/office/powerpoint/2010/main" val="3976156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EAA1E-A777-8CAB-4628-80086C03E001}"/>
              </a:ext>
            </a:extLst>
          </p:cNvPr>
          <p:cNvSpPr>
            <a:spLocks noGrp="1"/>
          </p:cNvSpPr>
          <p:nvPr>
            <p:ph type="title"/>
          </p:nvPr>
        </p:nvSpPr>
        <p:spPr/>
        <p:txBody>
          <a:bodyPr/>
          <a:lstStyle/>
          <a:p>
            <a:r>
              <a:t>Instruction tuning</a:t>
            </a:r>
          </a:p>
        </p:txBody>
      </p:sp>
      <p:sp>
        <p:nvSpPr>
          <p:cNvPr id="3" name="Content Placeholder 2">
            <a:extLst>
              <a:ext uri="{FF2B5EF4-FFF2-40B4-BE49-F238E27FC236}">
                <a16:creationId xmlns:a16="http://schemas.microsoft.com/office/drawing/2014/main" id="{13F805AE-B7E0-24C4-B1B5-46870D07445A}"/>
              </a:ext>
            </a:extLst>
          </p:cNvPr>
          <p:cNvSpPr>
            <a:spLocks noGrp="1"/>
          </p:cNvSpPr>
          <p:nvPr>
            <p:ph idx="1"/>
          </p:nvPr>
        </p:nvSpPr>
        <p:spPr/>
        <p:txBody>
          <a:bodyPr vert="horz" lIns="91440" tIns="45720" rIns="91440" bIns="45720" anchor="t">
            <a:normAutofit/>
          </a:bodyPr>
          <a:lstStyle/>
          <a:p>
            <a:pPr marL="0" indent="0">
              <a:lnSpc>
                <a:spcPct val="114999"/>
              </a:lnSpc>
              <a:spcBef>
                <a:spcPts val="0"/>
              </a:spcBef>
              <a:buNone/>
            </a:pPr>
            <a:r>
              <a:rPr sz="1700">
                <a:solidFill>
                  <a:srgbClr val="666666"/>
                </a:solidFill>
                <a:latin typeface="Source Code Pro"/>
                <a:ea typeface="Source Code Pro"/>
                <a:cs typeface="Source Code Pro"/>
              </a:rPr>
              <a:t>&lt;|begin_of_text|&gt;&lt;|start_header_id|&gt;</a:t>
            </a:r>
            <a:r>
              <a:rPr sz="1700">
                <a:solidFill>
                  <a:srgbClr val="0B7743"/>
                </a:solidFill>
                <a:latin typeface="Source Code Pro"/>
                <a:ea typeface="Source Code Pro"/>
                <a:cs typeface="Source Code Pro"/>
              </a:rPr>
              <a:t>system</a:t>
            </a:r>
            <a:r>
              <a:rPr sz="1700">
                <a:solidFill>
                  <a:srgbClr val="666666"/>
                </a:solidFill>
                <a:latin typeface="Source Code Pro"/>
                <a:ea typeface="Source Code Pro"/>
                <a:cs typeface="Source Code Pro"/>
              </a:rPr>
              <a:t>&lt;|end_header_id|&gt;</a:t>
            </a:r>
            <a:endParaRPr sz="1700">
              <a:solidFill>
                <a:srgbClr val="00FDC8"/>
              </a:solidFill>
              <a:latin typeface="Source Code Pro"/>
              <a:ea typeface="Source Code Pro"/>
              <a:cs typeface="Source Code Pro"/>
            </a:endParaRPr>
          </a:p>
          <a:p>
            <a:pPr marL="0" indent="0">
              <a:lnSpc>
                <a:spcPct val="114999"/>
              </a:lnSpc>
              <a:spcBef>
                <a:spcPts val="1200"/>
              </a:spcBef>
              <a:buNone/>
            </a:pPr>
            <a:r>
              <a:rPr sz="1700">
                <a:solidFill>
                  <a:srgbClr val="9325A5"/>
                </a:solidFill>
                <a:latin typeface="Source Code Pro"/>
                <a:ea typeface="Source Code Pro"/>
                <a:cs typeface="Source Code Pro"/>
              </a:rPr>
              <a:t>You are an expert in baking.</a:t>
            </a:r>
            <a:r>
              <a:rPr sz="1700">
                <a:solidFill>
                  <a:srgbClr val="666666"/>
                </a:solidFill>
                <a:latin typeface="Source Code Pro"/>
                <a:ea typeface="Source Code Pro"/>
                <a:cs typeface="Source Code Pro"/>
              </a:rPr>
              <a:t>&lt;|eot_id|&gt;</a:t>
            </a:r>
            <a:endParaRPr sz="1700">
              <a:solidFill>
                <a:srgbClr val="00FDC8"/>
              </a:solidFill>
              <a:latin typeface="Source Code Pro"/>
              <a:ea typeface="Source Code Pro"/>
              <a:cs typeface="Source Code Pro"/>
            </a:endParaRPr>
          </a:p>
          <a:p>
            <a:pPr marL="0" indent="0">
              <a:lnSpc>
                <a:spcPct val="114999"/>
              </a:lnSpc>
              <a:spcBef>
                <a:spcPts val="1200"/>
              </a:spcBef>
              <a:buNone/>
            </a:pPr>
            <a:endParaRPr sz="1700">
              <a:solidFill>
                <a:srgbClr val="666666"/>
              </a:solidFill>
              <a:latin typeface="Source Code Pro"/>
              <a:ea typeface="Source Code Pro"/>
              <a:cs typeface="Source Code Pro"/>
            </a:endParaRPr>
          </a:p>
          <a:p>
            <a:pPr marL="0" indent="0">
              <a:lnSpc>
                <a:spcPct val="114999"/>
              </a:lnSpc>
              <a:spcBef>
                <a:spcPts val="1200"/>
              </a:spcBef>
              <a:buNone/>
            </a:pPr>
            <a:r>
              <a:rPr sz="1700">
                <a:solidFill>
                  <a:srgbClr val="666666"/>
                </a:solidFill>
                <a:latin typeface="Source Code Pro"/>
                <a:ea typeface="Source Code Pro"/>
                <a:cs typeface="Source Code Pro"/>
              </a:rPr>
              <a:t>&lt;|start_header_id|&gt;</a:t>
            </a:r>
            <a:r>
              <a:rPr sz="1700">
                <a:solidFill>
                  <a:srgbClr val="0B7743"/>
                </a:solidFill>
                <a:latin typeface="Source Code Pro"/>
                <a:ea typeface="Source Code Pro"/>
                <a:cs typeface="Source Code Pro"/>
              </a:rPr>
              <a:t>user</a:t>
            </a:r>
            <a:r>
              <a:rPr sz="1700">
                <a:solidFill>
                  <a:srgbClr val="666666"/>
                </a:solidFill>
                <a:latin typeface="Source Code Pro"/>
                <a:ea typeface="Source Code Pro"/>
                <a:cs typeface="Source Code Pro"/>
              </a:rPr>
              <a:t>&lt;|end_header_id|&gt;</a:t>
            </a:r>
            <a:endParaRPr sz="1700">
              <a:solidFill>
                <a:srgbClr val="00FDC8"/>
              </a:solidFill>
              <a:latin typeface="Source Code Pro"/>
              <a:ea typeface="Source Code Pro"/>
              <a:cs typeface="Source Code Pro"/>
            </a:endParaRPr>
          </a:p>
          <a:p>
            <a:pPr marL="0" indent="0">
              <a:lnSpc>
                <a:spcPct val="114999"/>
              </a:lnSpc>
              <a:spcBef>
                <a:spcPts val="1200"/>
              </a:spcBef>
              <a:buNone/>
            </a:pPr>
            <a:r>
              <a:rPr sz="1700">
                <a:solidFill>
                  <a:srgbClr val="9325A5"/>
                </a:solidFill>
                <a:latin typeface="Source Code Pro"/>
                <a:ea typeface="Source Code Pro"/>
                <a:cs typeface="Source Code Pro"/>
              </a:rPr>
              <a:t>Provide me a recipe for macarons.</a:t>
            </a:r>
            <a:r>
              <a:rPr sz="1700">
                <a:solidFill>
                  <a:srgbClr val="666666"/>
                </a:solidFill>
                <a:latin typeface="Source Code Pro"/>
                <a:ea typeface="Source Code Pro"/>
                <a:cs typeface="Source Code Pro"/>
              </a:rPr>
              <a:t>&lt;|eot_id|&gt;</a:t>
            </a:r>
            <a:endParaRPr sz="1700">
              <a:solidFill>
                <a:srgbClr val="00FDC8"/>
              </a:solidFill>
              <a:latin typeface="Source Code Pro"/>
              <a:ea typeface="Source Code Pro"/>
              <a:cs typeface="Source Code Pro"/>
            </a:endParaRPr>
          </a:p>
          <a:p>
            <a:pPr marL="0" indent="0">
              <a:lnSpc>
                <a:spcPct val="114999"/>
              </a:lnSpc>
              <a:spcBef>
                <a:spcPts val="1200"/>
              </a:spcBef>
              <a:buNone/>
            </a:pPr>
            <a:endParaRPr sz="1700">
              <a:solidFill>
                <a:srgbClr val="666666"/>
              </a:solidFill>
              <a:latin typeface="Source Code Pro"/>
              <a:ea typeface="Source Code Pro"/>
              <a:cs typeface="Source Code Pro"/>
            </a:endParaRPr>
          </a:p>
          <a:p>
            <a:pPr marL="0" indent="0">
              <a:lnSpc>
                <a:spcPct val="114999"/>
              </a:lnSpc>
              <a:spcBef>
                <a:spcPts val="1200"/>
              </a:spcBef>
              <a:buNone/>
            </a:pPr>
            <a:r>
              <a:rPr sz="1700">
                <a:solidFill>
                  <a:srgbClr val="666666"/>
                </a:solidFill>
                <a:latin typeface="Source Code Pro"/>
                <a:ea typeface="Source Code Pro"/>
                <a:cs typeface="Source Code Pro"/>
              </a:rPr>
              <a:t>&lt;|start_header_id|&gt;</a:t>
            </a:r>
            <a:r>
              <a:rPr sz="1700">
                <a:solidFill>
                  <a:srgbClr val="0B7743"/>
                </a:solidFill>
                <a:latin typeface="Source Code Pro"/>
                <a:ea typeface="Source Code Pro"/>
                <a:cs typeface="Source Code Pro"/>
              </a:rPr>
              <a:t>assistant</a:t>
            </a:r>
            <a:r>
              <a:rPr sz="1700">
                <a:solidFill>
                  <a:srgbClr val="666666"/>
                </a:solidFill>
                <a:latin typeface="Source Code Pro"/>
                <a:ea typeface="Source Code Pro"/>
                <a:cs typeface="Source Code Pro"/>
              </a:rPr>
              <a:t>&lt;|end_header_id|&gt;</a:t>
            </a:r>
            <a:endParaRPr sz="1700">
              <a:solidFill>
                <a:srgbClr val="00FDC8"/>
              </a:solidFill>
              <a:latin typeface="Source Code Pro"/>
              <a:ea typeface="Source Code Pro"/>
              <a:cs typeface="Source Code Pro"/>
            </a:endParaRPr>
          </a:p>
          <a:p>
            <a:pPr marL="0" indent="0">
              <a:lnSpc>
                <a:spcPct val="114999"/>
              </a:lnSpc>
              <a:spcBef>
                <a:spcPts val="1200"/>
              </a:spcBef>
              <a:spcAft>
                <a:spcPts val="1200"/>
              </a:spcAft>
              <a:buNone/>
            </a:pPr>
            <a:r>
              <a:rPr sz="1700">
                <a:solidFill>
                  <a:srgbClr val="9325A5"/>
                </a:solidFill>
                <a:latin typeface="Source Code Pro"/>
                <a:ea typeface="Source Code Pro"/>
                <a:cs typeface="Source Code Pro"/>
              </a:rPr>
              <a:t>Certainly! Here is a recipe for macarons …</a:t>
            </a:r>
            <a:r>
              <a:rPr sz="1700">
                <a:solidFill>
                  <a:srgbClr val="666666"/>
                </a:solidFill>
                <a:latin typeface="Source Code Pro"/>
                <a:ea typeface="Source Code Pro"/>
                <a:cs typeface="Source Code Pro"/>
              </a:rPr>
              <a:t>&lt;|eot_id|&gt;</a:t>
            </a:r>
            <a:endParaRPr/>
          </a:p>
          <a:p>
            <a:pPr marL="0" indent="0">
              <a:buNone/>
            </a:pPr>
            <a:endParaRPr sz="900">
              <a:latin typeface="IBM Plex Mono"/>
              <a:ea typeface="IBM Plex Mono"/>
              <a:cs typeface="IBM Plex Mono"/>
            </a:endParaRPr>
          </a:p>
          <a:p>
            <a:pPr marL="0" indent="0">
              <a:buNone/>
            </a:pPr>
            <a:endParaRPr sz="900">
              <a:latin typeface="IBM Plex Mono"/>
              <a:ea typeface="IBM Plex Mono"/>
              <a:cs typeface="IBM Plex Mono"/>
            </a:endParaRPr>
          </a:p>
        </p:txBody>
      </p:sp>
      <p:sp>
        <p:nvSpPr>
          <p:cNvPr id="14" name="TextBox 13">
            <a:extLst>
              <a:ext uri="{FF2B5EF4-FFF2-40B4-BE49-F238E27FC236}">
                <a16:creationId xmlns:a16="http://schemas.microsoft.com/office/drawing/2014/main" id="{7254B9F3-FEB3-C32D-B278-29497148BAD8}"/>
              </a:ext>
            </a:extLst>
          </p:cNvPr>
          <p:cNvSpPr>
            <a:spLocks noGrp="1"/>
          </p:cNvSpPr>
          <p:nvPr/>
        </p:nvSpPr>
        <p:spPr>
          <a:xfrm>
            <a:off x="8643696" y="3294302"/>
            <a:ext cx="1123759" cy="523220"/>
          </a:xfrm>
          <a:prstGeom prst="rect">
            <a:avLst/>
          </a:prstGeom>
          <a:noFill/>
        </p:spPr>
        <p:txBody>
          <a:bodyPr rot="0" spcFirstLastPara="0" vert="horz" wrap="square" lIns="91440" tIns="45720" rIns="91440" bIns="45720" anchor="t">
            <a:spAutoFit/>
          </a:bodyPr>
          <a:lstStyle/>
          <a:p>
            <a:r>
              <a:rPr sz="2800" b="1">
                <a:solidFill>
                  <a:schemeClr val="accent3"/>
                </a:solidFill>
                <a:latin typeface="IBM Plex Mono"/>
                <a:ea typeface="IBM Plex Mono"/>
                <a:cs typeface="IBM Plex Mono"/>
              </a:rPr>
              <a:t>role</a:t>
            </a:r>
            <a:endParaRPr>
              <a:solidFill>
                <a:schemeClr val="accent3"/>
              </a:solidFill>
            </a:endParaRPr>
          </a:p>
        </p:txBody>
      </p:sp>
      <p:sp>
        <p:nvSpPr>
          <p:cNvPr id="16" name="Oval 15">
            <a:extLst>
              <a:ext uri="{FF2B5EF4-FFF2-40B4-BE49-F238E27FC236}">
                <a16:creationId xmlns:a16="http://schemas.microsoft.com/office/drawing/2014/main" id="{839153F8-4457-6BD2-0D36-0896EABC4121}"/>
              </a:ext>
            </a:extLst>
          </p:cNvPr>
          <p:cNvSpPr>
            <a:spLocks noGrp="1"/>
          </p:cNvSpPr>
          <p:nvPr/>
        </p:nvSpPr>
        <p:spPr>
          <a:xfrm>
            <a:off x="5441757" y="1762606"/>
            <a:ext cx="1062181" cy="592666"/>
          </a:xfrm>
          <a:custGeom>
            <a:avLst/>
            <a:gdLst>
              <a:gd name="csX0" fmla="*/ 0 w 1062181"/>
              <a:gd name="csY0" fmla="*/ 296333 h 592666"/>
              <a:gd name="csX1" fmla="*/ 531091 w 1062181"/>
              <a:gd name="csY1" fmla="*/ 0 h 592666"/>
              <a:gd name="csX2" fmla="*/ 1062182 w 1062181"/>
              <a:gd name="csY2" fmla="*/ 296333 h 592666"/>
              <a:gd name="csX3" fmla="*/ 531091 w 1062181"/>
              <a:gd name="csY3" fmla="*/ 592666 h 592666"/>
              <a:gd name="csX4" fmla="*/ 0 w 1062181"/>
              <a:gd name="csY4" fmla="*/ 296333 h 592666"/>
            </a:gdLst>
            <a:ahLst/>
            <a:cxnLst/>
            <a:rect l="l" t="t" r="r" b="b"/>
            <a:pathLst>
              <a:path w="1062181" h="592666">
                <a:moveTo>
                  <a:pt x="0" y="296333"/>
                </a:moveTo>
                <a:cubicBezTo>
                  <a:pt x="-7844" y="108050"/>
                  <a:pt x="217113" y="1779"/>
                  <a:pt x="531091" y="0"/>
                </a:cubicBezTo>
                <a:cubicBezTo>
                  <a:pt x="815437" y="12492"/>
                  <a:pt x="1041465" y="110896"/>
                  <a:pt x="1062182" y="296333"/>
                </a:cubicBezTo>
                <a:cubicBezTo>
                  <a:pt x="1075449" y="482420"/>
                  <a:pt x="835636" y="595693"/>
                  <a:pt x="531091" y="592666"/>
                </a:cubicBezTo>
                <a:cubicBezTo>
                  <a:pt x="207623" y="613596"/>
                  <a:pt x="-19889" y="442097"/>
                  <a:pt x="0" y="296333"/>
                </a:cubicBezTo>
                <a:close/>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Oval 17">
            <a:extLst>
              <a:ext uri="{FF2B5EF4-FFF2-40B4-BE49-F238E27FC236}">
                <a16:creationId xmlns:a16="http://schemas.microsoft.com/office/drawing/2014/main" id="{F1B94677-CD84-1383-C609-6BCE2E13C11B}"/>
              </a:ext>
            </a:extLst>
          </p:cNvPr>
          <p:cNvSpPr>
            <a:spLocks noGrp="1"/>
          </p:cNvSpPr>
          <p:nvPr/>
        </p:nvSpPr>
        <p:spPr>
          <a:xfrm>
            <a:off x="3300460" y="3161914"/>
            <a:ext cx="754303" cy="469515"/>
          </a:xfrm>
          <a:custGeom>
            <a:avLst/>
            <a:gdLst>
              <a:gd name="csX0" fmla="*/ 0 w 754303"/>
              <a:gd name="csY0" fmla="*/ 234758 h 469515"/>
              <a:gd name="csX1" fmla="*/ 377152 w 754303"/>
              <a:gd name="csY1" fmla="*/ 0 h 469515"/>
              <a:gd name="csX2" fmla="*/ 754304 w 754303"/>
              <a:gd name="csY2" fmla="*/ 234758 h 469515"/>
              <a:gd name="csX3" fmla="*/ 377152 w 754303"/>
              <a:gd name="csY3" fmla="*/ 469516 h 469515"/>
              <a:gd name="csX4" fmla="*/ 0 w 754303"/>
              <a:gd name="csY4" fmla="*/ 234758 h 469515"/>
            </a:gdLst>
            <a:ahLst/>
            <a:cxnLst/>
            <a:rect l="l" t="t" r="r" b="b"/>
            <a:pathLst>
              <a:path w="754303" h="469515">
                <a:moveTo>
                  <a:pt x="0" y="234758"/>
                </a:moveTo>
                <a:cubicBezTo>
                  <a:pt x="-16189" y="54286"/>
                  <a:pt x="110711" y="5007"/>
                  <a:pt x="377152" y="0"/>
                </a:cubicBezTo>
                <a:cubicBezTo>
                  <a:pt x="575281" y="14162"/>
                  <a:pt x="734498" y="84286"/>
                  <a:pt x="754304" y="234758"/>
                </a:cubicBezTo>
                <a:cubicBezTo>
                  <a:pt x="778862" y="405924"/>
                  <a:pt x="620370" y="478929"/>
                  <a:pt x="377152" y="469516"/>
                </a:cubicBezTo>
                <a:cubicBezTo>
                  <a:pt x="154922" y="479188"/>
                  <a:pt x="-24728" y="342161"/>
                  <a:pt x="0" y="234758"/>
                </a:cubicBezTo>
                <a:close/>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8807FB0B-1F99-27E8-0C2A-383CEA095050}"/>
              </a:ext>
            </a:extLst>
          </p:cNvPr>
          <p:cNvSpPr>
            <a:spLocks noGrp="1"/>
          </p:cNvSpPr>
          <p:nvPr/>
        </p:nvSpPr>
        <p:spPr>
          <a:xfrm>
            <a:off x="3300460" y="4408824"/>
            <a:ext cx="1293090" cy="592666"/>
          </a:xfrm>
          <a:custGeom>
            <a:avLst/>
            <a:gdLst>
              <a:gd name="csX0" fmla="*/ 0 w 1293090"/>
              <a:gd name="csY0" fmla="*/ 296333 h 592666"/>
              <a:gd name="csX1" fmla="*/ 646545 w 1293090"/>
              <a:gd name="csY1" fmla="*/ 0 h 592666"/>
              <a:gd name="csX2" fmla="*/ 1293090 w 1293090"/>
              <a:gd name="csY2" fmla="*/ 296333 h 592666"/>
              <a:gd name="csX3" fmla="*/ 646545 w 1293090"/>
              <a:gd name="csY3" fmla="*/ 592666 h 592666"/>
              <a:gd name="csX4" fmla="*/ 0 w 1293090"/>
              <a:gd name="csY4" fmla="*/ 296333 h 592666"/>
            </a:gdLst>
            <a:ahLst/>
            <a:cxnLst/>
            <a:rect l="l" t="t" r="r" b="b"/>
            <a:pathLst>
              <a:path w="1293090" h="592666">
                <a:moveTo>
                  <a:pt x="0" y="296333"/>
                </a:moveTo>
                <a:cubicBezTo>
                  <a:pt x="-5973" y="113924"/>
                  <a:pt x="267849" y="1861"/>
                  <a:pt x="646545" y="0"/>
                </a:cubicBezTo>
                <a:cubicBezTo>
                  <a:pt x="994655" y="12492"/>
                  <a:pt x="1272373" y="110896"/>
                  <a:pt x="1293090" y="296333"/>
                </a:cubicBezTo>
                <a:cubicBezTo>
                  <a:pt x="1313348" y="494238"/>
                  <a:pt x="1011811" y="594873"/>
                  <a:pt x="646545" y="592666"/>
                </a:cubicBezTo>
                <a:cubicBezTo>
                  <a:pt x="259313" y="613596"/>
                  <a:pt x="-19889" y="442097"/>
                  <a:pt x="0" y="296333"/>
                </a:cubicBezTo>
                <a:close/>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287061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1D510-5029-A7C2-7889-4D93E186941C}"/>
              </a:ext>
            </a:extLst>
          </p:cNvPr>
          <p:cNvSpPr>
            <a:spLocks noGrp="1"/>
          </p:cNvSpPr>
          <p:nvPr>
            <p:ph type="title"/>
          </p:nvPr>
        </p:nvSpPr>
        <p:spPr/>
        <p:txBody>
          <a:bodyPr/>
          <a:lstStyle/>
          <a:p>
            <a:r>
              <a:t>Instruction tuning</a:t>
            </a:r>
          </a:p>
        </p:txBody>
      </p:sp>
      <p:sp>
        <p:nvSpPr>
          <p:cNvPr id="3" name="Content Placeholder 2">
            <a:extLst>
              <a:ext uri="{FF2B5EF4-FFF2-40B4-BE49-F238E27FC236}">
                <a16:creationId xmlns:a16="http://schemas.microsoft.com/office/drawing/2014/main" id="{5EC40B49-B1EB-192B-33AD-FB721B8728BF}"/>
              </a:ext>
            </a:extLst>
          </p:cNvPr>
          <p:cNvSpPr>
            <a:spLocks noGrp="1"/>
          </p:cNvSpPr>
          <p:nvPr>
            <p:ph idx="1"/>
          </p:nvPr>
        </p:nvSpPr>
        <p:spPr/>
        <p:txBody>
          <a:bodyPr vert="horz" lIns="91440" tIns="45720" rIns="91440" bIns="45720" anchor="t">
            <a:normAutofit/>
          </a:bodyPr>
          <a:lstStyle/>
          <a:p>
            <a:pPr marL="0" indent="0">
              <a:buNone/>
            </a:pPr>
            <a:r>
              <a:rPr dirty="0"/>
              <a:t>We can structure our data as a </a:t>
            </a:r>
            <a:r>
              <a:rPr dirty="0" err="1">
                <a:latin typeface="Consolas"/>
                <a:ea typeface="Consolas"/>
                <a:cs typeface="Consolas"/>
              </a:rPr>
              <a:t>jsonl</a:t>
            </a:r>
            <a:r>
              <a:rPr dirty="0">
                <a:latin typeface="Aptos"/>
                <a:ea typeface="Aptos"/>
                <a:cs typeface="Aptos"/>
              </a:rPr>
              <a:t> </a:t>
            </a:r>
            <a:r>
              <a:rPr dirty="0"/>
              <a:t>file</a:t>
            </a:r>
          </a:p>
          <a:p>
            <a:pPr marL="0" indent="0">
              <a:buNone/>
            </a:pPr>
            <a:endParaRPr dirty="0"/>
          </a:p>
          <a:p>
            <a:pPr marL="0" indent="0">
              <a:buNone/>
            </a:pPr>
            <a:r>
              <a:rPr sz="1800" dirty="0">
                <a:solidFill>
                  <a:srgbClr val="000000"/>
                </a:solidFill>
                <a:latin typeface="Consolas"/>
                <a:ea typeface="Consolas"/>
                <a:cs typeface="Consolas"/>
              </a:rPr>
              <a:t>{</a:t>
            </a:r>
          </a:p>
          <a:p>
            <a:pPr marL="0" indent="0">
              <a:buNone/>
            </a:pPr>
            <a:r>
              <a:rPr sz="1800" dirty="0">
                <a:solidFill>
                  <a:srgbClr val="000000"/>
                </a:solidFill>
                <a:latin typeface="Consolas"/>
                <a:ea typeface="Consolas"/>
                <a:cs typeface="Consolas"/>
              </a:rPr>
              <a:t>    "messages":</a:t>
            </a:r>
          </a:p>
          <a:p>
            <a:pPr marL="0" indent="0">
              <a:buNone/>
            </a:pPr>
            <a:r>
              <a:rPr sz="1800" dirty="0">
                <a:solidFill>
                  <a:srgbClr val="000000"/>
                </a:solidFill>
                <a:latin typeface="Consolas"/>
                <a:ea typeface="Consolas"/>
                <a:cs typeface="Consolas"/>
              </a:rPr>
              <a:t>        [</a:t>
            </a:r>
          </a:p>
          <a:p>
            <a:pPr marL="0" indent="0">
              <a:buNone/>
            </a:pPr>
            <a:r>
              <a:rPr sz="1800" dirty="0">
                <a:solidFill>
                  <a:srgbClr val="000000"/>
                </a:solidFill>
                <a:latin typeface="Consolas"/>
                <a:ea typeface="Consolas"/>
                <a:cs typeface="Consolas"/>
              </a:rPr>
              <a:t>            {"role": "system", "content": "You are an expert in baking."},</a:t>
            </a:r>
            <a:endParaRPr sz="1800" dirty="0">
              <a:latin typeface="Consolas"/>
              <a:ea typeface="Consolas"/>
              <a:cs typeface="Consolas"/>
            </a:endParaRPr>
          </a:p>
          <a:p>
            <a:pPr marL="0" indent="0">
              <a:buNone/>
            </a:pPr>
            <a:r>
              <a:rPr sz="1800" dirty="0">
                <a:solidFill>
                  <a:srgbClr val="000000"/>
                </a:solidFill>
                <a:latin typeface="Consolas"/>
                <a:ea typeface="Consolas"/>
                <a:cs typeface="Consolas"/>
              </a:rPr>
              <a:t>            {"role": "user", "content": "Provide me a recipe for macarons."},</a:t>
            </a:r>
          </a:p>
          <a:p>
            <a:pPr marL="1543050" indent="-1543050">
              <a:buNone/>
            </a:pPr>
            <a:r>
              <a:rPr sz="1800" dirty="0">
                <a:solidFill>
                  <a:srgbClr val="000000"/>
                </a:solidFill>
                <a:latin typeface="Consolas"/>
                <a:ea typeface="Consolas"/>
                <a:cs typeface="Consolas"/>
              </a:rPr>
              <a:t>            {"role": "assistant", "content": "Certainly! Here is a recipe for macarons. ..."}</a:t>
            </a:r>
          </a:p>
          <a:p>
            <a:pPr marL="0" indent="0">
              <a:buNone/>
            </a:pPr>
            <a:r>
              <a:rPr sz="1800" dirty="0">
                <a:solidFill>
                  <a:srgbClr val="000000"/>
                </a:solidFill>
                <a:latin typeface="Consolas"/>
                <a:ea typeface="Consolas"/>
                <a:cs typeface="Consolas"/>
              </a:rPr>
              <a:t>        ]</a:t>
            </a:r>
          </a:p>
          <a:p>
            <a:pPr marL="0" indent="0">
              <a:buNone/>
            </a:pPr>
            <a:r>
              <a:rPr sz="1800" dirty="0">
                <a:solidFill>
                  <a:srgbClr val="000000"/>
                </a:solidFill>
                <a:latin typeface="Consolas"/>
                <a:ea typeface="Consolas"/>
                <a:cs typeface="Consolas"/>
              </a:rPr>
              <a:t>}</a:t>
            </a:r>
            <a:endParaRPr sz="1800" dirty="0">
              <a:latin typeface="Consolas"/>
              <a:ea typeface="Consolas"/>
              <a:cs typeface="Consolas"/>
            </a:endParaRPr>
          </a:p>
        </p:txBody>
      </p:sp>
    </p:spTree>
    <p:extLst>
      <p:ext uri="{BB962C8B-B14F-4D97-AF65-F5344CB8AC3E}">
        <p14:creationId xmlns:p14="http://schemas.microsoft.com/office/powerpoint/2010/main" val="326570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ABFD0-07E4-B3F7-F1F1-CB37D83C94CB}"/>
              </a:ext>
            </a:extLst>
          </p:cNvPr>
          <p:cNvSpPr>
            <a:spLocks noGrp="1"/>
          </p:cNvSpPr>
          <p:nvPr>
            <p:ph type="title"/>
          </p:nvPr>
        </p:nvSpPr>
        <p:spPr/>
        <p:txBody>
          <a:bodyPr/>
          <a:lstStyle/>
          <a:p>
            <a:r>
              <a:t>Instruction tuning</a:t>
            </a:r>
          </a:p>
        </p:txBody>
      </p:sp>
      <p:sp>
        <p:nvSpPr>
          <p:cNvPr id="3" name="Content Placeholder 2">
            <a:extLst>
              <a:ext uri="{FF2B5EF4-FFF2-40B4-BE49-F238E27FC236}">
                <a16:creationId xmlns:a16="http://schemas.microsoft.com/office/drawing/2014/main" id="{4747CB60-43E9-83DB-A32C-EC72F3CAC32F}"/>
              </a:ext>
            </a:extLst>
          </p:cNvPr>
          <p:cNvSpPr>
            <a:spLocks noGrp="1"/>
          </p:cNvSpPr>
          <p:nvPr>
            <p:ph idx="1"/>
          </p:nvPr>
        </p:nvSpPr>
        <p:spPr/>
        <p:txBody>
          <a:bodyPr vert="horz" lIns="91440" tIns="45720" rIns="91440" bIns="45720" anchor="t">
            <a:normAutofit/>
          </a:bodyPr>
          <a:lstStyle/>
          <a:p>
            <a:pPr marL="0" indent="0">
              <a:lnSpc>
                <a:spcPct val="114999"/>
              </a:lnSpc>
              <a:spcBef>
                <a:spcPts val="0"/>
              </a:spcBef>
              <a:buNone/>
            </a:pPr>
            <a:r>
              <a:rPr sz="1700">
                <a:solidFill>
                  <a:srgbClr val="666666"/>
                </a:solidFill>
                <a:latin typeface="Source Code Pro"/>
                <a:ea typeface="Source Code Pro"/>
                <a:cs typeface="Source Code Pro"/>
              </a:rPr>
              <a:t>&lt;|begin_of_text|&gt;&lt;|start_header_id|&gt;</a:t>
            </a:r>
            <a:r>
              <a:rPr sz="1700">
                <a:solidFill>
                  <a:srgbClr val="0B7743"/>
                </a:solidFill>
                <a:latin typeface="Source Code Pro"/>
                <a:ea typeface="Source Code Pro"/>
                <a:cs typeface="Source Code Pro"/>
              </a:rPr>
              <a:t>system</a:t>
            </a:r>
            <a:r>
              <a:rPr sz="1700">
                <a:solidFill>
                  <a:srgbClr val="666666"/>
                </a:solidFill>
                <a:latin typeface="Source Code Pro"/>
                <a:ea typeface="Source Code Pro"/>
                <a:cs typeface="Source Code Pro"/>
              </a:rPr>
              <a:t>&lt;|end_header_id|&gt;</a:t>
            </a:r>
            <a:endParaRPr sz="1700">
              <a:latin typeface="Source Code Pro"/>
              <a:ea typeface="Source Code Pro"/>
              <a:cs typeface="Source Code Pro"/>
            </a:endParaRPr>
          </a:p>
          <a:p>
            <a:pPr marL="0" indent="0">
              <a:lnSpc>
                <a:spcPct val="114999"/>
              </a:lnSpc>
              <a:spcBef>
                <a:spcPts val="1200"/>
              </a:spcBef>
              <a:buNone/>
            </a:pPr>
            <a:r>
              <a:rPr sz="1700">
                <a:solidFill>
                  <a:srgbClr val="9325A5"/>
                </a:solidFill>
                <a:latin typeface="Source Code Pro"/>
                <a:ea typeface="Source Code Pro"/>
                <a:cs typeface="Source Code Pro"/>
              </a:rPr>
              <a:t>You are an expert in baking.</a:t>
            </a:r>
            <a:r>
              <a:rPr sz="1700">
                <a:solidFill>
                  <a:srgbClr val="666666"/>
                </a:solidFill>
                <a:latin typeface="Source Code Pro"/>
                <a:ea typeface="Source Code Pro"/>
                <a:cs typeface="Source Code Pro"/>
              </a:rPr>
              <a:t>&lt;|eot_id|&gt;</a:t>
            </a:r>
            <a:endParaRPr sz="1700">
              <a:latin typeface="Source Code Pro"/>
              <a:ea typeface="Source Code Pro"/>
              <a:cs typeface="Source Code Pro"/>
            </a:endParaRPr>
          </a:p>
          <a:p>
            <a:pPr marL="0" indent="0">
              <a:lnSpc>
                <a:spcPct val="114999"/>
              </a:lnSpc>
              <a:spcBef>
                <a:spcPts val="1200"/>
              </a:spcBef>
              <a:buNone/>
            </a:pPr>
            <a:endParaRPr sz="1700">
              <a:latin typeface="Source Code Pro"/>
              <a:ea typeface="Source Code Pro"/>
              <a:cs typeface="Source Code Pro"/>
            </a:endParaRPr>
          </a:p>
          <a:p>
            <a:pPr marL="0" indent="0">
              <a:lnSpc>
                <a:spcPct val="114999"/>
              </a:lnSpc>
              <a:spcBef>
                <a:spcPts val="1200"/>
              </a:spcBef>
              <a:buNone/>
            </a:pPr>
            <a:r>
              <a:rPr sz="1700">
                <a:solidFill>
                  <a:srgbClr val="666666"/>
                </a:solidFill>
                <a:latin typeface="Source Code Pro"/>
                <a:ea typeface="Source Code Pro"/>
                <a:cs typeface="Source Code Pro"/>
              </a:rPr>
              <a:t>&lt;|start_header_id|&gt;</a:t>
            </a:r>
            <a:r>
              <a:rPr sz="1700">
                <a:solidFill>
                  <a:srgbClr val="0B7743"/>
                </a:solidFill>
                <a:latin typeface="Source Code Pro"/>
                <a:ea typeface="Source Code Pro"/>
                <a:cs typeface="Source Code Pro"/>
              </a:rPr>
              <a:t>user</a:t>
            </a:r>
            <a:r>
              <a:rPr sz="1700">
                <a:solidFill>
                  <a:srgbClr val="666666"/>
                </a:solidFill>
                <a:latin typeface="Source Code Pro"/>
                <a:ea typeface="Source Code Pro"/>
                <a:cs typeface="Source Code Pro"/>
              </a:rPr>
              <a:t>&lt;|end_header_id|&gt;</a:t>
            </a:r>
            <a:endParaRPr sz="1700">
              <a:latin typeface="Source Code Pro"/>
              <a:ea typeface="Source Code Pro"/>
              <a:cs typeface="Source Code Pro"/>
            </a:endParaRPr>
          </a:p>
          <a:p>
            <a:pPr marL="0" indent="0">
              <a:lnSpc>
                <a:spcPct val="114999"/>
              </a:lnSpc>
              <a:spcBef>
                <a:spcPts val="1200"/>
              </a:spcBef>
              <a:buNone/>
            </a:pPr>
            <a:r>
              <a:rPr sz="1700">
                <a:solidFill>
                  <a:srgbClr val="9325A5"/>
                </a:solidFill>
                <a:latin typeface="Source Code Pro"/>
                <a:ea typeface="Source Code Pro"/>
                <a:cs typeface="Source Code Pro"/>
              </a:rPr>
              <a:t>Provide me a recipe for macarons.</a:t>
            </a:r>
            <a:r>
              <a:rPr sz="1700">
                <a:solidFill>
                  <a:srgbClr val="666666"/>
                </a:solidFill>
                <a:latin typeface="Source Code Pro"/>
                <a:ea typeface="Source Code Pro"/>
                <a:cs typeface="Source Code Pro"/>
              </a:rPr>
              <a:t>&lt;|eot_id|&gt;</a:t>
            </a:r>
            <a:endParaRPr sz="1700">
              <a:latin typeface="Source Code Pro"/>
              <a:ea typeface="Source Code Pro"/>
              <a:cs typeface="Source Code Pro"/>
            </a:endParaRPr>
          </a:p>
          <a:p>
            <a:pPr marL="0" indent="0">
              <a:lnSpc>
                <a:spcPct val="114999"/>
              </a:lnSpc>
              <a:spcBef>
                <a:spcPts val="1200"/>
              </a:spcBef>
              <a:buNone/>
            </a:pPr>
            <a:endParaRPr sz="1700">
              <a:latin typeface="Source Code Pro"/>
              <a:ea typeface="Source Code Pro"/>
              <a:cs typeface="Source Code Pro"/>
            </a:endParaRPr>
          </a:p>
          <a:p>
            <a:pPr marL="0" indent="0">
              <a:lnSpc>
                <a:spcPct val="114999"/>
              </a:lnSpc>
              <a:spcBef>
                <a:spcPts val="1200"/>
              </a:spcBef>
              <a:buNone/>
            </a:pPr>
            <a:r>
              <a:rPr sz="1700">
                <a:solidFill>
                  <a:srgbClr val="666666"/>
                </a:solidFill>
                <a:latin typeface="Source Code Pro"/>
                <a:ea typeface="Source Code Pro"/>
                <a:cs typeface="Source Code Pro"/>
              </a:rPr>
              <a:t>&lt;|start_header_id|&gt;</a:t>
            </a:r>
            <a:r>
              <a:rPr sz="1700">
                <a:solidFill>
                  <a:srgbClr val="0B7743"/>
                </a:solidFill>
                <a:latin typeface="Source Code Pro"/>
                <a:ea typeface="Source Code Pro"/>
                <a:cs typeface="Source Code Pro"/>
              </a:rPr>
              <a:t>assistant</a:t>
            </a:r>
            <a:r>
              <a:rPr sz="1700">
                <a:solidFill>
                  <a:srgbClr val="666666"/>
                </a:solidFill>
                <a:latin typeface="Source Code Pro"/>
                <a:ea typeface="Source Code Pro"/>
                <a:cs typeface="Source Code Pro"/>
              </a:rPr>
              <a:t>&lt;|end_header_id|&gt;</a:t>
            </a:r>
          </a:p>
          <a:p>
            <a:pPr marL="0" indent="0">
              <a:lnSpc>
                <a:spcPct val="114999"/>
              </a:lnSpc>
              <a:spcBef>
                <a:spcPts val="1200"/>
              </a:spcBef>
              <a:buNone/>
            </a:pPr>
            <a:endParaRPr sz="1700">
              <a:solidFill>
                <a:srgbClr val="666666"/>
              </a:solidFill>
              <a:latin typeface="Source Code Pro"/>
              <a:ea typeface="Source Code Pro"/>
              <a:cs typeface="Source Code Pro"/>
            </a:endParaRPr>
          </a:p>
          <a:p>
            <a:pPr marL="0" indent="0">
              <a:lnSpc>
                <a:spcPct val="114999"/>
              </a:lnSpc>
              <a:spcBef>
                <a:spcPts val="1200"/>
              </a:spcBef>
              <a:buNone/>
            </a:pPr>
            <a:r>
              <a:rPr sz="1700">
                <a:solidFill>
                  <a:srgbClr val="666666"/>
                </a:solidFill>
                <a:latin typeface="Source Code Pro"/>
                <a:ea typeface="Source Code Pro"/>
                <a:cs typeface="Source Code Pro"/>
              </a:rPr>
              <a:t>START GENERATING...until we hit &lt;|eot_id|&gt;</a:t>
            </a:r>
            <a:endParaRPr/>
          </a:p>
        </p:txBody>
      </p:sp>
      <p:sp>
        <p:nvSpPr>
          <p:cNvPr id="4" name="Rectangle 3">
            <a:extLst>
              <a:ext uri="{FF2B5EF4-FFF2-40B4-BE49-F238E27FC236}">
                <a16:creationId xmlns:a16="http://schemas.microsoft.com/office/drawing/2014/main" id="{A27B83CE-0B90-B191-1D1E-42EDFB477CB1}"/>
              </a:ext>
            </a:extLst>
          </p:cNvPr>
          <p:cNvSpPr>
            <a:spLocks noGrp="1"/>
          </p:cNvSpPr>
          <p:nvPr/>
        </p:nvSpPr>
        <p:spPr>
          <a:xfrm>
            <a:off x="838969" y="1693333"/>
            <a:ext cx="8328121" cy="3463636"/>
          </a:xfrm>
          <a:prstGeom prst="rect">
            <a:avLst/>
          </a:prstGeom>
          <a:noFill/>
          <a:ln w="5715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94330A41-D83E-514C-328D-9FDA44208459}"/>
              </a:ext>
            </a:extLst>
          </p:cNvPr>
          <p:cNvSpPr>
            <a:spLocks noGrp="1"/>
          </p:cNvSpPr>
          <p:nvPr/>
        </p:nvSpPr>
        <p:spPr>
          <a:xfrm>
            <a:off x="838969" y="5156969"/>
            <a:ext cx="8328121" cy="885152"/>
          </a:xfrm>
          <a:prstGeom prst="rect">
            <a:avLst/>
          </a:prstGeom>
          <a:noFill/>
          <a:ln w="5715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1694644-5CF9-5C0A-18B5-140F5E129B43}"/>
              </a:ext>
            </a:extLst>
          </p:cNvPr>
          <p:cNvSpPr>
            <a:spLocks noGrp="1"/>
          </p:cNvSpPr>
          <p:nvPr/>
        </p:nvSpPr>
        <p:spPr>
          <a:xfrm>
            <a:off x="9407071" y="3246664"/>
            <a:ext cx="1945821" cy="369332"/>
          </a:xfrm>
          <a:prstGeom prst="rect">
            <a:avLst/>
          </a:prstGeom>
          <a:noFill/>
        </p:spPr>
        <p:txBody>
          <a:bodyPr rot="0" spcFirstLastPara="0" vert="horz" wrap="square" lIns="91440" tIns="45720" rIns="91440" bIns="45720" anchor="t">
            <a:spAutoFit/>
          </a:bodyPr>
          <a:lstStyle/>
          <a:p>
            <a:pPr algn="l">
              <a:buNone/>
            </a:pPr>
            <a:r>
              <a:t>input</a:t>
            </a:r>
          </a:p>
        </p:txBody>
      </p:sp>
      <p:sp>
        <p:nvSpPr>
          <p:cNvPr id="7" name="TextBox 6">
            <a:extLst>
              <a:ext uri="{FF2B5EF4-FFF2-40B4-BE49-F238E27FC236}">
                <a16:creationId xmlns:a16="http://schemas.microsoft.com/office/drawing/2014/main" id="{63AFFDD9-C3A7-21A1-CAFA-2F2B99503423}"/>
              </a:ext>
            </a:extLst>
          </p:cNvPr>
          <p:cNvSpPr>
            <a:spLocks noGrp="1"/>
          </p:cNvSpPr>
          <p:nvPr/>
        </p:nvSpPr>
        <p:spPr>
          <a:xfrm>
            <a:off x="9407070" y="5418364"/>
            <a:ext cx="1945821" cy="369332"/>
          </a:xfrm>
          <a:prstGeom prst="rect">
            <a:avLst/>
          </a:prstGeom>
          <a:noFill/>
        </p:spPr>
        <p:txBody>
          <a:bodyPr rot="0" spcFirstLastPara="0" vert="horz" wrap="square" lIns="91440" tIns="45720" rIns="91440" bIns="45720" anchor="t">
            <a:spAutoFit/>
          </a:bodyPr>
          <a:lstStyle/>
          <a:p>
            <a:pPr algn="l">
              <a:buNone/>
            </a:pPr>
            <a:r>
              <a:t>generation</a:t>
            </a:r>
          </a:p>
        </p:txBody>
      </p:sp>
    </p:spTree>
    <p:extLst>
      <p:ext uri="{BB962C8B-B14F-4D97-AF65-F5344CB8AC3E}">
        <p14:creationId xmlns:p14="http://schemas.microsoft.com/office/powerpoint/2010/main" val="1092932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D401E-6F1D-0D28-B8FE-81EA85AE3C32}"/>
              </a:ext>
            </a:extLst>
          </p:cNvPr>
          <p:cNvSpPr>
            <a:spLocks noGrp="1"/>
          </p:cNvSpPr>
          <p:nvPr>
            <p:ph type="title"/>
          </p:nvPr>
        </p:nvSpPr>
        <p:spPr/>
        <p:txBody>
          <a:bodyPr/>
          <a:lstStyle/>
          <a:p>
            <a:r>
              <a:rPr lang="en-GB" dirty="0">
                <a:latin typeface="CMU Serif Roman" panose="02000603000000000000" pitchFamily="2" charset="0"/>
                <a:ea typeface="CMU Serif Roman" panose="02000603000000000000" pitchFamily="2" charset="0"/>
                <a:cs typeface="CMU Serif Roman" panose="02000603000000000000" pitchFamily="2" charset="0"/>
              </a:rPr>
              <a:t>Instruction tuning</a:t>
            </a:r>
          </a:p>
        </p:txBody>
      </p:sp>
      <p:sp>
        <p:nvSpPr>
          <p:cNvPr id="3" name="Content Placeholder 2">
            <a:extLst>
              <a:ext uri="{FF2B5EF4-FFF2-40B4-BE49-F238E27FC236}">
                <a16:creationId xmlns:a16="http://schemas.microsoft.com/office/drawing/2014/main" id="{978C781F-9E2A-F6E6-5D38-F834036A377E}"/>
              </a:ext>
            </a:extLst>
          </p:cNvPr>
          <p:cNvSpPr>
            <a:spLocks noGrp="1"/>
          </p:cNvSpPr>
          <p:nvPr>
            <p:ph idx="1"/>
          </p:nvPr>
        </p:nvSpPr>
        <p:spPr>
          <a:xfrm>
            <a:off x="838200" y="1690688"/>
            <a:ext cx="10515600" cy="4351338"/>
          </a:xfrm>
        </p:spPr>
        <p:txBody>
          <a:bodyPr vert="horz" lIns="91440" tIns="45720" rIns="91440" bIns="45720" rtlCol="0" anchor="t">
            <a:normAutofit/>
          </a:bodyPr>
          <a:lstStyle/>
          <a:p>
            <a:pPr marL="0" indent="0">
              <a:buNone/>
            </a:pPr>
            <a:r>
              <a:rPr lang="en-GB" dirty="0">
                <a:latin typeface="CMU Serif Roman" panose="02000603000000000000" pitchFamily="2" charset="0"/>
                <a:ea typeface="CMU Serif Roman" panose="02000603000000000000" pitchFamily="2" charset="0"/>
                <a:cs typeface="CMU Serif Roman" panose="02000603000000000000" pitchFamily="2" charset="0"/>
              </a:rPr>
              <a:t>Still next token generation</a:t>
            </a:r>
          </a:p>
          <a:p>
            <a:pPr marL="0" indent="0">
              <a:buNone/>
            </a:pPr>
            <a:endParaRPr lang="en-GB"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r>
              <a:rPr lang="en-GB" dirty="0">
                <a:latin typeface="CMU Serif Roman" panose="02000603000000000000" pitchFamily="2" charset="0"/>
                <a:ea typeface="CMU Serif Roman" panose="02000603000000000000" pitchFamily="2" charset="0"/>
                <a:cs typeface="CMU Serif Roman" panose="02000603000000000000" pitchFamily="2" charset="0"/>
              </a:rPr>
              <a:t>This "template" is very important</a:t>
            </a:r>
          </a:p>
          <a:p>
            <a:pPr marL="0" indent="0">
              <a:buNone/>
            </a:pPr>
            <a:endParaRPr lang="en-GB"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r>
              <a:rPr lang="en-GB" dirty="0">
                <a:latin typeface="CMU Serif Roman" panose="02000603000000000000" pitchFamily="2" charset="0"/>
                <a:ea typeface="CMU Serif Roman" panose="02000603000000000000" pitchFamily="2" charset="0"/>
                <a:cs typeface="CMU Serif Roman" panose="02000603000000000000" pitchFamily="2" charset="0"/>
              </a:rPr>
              <a:t>Deviate from the template during inference, and you'll get poor results</a:t>
            </a:r>
          </a:p>
          <a:p>
            <a:pPr marL="0" indent="0">
              <a:buNone/>
            </a:pPr>
            <a:endParaRPr lang="en-GB"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r>
              <a:rPr lang="en-GB" dirty="0">
                <a:latin typeface="CMU Serif Roman" panose="02000603000000000000" pitchFamily="2" charset="0"/>
                <a:ea typeface="CMU Serif Roman" panose="02000603000000000000" pitchFamily="2" charset="0"/>
                <a:cs typeface="CMU Serif Roman" panose="02000603000000000000" pitchFamily="2" charset="0"/>
              </a:rPr>
              <a:t>The pattern is also important (system, user, assistant, user, assistant, …)</a:t>
            </a:r>
          </a:p>
        </p:txBody>
      </p:sp>
    </p:spTree>
    <p:extLst>
      <p:ext uri="{BB962C8B-B14F-4D97-AF65-F5344CB8AC3E}">
        <p14:creationId xmlns:p14="http://schemas.microsoft.com/office/powerpoint/2010/main" val="3487346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B9B373A-A19F-8C6E-E71F-3EDF339CF25A}"/>
              </a:ext>
            </a:extLst>
          </p:cNvPr>
          <p:cNvSpPr>
            <a:spLocks noGrp="1"/>
          </p:cNvSpPr>
          <p:nvPr>
            <p:ph type="title"/>
          </p:nvPr>
        </p:nvSpPr>
        <p:spPr>
          <a:xfrm>
            <a:off x="838200" y="365125"/>
            <a:ext cx="10515600" cy="1325563"/>
          </a:xfrm>
        </p:spPr>
        <p:txBody>
          <a:bodyPr/>
          <a:lstStyle/>
          <a:p>
            <a:r>
              <a:rPr>
                <a:latin typeface="CMU Serif Roman"/>
                <a:ea typeface="CMU Serif Roman"/>
                <a:cs typeface="CMU Serif Roman"/>
              </a:rPr>
              <a:t>Full fine-tuning (FFT)</a:t>
            </a:r>
          </a:p>
        </p:txBody>
      </p:sp>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C25EE3FF-F722-E7C0-AA0B-D8956DAFE61E}"/>
                  </a:ext>
                </a:extLst>
              </p:cNvPr>
              <p:cNvSpPr>
                <a:spLocks noGrp="1"/>
              </p:cNvSpPr>
              <p:nvPr>
                <p:ph idx="1"/>
              </p:nvPr>
            </p:nvSpPr>
            <p:spPr>
              <a:xfrm>
                <a:off x="838200" y="1690688"/>
                <a:ext cx="10515600" cy="5032375"/>
              </a:xfrm>
            </p:spPr>
            <p:txBody>
              <a:bodyPr>
                <a:normAutofit/>
              </a:bodyPr>
              <a:lstStyle/>
              <a:p>
                <a:pPr marL="0" indent="0">
                  <a:buNone/>
                </a:pPr>
                <a:r>
                  <a:rPr>
                    <a:latin typeface="CMU Serif Roman"/>
                    <a:ea typeface="CMU Serif Roman"/>
                    <a:cs typeface="CMU Serif Roman"/>
                  </a:rPr>
                  <a:t>Checking the till…</a:t>
                </a:r>
              </a:p>
              <a:p>
                <a:pPr marL="0" indent="0">
                  <a:buNone/>
                </a:pPr>
                <a:endParaRPr>
                  <a:latin typeface="CMU Serif Roman"/>
                  <a:ea typeface="CMU Serif Roman"/>
                  <a:cs typeface="CMU Serif Roman"/>
                </a:endParaRPr>
              </a:p>
              <a:p>
                <a:r>
                  <a:rPr>
                    <a:latin typeface="CMU Serif Roman"/>
                    <a:ea typeface="CMU Serif Roman"/>
                    <a:cs typeface="CMU Serif Roman"/>
                  </a:rPr>
                  <a:t>When we update the base model weights we need, per parameter:</a:t>
                </a:r>
              </a:p>
              <a:p>
                <a:pPr lvl="1">
                  <a:buNone/>
                </a:pPr>
                <a:r>
                  <a:rPr>
                    <a:latin typeface="CMU Serif Roman"/>
                    <a:ea typeface="CMU Serif Roman"/>
                    <a:cs typeface="CMU Serif Roman"/>
                  </a:rPr>
                  <a:t>Weights, gradients, first and second moments of Adam optimiser state</a:t>
                </a:r>
              </a:p>
              <a:p>
                <a:pPr lvl="1">
                  <a:buNone/>
                </a:pPr>
                <a:r>
                  <a:rPr>
                    <a:latin typeface="CMU Serif Roman"/>
                    <a:ea typeface="CMU Serif Roman"/>
                    <a:cs typeface="CMU Serif Roman"/>
                  </a:rPr>
                  <a:t>So, roughly 8 copies of the model</a:t>
                </a:r>
              </a:p>
              <a:p>
                <a:r>
                  <a:rPr i="1">
                    <a:latin typeface="CMU SERIF ROMAN"/>
                    <a:ea typeface="CMU SERIF ROMAN"/>
                    <a:cs typeface="CMU SERIF ROMAN"/>
                  </a:rPr>
                  <a:t>Llama 3.1 70B</a:t>
                </a:r>
              </a:p>
              <a:p>
                <a:pPr lvl="1">
                  <a:buNone/>
                </a:pPr>
                <a:r>
                  <a:rPr b="0">
                    <a:latin typeface="CMU Serif Roman"/>
                    <a:ea typeface="CMU Serif Roman"/>
                    <a:cs typeface="CMU Serif Roman"/>
                  </a:rPr>
                  <a:t>For bf16 / fp16</a:t>
                </a:r>
                <a:r>
                  <a:rPr>
                    <a:latin typeface="CMU Serif Roman"/>
                    <a:ea typeface="CMU Serif Roman"/>
                    <a:cs typeface="CMU Serif Roman"/>
                  </a:rPr>
                  <a:t>, that’s </a:t>
                </a:r>
                <a14:m>
                  <m:oMath xmlns:m="http://schemas.openxmlformats.org/officeDocument/2006/math">
                    <m:r>
                      <a:rPr lang="en-GB" i="1">
                        <a:latin typeface="Cambria Math"/>
                        <a:ea typeface="Cambria Math"/>
                        <a:cs typeface="Cambria Math"/>
                      </a:rPr>
                      <m:t>8</m:t>
                    </m:r>
                    <m:r>
                      <a:rPr lang="en-GB" b="0" i="1">
                        <a:latin typeface="Cambria Math"/>
                        <a:ea typeface="Cambria Math"/>
                        <a:cs typeface="Cambria Math"/>
                      </a:rPr>
                      <m:t>×2=16</m:t>
                    </m:r>
                  </m:oMath>
                </a14:m>
                <a:r>
                  <a:rPr b="0">
                    <a:latin typeface="CMU Serif Roman"/>
                    <a:ea typeface="CMU Serif Roman"/>
                    <a:cs typeface="CMU Serif Roman"/>
                  </a:rPr>
                  <a:t> bytes per parameter.</a:t>
                </a:r>
              </a:p>
              <a:p>
                <a:pPr lvl="1">
                  <a:buNone/>
                </a:pPr>
                <a:r>
                  <a:rPr>
                    <a:latin typeface="CMU Serif Roman"/>
                    <a:ea typeface="CMU Serif Roman"/>
                    <a:cs typeface="CMU Serif Roman"/>
                  </a:rPr>
                  <a:t>~1000GB total!</a:t>
                </a:r>
              </a:p>
              <a:p>
                <a:r>
                  <a:rPr b="0">
                    <a:latin typeface="CMU Serif Roman"/>
                    <a:ea typeface="CMU Serif Roman"/>
                    <a:cs typeface="CMU Serif Roman"/>
                  </a:rPr>
                  <a:t>Or 14 NVIDIA H100s…</a:t>
                </a:r>
              </a:p>
              <a:p>
                <a:pPr lvl="1">
                  <a:buNone/>
                </a:pPr>
                <a:endParaRPr b="0">
                  <a:latin typeface="CMU Serif Roman"/>
                  <a:ea typeface="CMU Serif Roman"/>
                  <a:cs typeface="CMU Serif Roman"/>
                </a:endParaRPr>
              </a:p>
            </p:txBody>
          </p:sp>
        </mc:Choice>
        <mc:Fallback>
          <p:sp>
            <p:nvSpPr>
              <p:cNvPr id="5" name="Content Placeholder 2">
                <a:extLst>
                  <a:ext uri="{FF2B5EF4-FFF2-40B4-BE49-F238E27FC236}">
                    <a16:creationId xmlns:a16="http://schemas.microsoft.com/office/drawing/2014/main" id="{C25EE3FF-F722-E7C0-AA0B-D8956DAFE61E}"/>
                  </a:ext>
                </a:extLst>
              </p:cNvPr>
              <p:cNvSpPr>
                <a:spLocks noGrp="1" noRot="1" noChangeAspect="1" noMove="1" noResize="1" noEditPoints="1" noAdjustHandles="1" noChangeArrowheads="1" noChangeShapeType="1" noTextEdit="1"/>
              </p:cNvSpPr>
              <p:nvPr>
                <p:ph idx="1"/>
              </p:nvPr>
            </p:nvSpPr>
            <p:spPr>
              <a:xfrm>
                <a:off x="838200" y="1690688"/>
                <a:ext cx="10515600" cy="5032375"/>
              </a:xfrm>
              <a:blipFill>
                <a:blip r:embed="rId3"/>
                <a:stretch>
                  <a:fillRect l="-1206" t="-2010"/>
                </a:stretch>
              </a:blipFill>
            </p:spPr>
            <p:txBody>
              <a:bodyPr/>
              <a:lstStyle/>
              <a:p>
                <a:r>
                  <a:rPr lang="en-US">
                    <a:noFill/>
                  </a:rPr>
                  <a:t> </a:t>
                </a:r>
              </a:p>
            </p:txBody>
          </p:sp>
        </mc:Fallback>
      </mc:AlternateContent>
      <p:pic>
        <p:nvPicPr>
          <p:cNvPr id="9" name="Picture 5"/>
          <p:cNvPicPr>
            <a:picLocks noChangeAspect="1"/>
          </p:cNvPicPr>
          <p:nvPr/>
        </p:nvPicPr>
        <p:blipFill>
          <a:blip r:embed="rId4"/>
          <a:stretch>
            <a:fillRect/>
          </a:stretch>
        </p:blipFill>
        <p:spPr>
          <a:xfrm>
            <a:off x="3429095" y="4027212"/>
            <a:ext cx="638802" cy="359326"/>
          </a:xfrm>
          <a:prstGeom prst="rect">
            <a:avLst/>
          </a:prstGeom>
        </p:spPr>
      </p:pic>
    </p:spTree>
    <p:extLst>
      <p:ext uri="{BB962C8B-B14F-4D97-AF65-F5344CB8AC3E}">
        <p14:creationId xmlns:p14="http://schemas.microsoft.com/office/powerpoint/2010/main" val="722519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791D2-2172-645B-3B3F-D3FF0FE3FF7D}"/>
              </a:ext>
            </a:extLst>
          </p:cNvPr>
          <p:cNvSpPr>
            <a:spLocks noGrp="1"/>
          </p:cNvSpPr>
          <p:nvPr>
            <p:ph type="title"/>
          </p:nvPr>
        </p:nvSpPr>
        <p:spPr/>
        <p:txBody>
          <a:bodyPr/>
          <a:lstStyle/>
          <a:p>
            <a:r>
              <a:rPr>
                <a:latin typeface="CMU Serif Roman"/>
                <a:ea typeface="CMU Serif Roman"/>
                <a:cs typeface="CMU Serif Roman"/>
              </a:rPr>
              <a:t>Low Rank Adaptation (LoRA)</a:t>
            </a:r>
            <a:endParaRPr/>
          </a:p>
        </p:txBody>
      </p:sp>
      <p:sp>
        <p:nvSpPr>
          <p:cNvPr id="3" name="Content Placeholder 2">
            <a:extLst>
              <a:ext uri="{FF2B5EF4-FFF2-40B4-BE49-F238E27FC236}">
                <a16:creationId xmlns:a16="http://schemas.microsoft.com/office/drawing/2014/main" id="{C49A156B-DF8B-388F-A4F8-3CE7B23C290E}"/>
              </a:ext>
            </a:extLst>
          </p:cNvPr>
          <p:cNvSpPr>
            <a:spLocks noGrp="1"/>
          </p:cNvSpPr>
          <p:nvPr>
            <p:ph idx="1"/>
          </p:nvPr>
        </p:nvSpPr>
        <p:spPr/>
        <p:txBody>
          <a:bodyPr vert="horz" lIns="91440" tIns="45720" rIns="91440" bIns="45720" anchor="t">
            <a:normAutofit/>
          </a:bodyPr>
          <a:lstStyle/>
          <a:p>
            <a:pPr marL="0" indent="0">
              <a:buNone/>
            </a:pPr>
            <a:r>
              <a:t>Fine tuning all parameters in a model is problematic:</a:t>
            </a:r>
          </a:p>
          <a:p>
            <a:pPr marL="457200" indent="-457200">
              <a:buNone/>
            </a:pPr>
            <a:r>
              <a:t>Expensive (in GPU-hours)</a:t>
            </a:r>
          </a:p>
          <a:p>
            <a:pPr marL="457200" indent="-457200">
              <a:buNone/>
            </a:pPr>
            <a:r>
              <a:t>High risk of catastrophic forgetting</a:t>
            </a:r>
          </a:p>
        </p:txBody>
      </p:sp>
      <p:pic>
        <p:nvPicPr>
          <p:cNvPr id="7" name="Picture 3"/>
          <p:cNvPicPr>
            <a:picLocks noChangeAspect="1"/>
          </p:cNvPicPr>
          <p:nvPr/>
        </p:nvPicPr>
        <p:blipFill>
          <a:blip r:embed="rId3"/>
          <a:stretch>
            <a:fillRect/>
          </a:stretch>
        </p:blipFill>
        <p:spPr>
          <a:xfrm>
            <a:off x="3050042" y="3431721"/>
            <a:ext cx="5180240" cy="3151415"/>
          </a:xfrm>
          <a:prstGeom prst="rect">
            <a:avLst/>
          </a:prstGeom>
        </p:spPr>
      </p:pic>
    </p:spTree>
    <p:extLst>
      <p:ext uri="{BB962C8B-B14F-4D97-AF65-F5344CB8AC3E}">
        <p14:creationId xmlns:p14="http://schemas.microsoft.com/office/powerpoint/2010/main" val="332597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B4D38-EAF7-A293-0BB3-29E34C1C1C17}"/>
              </a:ext>
            </a:extLst>
          </p:cNvPr>
          <p:cNvSpPr>
            <a:spLocks noGrp="1"/>
          </p:cNvSpPr>
          <p:nvPr>
            <p:ph type="title"/>
          </p:nvPr>
        </p:nvSpPr>
        <p:spPr/>
        <p:txBody>
          <a:bodyPr/>
          <a:lstStyle/>
          <a:p>
            <a:r>
              <a:t>LoRA</a:t>
            </a:r>
          </a:p>
        </p:txBody>
      </p:sp>
      <p:sp>
        <p:nvSpPr>
          <p:cNvPr id="3" name="Content Placeholder 2">
            <a:extLst>
              <a:ext uri="{FF2B5EF4-FFF2-40B4-BE49-F238E27FC236}">
                <a16:creationId xmlns:a16="http://schemas.microsoft.com/office/drawing/2014/main" id="{9D6986FD-B8C0-C8BC-6AA7-602FF540D331}"/>
              </a:ext>
            </a:extLst>
          </p:cNvPr>
          <p:cNvSpPr>
            <a:spLocks noGrp="1"/>
          </p:cNvSpPr>
          <p:nvPr>
            <p:ph idx="1"/>
          </p:nvPr>
        </p:nvSpPr>
        <p:spPr/>
        <p:txBody>
          <a:bodyPr vert="horz" lIns="91440" tIns="45720" rIns="91440" bIns="45720" anchor="t">
            <a:normAutofit/>
          </a:bodyPr>
          <a:lstStyle/>
          <a:p>
            <a:pPr marL="0" indent="0">
              <a:buNone/>
            </a:pPr>
            <a:r>
              <a:t>The knowledge in a model is not stored in isolated locations, but is distributed across the weights</a:t>
            </a:r>
          </a:p>
          <a:p>
            <a:pPr marL="0" indent="0">
              <a:buNone/>
            </a:pPr>
            <a:endParaRPr/>
          </a:p>
          <a:p>
            <a:pPr marL="0" indent="0">
              <a:buNone/>
            </a:pPr>
            <a:r>
              <a:t>When we teach it a new task, it adjusts the weights to minimize error on that task</a:t>
            </a:r>
          </a:p>
          <a:p>
            <a:pPr marL="0" indent="0">
              <a:buNone/>
            </a:pPr>
            <a:endParaRPr/>
          </a:p>
          <a:p>
            <a:pPr marL="0" indent="0">
              <a:buNone/>
            </a:pPr>
            <a:r>
              <a:t>This adjustment will inevitably lead to knowledge loss...</a:t>
            </a:r>
          </a:p>
          <a:p>
            <a:pPr marL="0" indent="0">
              <a:buNone/>
            </a:pPr>
            <a:endParaRPr/>
          </a:p>
          <a:p>
            <a:pPr marL="0" indent="0">
              <a:buNone/>
            </a:pPr>
            <a:r>
              <a:t>...if the adjustments are large...</a:t>
            </a:r>
          </a:p>
        </p:txBody>
      </p:sp>
    </p:spTree>
    <p:extLst>
      <p:ext uri="{BB962C8B-B14F-4D97-AF65-F5344CB8AC3E}">
        <p14:creationId xmlns:p14="http://schemas.microsoft.com/office/powerpoint/2010/main" val="4131536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0F3C5-2C2F-4371-3FD2-0C2039966C32}"/>
              </a:ext>
            </a:extLst>
          </p:cNvPr>
          <p:cNvSpPr>
            <a:spLocks noGrp="1"/>
          </p:cNvSpPr>
          <p:nvPr>
            <p:ph type="title"/>
          </p:nvPr>
        </p:nvSpPr>
        <p:spPr/>
        <p:txBody>
          <a:bodyPr/>
          <a:lstStyle/>
          <a:p>
            <a:r>
              <a:t>LoRA</a:t>
            </a:r>
          </a:p>
        </p:txBody>
      </p:sp>
      <p:graphicFrame>
        <p:nvGraphicFramePr>
          <p:cNvPr id="63" name="Table 4"/>
          <p:cNvGraphicFramePr/>
          <p:nvPr/>
        </p:nvGraphicFramePr>
        <p:xfrm>
          <a:off x="1685636" y="2647296"/>
          <a:ext cx="2926080" cy="2194560"/>
        </p:xfrm>
        <a:graphic>
          <a:graphicData uri="http://schemas.openxmlformats.org/drawingml/2006/table">
            <a:tbl>
              <a:tblPr bandRow="1">
                <a:tableStyleId>{5C22544A-7EE6-4342-B048-85BDC9FD1C3A}</a:tableStyleId>
              </a:tblPr>
              <a:tblGrid>
                <a:gridCol w="365760">
                  <a:extLst>
                    <a:ext uri="{9D8B030D-6E8A-4147-A177-3AD203B41FA5}">
                      <a16:colId xmlns:a16="http://schemas.microsoft.com/office/drawing/2014/main" val="20000"/>
                    </a:ext>
                  </a:extLst>
                </a:gridCol>
                <a:gridCol w="365760">
                  <a:extLst>
                    <a:ext uri="{9D8B030D-6E8A-4147-A177-3AD203B41FA5}">
                      <a16:colId xmlns:a16="http://schemas.microsoft.com/office/drawing/2014/main" val="20001"/>
                    </a:ext>
                  </a:extLst>
                </a:gridCol>
                <a:gridCol w="365760">
                  <a:extLst>
                    <a:ext uri="{9D8B030D-6E8A-4147-A177-3AD203B41FA5}">
                      <a16:colId xmlns:a16="http://schemas.microsoft.com/office/drawing/2014/main" val="20002"/>
                    </a:ext>
                  </a:extLst>
                </a:gridCol>
                <a:gridCol w="365760">
                  <a:extLst>
                    <a:ext uri="{9D8B030D-6E8A-4147-A177-3AD203B41FA5}">
                      <a16:colId xmlns:a16="http://schemas.microsoft.com/office/drawing/2014/main" val="20003"/>
                    </a:ext>
                  </a:extLst>
                </a:gridCol>
                <a:gridCol w="365760">
                  <a:extLst>
                    <a:ext uri="{9D8B030D-6E8A-4147-A177-3AD203B41FA5}">
                      <a16:colId xmlns:a16="http://schemas.microsoft.com/office/drawing/2014/main" val="20004"/>
                    </a:ext>
                  </a:extLst>
                </a:gridCol>
                <a:gridCol w="365760">
                  <a:extLst>
                    <a:ext uri="{9D8B030D-6E8A-4147-A177-3AD203B41FA5}">
                      <a16:colId xmlns:a16="http://schemas.microsoft.com/office/drawing/2014/main" val="20005"/>
                    </a:ext>
                  </a:extLst>
                </a:gridCol>
                <a:gridCol w="365760">
                  <a:extLst>
                    <a:ext uri="{9D8B030D-6E8A-4147-A177-3AD203B41FA5}">
                      <a16:colId xmlns:a16="http://schemas.microsoft.com/office/drawing/2014/main" val="20006"/>
                    </a:ext>
                  </a:extLst>
                </a:gridCol>
                <a:gridCol w="365760">
                  <a:extLst>
                    <a:ext uri="{9D8B030D-6E8A-4147-A177-3AD203B41FA5}">
                      <a16:colId xmlns:a16="http://schemas.microsoft.com/office/drawing/2014/main" val="20007"/>
                    </a:ext>
                  </a:extLst>
                </a:gridCol>
              </a:tblGrid>
              <a:tr h="365760">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extLst>
                  <a:ext uri="{0D108BD9-81ED-4DB2-BD59-A6C34878D82A}">
                    <a16:rowId xmlns:a16="http://schemas.microsoft.com/office/drawing/2014/main" val="10000"/>
                  </a:ext>
                </a:extLst>
              </a:tr>
              <a:tr h="365760">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extLst>
                  <a:ext uri="{0D108BD9-81ED-4DB2-BD59-A6C34878D82A}">
                    <a16:rowId xmlns:a16="http://schemas.microsoft.com/office/drawing/2014/main" val="10001"/>
                  </a:ext>
                </a:extLst>
              </a:tr>
              <a:tr h="365760">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extLst>
                  <a:ext uri="{0D108BD9-81ED-4DB2-BD59-A6C34878D82A}">
                    <a16:rowId xmlns:a16="http://schemas.microsoft.com/office/drawing/2014/main" val="10002"/>
                  </a:ext>
                </a:extLst>
              </a:tr>
              <a:tr h="365760">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extLst>
                  <a:ext uri="{0D108BD9-81ED-4DB2-BD59-A6C34878D82A}">
                    <a16:rowId xmlns:a16="http://schemas.microsoft.com/office/drawing/2014/main" val="10003"/>
                  </a:ext>
                </a:extLst>
              </a:tr>
              <a:tr h="365760">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extLst>
                  <a:ext uri="{0D108BD9-81ED-4DB2-BD59-A6C34878D82A}">
                    <a16:rowId xmlns:a16="http://schemas.microsoft.com/office/drawing/2014/main" val="10004"/>
                  </a:ext>
                </a:extLst>
              </a:tr>
              <a:tr h="365760">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tc>
                  <a:txBody>
                    <a:bodyPr/>
                    <a:lstStyle/>
                    <a:p>
                      <a:pPr>
                        <a:buNone/>
                      </a:pPr>
                      <a:endParaRPr/>
                    </a:p>
                  </a:txBody>
                  <a:tcPr>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2AAF318B-B501-BBC6-961D-1F7D6794E19F}"/>
              </a:ext>
            </a:extLst>
          </p:cNvPr>
          <p:cNvSpPr>
            <a:spLocks noGrp="1"/>
          </p:cNvSpPr>
          <p:nvPr/>
        </p:nvSpPr>
        <p:spPr>
          <a:xfrm>
            <a:off x="2673461" y="4992034"/>
            <a:ext cx="952500" cy="461665"/>
          </a:xfrm>
          <a:prstGeom prst="rect">
            <a:avLst/>
          </a:prstGeom>
          <a:noFill/>
        </p:spPr>
        <p:txBody>
          <a:bodyPr rot="0" spcFirstLastPara="0" vert="horz" wrap="square" lIns="91440" tIns="45720" rIns="91440" bIns="45720" anchor="t">
            <a:spAutoFit/>
          </a:bodyPr>
          <a:lstStyle/>
          <a:p>
            <a:r>
              <a:rPr sz="2400">
                <a:latin typeface="Comic Sans MS"/>
                <a:ea typeface="Comic Sans MS"/>
                <a:cs typeface="Comic Sans MS"/>
              </a:rPr>
              <a:t>6 x 8</a:t>
            </a:r>
          </a:p>
        </p:txBody>
      </p:sp>
      <p:graphicFrame>
        <p:nvGraphicFramePr>
          <p:cNvPr id="65" name="Table 6"/>
          <p:cNvGraphicFramePr/>
          <p:nvPr/>
        </p:nvGraphicFramePr>
        <p:xfrm>
          <a:off x="5867037" y="2647787"/>
          <a:ext cx="731520" cy="2194560"/>
        </p:xfrm>
        <a:graphic>
          <a:graphicData uri="http://schemas.openxmlformats.org/drawingml/2006/table">
            <a:tbl>
              <a:tblPr firstRow="1" bandRow="1">
                <a:tableStyleId>{5940675A-B579-460E-94D1-54222C63F5DA}</a:tableStyleId>
              </a:tblPr>
              <a:tblGrid>
                <a:gridCol w="365760">
                  <a:extLst>
                    <a:ext uri="{9D8B030D-6E8A-4147-A177-3AD203B41FA5}">
                      <a16:colId xmlns:a16="http://schemas.microsoft.com/office/drawing/2014/main" val="20000"/>
                    </a:ext>
                  </a:extLst>
                </a:gridCol>
                <a:gridCol w="365760">
                  <a:extLst>
                    <a:ext uri="{9D8B030D-6E8A-4147-A177-3AD203B41FA5}">
                      <a16:colId xmlns:a16="http://schemas.microsoft.com/office/drawing/2014/main" val="20001"/>
                    </a:ext>
                  </a:extLst>
                </a:gridCol>
              </a:tblGrid>
              <a:tr h="365760">
                <a:tc>
                  <a:txBody>
                    <a:bodyPr/>
                    <a:lstStyle/>
                    <a:p>
                      <a:endParaRPr/>
                    </a:p>
                  </a:txBody>
                  <a:tcPr/>
                </a:tc>
                <a:tc>
                  <a:txBody>
                    <a:bodyPr/>
                    <a:lstStyle/>
                    <a:p>
                      <a:endParaRPr/>
                    </a:p>
                  </a:txBody>
                  <a:tcPr/>
                </a:tc>
                <a:extLst>
                  <a:ext uri="{0D108BD9-81ED-4DB2-BD59-A6C34878D82A}">
                    <a16:rowId xmlns:a16="http://schemas.microsoft.com/office/drawing/2014/main" val="10000"/>
                  </a:ext>
                </a:extLst>
              </a:tr>
              <a:tr h="365760">
                <a:tc>
                  <a:txBody>
                    <a:bodyPr/>
                    <a:lstStyle/>
                    <a:p>
                      <a:endParaRPr/>
                    </a:p>
                  </a:txBody>
                  <a:tcPr/>
                </a:tc>
                <a:tc>
                  <a:txBody>
                    <a:bodyPr/>
                    <a:lstStyle/>
                    <a:p>
                      <a:endParaRPr/>
                    </a:p>
                  </a:txBody>
                  <a:tcPr/>
                </a:tc>
                <a:extLst>
                  <a:ext uri="{0D108BD9-81ED-4DB2-BD59-A6C34878D82A}">
                    <a16:rowId xmlns:a16="http://schemas.microsoft.com/office/drawing/2014/main" val="10001"/>
                  </a:ext>
                </a:extLst>
              </a:tr>
              <a:tr h="365760">
                <a:tc>
                  <a:txBody>
                    <a:bodyPr/>
                    <a:lstStyle/>
                    <a:p>
                      <a:endParaRPr/>
                    </a:p>
                  </a:txBody>
                  <a:tcPr/>
                </a:tc>
                <a:tc>
                  <a:txBody>
                    <a:bodyPr/>
                    <a:lstStyle/>
                    <a:p>
                      <a:endParaRPr/>
                    </a:p>
                  </a:txBody>
                  <a:tcPr/>
                </a:tc>
                <a:extLst>
                  <a:ext uri="{0D108BD9-81ED-4DB2-BD59-A6C34878D82A}">
                    <a16:rowId xmlns:a16="http://schemas.microsoft.com/office/drawing/2014/main" val="10002"/>
                  </a:ext>
                </a:extLst>
              </a:tr>
              <a:tr h="365760">
                <a:tc>
                  <a:txBody>
                    <a:bodyPr/>
                    <a:lstStyle/>
                    <a:p>
                      <a:endParaRPr/>
                    </a:p>
                  </a:txBody>
                  <a:tcPr/>
                </a:tc>
                <a:tc>
                  <a:txBody>
                    <a:bodyPr/>
                    <a:lstStyle/>
                    <a:p>
                      <a:endParaRPr/>
                    </a:p>
                  </a:txBody>
                  <a:tcPr/>
                </a:tc>
                <a:extLst>
                  <a:ext uri="{0D108BD9-81ED-4DB2-BD59-A6C34878D82A}">
                    <a16:rowId xmlns:a16="http://schemas.microsoft.com/office/drawing/2014/main" val="10003"/>
                  </a:ext>
                </a:extLst>
              </a:tr>
              <a:tr h="365760">
                <a:tc>
                  <a:txBody>
                    <a:bodyPr/>
                    <a:lstStyle/>
                    <a:p>
                      <a:endParaRPr/>
                    </a:p>
                  </a:txBody>
                  <a:tcPr/>
                </a:tc>
                <a:tc>
                  <a:txBody>
                    <a:bodyPr/>
                    <a:lstStyle/>
                    <a:p>
                      <a:endParaRPr/>
                    </a:p>
                  </a:txBody>
                  <a:tcPr/>
                </a:tc>
                <a:extLst>
                  <a:ext uri="{0D108BD9-81ED-4DB2-BD59-A6C34878D82A}">
                    <a16:rowId xmlns:a16="http://schemas.microsoft.com/office/drawing/2014/main" val="10004"/>
                  </a:ext>
                </a:extLst>
              </a:tr>
              <a:tr h="365760">
                <a:tc>
                  <a:txBody>
                    <a:bodyPr/>
                    <a:lstStyle/>
                    <a:p>
                      <a:endParaRPr/>
                    </a:p>
                  </a:txBody>
                  <a:tcPr/>
                </a:tc>
                <a:tc>
                  <a:txBody>
                    <a:bodyPr/>
                    <a:lstStyle/>
                    <a:p>
                      <a:endParaRPr/>
                    </a:p>
                  </a:txBody>
                  <a:tcPr/>
                </a:tc>
                <a:extLst>
                  <a:ext uri="{0D108BD9-81ED-4DB2-BD59-A6C34878D82A}">
                    <a16:rowId xmlns:a16="http://schemas.microsoft.com/office/drawing/2014/main" val="10005"/>
                  </a:ext>
                </a:extLst>
              </a:tr>
            </a:tbl>
          </a:graphicData>
        </a:graphic>
      </p:graphicFrame>
      <p:sp>
        <p:nvSpPr>
          <p:cNvPr id="8" name="TextBox 7">
            <a:extLst>
              <a:ext uri="{FF2B5EF4-FFF2-40B4-BE49-F238E27FC236}">
                <a16:creationId xmlns:a16="http://schemas.microsoft.com/office/drawing/2014/main" id="{1743D966-7F0F-1F85-4D70-A08A28A2CB82}"/>
              </a:ext>
            </a:extLst>
          </p:cNvPr>
          <p:cNvSpPr>
            <a:spLocks noGrp="1"/>
          </p:cNvSpPr>
          <p:nvPr/>
        </p:nvSpPr>
        <p:spPr>
          <a:xfrm>
            <a:off x="5752248" y="4992034"/>
            <a:ext cx="952500" cy="461665"/>
          </a:xfrm>
          <a:prstGeom prst="rect">
            <a:avLst/>
          </a:prstGeom>
          <a:noFill/>
        </p:spPr>
        <p:txBody>
          <a:bodyPr rot="0" spcFirstLastPara="0" vert="horz" wrap="square" lIns="91440" tIns="45720" rIns="91440" bIns="45720" anchor="t">
            <a:spAutoFit/>
          </a:bodyPr>
          <a:lstStyle/>
          <a:p>
            <a:r>
              <a:rPr sz="2400">
                <a:latin typeface="Comic Sans MS"/>
                <a:ea typeface="Comic Sans MS"/>
                <a:cs typeface="Comic Sans MS"/>
              </a:rPr>
              <a:t>6 x 2</a:t>
            </a:r>
          </a:p>
        </p:txBody>
      </p:sp>
      <p:graphicFrame>
        <p:nvGraphicFramePr>
          <p:cNvPr id="67" name="Table 8"/>
          <p:cNvGraphicFramePr/>
          <p:nvPr/>
        </p:nvGraphicFramePr>
        <p:xfrm>
          <a:off x="7615073" y="3385528"/>
          <a:ext cx="2926080" cy="731520"/>
        </p:xfrm>
        <a:graphic>
          <a:graphicData uri="http://schemas.openxmlformats.org/drawingml/2006/table">
            <a:tbl>
              <a:tblPr firstRow="1" bandRow="1">
                <a:tableStyleId>{5940675A-B579-460E-94D1-54222C63F5DA}</a:tableStyleId>
              </a:tblPr>
              <a:tblGrid>
                <a:gridCol w="365760">
                  <a:extLst>
                    <a:ext uri="{9D8B030D-6E8A-4147-A177-3AD203B41FA5}">
                      <a16:colId xmlns:a16="http://schemas.microsoft.com/office/drawing/2014/main" val="20000"/>
                    </a:ext>
                  </a:extLst>
                </a:gridCol>
                <a:gridCol w="365760">
                  <a:extLst>
                    <a:ext uri="{9D8B030D-6E8A-4147-A177-3AD203B41FA5}">
                      <a16:colId xmlns:a16="http://schemas.microsoft.com/office/drawing/2014/main" val="20001"/>
                    </a:ext>
                  </a:extLst>
                </a:gridCol>
                <a:gridCol w="365760">
                  <a:extLst>
                    <a:ext uri="{9D8B030D-6E8A-4147-A177-3AD203B41FA5}">
                      <a16:colId xmlns:a16="http://schemas.microsoft.com/office/drawing/2014/main" val="20002"/>
                    </a:ext>
                  </a:extLst>
                </a:gridCol>
                <a:gridCol w="365760">
                  <a:extLst>
                    <a:ext uri="{9D8B030D-6E8A-4147-A177-3AD203B41FA5}">
                      <a16:colId xmlns:a16="http://schemas.microsoft.com/office/drawing/2014/main" val="20003"/>
                    </a:ext>
                  </a:extLst>
                </a:gridCol>
                <a:gridCol w="365760">
                  <a:extLst>
                    <a:ext uri="{9D8B030D-6E8A-4147-A177-3AD203B41FA5}">
                      <a16:colId xmlns:a16="http://schemas.microsoft.com/office/drawing/2014/main" val="20004"/>
                    </a:ext>
                  </a:extLst>
                </a:gridCol>
                <a:gridCol w="365760">
                  <a:extLst>
                    <a:ext uri="{9D8B030D-6E8A-4147-A177-3AD203B41FA5}">
                      <a16:colId xmlns:a16="http://schemas.microsoft.com/office/drawing/2014/main" val="20005"/>
                    </a:ext>
                  </a:extLst>
                </a:gridCol>
                <a:gridCol w="365760">
                  <a:extLst>
                    <a:ext uri="{9D8B030D-6E8A-4147-A177-3AD203B41FA5}">
                      <a16:colId xmlns:a16="http://schemas.microsoft.com/office/drawing/2014/main" val="20006"/>
                    </a:ext>
                  </a:extLst>
                </a:gridCol>
                <a:gridCol w="365760">
                  <a:extLst>
                    <a:ext uri="{9D8B030D-6E8A-4147-A177-3AD203B41FA5}">
                      <a16:colId xmlns:a16="http://schemas.microsoft.com/office/drawing/2014/main" val="20007"/>
                    </a:ext>
                  </a:extLst>
                </a:gridCol>
              </a:tblGrid>
              <a:tr h="365760">
                <a:tc>
                  <a:txBody>
                    <a:bodyPr/>
                    <a:lstStyle/>
                    <a:p>
                      <a:endParaRPr/>
                    </a:p>
                  </a:txBody>
                  <a:tcPr/>
                </a:tc>
                <a:tc>
                  <a:txBody>
                    <a:bodyPr/>
                    <a:lstStyle/>
                    <a:p>
                      <a:endParaRPr/>
                    </a:p>
                  </a:txBody>
                  <a:tcPr/>
                </a:tc>
                <a:tc>
                  <a:txBody>
                    <a:bodyPr/>
                    <a:lstStyle/>
                    <a:p>
                      <a:endParaRPr/>
                    </a:p>
                  </a:txBody>
                  <a:tcPr/>
                </a:tc>
                <a:tc>
                  <a:txBody>
                    <a:bodyPr/>
                    <a:lstStyle/>
                    <a:p>
                      <a:endParaRPr/>
                    </a:p>
                  </a:txBody>
                  <a:tcPr/>
                </a:tc>
                <a:tc>
                  <a:txBody>
                    <a:bodyPr/>
                    <a:lstStyle/>
                    <a:p>
                      <a:endParaRPr/>
                    </a:p>
                  </a:txBody>
                  <a:tcPr/>
                </a:tc>
                <a:tc>
                  <a:txBody>
                    <a:bodyPr/>
                    <a:lstStyle/>
                    <a:p>
                      <a:endParaRPr/>
                    </a:p>
                  </a:txBody>
                  <a:tcPr/>
                </a:tc>
                <a:tc>
                  <a:txBody>
                    <a:bodyPr/>
                    <a:lstStyle/>
                    <a:p>
                      <a:endParaRPr/>
                    </a:p>
                  </a:txBody>
                  <a:tcPr/>
                </a:tc>
                <a:tc>
                  <a:txBody>
                    <a:bodyPr/>
                    <a:lstStyle/>
                    <a:p>
                      <a:endParaRPr/>
                    </a:p>
                  </a:txBody>
                  <a:tcPr/>
                </a:tc>
                <a:extLst>
                  <a:ext uri="{0D108BD9-81ED-4DB2-BD59-A6C34878D82A}">
                    <a16:rowId xmlns:a16="http://schemas.microsoft.com/office/drawing/2014/main" val="10000"/>
                  </a:ext>
                </a:extLst>
              </a:tr>
              <a:tr h="365760">
                <a:tc>
                  <a:txBody>
                    <a:bodyPr/>
                    <a:lstStyle/>
                    <a:p>
                      <a:endParaRPr/>
                    </a:p>
                  </a:txBody>
                  <a:tcPr/>
                </a:tc>
                <a:tc>
                  <a:txBody>
                    <a:bodyPr/>
                    <a:lstStyle/>
                    <a:p>
                      <a:endParaRPr/>
                    </a:p>
                  </a:txBody>
                  <a:tcPr/>
                </a:tc>
                <a:tc>
                  <a:txBody>
                    <a:bodyPr/>
                    <a:lstStyle/>
                    <a:p>
                      <a:endParaRPr/>
                    </a:p>
                  </a:txBody>
                  <a:tcPr/>
                </a:tc>
                <a:tc>
                  <a:txBody>
                    <a:bodyPr/>
                    <a:lstStyle/>
                    <a:p>
                      <a:endParaRPr/>
                    </a:p>
                  </a:txBody>
                  <a:tcPr/>
                </a:tc>
                <a:tc>
                  <a:txBody>
                    <a:bodyPr/>
                    <a:lstStyle/>
                    <a:p>
                      <a:endParaRPr/>
                    </a:p>
                  </a:txBody>
                  <a:tcPr/>
                </a:tc>
                <a:tc>
                  <a:txBody>
                    <a:bodyPr/>
                    <a:lstStyle/>
                    <a:p>
                      <a:endParaRPr/>
                    </a:p>
                  </a:txBody>
                  <a:tcPr/>
                </a:tc>
                <a:tc>
                  <a:txBody>
                    <a:bodyPr/>
                    <a:lstStyle/>
                    <a:p>
                      <a:endParaRPr/>
                    </a:p>
                  </a:txBody>
                  <a:tcPr/>
                </a:tc>
                <a:tc>
                  <a:txBody>
                    <a:bodyPr/>
                    <a:lstStyle/>
                    <a:p>
                      <a:endParaRPr/>
                    </a:p>
                  </a:txBody>
                  <a:tcPr/>
                </a:tc>
                <a:extLst>
                  <a:ext uri="{0D108BD9-81ED-4DB2-BD59-A6C34878D82A}">
                    <a16:rowId xmlns:a16="http://schemas.microsoft.com/office/drawing/2014/main" val="10001"/>
                  </a:ext>
                </a:extLst>
              </a:tr>
            </a:tbl>
          </a:graphicData>
        </a:graphic>
      </p:graphicFrame>
      <p:sp>
        <p:nvSpPr>
          <p:cNvPr id="10" name="TextBox 9">
            <a:extLst>
              <a:ext uri="{FF2B5EF4-FFF2-40B4-BE49-F238E27FC236}">
                <a16:creationId xmlns:a16="http://schemas.microsoft.com/office/drawing/2014/main" id="{499F8814-B54F-DAC9-66C1-305C9A200C45}"/>
              </a:ext>
            </a:extLst>
          </p:cNvPr>
          <p:cNvSpPr>
            <a:spLocks noGrp="1"/>
          </p:cNvSpPr>
          <p:nvPr/>
        </p:nvSpPr>
        <p:spPr>
          <a:xfrm>
            <a:off x="6860611" y="3475732"/>
            <a:ext cx="490682" cy="646331"/>
          </a:xfrm>
          <a:prstGeom prst="rect">
            <a:avLst/>
          </a:prstGeom>
          <a:noFill/>
        </p:spPr>
        <p:txBody>
          <a:bodyPr rot="0" spcFirstLastPara="0" vert="horz" wrap="square" lIns="91440" tIns="45720" rIns="91440" bIns="45720" anchor="t">
            <a:spAutoFit/>
          </a:bodyPr>
          <a:lstStyle/>
          <a:p>
            <a:r>
              <a:rPr sz="3600">
                <a:latin typeface="Comic Sans MS"/>
                <a:ea typeface="Comic Sans MS"/>
                <a:cs typeface="Comic Sans MS"/>
              </a:rPr>
              <a:t>x</a:t>
            </a:r>
          </a:p>
        </p:txBody>
      </p:sp>
      <p:sp>
        <p:nvSpPr>
          <p:cNvPr id="11" name="TextBox 10">
            <a:extLst>
              <a:ext uri="{FF2B5EF4-FFF2-40B4-BE49-F238E27FC236}">
                <a16:creationId xmlns:a16="http://schemas.microsoft.com/office/drawing/2014/main" id="{CC8607D0-63DA-50C4-6D53-4F1C53700527}"/>
              </a:ext>
            </a:extLst>
          </p:cNvPr>
          <p:cNvSpPr>
            <a:spLocks noGrp="1"/>
          </p:cNvSpPr>
          <p:nvPr/>
        </p:nvSpPr>
        <p:spPr>
          <a:xfrm>
            <a:off x="4990247" y="3475732"/>
            <a:ext cx="490682" cy="646331"/>
          </a:xfrm>
          <a:prstGeom prst="rect">
            <a:avLst/>
          </a:prstGeom>
          <a:noFill/>
        </p:spPr>
        <p:txBody>
          <a:bodyPr rot="0" spcFirstLastPara="0" vert="horz" wrap="square" lIns="91440" tIns="45720" rIns="91440" bIns="45720" anchor="t">
            <a:spAutoFit/>
          </a:bodyPr>
          <a:lstStyle/>
          <a:p>
            <a:r>
              <a:rPr sz="3600">
                <a:latin typeface="Comic Sans MS"/>
                <a:ea typeface="Comic Sans MS"/>
                <a:cs typeface="Comic Sans MS"/>
              </a:rPr>
              <a:t>=</a:t>
            </a:r>
          </a:p>
        </p:txBody>
      </p:sp>
      <p:sp>
        <p:nvSpPr>
          <p:cNvPr id="12" name="TextBox 11">
            <a:extLst>
              <a:ext uri="{FF2B5EF4-FFF2-40B4-BE49-F238E27FC236}">
                <a16:creationId xmlns:a16="http://schemas.microsoft.com/office/drawing/2014/main" id="{CA0AFEDB-98FF-B57D-F796-83BB1EF97050}"/>
              </a:ext>
            </a:extLst>
          </p:cNvPr>
          <p:cNvSpPr>
            <a:spLocks noGrp="1"/>
          </p:cNvSpPr>
          <p:nvPr/>
        </p:nvSpPr>
        <p:spPr>
          <a:xfrm>
            <a:off x="8600126" y="4992034"/>
            <a:ext cx="952500" cy="461665"/>
          </a:xfrm>
          <a:prstGeom prst="rect">
            <a:avLst/>
          </a:prstGeom>
          <a:noFill/>
        </p:spPr>
        <p:txBody>
          <a:bodyPr rot="0" spcFirstLastPara="0" vert="horz" wrap="square" lIns="91440" tIns="45720" rIns="91440" bIns="45720" anchor="t">
            <a:spAutoFit/>
          </a:bodyPr>
          <a:lstStyle/>
          <a:p>
            <a:r>
              <a:rPr sz="2400">
                <a:latin typeface="Comic Sans MS"/>
                <a:ea typeface="Comic Sans MS"/>
                <a:cs typeface="Comic Sans MS"/>
              </a:rPr>
              <a:t>2 x 8</a:t>
            </a:r>
          </a:p>
        </p:txBody>
      </p:sp>
      <p:sp>
        <p:nvSpPr>
          <p:cNvPr id="13" name="Rectangle: Rounded Corners 12">
            <a:extLst>
              <a:ext uri="{FF2B5EF4-FFF2-40B4-BE49-F238E27FC236}">
                <a16:creationId xmlns:a16="http://schemas.microsoft.com/office/drawing/2014/main" id="{BDA19973-912E-558F-246D-058520869E1E}"/>
              </a:ext>
            </a:extLst>
          </p:cNvPr>
          <p:cNvSpPr>
            <a:spLocks noGrp="1"/>
          </p:cNvSpPr>
          <p:nvPr/>
        </p:nvSpPr>
        <p:spPr>
          <a:xfrm>
            <a:off x="6342302" y="5003030"/>
            <a:ext cx="2601576" cy="477212"/>
          </a:xfrm>
          <a:custGeom>
            <a:avLst/>
            <a:gdLst>
              <a:gd name="csX0" fmla="*/ 0 w 2601576"/>
              <a:gd name="csY0" fmla="*/ 79537 h 477212"/>
              <a:gd name="csX1" fmla="*/ 79537 w 2601576"/>
              <a:gd name="csY1" fmla="*/ 0 h 477212"/>
              <a:gd name="csX2" fmla="*/ 519187 w 2601576"/>
              <a:gd name="csY2" fmla="*/ 0 h 477212"/>
              <a:gd name="csX3" fmla="*/ 983263 w 2601576"/>
              <a:gd name="csY3" fmla="*/ 0 h 477212"/>
              <a:gd name="csX4" fmla="*/ 1398488 w 2601576"/>
              <a:gd name="csY4" fmla="*/ 0 h 477212"/>
              <a:gd name="csX5" fmla="*/ 1813713 w 2601576"/>
              <a:gd name="csY5" fmla="*/ 0 h 477212"/>
              <a:gd name="csX6" fmla="*/ 2522039 w 2601576"/>
              <a:gd name="csY6" fmla="*/ 0 h 477212"/>
              <a:gd name="csX7" fmla="*/ 2601576 w 2601576"/>
              <a:gd name="csY7" fmla="*/ 79537 h 477212"/>
              <a:gd name="csX8" fmla="*/ 2601576 w 2601576"/>
              <a:gd name="csY8" fmla="*/ 397675 h 477212"/>
              <a:gd name="csX9" fmla="*/ 2522039 w 2601576"/>
              <a:gd name="csY9" fmla="*/ 477212 h 477212"/>
              <a:gd name="csX10" fmla="*/ 2082389 w 2601576"/>
              <a:gd name="csY10" fmla="*/ 477212 h 477212"/>
              <a:gd name="csX11" fmla="*/ 1642738 w 2601576"/>
              <a:gd name="csY11" fmla="*/ 477212 h 477212"/>
              <a:gd name="csX12" fmla="*/ 1154238 w 2601576"/>
              <a:gd name="csY12" fmla="*/ 477212 h 477212"/>
              <a:gd name="csX13" fmla="*/ 739013 w 2601576"/>
              <a:gd name="csY13" fmla="*/ 477212 h 477212"/>
              <a:gd name="csX14" fmla="*/ 79537 w 2601576"/>
              <a:gd name="csY14" fmla="*/ 477212 h 477212"/>
              <a:gd name="csX15" fmla="*/ 0 w 2601576"/>
              <a:gd name="csY15" fmla="*/ 397675 h 477212"/>
              <a:gd name="csX16" fmla="*/ 0 w 2601576"/>
              <a:gd name="csY16" fmla="*/ 79537 h 477212"/>
            </a:gdLst>
            <a:ahLst/>
            <a:cxnLst/>
            <a:rect l="l" t="t" r="r" b="b"/>
            <a:pathLst>
              <a:path w="2601576" h="477212">
                <a:moveTo>
                  <a:pt x="0" y="79537"/>
                </a:moveTo>
                <a:cubicBezTo>
                  <a:pt x="9731" y="34940"/>
                  <a:pt x="38354" y="1584"/>
                  <a:pt x="79537" y="0"/>
                </a:cubicBezTo>
                <a:cubicBezTo>
                  <a:pt x="259346" y="-34157"/>
                  <a:pt x="408721" y="38001"/>
                  <a:pt x="519187" y="0"/>
                </a:cubicBezTo>
                <a:cubicBezTo>
                  <a:pt x="629653" y="-38001"/>
                  <a:pt x="804885" y="39202"/>
                  <a:pt x="983263" y="0"/>
                </a:cubicBezTo>
                <a:cubicBezTo>
                  <a:pt x="1161641" y="-39202"/>
                  <a:pt x="1279318" y="30821"/>
                  <a:pt x="1398488" y="0"/>
                </a:cubicBezTo>
                <a:cubicBezTo>
                  <a:pt x="1517659" y="-30821"/>
                  <a:pt x="1702466" y="28485"/>
                  <a:pt x="1813713" y="0"/>
                </a:cubicBezTo>
                <a:cubicBezTo>
                  <a:pt x="1924961" y="-28485"/>
                  <a:pt x="2175151" y="59121"/>
                  <a:pt x="2522039" y="0"/>
                </a:cubicBezTo>
                <a:cubicBezTo>
                  <a:pt x="2570006" y="-7108"/>
                  <a:pt x="2602285" y="36583"/>
                  <a:pt x="2601576" y="79537"/>
                </a:cubicBezTo>
                <a:cubicBezTo>
                  <a:pt x="2639004" y="212832"/>
                  <a:pt x="2571023" y="298991"/>
                  <a:pt x="2601576" y="397675"/>
                </a:cubicBezTo>
                <a:cubicBezTo>
                  <a:pt x="2595791" y="445660"/>
                  <a:pt x="2559583" y="485810"/>
                  <a:pt x="2522039" y="477212"/>
                </a:cubicBezTo>
                <a:cubicBezTo>
                  <a:pt x="2340640" y="528079"/>
                  <a:pt x="2189549" y="471512"/>
                  <a:pt x="2082389" y="477212"/>
                </a:cubicBezTo>
                <a:cubicBezTo>
                  <a:pt x="1975229" y="482912"/>
                  <a:pt x="1829535" y="426872"/>
                  <a:pt x="1642738" y="477212"/>
                </a:cubicBezTo>
                <a:cubicBezTo>
                  <a:pt x="1455941" y="527552"/>
                  <a:pt x="1358495" y="452645"/>
                  <a:pt x="1154238" y="477212"/>
                </a:cubicBezTo>
                <a:cubicBezTo>
                  <a:pt x="949981" y="501779"/>
                  <a:pt x="874698" y="433978"/>
                  <a:pt x="739013" y="477212"/>
                </a:cubicBezTo>
                <a:cubicBezTo>
                  <a:pt x="603328" y="520446"/>
                  <a:pt x="323157" y="465086"/>
                  <a:pt x="79537" y="477212"/>
                </a:cubicBezTo>
                <a:cubicBezTo>
                  <a:pt x="35054" y="479455"/>
                  <a:pt x="-809" y="440752"/>
                  <a:pt x="0" y="397675"/>
                </a:cubicBezTo>
                <a:cubicBezTo>
                  <a:pt x="-16806" y="320806"/>
                  <a:pt x="11773" y="219839"/>
                  <a:pt x="0" y="79537"/>
                </a:cubicBezTo>
                <a:close/>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Rectangle: Rounded Corners 14">
            <a:extLst>
              <a:ext uri="{FF2B5EF4-FFF2-40B4-BE49-F238E27FC236}">
                <a16:creationId xmlns:a16="http://schemas.microsoft.com/office/drawing/2014/main" id="{60FACAAB-DCF4-B02C-83E7-67F5BBB97CFA}"/>
              </a:ext>
            </a:extLst>
          </p:cNvPr>
          <p:cNvSpPr>
            <a:spLocks noGrp="1"/>
          </p:cNvSpPr>
          <p:nvPr/>
        </p:nvSpPr>
        <p:spPr>
          <a:xfrm>
            <a:off x="2700915" y="5025727"/>
            <a:ext cx="899236" cy="444787"/>
          </a:xfrm>
          <a:custGeom>
            <a:avLst/>
            <a:gdLst>
              <a:gd name="csX0" fmla="*/ 0 w 899236"/>
              <a:gd name="csY0" fmla="*/ 74133 h 444787"/>
              <a:gd name="csX1" fmla="*/ 74133 w 899236"/>
              <a:gd name="csY1" fmla="*/ 0 h 444787"/>
              <a:gd name="csX2" fmla="*/ 434599 w 899236"/>
              <a:gd name="csY2" fmla="*/ 0 h 444787"/>
              <a:gd name="csX3" fmla="*/ 825103 w 899236"/>
              <a:gd name="csY3" fmla="*/ 0 h 444787"/>
              <a:gd name="csX4" fmla="*/ 899236 w 899236"/>
              <a:gd name="csY4" fmla="*/ 74133 h 444787"/>
              <a:gd name="csX5" fmla="*/ 899236 w 899236"/>
              <a:gd name="csY5" fmla="*/ 370654 h 444787"/>
              <a:gd name="csX6" fmla="*/ 825103 w 899236"/>
              <a:gd name="csY6" fmla="*/ 444787 h 444787"/>
              <a:gd name="csX7" fmla="*/ 449618 w 899236"/>
              <a:gd name="csY7" fmla="*/ 444787 h 444787"/>
              <a:gd name="csX8" fmla="*/ 74133 w 899236"/>
              <a:gd name="csY8" fmla="*/ 444787 h 444787"/>
              <a:gd name="csX9" fmla="*/ 0 w 899236"/>
              <a:gd name="csY9" fmla="*/ 370654 h 444787"/>
              <a:gd name="csX10" fmla="*/ 0 w 899236"/>
              <a:gd name="csY10" fmla="*/ 74133 h 444787"/>
            </a:gdLst>
            <a:ahLst/>
            <a:cxnLst/>
            <a:rect l="l" t="t" r="r" b="b"/>
            <a:pathLst>
              <a:path w="899236" h="444787">
                <a:moveTo>
                  <a:pt x="0" y="74133"/>
                </a:moveTo>
                <a:cubicBezTo>
                  <a:pt x="2374" y="33027"/>
                  <a:pt x="35120" y="1114"/>
                  <a:pt x="74133" y="0"/>
                </a:cubicBezTo>
                <a:cubicBezTo>
                  <a:pt x="195414" y="-31075"/>
                  <a:pt x="254763" y="23081"/>
                  <a:pt x="434599" y="0"/>
                </a:cubicBezTo>
                <a:cubicBezTo>
                  <a:pt x="614435" y="-23081"/>
                  <a:pt x="730202" y="24975"/>
                  <a:pt x="825103" y="0"/>
                </a:cubicBezTo>
                <a:cubicBezTo>
                  <a:pt x="855450" y="505"/>
                  <a:pt x="907789" y="39031"/>
                  <a:pt x="899236" y="74133"/>
                </a:cubicBezTo>
                <a:cubicBezTo>
                  <a:pt x="906219" y="188259"/>
                  <a:pt x="869627" y="225557"/>
                  <a:pt x="899236" y="370654"/>
                </a:cubicBezTo>
                <a:cubicBezTo>
                  <a:pt x="902116" y="406531"/>
                  <a:pt x="868180" y="447717"/>
                  <a:pt x="825103" y="444787"/>
                </a:cubicBezTo>
                <a:cubicBezTo>
                  <a:pt x="693303" y="466804"/>
                  <a:pt x="553194" y="433342"/>
                  <a:pt x="449618" y="444787"/>
                </a:cubicBezTo>
                <a:cubicBezTo>
                  <a:pt x="346042" y="456232"/>
                  <a:pt x="182782" y="431760"/>
                  <a:pt x="74133" y="444787"/>
                </a:cubicBezTo>
                <a:cubicBezTo>
                  <a:pt x="23640" y="448197"/>
                  <a:pt x="8730" y="413025"/>
                  <a:pt x="0" y="370654"/>
                </a:cubicBezTo>
                <a:cubicBezTo>
                  <a:pt x="-15133" y="282055"/>
                  <a:pt x="29586" y="192154"/>
                  <a:pt x="0" y="74133"/>
                </a:cubicBezTo>
                <a:close/>
              </a:path>
            </a:pathLst>
          </a:cu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Rectangle: Rounded Corners 16">
            <a:extLst>
              <a:ext uri="{FF2B5EF4-FFF2-40B4-BE49-F238E27FC236}">
                <a16:creationId xmlns:a16="http://schemas.microsoft.com/office/drawing/2014/main" id="{79B08195-B2EF-92D7-5D87-DA2494D46AA8}"/>
              </a:ext>
            </a:extLst>
          </p:cNvPr>
          <p:cNvSpPr>
            <a:spLocks noGrp="1"/>
          </p:cNvSpPr>
          <p:nvPr/>
        </p:nvSpPr>
        <p:spPr>
          <a:xfrm>
            <a:off x="5690548" y="5040318"/>
            <a:ext cx="453386" cy="436681"/>
          </a:xfrm>
          <a:custGeom>
            <a:avLst/>
            <a:gdLst>
              <a:gd name="csX0" fmla="*/ 0 w 453386"/>
              <a:gd name="csY0" fmla="*/ 72782 h 436681"/>
              <a:gd name="csX1" fmla="*/ 72782 w 453386"/>
              <a:gd name="csY1" fmla="*/ 0 h 436681"/>
              <a:gd name="csX2" fmla="*/ 380604 w 453386"/>
              <a:gd name="csY2" fmla="*/ 0 h 436681"/>
              <a:gd name="csX3" fmla="*/ 453386 w 453386"/>
              <a:gd name="csY3" fmla="*/ 72782 h 436681"/>
              <a:gd name="csX4" fmla="*/ 453386 w 453386"/>
              <a:gd name="csY4" fmla="*/ 363899 h 436681"/>
              <a:gd name="csX5" fmla="*/ 380604 w 453386"/>
              <a:gd name="csY5" fmla="*/ 436681 h 436681"/>
              <a:gd name="csX6" fmla="*/ 72782 w 453386"/>
              <a:gd name="csY6" fmla="*/ 436681 h 436681"/>
              <a:gd name="csX7" fmla="*/ 0 w 453386"/>
              <a:gd name="csY7" fmla="*/ 363899 h 436681"/>
              <a:gd name="csX8" fmla="*/ 0 w 453386"/>
              <a:gd name="csY8" fmla="*/ 72782 h 436681"/>
            </a:gdLst>
            <a:ahLst/>
            <a:cxnLst/>
            <a:rect l="l" t="t" r="r" b="b"/>
            <a:pathLst>
              <a:path w="453386" h="436681">
                <a:moveTo>
                  <a:pt x="0" y="72782"/>
                </a:moveTo>
                <a:cubicBezTo>
                  <a:pt x="8180" y="32023"/>
                  <a:pt x="35190" y="1503"/>
                  <a:pt x="72782" y="0"/>
                </a:cubicBezTo>
                <a:cubicBezTo>
                  <a:pt x="158582" y="-17741"/>
                  <a:pt x="247731" y="18500"/>
                  <a:pt x="380604" y="0"/>
                </a:cubicBezTo>
                <a:cubicBezTo>
                  <a:pt x="431370" y="4309"/>
                  <a:pt x="443643" y="28945"/>
                  <a:pt x="453386" y="72782"/>
                </a:cubicBezTo>
                <a:cubicBezTo>
                  <a:pt x="461268" y="152985"/>
                  <a:pt x="421064" y="253423"/>
                  <a:pt x="453386" y="363899"/>
                </a:cubicBezTo>
                <a:cubicBezTo>
                  <a:pt x="452505" y="395228"/>
                  <a:pt x="418487" y="436132"/>
                  <a:pt x="380604" y="436681"/>
                </a:cubicBezTo>
                <a:cubicBezTo>
                  <a:pt x="239635" y="446339"/>
                  <a:pt x="137523" y="419868"/>
                  <a:pt x="72782" y="436681"/>
                </a:cubicBezTo>
                <a:cubicBezTo>
                  <a:pt x="34496" y="434786"/>
                  <a:pt x="-4495" y="402204"/>
                  <a:pt x="0" y="363899"/>
                </a:cubicBezTo>
                <a:cubicBezTo>
                  <a:pt x="-12801" y="270719"/>
                  <a:pt x="893" y="131148"/>
                  <a:pt x="0" y="72782"/>
                </a:cubicBezTo>
                <a:close/>
              </a:path>
            </a:pathLst>
          </a:cu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Rectangle: Rounded Corners 18">
            <a:extLst>
              <a:ext uri="{FF2B5EF4-FFF2-40B4-BE49-F238E27FC236}">
                <a16:creationId xmlns:a16="http://schemas.microsoft.com/office/drawing/2014/main" id="{D2BAF563-B495-7565-A177-CC01F20DE977}"/>
              </a:ext>
            </a:extLst>
          </p:cNvPr>
          <p:cNvSpPr>
            <a:spLocks noGrp="1"/>
          </p:cNvSpPr>
          <p:nvPr/>
        </p:nvSpPr>
        <p:spPr>
          <a:xfrm>
            <a:off x="9134139" y="5014378"/>
            <a:ext cx="453386" cy="436681"/>
          </a:xfrm>
          <a:custGeom>
            <a:avLst/>
            <a:gdLst>
              <a:gd name="csX0" fmla="*/ 0 w 453386"/>
              <a:gd name="csY0" fmla="*/ 72782 h 436681"/>
              <a:gd name="csX1" fmla="*/ 72782 w 453386"/>
              <a:gd name="csY1" fmla="*/ 0 h 436681"/>
              <a:gd name="csX2" fmla="*/ 380604 w 453386"/>
              <a:gd name="csY2" fmla="*/ 0 h 436681"/>
              <a:gd name="csX3" fmla="*/ 453386 w 453386"/>
              <a:gd name="csY3" fmla="*/ 72782 h 436681"/>
              <a:gd name="csX4" fmla="*/ 453386 w 453386"/>
              <a:gd name="csY4" fmla="*/ 363899 h 436681"/>
              <a:gd name="csX5" fmla="*/ 380604 w 453386"/>
              <a:gd name="csY5" fmla="*/ 436681 h 436681"/>
              <a:gd name="csX6" fmla="*/ 72782 w 453386"/>
              <a:gd name="csY6" fmla="*/ 436681 h 436681"/>
              <a:gd name="csX7" fmla="*/ 0 w 453386"/>
              <a:gd name="csY7" fmla="*/ 363899 h 436681"/>
              <a:gd name="csX8" fmla="*/ 0 w 453386"/>
              <a:gd name="csY8" fmla="*/ 72782 h 436681"/>
            </a:gdLst>
            <a:ahLst/>
            <a:cxnLst/>
            <a:rect l="l" t="t" r="r" b="b"/>
            <a:pathLst>
              <a:path w="453386" h="436681">
                <a:moveTo>
                  <a:pt x="0" y="72782"/>
                </a:moveTo>
                <a:cubicBezTo>
                  <a:pt x="8180" y="32023"/>
                  <a:pt x="35190" y="1503"/>
                  <a:pt x="72782" y="0"/>
                </a:cubicBezTo>
                <a:cubicBezTo>
                  <a:pt x="158582" y="-17741"/>
                  <a:pt x="247731" y="18500"/>
                  <a:pt x="380604" y="0"/>
                </a:cubicBezTo>
                <a:cubicBezTo>
                  <a:pt x="431370" y="4309"/>
                  <a:pt x="443643" y="28945"/>
                  <a:pt x="453386" y="72782"/>
                </a:cubicBezTo>
                <a:cubicBezTo>
                  <a:pt x="461268" y="152985"/>
                  <a:pt x="421064" y="253423"/>
                  <a:pt x="453386" y="363899"/>
                </a:cubicBezTo>
                <a:cubicBezTo>
                  <a:pt x="452505" y="395228"/>
                  <a:pt x="418487" y="436132"/>
                  <a:pt x="380604" y="436681"/>
                </a:cubicBezTo>
                <a:cubicBezTo>
                  <a:pt x="239635" y="446339"/>
                  <a:pt x="137523" y="419868"/>
                  <a:pt x="72782" y="436681"/>
                </a:cubicBezTo>
                <a:cubicBezTo>
                  <a:pt x="34496" y="434786"/>
                  <a:pt x="-4495" y="402204"/>
                  <a:pt x="0" y="363899"/>
                </a:cubicBezTo>
                <a:cubicBezTo>
                  <a:pt x="-12801" y="270719"/>
                  <a:pt x="893" y="131148"/>
                  <a:pt x="0" y="72782"/>
                </a:cubicBezTo>
                <a:close/>
              </a:path>
            </a:pathLst>
          </a:cu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0B1CA2-BF04-9BF5-5A6C-F9DDC2813960}"/>
              </a:ext>
            </a:extLst>
          </p:cNvPr>
          <p:cNvSpPr>
            <a:spLocks noGrp="1"/>
          </p:cNvSpPr>
          <p:nvPr/>
        </p:nvSpPr>
        <p:spPr>
          <a:xfrm>
            <a:off x="2253575" y="2115767"/>
            <a:ext cx="1799615" cy="369332"/>
          </a:xfrm>
          <a:prstGeom prst="rect">
            <a:avLst/>
          </a:prstGeom>
          <a:noFill/>
          <a:ln>
            <a:noFill/>
          </a:ln>
        </p:spPr>
        <p:txBody>
          <a:bodyPr rot="0" spcFirstLastPara="0" vert="horz" wrap="square" lIns="91440" tIns="45720" rIns="91440" bIns="45720" anchor="t">
            <a:spAutoFit/>
          </a:bodyPr>
          <a:lstStyle/>
          <a:p>
            <a:r>
              <a:rPr>
                <a:solidFill>
                  <a:schemeClr val="accent3"/>
                </a:solidFill>
                <a:latin typeface="Comic Sans MS"/>
                <a:ea typeface="Comic Sans MS"/>
                <a:cs typeface="Comic Sans MS"/>
              </a:rPr>
              <a:t>Rank deficient</a:t>
            </a:r>
          </a:p>
        </p:txBody>
      </p:sp>
      <p:cxnSp>
        <p:nvCxnSpPr>
          <p:cNvPr id="76" name="Straight Arrow Connector 2"/>
          <p:cNvCxnSpPr/>
          <p:nvPr/>
        </p:nvCxnSpPr>
        <p:spPr>
          <a:xfrm flipH="1">
            <a:off x="6758539" y="1784911"/>
            <a:ext cx="1885142" cy="1405019"/>
          </a:xfrm>
          <a:prstGeom prst="straightConnector1">
            <a:avLst/>
          </a:prstGeom>
          <a:ln w="2857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3"/>
          <p:cNvCxnSpPr/>
          <p:nvPr/>
        </p:nvCxnSpPr>
        <p:spPr>
          <a:xfrm>
            <a:off x="8643681" y="1784911"/>
            <a:ext cx="657982" cy="1443263"/>
          </a:xfrm>
          <a:prstGeom prst="straightConnector1">
            <a:avLst/>
          </a:prstGeom>
          <a:ln w="2857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14" name="Content Placeholder 2">
            <a:extLst>
              <a:ext uri="{FF2B5EF4-FFF2-40B4-BE49-F238E27FC236}">
                <a16:creationId xmlns:a16="http://schemas.microsoft.com/office/drawing/2014/main" id="{A13CA3B7-D11E-B2FD-2FD5-7A4D9042BAE7}"/>
              </a:ext>
            </a:extLst>
          </p:cNvPr>
          <p:cNvSpPr>
            <a:spLocks noGrp="1"/>
          </p:cNvSpPr>
          <p:nvPr/>
        </p:nvSpPr>
        <p:spPr>
          <a:xfrm>
            <a:off x="7701110" y="1329504"/>
            <a:ext cx="3772829" cy="372180"/>
          </a:xfrm>
          <a:prstGeom prst="rect">
            <a:avLst/>
          </a:prstGeom>
        </p:spPr>
        <p:txBody>
          <a:bodyPr vert="horz" lIns="91440" tIns="45720" rIns="91440" bIns="45720">
            <a:norm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Font typeface="Arial"/>
              <a:buNone/>
            </a:pPr>
            <a:r>
              <a:rPr sz="2000">
                <a:solidFill>
                  <a:schemeClr val="accent6"/>
                </a:solidFill>
              </a:rPr>
              <a:t>LoRA rank – very small</a:t>
            </a:r>
            <a:endParaRPr/>
          </a:p>
        </p:txBody>
      </p:sp>
    </p:spTree>
    <p:extLst>
      <p:ext uri="{BB962C8B-B14F-4D97-AF65-F5344CB8AC3E}">
        <p14:creationId xmlns:p14="http://schemas.microsoft.com/office/powerpoint/2010/main" val="4152589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706387-C1F1-3A49-ACA4-2363DA04E26F}"/>
              </a:ext>
            </a:extLst>
          </p:cNvPr>
          <p:cNvSpPr>
            <a:spLocks noGrp="1"/>
          </p:cNvSpPr>
          <p:nvPr>
            <p:ph type="title"/>
          </p:nvPr>
        </p:nvSpPr>
        <p:spPr>
          <a:xfrm>
            <a:off x="838200" y="365125"/>
            <a:ext cx="10515600" cy="1325563"/>
          </a:xfrm>
        </p:spPr>
        <p:txBody>
          <a:bodyPr/>
          <a:lstStyle/>
          <a:p>
            <a:r>
              <a:rPr lang="en-US" dirty="0">
                <a:latin typeface="CMU Serif Roman" panose="02000603000000000000" pitchFamily="2" charset="0"/>
                <a:ea typeface="CMU Serif Roman" panose="02000603000000000000" pitchFamily="2" charset="0"/>
                <a:cs typeface="CMU Serif Roman" panose="02000603000000000000" pitchFamily="2" charset="0"/>
              </a:rPr>
              <a:t>Low Rank Adaptation (</a:t>
            </a:r>
            <a:r>
              <a:rPr lang="en-US" dirty="0" err="1">
                <a:latin typeface="CMU Serif Roman" panose="02000603000000000000" pitchFamily="2" charset="0"/>
                <a:ea typeface="CMU Serif Roman" panose="02000603000000000000" pitchFamily="2" charset="0"/>
                <a:cs typeface="CMU Serif Roman" panose="02000603000000000000" pitchFamily="2" charset="0"/>
              </a:rPr>
              <a:t>LoRA</a:t>
            </a:r>
            <a:r>
              <a:rPr lang="en-US" dirty="0">
                <a:latin typeface="CMU Serif Roman" panose="02000603000000000000" pitchFamily="2" charset="0"/>
                <a:ea typeface="CMU Serif Roman" panose="02000603000000000000" pitchFamily="2" charset="0"/>
                <a:cs typeface="CMU Serif Roman" panose="02000603000000000000" pitchFamily="2" charset="0"/>
              </a:rPr>
              <a:t>)</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9716D1D8-782B-2DCF-55A8-FA92B65166DD}"/>
                  </a:ext>
                </a:extLst>
              </p:cNvPr>
              <p:cNvSpPr>
                <a:spLocks noGrp="1"/>
              </p:cNvSpPr>
              <p:nvPr>
                <p:ph idx="1"/>
              </p:nvPr>
            </p:nvSpPr>
            <p:spPr>
              <a:xfrm>
                <a:off x="838200" y="1825625"/>
                <a:ext cx="10515600" cy="4351338"/>
              </a:xfrm>
            </p:spPr>
            <p:txBody>
              <a:bodyPr>
                <a:normAutofit/>
              </a:bodyPr>
              <a:lstStyle/>
              <a:p>
                <a:r>
                  <a:rPr lang="en-US" dirty="0">
                    <a:latin typeface="CMU Serif Roman" panose="02000603000000000000" pitchFamily="2" charset="0"/>
                    <a:ea typeface="CMU Serif Roman" panose="02000603000000000000" pitchFamily="2" charset="0"/>
                    <a:cs typeface="CMU Serif Roman" panose="02000603000000000000" pitchFamily="2" charset="0"/>
                  </a:rPr>
                  <a:t>At each </a:t>
                </a:r>
                <a:r>
                  <a:rPr lang="en-US" dirty="0" err="1">
                    <a:latin typeface="CMU Serif Roman" panose="02000603000000000000" pitchFamily="2" charset="0"/>
                    <a:ea typeface="CMU Serif Roman" panose="02000603000000000000" pitchFamily="2" charset="0"/>
                    <a:cs typeface="CMU Serif Roman" panose="02000603000000000000" pitchFamily="2" charset="0"/>
                  </a:rPr>
                  <a:t>optimiser</a:t>
                </a:r>
                <a:r>
                  <a:rPr lang="en-US" dirty="0">
                    <a:latin typeface="CMU Serif Roman" panose="02000603000000000000" pitchFamily="2" charset="0"/>
                    <a:ea typeface="CMU Serif Roman" panose="02000603000000000000" pitchFamily="2" charset="0"/>
                    <a:cs typeface="CMU Serif Roman" panose="02000603000000000000" pitchFamily="2" charset="0"/>
                  </a:rPr>
                  <a:t> step, instead of updating:</a:t>
                </a:r>
              </a:p>
              <a:p>
                <a:pPr marL="0" indent="0">
                  <a:buNone/>
                </a:pPr>
                <a:endParaRPr lang="en-US"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14:m>
                  <m:oMathPara xmlns:m="http://schemas.openxmlformats.org/officeDocument/2006/math">
                    <m:oMath>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𝑊</m:t>
                          </m:r>
                        </m:e>
                        <m:sub>
                          <m:r>
                            <a:rPr lang="en-GB" b="0" i="1" smtClean="0">
                              <a:latin typeface="Cambria Math" panose="02040503050406030204" pitchFamily="18" charset="0"/>
                              <a:ea typeface="Cambria Math" panose="02040503050406030204" pitchFamily="18" charset="0"/>
                            </a:rPr>
                            <m:t>𝑄</m:t>
                          </m:r>
                        </m:sub>
                      </m:sSub>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𝑊</m:t>
                          </m:r>
                        </m:e>
                        <m:sub>
                          <m:r>
                            <a:rPr lang="en-GB" b="0" i="1" smtClean="0">
                              <a:latin typeface="Cambria Math" panose="02040503050406030204" pitchFamily="18" charset="0"/>
                              <a:ea typeface="Cambria Math" panose="02040503050406030204" pitchFamily="18" charset="0"/>
                            </a:rPr>
                            <m:t>𝐾</m:t>
                          </m:r>
                        </m:sub>
                      </m:sSub>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𝑊</m:t>
                          </m:r>
                        </m:e>
                        <m:sub>
                          <m:r>
                            <a:rPr lang="en-GB" b="0" i="1" smtClean="0">
                              <a:latin typeface="Cambria Math" panose="02040503050406030204" pitchFamily="18" charset="0"/>
                              <a:ea typeface="Cambria Math" panose="02040503050406030204" pitchFamily="18" charset="0"/>
                            </a:rPr>
                            <m:t>𝑉</m:t>
                          </m:r>
                        </m:sub>
                      </m:sSub>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𝑊</m:t>
                          </m:r>
                        </m:e>
                        <m:sub>
                          <m:r>
                            <m:rPr>
                              <m:nor/>
                            </m:rPr>
                            <a:rPr lang="en-GB" b="0" i="0" smtClean="0">
                              <a:latin typeface="CMU Serif Roman" panose="02000603000000000000" pitchFamily="2" charset="0"/>
                              <a:ea typeface="CMU Serif Roman" panose="02000603000000000000" pitchFamily="2" charset="0"/>
                              <a:cs typeface="CMU Serif Roman" panose="02000603000000000000" pitchFamily="2" charset="0"/>
                            </a:rPr>
                            <m:t>MLP</m:t>
                          </m:r>
                        </m:sub>
                      </m:sSub>
                    </m:oMath>
                  </m:oMathPara>
                </a14:m>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r>
                  <a:rPr lang="en-GB" b="0" dirty="0">
                    <a:latin typeface="CMU Serif Roman" panose="02000603000000000000" pitchFamily="2" charset="0"/>
                    <a:ea typeface="CMU Serif Roman" panose="02000603000000000000" pitchFamily="2" charset="0"/>
                    <a:cs typeface="CMU Serif Roman" panose="02000603000000000000" pitchFamily="2" charset="0"/>
                  </a:rPr>
                  <a:t>For a given weight matrix </a:t>
                </a:r>
                <a14:m>
                  <m:oMath xmlns:m="http://schemas.openxmlformats.org/officeDocument/2006/math">
                    <m:r>
                      <m:rPr>
                        <m:sty m:val="p"/>
                      </m:rPr>
                      <a:rPr lang="en-GB" b="0" i="1" smtClean="0">
                        <a:latin typeface="Cambria Math" panose="02040503050406030204" pitchFamily="18" charset="0"/>
                        <a:ea typeface="Cambria Math" panose="02040503050406030204" pitchFamily="18" charset="0"/>
                      </a:rPr>
                      <m:t>W</m:t>
                    </m:r>
                  </m:oMath>
                </a14:m>
                <a:r>
                  <a:rPr lang="en-GB" b="0" dirty="0">
                    <a:latin typeface="CMU Serif Roman" panose="02000603000000000000" pitchFamily="2" charset="0"/>
                    <a:ea typeface="CMU Serif Roman" panose="02000603000000000000" pitchFamily="2" charset="0"/>
                    <a:cs typeface="CMU Serif Roman" panose="02000603000000000000" pitchFamily="2" charset="0"/>
                  </a:rPr>
                  <a:t>, </a:t>
                </a:r>
                <a:r>
                  <a:rPr lang="en-GB" b="0" dirty="0">
                    <a:solidFill>
                      <a:schemeClr val="accent4"/>
                    </a:solidFill>
                    <a:latin typeface="CMU Serif Roman" panose="02000603000000000000" pitchFamily="2" charset="0"/>
                    <a:ea typeface="CMU Serif Roman" panose="02000603000000000000" pitchFamily="2" charset="0"/>
                    <a:cs typeface="CMU Serif Roman" panose="02000603000000000000" pitchFamily="2" charset="0"/>
                  </a:rPr>
                  <a:t>freeze</a:t>
                </a:r>
                <a:r>
                  <a:rPr lang="en-GB" b="0" dirty="0">
                    <a:latin typeface="CMU Serif Roman" panose="02000603000000000000" pitchFamily="2" charset="0"/>
                    <a:ea typeface="CMU Serif Roman" panose="02000603000000000000" pitchFamily="2" charset="0"/>
                    <a:cs typeface="CMU Serif Roman" panose="02000603000000000000" pitchFamily="2" charset="0"/>
                  </a:rPr>
                  <a:t> the base weights and update an ‘adapter’ </a:t>
                </a:r>
                <a14:m>
                  <m:oMath xmlns:m="http://schemas.openxmlformats.org/officeDocument/2006/math">
                    <m:r>
                      <m:rPr>
                        <m:sty m:val="p"/>
                      </m:rPr>
                      <a:rPr lang="en-GB" b="0" i="0" smtClean="0">
                        <a:latin typeface="Cambria Math" panose="02040503050406030204" pitchFamily="18" charset="0"/>
                        <a:ea typeface="Cambria Math" panose="02040503050406030204" pitchFamily="18" charset="0"/>
                      </a:rPr>
                      <m:t>Δ</m:t>
                    </m:r>
                    <m:r>
                      <a:rPr lang="en-GB" b="0" i="0" smtClean="0">
                        <a:latin typeface="Cambria Math" panose="02040503050406030204" pitchFamily="18" charset="0"/>
                        <a:ea typeface="Cambria Math" panose="02040503050406030204" pitchFamily="18" charset="0"/>
                      </a:rPr>
                      <m:t>𝑊</m:t>
                    </m:r>
                  </m:oMath>
                </a14:m>
                <a:r>
                  <a:rPr lang="en-GB" b="0" dirty="0">
                    <a:latin typeface="CMU Serif Roman" panose="02000603000000000000" pitchFamily="2" charset="0"/>
                    <a:ea typeface="CMU Serif Roman" panose="02000603000000000000" pitchFamily="2" charset="0"/>
                    <a:cs typeface="CMU Serif Roman" panose="02000603000000000000" pitchFamily="2" charset="0"/>
                  </a:rPr>
                  <a:t>:</a:t>
                </a:r>
              </a:p>
              <a:p>
                <a:endParaRPr lang="en-GB"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14:m>
                  <m:oMathPara xmlns:m="http://schemas.openxmlformats.org/officeDocument/2006/math">
                    <m:oMath>
                      <m:r>
                        <a:rPr lang="en-GB" b="0" i="1" smtClean="0">
                          <a:latin typeface="Cambria Math" panose="02040503050406030204" pitchFamily="18" charset="0"/>
                          <a:ea typeface="Cambria Math" panose="02040503050406030204" pitchFamily="18" charset="0"/>
                        </a:rPr>
                        <m:t>𝑊</m:t>
                      </m:r>
                      <m:r>
                        <a:rPr lang="en-GB" b="0" i="1" smtClean="0">
                          <a:latin typeface="Cambria Math" panose="02040503050406030204" pitchFamily="18" charset="0"/>
                          <a:ea typeface="Cambria Math" panose="02040503050406030204" pitchFamily="18" charset="0"/>
                        </a:rPr>
                        <m:t>⟶</m:t>
                      </m:r>
                      <m:r>
                        <a:rPr lang="en-GB" b="0" i="1" smtClean="0">
                          <a:solidFill>
                            <a:schemeClr val="accent4"/>
                          </a:solidFill>
                          <a:latin typeface="Cambria Math" panose="02040503050406030204" pitchFamily="18" charset="0"/>
                          <a:ea typeface="Cambria Math" panose="02040503050406030204" pitchFamily="18" charset="0"/>
                        </a:rPr>
                        <m:t>𝑊</m:t>
                      </m:r>
                      <m:r>
                        <a:rPr lang="en-GB" b="0" i="1" smtClean="0">
                          <a:latin typeface="Cambria Math" panose="02040503050406030204" pitchFamily="18" charset="0"/>
                          <a:ea typeface="Cambria Math" panose="02040503050406030204" pitchFamily="18" charset="0"/>
                        </a:rPr>
                        <m:t>+</m:t>
                      </m:r>
                      <m:f>
                        <m:fPr>
                          <m:ctrlPr>
                            <a:rPr lang="en-GB" b="0" i="0" smtClean="0">
                              <a:solidFill>
                                <a:schemeClr val="tx1"/>
                              </a:solidFill>
                              <a:latin typeface="Cambria Math" panose="02040503050406030204" pitchFamily="18" charset="0"/>
                              <a:ea typeface="Cambria Math" panose="02040503050406030204" pitchFamily="18" charset="0"/>
                            </a:rPr>
                          </m:ctrlPr>
                        </m:fPr>
                        <m:num>
                          <m:r>
                            <a:rPr lang="en-GB" b="0" i="0" smtClean="0">
                              <a:solidFill>
                                <a:schemeClr val="tx1"/>
                              </a:solidFill>
                              <a:latin typeface="Cambria Math" panose="02040503050406030204" pitchFamily="18" charset="0"/>
                              <a:ea typeface="Cambria Math" panose="02040503050406030204" pitchFamily="18" charset="0"/>
                            </a:rPr>
                            <m:t>𝛼</m:t>
                          </m:r>
                        </m:num>
                        <m:den>
                          <m:r>
                            <a:rPr lang="en-GB" b="0" i="0" smtClean="0">
                              <a:solidFill>
                                <a:schemeClr val="tx1"/>
                              </a:solidFill>
                              <a:latin typeface="Cambria Math" panose="02040503050406030204" pitchFamily="18" charset="0"/>
                              <a:ea typeface="Cambria Math" panose="02040503050406030204" pitchFamily="18" charset="0"/>
                            </a:rPr>
                            <m:t>𝑟</m:t>
                          </m:r>
                        </m:den>
                      </m:f>
                      <m:r>
                        <m:rPr>
                          <m:sty m:val="p"/>
                        </m:rPr>
                        <a:rPr lang="en-GB" b="0" i="0" smtClean="0">
                          <a:latin typeface="Cambria Math" panose="02040503050406030204" pitchFamily="18" charset="0"/>
                          <a:ea typeface="Cambria Math" panose="02040503050406030204" pitchFamily="18" charset="0"/>
                        </a:rPr>
                        <m:t>Δ</m:t>
                      </m:r>
                      <m:r>
                        <a:rPr lang="en-GB" b="0" i="0" smtClean="0">
                          <a:latin typeface="Cambria Math" panose="02040503050406030204" pitchFamily="18" charset="0"/>
                          <a:ea typeface="Cambria Math" panose="02040503050406030204" pitchFamily="18" charset="0"/>
                        </a:rPr>
                        <m:t>𝑊</m:t>
                      </m:r>
                      <m:r>
                        <a:rPr lang="en-GB" b="0" i="0" smtClean="0">
                          <a:latin typeface="Cambria Math" panose="02040503050406030204" pitchFamily="18" charset="0"/>
                          <a:ea typeface="Cambria Math" panose="02040503050406030204" pitchFamily="18" charset="0"/>
                        </a:rPr>
                        <m:t> </m:t>
                      </m:r>
                    </m:oMath>
                  </m:oMathPara>
                </a14:m>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US" dirty="0">
                  <a:latin typeface="CMU Serif Roman" panose="02000603000000000000" pitchFamily="2" charset="0"/>
                  <a:ea typeface="CMU Serif Roman" panose="02000603000000000000" pitchFamily="2" charset="0"/>
                  <a:cs typeface="CMU Serif Roman" panose="02000603000000000000" pitchFamily="2" charset="0"/>
                </a:endParaRPr>
              </a:p>
            </p:txBody>
          </p:sp>
        </mc:Choice>
        <mc:Fallback xmlns="">
          <p:sp>
            <p:nvSpPr>
              <p:cNvPr id="5" name="Content Placeholder 2">
                <a:extLst>
                  <a:ext uri="{FF2B5EF4-FFF2-40B4-BE49-F238E27FC236}">
                    <a16:creationId xmlns:a16="http://schemas.microsoft.com/office/drawing/2014/main" id="{9716D1D8-782B-2DCF-55A8-FA92B65166DD}"/>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l="-1086" t="-2035"/>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123B16D0-663A-7A2C-5CB8-7BFA93BFE571}"/>
              </a:ext>
            </a:extLst>
          </p:cNvPr>
          <p:cNvCxnSpPr>
            <a:cxnSpLocks/>
          </p:cNvCxnSpPr>
          <p:nvPr/>
        </p:nvCxnSpPr>
        <p:spPr>
          <a:xfrm flipH="1">
            <a:off x="7259782" y="4810893"/>
            <a:ext cx="654477" cy="315289"/>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CA06CD4-F0CB-603D-D6C8-063C381094EF}"/>
              </a:ext>
            </a:extLst>
          </p:cNvPr>
          <p:cNvSpPr txBox="1"/>
          <p:nvPr/>
        </p:nvSpPr>
        <p:spPr>
          <a:xfrm>
            <a:off x="7518971" y="4441561"/>
            <a:ext cx="1447832" cy="369332"/>
          </a:xfrm>
          <a:prstGeom prst="rect">
            <a:avLst/>
          </a:prstGeom>
          <a:noFill/>
        </p:spPr>
        <p:txBody>
          <a:bodyPr wrap="none" rtlCol="0">
            <a:spAutoFit/>
          </a:bodyPr>
          <a:lstStyle/>
          <a:p>
            <a:r>
              <a:rPr lang="en-US" dirty="0"/>
              <a:t>Update this!</a:t>
            </a:r>
          </a:p>
        </p:txBody>
      </p:sp>
      <p:sp>
        <p:nvSpPr>
          <p:cNvPr id="2" name="Content Placeholder 2">
            <a:extLst>
              <a:ext uri="{FF2B5EF4-FFF2-40B4-BE49-F238E27FC236}">
                <a16:creationId xmlns:a16="http://schemas.microsoft.com/office/drawing/2014/main" id="{58C05986-6B04-EB78-8119-C71B9DA29C06}"/>
              </a:ext>
            </a:extLst>
          </p:cNvPr>
          <p:cNvSpPr txBox="1">
            <a:spLocks/>
          </p:cNvSpPr>
          <p:nvPr/>
        </p:nvSpPr>
        <p:spPr>
          <a:xfrm>
            <a:off x="9480692" y="5793804"/>
            <a:ext cx="3118738" cy="52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rPr>
              <a:t>arXiv:2106.09685</a:t>
            </a:r>
          </a:p>
          <a:p>
            <a:endParaRPr lang="en-US"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endParaRPr>
          </a:p>
          <a:p>
            <a:endParaRPr lang="en-US"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endParaRPr>
          </a:p>
        </p:txBody>
      </p:sp>
    </p:spTree>
    <p:extLst>
      <p:ext uri="{BB962C8B-B14F-4D97-AF65-F5344CB8AC3E}">
        <p14:creationId xmlns:p14="http://schemas.microsoft.com/office/powerpoint/2010/main" val="3330116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ABB53-651D-2F27-0025-4EC2C1394F3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C52A129-4FA4-A6F9-8126-46B3A3F4FB36}"/>
              </a:ext>
            </a:extLst>
          </p:cNvPr>
          <p:cNvSpPr>
            <a:spLocks noGrp="1"/>
          </p:cNvSpPr>
          <p:nvPr>
            <p:ph type="title"/>
          </p:nvPr>
        </p:nvSpPr>
        <p:spPr>
          <a:xfrm>
            <a:off x="838200" y="365125"/>
            <a:ext cx="10515600" cy="1325563"/>
          </a:xfrm>
        </p:spPr>
        <p:txBody>
          <a:bodyPr/>
          <a:lstStyle/>
          <a:p>
            <a:r>
              <a:rPr lang="en-US" dirty="0">
                <a:latin typeface="CMU Serif Roman" panose="02000603000000000000" pitchFamily="2" charset="0"/>
                <a:ea typeface="CMU Serif Roman" panose="02000603000000000000" pitchFamily="2" charset="0"/>
                <a:cs typeface="CMU Serif Roman" panose="02000603000000000000" pitchFamily="2" charset="0"/>
              </a:rPr>
              <a:t>Low Rank Adaptation (</a:t>
            </a:r>
            <a:r>
              <a:rPr lang="en-US" dirty="0" err="1">
                <a:latin typeface="CMU Serif Roman" panose="02000603000000000000" pitchFamily="2" charset="0"/>
                <a:ea typeface="CMU Serif Roman" panose="02000603000000000000" pitchFamily="2" charset="0"/>
                <a:cs typeface="CMU Serif Roman" panose="02000603000000000000" pitchFamily="2" charset="0"/>
              </a:rPr>
              <a:t>LoRA</a:t>
            </a:r>
            <a:r>
              <a:rPr lang="en-US" dirty="0">
                <a:latin typeface="CMU Serif Roman" panose="02000603000000000000" pitchFamily="2" charset="0"/>
                <a:ea typeface="CMU Serif Roman" panose="02000603000000000000" pitchFamily="2" charset="0"/>
                <a:cs typeface="CMU Serif Roman" panose="02000603000000000000" pitchFamily="2" charset="0"/>
              </a:rPr>
              <a:t>)</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5EEE266E-BC5F-07CE-8C38-E95F31E8A0F3}"/>
                  </a:ext>
                </a:extLst>
              </p:cNvPr>
              <p:cNvSpPr>
                <a:spLocks noGrp="1"/>
              </p:cNvSpPr>
              <p:nvPr>
                <p:ph idx="1"/>
              </p:nvPr>
            </p:nvSpPr>
            <p:spPr>
              <a:xfrm>
                <a:off x="828261" y="1825625"/>
                <a:ext cx="10515600" cy="4351338"/>
              </a:xfrm>
            </p:spPr>
            <p:txBody>
              <a:bodyPr>
                <a:normAutofit/>
              </a:bodyPr>
              <a:lstStyle/>
              <a:p>
                <a:pPr marL="0" indent="0">
                  <a:buNone/>
                </a:pPr>
                <a:r>
                  <a:rPr lang="en-US" dirty="0">
                    <a:latin typeface="CMU Serif Roman" panose="02000603000000000000" pitchFamily="2" charset="0"/>
                    <a:ea typeface="CMU Serif Roman" panose="02000603000000000000" pitchFamily="2" charset="0"/>
                    <a:cs typeface="CMU Serif Roman" panose="02000603000000000000" pitchFamily="2" charset="0"/>
                  </a:rPr>
                  <a:t>This is great, so long as we can make</a:t>
                </a:r>
                <a14:m>
                  <m:oMath xmlns:m="http://schemas.openxmlformats.org/officeDocument/2006/math">
                    <m:r>
                      <a:rPr lang="en-GB" b="0" i="1" smtClean="0">
                        <a:latin typeface="Cambria Math" panose="02040503050406030204" pitchFamily="18" charset="0"/>
                      </a:rPr>
                      <m:t> </m:t>
                    </m:r>
                    <m:r>
                      <m:rPr>
                        <m:sty m:val="p"/>
                      </m:rPr>
                      <a:rPr lang="en-GB" b="0" i="0" smtClean="0">
                        <a:latin typeface="Cambria Math" panose="02040503050406030204" pitchFamily="18" charset="0"/>
                      </a:rPr>
                      <m:t>Δ</m:t>
                    </m:r>
                    <m:r>
                      <a:rPr lang="en-GB" b="0" i="0" smtClean="0">
                        <a:latin typeface="Cambria Math" panose="02040503050406030204" pitchFamily="18" charset="0"/>
                      </a:rPr>
                      <m:t>𝑊</m:t>
                    </m:r>
                  </m:oMath>
                </a14:m>
                <a:r>
                  <a:rPr lang="en-GB" b="0" dirty="0">
                    <a:latin typeface="CMU Serif Roman" panose="02000603000000000000" pitchFamily="2" charset="0"/>
                    <a:ea typeface="CMU Serif Roman" panose="02000603000000000000" pitchFamily="2" charset="0"/>
                    <a:cs typeface="CMU Serif Roman" panose="02000603000000000000" pitchFamily="2" charset="0"/>
                  </a:rPr>
                  <a:t> “parameter efficient”</a:t>
                </a:r>
                <a:r>
                  <a:rPr lang="en-US" dirty="0">
                    <a:latin typeface="CMU Serif Roman" panose="02000603000000000000" pitchFamily="2" charset="0"/>
                    <a:ea typeface="CMU Serif Roman" panose="02000603000000000000" pitchFamily="2" charset="0"/>
                    <a:cs typeface="CMU Serif Roman" panose="02000603000000000000" pitchFamily="2" charset="0"/>
                  </a:rPr>
                  <a:t>, i.e. better than the </a:t>
                </a:r>
                <a14:m>
                  <m:oMath xmlns:m="http://schemas.openxmlformats.org/officeDocument/2006/math">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𝑚</m:t>
                    </m:r>
                    <m:r>
                      <a:rPr lang="en-GB" b="0" i="1" smtClean="0">
                        <a:latin typeface="Cambria Math" panose="02040503050406030204" pitchFamily="18" charset="0"/>
                      </a:rPr>
                      <m:t>=</m:t>
                    </m:r>
                    <m:r>
                      <a:rPr lang="en-GB" b="0" i="1" smtClean="0">
                        <a:latin typeface="Cambria Math" panose="02040503050406030204" pitchFamily="18" charset="0"/>
                      </a:rPr>
                      <m:t>𝑛𝑚</m:t>
                    </m:r>
                    <m:r>
                      <a:rPr lang="en-GB" b="0" i="1" smtClean="0">
                        <a:latin typeface="Cambria Math" panose="02040503050406030204" pitchFamily="18" charset="0"/>
                      </a:rPr>
                      <m:t> </m:t>
                    </m:r>
                  </m:oMath>
                </a14:m>
                <a:r>
                  <a:rPr lang="en-GB" b="0" dirty="0">
                    <a:latin typeface="CMU Serif Roman" panose="02000603000000000000" pitchFamily="2" charset="0"/>
                    <a:ea typeface="CMU Serif Roman" panose="02000603000000000000" pitchFamily="2" charset="0"/>
                    <a:cs typeface="CMU Serif Roman" panose="02000603000000000000" pitchFamily="2" charset="0"/>
                  </a:rPr>
                  <a:t>parameters defined in </a:t>
                </a:r>
                <a14:m>
                  <m:oMath xmlns:m="http://schemas.openxmlformats.org/officeDocument/2006/math">
                    <m:r>
                      <a:rPr lang="en-GB" b="0" i="1" smtClean="0">
                        <a:latin typeface="Cambria Math" panose="02040503050406030204" pitchFamily="18" charset="0"/>
                      </a:rPr>
                      <m:t>𝑊</m:t>
                    </m:r>
                  </m:oMath>
                </a14:m>
                <a:endParaRPr lang="en-US"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US"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US"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US"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US"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US"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r>
                  <a:rPr lang="en-US" dirty="0">
                    <a:latin typeface="CMU Serif Roman" panose="02000603000000000000" pitchFamily="2" charset="0"/>
                    <a:ea typeface="CMU Serif Roman" panose="02000603000000000000" pitchFamily="2" charset="0"/>
                    <a:cs typeface="CMU Serif Roman" panose="02000603000000000000" pitchFamily="2" charset="0"/>
                  </a:rPr>
                  <a:t>But w</a:t>
                </a:r>
                <a:r>
                  <a:rPr lang="en-US" b="0" dirty="0">
                    <a:latin typeface="CMU Serif Roman" panose="02000603000000000000" pitchFamily="2" charset="0"/>
                    <a:ea typeface="CMU Serif Roman" panose="02000603000000000000" pitchFamily="2" charset="0"/>
                    <a:cs typeface="CMU Serif Roman" panose="02000603000000000000" pitchFamily="2" charset="0"/>
                  </a:rPr>
                  <a:t>e can</a:t>
                </a:r>
                <a:r>
                  <a:rPr lang="en-US" dirty="0">
                    <a:latin typeface="CMU Serif Roman" panose="02000603000000000000" pitchFamily="2" charset="0"/>
                    <a:ea typeface="CMU Serif Roman" panose="02000603000000000000" pitchFamily="2" charset="0"/>
                    <a:cs typeface="CMU Serif Roman" panose="02000603000000000000" pitchFamily="2" charset="0"/>
                  </a:rPr>
                  <a:t> only add matrices that have the same dimensions, so </a:t>
                </a:r>
                <a14:m>
                  <m:oMath xmlns:m="http://schemas.openxmlformats.org/officeDocument/2006/math">
                    <m:r>
                      <m:rPr>
                        <m:sty m:val="p"/>
                      </m:rPr>
                      <a:rPr lang="en-GB" b="0" i="0" smtClean="0">
                        <a:latin typeface="Cambria Math" panose="02040503050406030204" pitchFamily="18" charset="0"/>
                      </a:rPr>
                      <m:t>Δ</m:t>
                    </m:r>
                    <m:r>
                      <a:rPr lang="en-GB" b="0" i="1" smtClean="0">
                        <a:latin typeface="Cambria Math" panose="02040503050406030204" pitchFamily="18" charset="0"/>
                      </a:rPr>
                      <m:t>𝑊</m:t>
                    </m:r>
                  </m:oMath>
                </a14:m>
                <a:r>
                  <a:rPr lang="en-GB" b="0" dirty="0">
                    <a:latin typeface="CMU Serif Roman" panose="02000603000000000000" pitchFamily="2" charset="0"/>
                    <a:ea typeface="CMU Serif Roman" panose="02000603000000000000" pitchFamily="2" charset="0"/>
                    <a:cs typeface="CMU Serif Roman" panose="02000603000000000000" pitchFamily="2" charset="0"/>
                  </a:rPr>
                  <a:t> must also be </a:t>
                </a:r>
                <a14:m>
                  <m:oMath xmlns:m="http://schemas.openxmlformats.org/officeDocument/2006/math">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𝑚</m:t>
                    </m:r>
                  </m:oMath>
                </a14:m>
                <a:r>
                  <a:rPr lang="en-GB" b="0" dirty="0">
                    <a:latin typeface="CMU Serif Roman" panose="02000603000000000000" pitchFamily="2" charset="0"/>
                    <a:ea typeface="CMU Serif Roman" panose="02000603000000000000" pitchFamily="2" charset="0"/>
                    <a:cs typeface="CMU Serif Roman" panose="02000603000000000000" pitchFamily="2" charset="0"/>
                  </a:rPr>
                  <a:t> !</a:t>
                </a: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p:txBody>
          </p:sp>
        </mc:Choice>
        <mc:Fallback xmlns="">
          <p:sp>
            <p:nvSpPr>
              <p:cNvPr id="5" name="Content Placeholder 2">
                <a:extLst>
                  <a:ext uri="{FF2B5EF4-FFF2-40B4-BE49-F238E27FC236}">
                    <a16:creationId xmlns:a16="http://schemas.microsoft.com/office/drawing/2014/main" id="{5EEE266E-BC5F-07CE-8C38-E95F31E8A0F3}"/>
                  </a:ext>
                </a:extLst>
              </p:cNvPr>
              <p:cNvSpPr>
                <a:spLocks noGrp="1" noRot="1" noChangeAspect="1" noMove="1" noResize="1" noEditPoints="1" noAdjustHandles="1" noChangeArrowheads="1" noChangeShapeType="1" noTextEdit="1"/>
              </p:cNvSpPr>
              <p:nvPr>
                <p:ph idx="1"/>
              </p:nvPr>
            </p:nvSpPr>
            <p:spPr>
              <a:xfrm>
                <a:off x="828261" y="1825625"/>
                <a:ext cx="10515600" cy="4351338"/>
              </a:xfrm>
              <a:blipFill>
                <a:blip r:embed="rId2"/>
                <a:stretch>
                  <a:fillRect l="-1206" t="-2035" r="-121" b="-3488"/>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625CA422-C638-4787-0724-32EBD9BBA22F}"/>
              </a:ext>
            </a:extLst>
          </p:cNvPr>
          <p:cNvSpPr txBox="1">
            <a:spLocks/>
          </p:cNvSpPr>
          <p:nvPr/>
        </p:nvSpPr>
        <p:spPr>
          <a:xfrm>
            <a:off x="9480692" y="5793804"/>
            <a:ext cx="3118738" cy="52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rPr>
              <a:t>arXiv:2106.09685</a:t>
            </a:r>
          </a:p>
          <a:p>
            <a:endParaRPr lang="en-US"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endParaRPr>
          </a:p>
          <a:p>
            <a:endParaRPr lang="en-US"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5E20761-BD45-1C9E-D543-DDB0DC7E10A3}"/>
                  </a:ext>
                </a:extLst>
              </p:cNvPr>
              <p:cNvSpPr txBox="1"/>
              <p:nvPr/>
            </p:nvSpPr>
            <p:spPr>
              <a:xfrm>
                <a:off x="1974272" y="2986144"/>
                <a:ext cx="8243456" cy="2030299"/>
              </a:xfrm>
              <a:prstGeom prst="rect">
                <a:avLst/>
              </a:prstGeom>
              <a:noFill/>
            </p:spPr>
            <p:txBody>
              <a:bodyPr wrap="square" lIns="0" tIns="0" rIns="0" bIns="0" rtlCol="0">
                <a:spAutoFit/>
              </a:bodyPr>
              <a:lstStyle/>
              <a:p>
                <a:pPr/>
                <a14:m>
                  <m:oMathPara xmlns:m="http://schemas.openxmlformats.org/officeDocument/2006/math">
                    <m:oMath>
                      <m:d>
                        <m:dPr>
                          <m:begChr m:val="["/>
                          <m:endChr m:val="]"/>
                          <m:ctrlPr>
                            <a:rPr lang="en-US" sz="3600" i="1" smtClean="0">
                              <a:latin typeface="Cambria Math" panose="02040503050406030204" pitchFamily="18" charset="0"/>
                            </a:rPr>
                          </m:ctrlPr>
                        </m:dPr>
                        <m:e>
                          <m:m>
                            <m:mPr>
                              <m:mcs>
                                <m:mc>
                                  <m:mcPr>
                                    <m:count m:val="3"/>
                                    <m:mcJc m:val="center"/>
                                  </m:mcPr>
                                </m:mc>
                              </m:mcs>
                              <m:ctrlPr>
                                <a:rPr lang="en-US" sz="3600" i="1" smtClean="0">
                                  <a:latin typeface="Cambria Math" panose="02040503050406030204" pitchFamily="18" charset="0"/>
                                </a:rPr>
                              </m:ctrlPr>
                            </m:mPr>
                            <m:mr>
                              <m:e>
                                <m:r>
                                  <m:rPr>
                                    <m:brk m:alnAt="7"/>
                                  </m:rPr>
                                  <a:rPr lang="en-GB" sz="3600" b="0" i="1" smtClean="0">
                                    <a:latin typeface="Cambria Math" panose="02040503050406030204" pitchFamily="18" charset="0"/>
                                  </a:rPr>
                                  <m:t>5</m:t>
                                </m:r>
                                <m:r>
                                  <a:rPr lang="en-GB" sz="3600" b="0" i="1" smtClean="0">
                                    <a:latin typeface="Cambria Math" panose="02040503050406030204" pitchFamily="18" charset="0"/>
                                  </a:rPr>
                                  <m:t>.7</m:t>
                                </m:r>
                              </m:e>
                              <m:e>
                                <m:r>
                                  <a:rPr lang="en-US" sz="3600" i="1" smtClean="0">
                                    <a:latin typeface="Cambria Math" panose="02040503050406030204" pitchFamily="18" charset="0"/>
                                  </a:rPr>
                                  <m:t>⋯</m:t>
                                </m:r>
                              </m:e>
                              <m:e>
                                <m:r>
                                  <a:rPr lang="en-GB" sz="3600" b="0" i="1" smtClean="0">
                                    <a:latin typeface="Cambria Math" panose="02040503050406030204" pitchFamily="18" charset="0"/>
                                  </a:rPr>
                                  <m:t>2.3</m:t>
                                </m:r>
                              </m:e>
                            </m:mr>
                            <m:mr>
                              <m:e>
                                <m:r>
                                  <a:rPr lang="en-US" sz="3600" i="1" smtClean="0">
                                    <a:latin typeface="Cambria Math" panose="02040503050406030204" pitchFamily="18" charset="0"/>
                                  </a:rPr>
                                  <m:t>⋮</m:t>
                                </m:r>
                              </m:e>
                              <m:e>
                                <m:r>
                                  <a:rPr lang="en-US" sz="3600" i="1" smtClean="0">
                                    <a:latin typeface="Cambria Math" panose="02040503050406030204" pitchFamily="18" charset="0"/>
                                  </a:rPr>
                                  <m:t>⋱</m:t>
                                </m:r>
                              </m:e>
                              <m:e>
                                <m:r>
                                  <a:rPr lang="en-US" sz="3600" i="1" smtClean="0">
                                    <a:latin typeface="Cambria Math" panose="02040503050406030204" pitchFamily="18" charset="0"/>
                                  </a:rPr>
                                  <m:t>⋮</m:t>
                                </m:r>
                              </m:e>
                            </m:mr>
                            <m:mr>
                              <m:e>
                                <m:r>
                                  <a:rPr lang="en-GB" sz="3600" b="0" i="1" smtClean="0">
                                    <a:latin typeface="Cambria Math" panose="02040503050406030204" pitchFamily="18" charset="0"/>
                                  </a:rPr>
                                  <m:t>1.3</m:t>
                                </m:r>
                              </m:e>
                              <m:e>
                                <m:r>
                                  <a:rPr lang="en-US" sz="3600" i="1" smtClean="0">
                                    <a:latin typeface="Cambria Math" panose="02040503050406030204" pitchFamily="18" charset="0"/>
                                  </a:rPr>
                                  <m:t>⋯</m:t>
                                </m:r>
                              </m:e>
                              <m:e>
                                <m:r>
                                  <a:rPr lang="en-GB" sz="3600" b="0" i="1" smtClean="0">
                                    <a:latin typeface="Cambria Math" panose="02040503050406030204" pitchFamily="18" charset="0"/>
                                  </a:rPr>
                                  <m:t>4.7</m:t>
                                </m:r>
                              </m:e>
                            </m:mr>
                          </m:m>
                        </m:e>
                      </m:d>
                      <m:r>
                        <a:rPr lang="en-GB" sz="3600" b="0" i="1" smtClean="0">
                          <a:latin typeface="Cambria Math" panose="02040503050406030204" pitchFamily="18" charset="0"/>
                        </a:rPr>
                        <m:t>+</m:t>
                      </m:r>
                      <m:f>
                        <m:fPr>
                          <m:ctrlPr>
                            <a:rPr lang="en-GB" sz="3600" b="0" i="1" smtClean="0">
                              <a:solidFill>
                                <a:schemeClr val="tx1">
                                  <a:lumMod val="50000"/>
                                  <a:lumOff val="50000"/>
                                </a:schemeClr>
                              </a:solidFill>
                              <a:latin typeface="Cambria Math" panose="02040503050406030204" pitchFamily="18" charset="0"/>
                            </a:rPr>
                          </m:ctrlPr>
                        </m:fPr>
                        <m:num>
                          <m:r>
                            <a:rPr lang="en-GB" sz="3600" b="0" i="1" smtClean="0">
                              <a:solidFill>
                                <a:schemeClr val="tx1">
                                  <a:lumMod val="50000"/>
                                  <a:lumOff val="50000"/>
                                </a:schemeClr>
                              </a:solidFill>
                              <a:latin typeface="Cambria Math" panose="02040503050406030204" pitchFamily="18" charset="0"/>
                            </a:rPr>
                            <m:t>𝛼</m:t>
                          </m:r>
                        </m:num>
                        <m:den>
                          <m:r>
                            <a:rPr lang="en-GB" sz="3600" b="0" i="1" smtClean="0">
                              <a:solidFill>
                                <a:schemeClr val="tx1">
                                  <a:lumMod val="50000"/>
                                  <a:lumOff val="50000"/>
                                </a:schemeClr>
                              </a:solidFill>
                              <a:latin typeface="Cambria Math" panose="02040503050406030204" pitchFamily="18" charset="0"/>
                            </a:rPr>
                            <m:t>𝑟</m:t>
                          </m:r>
                        </m:den>
                      </m:f>
                      <m:d>
                        <m:dPr>
                          <m:begChr m:val="["/>
                          <m:endChr m:val="]"/>
                          <m:ctrlPr>
                            <a:rPr lang="en-US" sz="3600" i="1">
                              <a:latin typeface="Cambria Math" panose="02040503050406030204" pitchFamily="18" charset="0"/>
                            </a:rPr>
                          </m:ctrlPr>
                        </m:dPr>
                        <m:e>
                          <m:m>
                            <m:mPr>
                              <m:mcs>
                                <m:mc>
                                  <m:mcPr>
                                    <m:count m:val="3"/>
                                    <m:mcJc m:val="center"/>
                                  </m:mcPr>
                                </m:mc>
                              </m:mcs>
                              <m:ctrlPr>
                                <a:rPr lang="en-US" sz="3600" i="1">
                                  <a:latin typeface="Cambria Math" panose="02040503050406030204" pitchFamily="18" charset="0"/>
                                </a:rPr>
                              </m:ctrlPr>
                            </m:mPr>
                            <m:mr>
                              <m:e>
                                <m:r>
                                  <m:rPr>
                                    <m:brk m:alnAt="7"/>
                                  </m:rPr>
                                  <a:rPr lang="en-GB" sz="3600" b="0" i="1" smtClean="0">
                                    <a:latin typeface="Cambria Math" panose="02040503050406030204" pitchFamily="18" charset="0"/>
                                  </a:rPr>
                                  <m:t>4</m:t>
                                </m:r>
                                <m:r>
                                  <a:rPr lang="en-GB" sz="3600" b="0" i="1" smtClean="0">
                                    <a:latin typeface="Cambria Math" panose="02040503050406030204" pitchFamily="18" charset="0"/>
                                  </a:rPr>
                                  <m:t>.2</m:t>
                                </m:r>
                              </m:e>
                              <m:e>
                                <m:r>
                                  <a:rPr lang="en-US" sz="3600" i="1">
                                    <a:latin typeface="Cambria Math" panose="02040503050406030204" pitchFamily="18" charset="0"/>
                                  </a:rPr>
                                  <m:t>⋯</m:t>
                                </m:r>
                              </m:e>
                              <m:e>
                                <m:r>
                                  <a:rPr lang="en-GB" sz="3600" b="0" i="1" smtClean="0">
                                    <a:latin typeface="Cambria Math" panose="02040503050406030204" pitchFamily="18" charset="0"/>
                                  </a:rPr>
                                  <m:t>1.7</m:t>
                                </m:r>
                              </m:e>
                            </m:mr>
                            <m:mr>
                              <m:e>
                                <m:r>
                                  <a:rPr lang="en-US" sz="3600" i="1">
                                    <a:latin typeface="Cambria Math" panose="02040503050406030204" pitchFamily="18" charset="0"/>
                                  </a:rPr>
                                  <m:t>⋮</m:t>
                                </m:r>
                              </m:e>
                              <m:e>
                                <m:r>
                                  <a:rPr lang="en-US" sz="3600" i="1">
                                    <a:latin typeface="Cambria Math" panose="02040503050406030204" pitchFamily="18" charset="0"/>
                                  </a:rPr>
                                  <m:t>⋱</m:t>
                                </m:r>
                              </m:e>
                              <m:e>
                                <m:r>
                                  <a:rPr lang="en-US" sz="3600" i="1">
                                    <a:latin typeface="Cambria Math" panose="02040503050406030204" pitchFamily="18" charset="0"/>
                                  </a:rPr>
                                  <m:t>⋮</m:t>
                                </m:r>
                              </m:e>
                            </m:mr>
                            <m:mr>
                              <m:e>
                                <m:r>
                                  <a:rPr lang="en-GB" sz="3600" b="0" i="1" smtClean="0">
                                    <a:latin typeface="Cambria Math" panose="02040503050406030204" pitchFamily="18" charset="0"/>
                                  </a:rPr>
                                  <m:t>0.8</m:t>
                                </m:r>
                              </m:e>
                              <m:e>
                                <m:r>
                                  <a:rPr lang="en-US" sz="3600" i="1">
                                    <a:latin typeface="Cambria Math" panose="02040503050406030204" pitchFamily="18" charset="0"/>
                                  </a:rPr>
                                  <m:t>⋯</m:t>
                                </m:r>
                              </m:e>
                              <m:e>
                                <m:r>
                                  <a:rPr lang="en-GB" sz="3600" b="0" i="1" smtClean="0">
                                    <a:latin typeface="Cambria Math" panose="02040503050406030204" pitchFamily="18" charset="0"/>
                                  </a:rPr>
                                  <m:t>3.2</m:t>
                                </m:r>
                              </m:e>
                            </m:mr>
                          </m:m>
                        </m:e>
                      </m:d>
                    </m:oMath>
                  </m:oMathPara>
                </a14:m>
                <a:endParaRPr lang="en-GB" sz="3600" b="0" dirty="0"/>
              </a:p>
              <a:p>
                <a:endParaRPr lang="en-US" sz="3600" dirty="0"/>
              </a:p>
            </p:txBody>
          </p:sp>
        </mc:Choice>
        <mc:Fallback xmlns="">
          <p:sp>
            <p:nvSpPr>
              <p:cNvPr id="7" name="TextBox 6">
                <a:extLst>
                  <a:ext uri="{FF2B5EF4-FFF2-40B4-BE49-F238E27FC236}">
                    <a16:creationId xmlns:a16="http://schemas.microsoft.com/office/drawing/2014/main" id="{75E20761-BD45-1C9E-D543-DDB0DC7E10A3}"/>
                  </a:ext>
                </a:extLst>
              </p:cNvPr>
              <p:cNvSpPr txBox="1">
                <a:spLocks noRot="1" noChangeAspect="1" noMove="1" noResize="1" noEditPoints="1" noAdjustHandles="1" noChangeArrowheads="1" noChangeShapeType="1" noTextEdit="1"/>
              </p:cNvSpPr>
              <p:nvPr/>
            </p:nvSpPr>
            <p:spPr>
              <a:xfrm>
                <a:off x="1974272" y="2986144"/>
                <a:ext cx="8243456" cy="2030299"/>
              </a:xfrm>
              <a:prstGeom prst="rect">
                <a:avLst/>
              </a:prstGeom>
              <a:blipFill>
                <a:blip r:embed="rId3"/>
                <a:stretch>
                  <a:fillRect t="-1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E041090-E8B8-E39C-213E-791D1FA0249C}"/>
                  </a:ext>
                </a:extLst>
              </p:cNvPr>
              <p:cNvSpPr txBox="1"/>
              <p:nvPr/>
            </p:nvSpPr>
            <p:spPr>
              <a:xfrm>
                <a:off x="3283528" y="4689715"/>
                <a:ext cx="2064327" cy="923330"/>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𝑊</m:t>
                      </m:r>
                      <m:d>
                        <m:dPr>
                          <m:ctrlPr>
                            <a:rPr lang="en-GB" b="0" i="1" smtClean="0">
                              <a:solidFill>
                                <a:schemeClr val="tx1">
                                  <a:lumMod val="50000"/>
                                  <a:lumOff val="50000"/>
                                </a:schemeClr>
                              </a:solidFill>
                              <a:latin typeface="Cambria Math" panose="02040503050406030204" pitchFamily="18" charset="0"/>
                            </a:rPr>
                          </m:ctrlPr>
                        </m:dPr>
                        <m:e>
                          <m:r>
                            <a:rPr lang="en-GB" b="0" i="1" smtClean="0">
                              <a:solidFill>
                                <a:schemeClr val="tx1">
                                  <a:lumMod val="50000"/>
                                  <a:lumOff val="50000"/>
                                </a:schemeClr>
                              </a:solidFill>
                              <a:latin typeface="Cambria Math" panose="02040503050406030204" pitchFamily="18" charset="0"/>
                            </a:rPr>
                            <m:t>𝑛</m:t>
                          </m:r>
                          <m:r>
                            <a:rPr lang="en-GB" b="0" i="1" smtClean="0">
                              <a:solidFill>
                                <a:schemeClr val="tx1">
                                  <a:lumMod val="50000"/>
                                  <a:lumOff val="50000"/>
                                </a:schemeClr>
                              </a:solidFill>
                              <a:latin typeface="Cambria Math" panose="02040503050406030204" pitchFamily="18" charset="0"/>
                            </a:rPr>
                            <m:t>×</m:t>
                          </m:r>
                          <m:r>
                            <a:rPr lang="en-GB" b="0" i="1" smtClean="0">
                              <a:solidFill>
                                <a:schemeClr val="tx1">
                                  <a:lumMod val="50000"/>
                                  <a:lumOff val="50000"/>
                                </a:schemeClr>
                              </a:solidFill>
                              <a:latin typeface="Cambria Math" panose="02040503050406030204" pitchFamily="18" charset="0"/>
                            </a:rPr>
                            <m:t>𝑚</m:t>
                          </m:r>
                        </m:e>
                      </m:d>
                    </m:oMath>
                  </m:oMathPara>
                </a14:m>
                <a:endParaRPr lang="en-GB" b="0" dirty="0"/>
              </a:p>
              <a:p>
                <a:endParaRPr lang="en-GB" b="0" dirty="0"/>
              </a:p>
              <a:p>
                <a:endParaRPr lang="en-US" dirty="0"/>
              </a:p>
            </p:txBody>
          </p:sp>
        </mc:Choice>
        <mc:Fallback xmlns="">
          <p:sp>
            <p:nvSpPr>
              <p:cNvPr id="10" name="TextBox 9">
                <a:extLst>
                  <a:ext uri="{FF2B5EF4-FFF2-40B4-BE49-F238E27FC236}">
                    <a16:creationId xmlns:a16="http://schemas.microsoft.com/office/drawing/2014/main" id="{CE041090-E8B8-E39C-213E-791D1FA0249C}"/>
                  </a:ext>
                </a:extLst>
              </p:cNvPr>
              <p:cNvSpPr txBox="1">
                <a:spLocks noRot="1" noChangeAspect="1" noMove="1" noResize="1" noEditPoints="1" noAdjustHandles="1" noChangeArrowheads="1" noChangeShapeType="1" noTextEdit="1"/>
              </p:cNvSpPr>
              <p:nvPr/>
            </p:nvSpPr>
            <p:spPr>
              <a:xfrm>
                <a:off x="3283528" y="4689715"/>
                <a:ext cx="2064327" cy="92333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EDC67EB-76E1-D1F7-B823-E9181CB13FC6}"/>
                  </a:ext>
                </a:extLst>
              </p:cNvPr>
              <p:cNvSpPr txBox="1"/>
              <p:nvPr/>
            </p:nvSpPr>
            <p:spPr>
              <a:xfrm>
                <a:off x="6988099" y="4664145"/>
                <a:ext cx="2064327" cy="923330"/>
              </a:xfrm>
              <a:prstGeom prst="rect">
                <a:avLst/>
              </a:prstGeom>
              <a:noFill/>
            </p:spPr>
            <p:txBody>
              <a:bodyPr wrap="square" rtlCol="0">
                <a:spAutoFit/>
              </a:bodyPr>
              <a:lstStyle/>
              <a:p>
                <a:pPr/>
                <a14:m>
                  <m:oMathPara xmlns:m="http://schemas.openxmlformats.org/officeDocument/2006/math">
                    <m:oMath>
                      <m:r>
                        <m:rPr>
                          <m:sty m:val="p"/>
                        </m:rPr>
                        <a:rPr lang="en-GB" b="0" i="0" smtClean="0">
                          <a:latin typeface="Cambria Math" panose="02040503050406030204" pitchFamily="18" charset="0"/>
                        </a:rPr>
                        <m:t>Δ</m:t>
                      </m:r>
                      <m:r>
                        <a:rPr lang="en-GB" b="0" i="1" smtClean="0">
                          <a:latin typeface="Cambria Math" panose="02040503050406030204" pitchFamily="18" charset="0"/>
                        </a:rPr>
                        <m:t>𝑊</m:t>
                      </m:r>
                      <m:d>
                        <m:dPr>
                          <m:ctrlPr>
                            <a:rPr lang="en-GB" b="0" i="1" smtClean="0">
                              <a:solidFill>
                                <a:schemeClr val="tx1">
                                  <a:lumMod val="50000"/>
                                  <a:lumOff val="50000"/>
                                </a:schemeClr>
                              </a:solidFill>
                              <a:latin typeface="Cambria Math" panose="02040503050406030204" pitchFamily="18" charset="0"/>
                            </a:rPr>
                          </m:ctrlPr>
                        </m:dPr>
                        <m:e>
                          <m:r>
                            <a:rPr lang="en-GB" b="0" i="1" smtClean="0">
                              <a:solidFill>
                                <a:schemeClr val="tx1">
                                  <a:lumMod val="50000"/>
                                  <a:lumOff val="50000"/>
                                </a:schemeClr>
                              </a:solidFill>
                              <a:latin typeface="Cambria Math" panose="02040503050406030204" pitchFamily="18" charset="0"/>
                            </a:rPr>
                            <m:t>𝑛</m:t>
                          </m:r>
                          <m:r>
                            <a:rPr lang="en-GB" b="0" i="1" smtClean="0">
                              <a:solidFill>
                                <a:schemeClr val="tx1">
                                  <a:lumMod val="50000"/>
                                  <a:lumOff val="50000"/>
                                </a:schemeClr>
                              </a:solidFill>
                              <a:latin typeface="Cambria Math" panose="02040503050406030204" pitchFamily="18" charset="0"/>
                            </a:rPr>
                            <m:t>×</m:t>
                          </m:r>
                          <m:r>
                            <a:rPr lang="en-GB" b="0" i="1" smtClean="0">
                              <a:solidFill>
                                <a:schemeClr val="tx1">
                                  <a:lumMod val="50000"/>
                                  <a:lumOff val="50000"/>
                                </a:schemeClr>
                              </a:solidFill>
                              <a:latin typeface="Cambria Math" panose="02040503050406030204" pitchFamily="18" charset="0"/>
                            </a:rPr>
                            <m:t>𝑚</m:t>
                          </m:r>
                        </m:e>
                      </m:d>
                    </m:oMath>
                  </m:oMathPara>
                </a14:m>
                <a:endParaRPr lang="en-GB" b="0" dirty="0"/>
              </a:p>
              <a:p>
                <a:endParaRPr lang="en-GB" b="0" dirty="0"/>
              </a:p>
              <a:p>
                <a:endParaRPr lang="en-US" dirty="0"/>
              </a:p>
            </p:txBody>
          </p:sp>
        </mc:Choice>
        <mc:Fallback xmlns="">
          <p:sp>
            <p:nvSpPr>
              <p:cNvPr id="11" name="TextBox 10">
                <a:extLst>
                  <a:ext uri="{FF2B5EF4-FFF2-40B4-BE49-F238E27FC236}">
                    <a16:creationId xmlns:a16="http://schemas.microsoft.com/office/drawing/2014/main" id="{4EDC67EB-76E1-D1F7-B823-E9181CB13FC6}"/>
                  </a:ext>
                </a:extLst>
              </p:cNvPr>
              <p:cNvSpPr txBox="1">
                <a:spLocks noRot="1" noChangeAspect="1" noMove="1" noResize="1" noEditPoints="1" noAdjustHandles="1" noChangeArrowheads="1" noChangeShapeType="1" noTextEdit="1"/>
              </p:cNvSpPr>
              <p:nvPr/>
            </p:nvSpPr>
            <p:spPr>
              <a:xfrm>
                <a:off x="6988099" y="4664145"/>
                <a:ext cx="2064327" cy="92333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34857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C400CB8-E20D-1159-F7CA-953675A123CC}"/>
              </a:ext>
            </a:extLst>
          </p:cNvPr>
          <p:cNvSpPr>
            <a:spLocks noGrp="1"/>
          </p:cNvSpPr>
          <p:nvPr>
            <p:ph type="title"/>
          </p:nvPr>
        </p:nvSpPr>
        <p:spPr>
          <a:xfrm>
            <a:off x="838200" y="365125"/>
            <a:ext cx="10515600" cy="1325563"/>
          </a:xfrm>
        </p:spPr>
        <p:txBody>
          <a:bodyPr/>
          <a:lstStyle/>
          <a:p>
            <a:r>
              <a:rPr lang="en-US" dirty="0">
                <a:latin typeface="CMU Serif Roman" panose="02000603000000000000" pitchFamily="2" charset="0"/>
                <a:ea typeface="CMU Serif Roman" panose="02000603000000000000" pitchFamily="2" charset="0"/>
                <a:cs typeface="CMU Serif Roman" panose="02000603000000000000" pitchFamily="2" charset="0"/>
              </a:rPr>
              <a:t>Low Rank Adaptation (</a:t>
            </a:r>
            <a:r>
              <a:rPr lang="en-US" dirty="0" err="1">
                <a:latin typeface="CMU Serif Roman" panose="02000603000000000000" pitchFamily="2" charset="0"/>
                <a:ea typeface="CMU Serif Roman" panose="02000603000000000000" pitchFamily="2" charset="0"/>
                <a:cs typeface="CMU Serif Roman" panose="02000603000000000000" pitchFamily="2" charset="0"/>
              </a:rPr>
              <a:t>LoRA</a:t>
            </a:r>
            <a:r>
              <a:rPr lang="en-US" dirty="0">
                <a:latin typeface="CMU Serif Roman" panose="02000603000000000000" pitchFamily="2" charset="0"/>
                <a:ea typeface="CMU Serif Roman" panose="02000603000000000000" pitchFamily="2" charset="0"/>
                <a:cs typeface="CMU Serif Roman" panose="02000603000000000000" pitchFamily="2" charset="0"/>
              </a:rPr>
              <a:t>)</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55CCDA52-41DA-EEF0-C1AB-9BA7E1639F77}"/>
                  </a:ext>
                </a:extLst>
              </p:cNvPr>
              <p:cNvSpPr>
                <a:spLocks noGrp="1"/>
              </p:cNvSpPr>
              <p:nvPr>
                <p:ph idx="1"/>
              </p:nvPr>
            </p:nvSpPr>
            <p:spPr>
              <a:xfrm>
                <a:off x="828261" y="1825625"/>
                <a:ext cx="10515600" cy="4351338"/>
              </a:xfrm>
            </p:spPr>
            <p:txBody>
              <a:bodyPr>
                <a:normAutofit/>
              </a:bodyPr>
              <a:lstStyle/>
              <a:p>
                <a:pPr marL="0" indent="0">
                  <a:buNone/>
                </a:pPr>
                <a:r>
                  <a:rPr lang="en-US" b="1" dirty="0">
                    <a:latin typeface="CMU SERIF ROMAN" panose="02000603000000000000" pitchFamily="2" charset="0"/>
                    <a:ea typeface="CMU SERIF ROMAN" panose="02000603000000000000" pitchFamily="2" charset="0"/>
                    <a:cs typeface="CMU SERIF ROMAN" panose="02000603000000000000" pitchFamily="2" charset="0"/>
                  </a:rPr>
                  <a:t>The solution: </a:t>
                </a:r>
                <a:r>
                  <a:rPr lang="en-US" dirty="0">
                    <a:latin typeface="CMU Serif Roman" panose="02000603000000000000" pitchFamily="2" charset="0"/>
                    <a:ea typeface="CMU Serif Roman" panose="02000603000000000000" pitchFamily="2" charset="0"/>
                    <a:cs typeface="CMU Serif Roman" panose="02000603000000000000" pitchFamily="2" charset="0"/>
                  </a:rPr>
                  <a:t>express the adapter </a:t>
                </a:r>
                <a14:m>
                  <m:oMath xmlns:m="http://schemas.openxmlformats.org/officeDocument/2006/math">
                    <m:r>
                      <m:rPr>
                        <m:sty m:val="p"/>
                      </m:rPr>
                      <a:rPr lang="en-GB" b="0" i="0" smtClean="0">
                        <a:latin typeface="Cambria Math" panose="02040503050406030204" pitchFamily="18" charset="0"/>
                      </a:rPr>
                      <m:t>Δ</m:t>
                    </m:r>
                    <m:r>
                      <a:rPr lang="en-GB" b="0" i="1" smtClean="0">
                        <a:latin typeface="Cambria Math" panose="02040503050406030204" pitchFamily="18" charset="0"/>
                      </a:rPr>
                      <m:t>𝑊</m:t>
                    </m:r>
                  </m:oMath>
                </a14:m>
                <a:r>
                  <a:rPr lang="en-GB" b="0" dirty="0">
                    <a:latin typeface="CMU Serif Roman" panose="02000603000000000000" pitchFamily="2" charset="0"/>
                    <a:ea typeface="CMU Serif Roman" panose="02000603000000000000" pitchFamily="2" charset="0"/>
                    <a:cs typeface="CMU Serif Roman" panose="02000603000000000000" pitchFamily="2" charset="0"/>
                  </a:rPr>
                  <a:t> as a product of low rank matrices</a:t>
                </a:r>
              </a:p>
              <a:p>
                <a:pPr marL="0" indent="0">
                  <a:buNone/>
                </a:pPr>
                <a:endParaRPr lang="en-US"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a:p>
                <a:pPr marL="0" indent="0">
                  <a:buNone/>
                </a:pPr>
                <a:endParaRPr lang="en-GB" b="0" dirty="0">
                  <a:latin typeface="CMU Serif Roman" panose="02000603000000000000" pitchFamily="2" charset="0"/>
                  <a:ea typeface="CMU Serif Roman" panose="02000603000000000000" pitchFamily="2" charset="0"/>
                  <a:cs typeface="CMU Serif Roman" panose="02000603000000000000" pitchFamily="2" charset="0"/>
                </a:endParaRPr>
              </a:p>
            </p:txBody>
          </p:sp>
        </mc:Choice>
        <mc:Fallback xmlns="">
          <p:sp>
            <p:nvSpPr>
              <p:cNvPr id="5" name="Content Placeholder 2">
                <a:extLst>
                  <a:ext uri="{FF2B5EF4-FFF2-40B4-BE49-F238E27FC236}">
                    <a16:creationId xmlns:a16="http://schemas.microsoft.com/office/drawing/2014/main" id="{55CCDA52-41DA-EEF0-C1AB-9BA7E1639F77}"/>
                  </a:ext>
                </a:extLst>
              </p:cNvPr>
              <p:cNvSpPr>
                <a:spLocks noGrp="1" noRot="1" noChangeAspect="1" noMove="1" noResize="1" noEditPoints="1" noAdjustHandles="1" noChangeArrowheads="1" noChangeShapeType="1" noTextEdit="1"/>
              </p:cNvSpPr>
              <p:nvPr>
                <p:ph idx="1"/>
              </p:nvPr>
            </p:nvSpPr>
            <p:spPr>
              <a:xfrm>
                <a:off x="828261" y="1825625"/>
                <a:ext cx="10515600" cy="4351338"/>
              </a:xfrm>
              <a:blipFill>
                <a:blip r:embed="rId2"/>
                <a:stretch>
                  <a:fillRect l="-1206" t="-2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CED75865-31BD-5167-1FEB-6F60DFC7A494}"/>
                  </a:ext>
                </a:extLst>
              </p:cNvPr>
              <p:cNvSpPr/>
              <p:nvPr/>
            </p:nvSpPr>
            <p:spPr>
              <a:xfrm>
                <a:off x="1583473" y="3005254"/>
                <a:ext cx="2486722" cy="236963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n-GB" sz="2400" b="0" i="0" smtClean="0">
                          <a:solidFill>
                            <a:schemeClr val="tx1"/>
                          </a:solidFill>
                          <a:latin typeface="Cambria Math" panose="02040503050406030204" pitchFamily="18" charset="0"/>
                        </a:rPr>
                        <m:t>Δ</m:t>
                      </m:r>
                      <m:r>
                        <a:rPr lang="en-GB" sz="2400" b="0" i="1" smtClean="0">
                          <a:solidFill>
                            <a:schemeClr val="tx1"/>
                          </a:solidFill>
                          <a:latin typeface="Cambria Math" panose="02040503050406030204" pitchFamily="18" charset="0"/>
                        </a:rPr>
                        <m:t>𝑊</m:t>
                      </m:r>
                      <m:r>
                        <a:rPr lang="en-GB" sz="2400" b="0" i="1" smtClean="0">
                          <a:solidFill>
                            <a:schemeClr val="tx1"/>
                          </a:solidFill>
                          <a:latin typeface="Cambria Math" panose="02040503050406030204" pitchFamily="18" charset="0"/>
                        </a:rPr>
                        <m:t> </m:t>
                      </m:r>
                      <m:d>
                        <m:dPr>
                          <m:ctrlPr>
                            <a:rPr lang="en-GB" sz="2400" b="0" i="1" smtClean="0">
                              <a:solidFill>
                                <a:schemeClr val="tx1"/>
                              </a:solidFill>
                              <a:latin typeface="Cambria Math" panose="02040503050406030204" pitchFamily="18" charset="0"/>
                            </a:rPr>
                          </m:ctrlPr>
                        </m:dPr>
                        <m:e>
                          <m:r>
                            <a:rPr lang="en-GB" sz="2400" b="0" i="1" smtClean="0">
                              <a:solidFill>
                                <a:schemeClr val="tx1"/>
                              </a:solidFill>
                              <a:latin typeface="Cambria Math" panose="02040503050406030204" pitchFamily="18" charset="0"/>
                            </a:rPr>
                            <m:t>𝑛</m:t>
                          </m:r>
                          <m:r>
                            <a:rPr lang="en-GB" sz="2400" b="0" i="1" smtClean="0">
                              <a:solidFill>
                                <a:schemeClr val="tx1"/>
                              </a:solidFill>
                              <a:latin typeface="Cambria Math" panose="02040503050406030204" pitchFamily="18" charset="0"/>
                            </a:rPr>
                            <m:t>×</m:t>
                          </m:r>
                          <m:r>
                            <a:rPr lang="en-GB" sz="2400" b="0" i="1" smtClean="0">
                              <a:solidFill>
                                <a:schemeClr val="tx1"/>
                              </a:solidFill>
                              <a:latin typeface="Cambria Math" panose="02040503050406030204" pitchFamily="18" charset="0"/>
                            </a:rPr>
                            <m:t>𝑚</m:t>
                          </m:r>
                        </m:e>
                      </m:d>
                    </m:oMath>
                  </m:oMathPara>
                </a14:m>
                <a:endParaRPr lang="en-GB" sz="2400" b="0" dirty="0">
                  <a:solidFill>
                    <a:schemeClr val="tx1"/>
                  </a:solidFill>
                </a:endParaRPr>
              </a:p>
            </p:txBody>
          </p:sp>
        </mc:Choice>
        <mc:Fallback xmlns="">
          <p:sp>
            <p:nvSpPr>
              <p:cNvPr id="12" name="Rectangle 11">
                <a:extLst>
                  <a:ext uri="{FF2B5EF4-FFF2-40B4-BE49-F238E27FC236}">
                    <a16:creationId xmlns:a16="http://schemas.microsoft.com/office/drawing/2014/main" id="{CED75865-31BD-5167-1FEB-6F60DFC7A494}"/>
                  </a:ext>
                </a:extLst>
              </p:cNvPr>
              <p:cNvSpPr>
                <a:spLocks noRot="1" noChangeAspect="1" noMove="1" noResize="1" noEditPoints="1" noAdjustHandles="1" noChangeArrowheads="1" noChangeShapeType="1" noTextEdit="1"/>
              </p:cNvSpPr>
              <p:nvPr/>
            </p:nvSpPr>
            <p:spPr>
              <a:xfrm>
                <a:off x="1583473" y="3005254"/>
                <a:ext cx="2486722" cy="2369634"/>
              </a:xfrm>
              <a:prstGeom prst="rect">
                <a:avLst/>
              </a:prstGeom>
              <a:blipFill>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A2FC904E-78DB-2B1E-C1AC-9EB6C0A4ED7A}"/>
                  </a:ext>
                </a:extLst>
              </p:cNvPr>
              <p:cNvSpPr/>
              <p:nvPr/>
            </p:nvSpPr>
            <p:spPr>
              <a:xfrm>
                <a:off x="5587973" y="2604216"/>
                <a:ext cx="996176" cy="317170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2400" b="0" i="1" smtClean="0">
                          <a:solidFill>
                            <a:schemeClr val="tx1"/>
                          </a:solidFill>
                          <a:latin typeface="Cambria Math" panose="02040503050406030204" pitchFamily="18" charset="0"/>
                        </a:rPr>
                        <m:t>𝐴</m:t>
                      </m:r>
                      <m:r>
                        <a:rPr lang="en-GB" sz="2400" b="0" i="1" smtClean="0">
                          <a:solidFill>
                            <a:schemeClr val="tx1"/>
                          </a:solidFill>
                          <a:latin typeface="Cambria Math" panose="02040503050406030204" pitchFamily="18" charset="0"/>
                        </a:rPr>
                        <m:t> </m:t>
                      </m:r>
                    </m:oMath>
                  </m:oMathPara>
                </a14:m>
                <a:endParaRPr lang="en-GB" sz="2400" b="0" i="1" dirty="0">
                  <a:solidFill>
                    <a:schemeClr val="tx1"/>
                  </a:solidFill>
                  <a:latin typeface="Cambria Math" panose="02040503050406030204" pitchFamily="18" charset="0"/>
                </a:endParaRPr>
              </a:p>
              <a:p>
                <a:pPr algn="ctr"/>
                <a14:m>
                  <m:oMathPara xmlns:m="http://schemas.openxmlformats.org/officeDocument/2006/math">
                    <m:oMath>
                      <m:d>
                        <m:dPr>
                          <m:ctrlPr>
                            <a:rPr lang="en-GB" sz="2400" b="0" i="1" smtClean="0">
                              <a:solidFill>
                                <a:schemeClr val="tx1"/>
                              </a:solidFill>
                              <a:latin typeface="Cambria Math" panose="02040503050406030204" pitchFamily="18" charset="0"/>
                            </a:rPr>
                          </m:ctrlPr>
                        </m:dPr>
                        <m:e>
                          <m:r>
                            <a:rPr lang="en-GB" sz="2400" b="0" i="1" smtClean="0">
                              <a:solidFill>
                                <a:schemeClr val="tx1"/>
                              </a:solidFill>
                              <a:latin typeface="Cambria Math" panose="02040503050406030204" pitchFamily="18" charset="0"/>
                            </a:rPr>
                            <m:t>𝑛</m:t>
                          </m:r>
                          <m:r>
                            <a:rPr lang="en-GB" sz="2400" b="0" i="1" smtClean="0">
                              <a:solidFill>
                                <a:schemeClr val="tx1"/>
                              </a:solidFill>
                              <a:latin typeface="Cambria Math" panose="02040503050406030204" pitchFamily="18" charset="0"/>
                            </a:rPr>
                            <m:t>×</m:t>
                          </m:r>
                          <m:r>
                            <a:rPr lang="en-GB" sz="2400" b="0" i="1" smtClean="0">
                              <a:solidFill>
                                <a:schemeClr val="accent6"/>
                              </a:solidFill>
                              <a:latin typeface="Cambria Math" panose="02040503050406030204" pitchFamily="18" charset="0"/>
                            </a:rPr>
                            <m:t>𝑟</m:t>
                          </m:r>
                        </m:e>
                      </m:d>
                    </m:oMath>
                  </m:oMathPara>
                </a14:m>
                <a:endParaRPr lang="en-GB" sz="2400" b="0" dirty="0">
                  <a:solidFill>
                    <a:schemeClr val="tx1"/>
                  </a:solidFill>
                </a:endParaRPr>
              </a:p>
            </p:txBody>
          </p:sp>
        </mc:Choice>
        <mc:Fallback xmlns="">
          <p:sp>
            <p:nvSpPr>
              <p:cNvPr id="13" name="Rectangle 12">
                <a:extLst>
                  <a:ext uri="{FF2B5EF4-FFF2-40B4-BE49-F238E27FC236}">
                    <a16:creationId xmlns:a16="http://schemas.microsoft.com/office/drawing/2014/main" id="{A2FC904E-78DB-2B1E-C1AC-9EB6C0A4ED7A}"/>
                  </a:ext>
                </a:extLst>
              </p:cNvPr>
              <p:cNvSpPr>
                <a:spLocks noRot="1" noChangeAspect="1" noMove="1" noResize="1" noEditPoints="1" noAdjustHandles="1" noChangeArrowheads="1" noChangeShapeType="1" noTextEdit="1"/>
              </p:cNvSpPr>
              <p:nvPr/>
            </p:nvSpPr>
            <p:spPr>
              <a:xfrm>
                <a:off x="5587973" y="2604216"/>
                <a:ext cx="996176" cy="3171709"/>
              </a:xfrm>
              <a:prstGeom prst="rect">
                <a:avLst/>
              </a:prstGeom>
              <a:blipFill>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0B7736BD-630A-9DC4-4A7A-1B83E10AD579}"/>
                  </a:ext>
                </a:extLst>
              </p:cNvPr>
              <p:cNvSpPr/>
              <p:nvPr/>
            </p:nvSpPr>
            <p:spPr>
              <a:xfrm>
                <a:off x="7282959" y="3766527"/>
                <a:ext cx="3674328" cy="847086"/>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sz="2400" b="0" i="1" smtClean="0">
                          <a:solidFill>
                            <a:schemeClr val="tx1"/>
                          </a:solidFill>
                          <a:latin typeface="Cambria Math" panose="02040503050406030204" pitchFamily="18" charset="0"/>
                        </a:rPr>
                        <m:t>𝐵</m:t>
                      </m:r>
                    </m:oMath>
                  </m:oMathPara>
                </a14:m>
                <a:endParaRPr lang="en-GB" sz="2400" i="1" dirty="0">
                  <a:solidFill>
                    <a:schemeClr val="tx1"/>
                  </a:solidFill>
                  <a:latin typeface="Cambria Math" panose="02040503050406030204" pitchFamily="18" charset="0"/>
                </a:endParaRPr>
              </a:p>
              <a:p>
                <a:pPr algn="ctr"/>
                <a14:m>
                  <m:oMathPara xmlns:m="http://schemas.openxmlformats.org/officeDocument/2006/math">
                    <m:oMath>
                      <m:d>
                        <m:dPr>
                          <m:ctrlPr>
                            <a:rPr lang="en-GB" sz="2400" b="0" i="1" smtClean="0">
                              <a:solidFill>
                                <a:schemeClr val="accent6"/>
                              </a:solidFill>
                              <a:latin typeface="Cambria Math" panose="02040503050406030204" pitchFamily="18" charset="0"/>
                            </a:rPr>
                          </m:ctrlPr>
                        </m:dPr>
                        <m:e>
                          <m:r>
                            <a:rPr lang="en-GB" sz="2400" b="0" i="1" smtClean="0">
                              <a:solidFill>
                                <a:schemeClr val="accent6"/>
                              </a:solidFill>
                              <a:latin typeface="Cambria Math" panose="02040503050406030204" pitchFamily="18" charset="0"/>
                            </a:rPr>
                            <m:t>𝑟</m:t>
                          </m:r>
                          <m:r>
                            <a:rPr lang="en-GB" sz="2400" b="0" i="1" smtClean="0">
                              <a:solidFill>
                                <a:schemeClr val="tx1"/>
                              </a:solidFill>
                              <a:latin typeface="Cambria Math" panose="02040503050406030204" pitchFamily="18" charset="0"/>
                            </a:rPr>
                            <m:t>×</m:t>
                          </m:r>
                          <m:r>
                            <a:rPr lang="en-GB" sz="2400" b="0" i="1" smtClean="0">
                              <a:solidFill>
                                <a:schemeClr val="tx1"/>
                              </a:solidFill>
                              <a:latin typeface="Cambria Math" panose="02040503050406030204" pitchFamily="18" charset="0"/>
                            </a:rPr>
                            <m:t>𝑚</m:t>
                          </m:r>
                        </m:e>
                      </m:d>
                    </m:oMath>
                  </m:oMathPara>
                </a14:m>
                <a:endParaRPr lang="en-GB" sz="2400" b="0" i="1" dirty="0">
                  <a:solidFill>
                    <a:schemeClr val="tx1"/>
                  </a:solidFill>
                  <a:latin typeface="Cambria Math" panose="02040503050406030204" pitchFamily="18" charset="0"/>
                </a:endParaRPr>
              </a:p>
            </p:txBody>
          </p:sp>
        </mc:Choice>
        <mc:Fallback xmlns="">
          <p:sp>
            <p:nvSpPr>
              <p:cNvPr id="14" name="Rectangle 13">
                <a:extLst>
                  <a:ext uri="{FF2B5EF4-FFF2-40B4-BE49-F238E27FC236}">
                    <a16:creationId xmlns:a16="http://schemas.microsoft.com/office/drawing/2014/main" id="{0B7736BD-630A-9DC4-4A7A-1B83E10AD579}"/>
                  </a:ext>
                </a:extLst>
              </p:cNvPr>
              <p:cNvSpPr>
                <a:spLocks noRot="1" noChangeAspect="1" noMove="1" noResize="1" noEditPoints="1" noAdjustHandles="1" noChangeArrowheads="1" noChangeShapeType="1" noTextEdit="1"/>
              </p:cNvSpPr>
              <p:nvPr/>
            </p:nvSpPr>
            <p:spPr>
              <a:xfrm>
                <a:off x="7282959" y="3766527"/>
                <a:ext cx="3674328" cy="847086"/>
              </a:xfrm>
              <a:prstGeom prst="rect">
                <a:avLst/>
              </a:prstGeom>
              <a:blipFill>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AED11E0-241D-00CD-54E9-3E80C304ED57}"/>
                  </a:ext>
                </a:extLst>
              </p:cNvPr>
              <p:cNvSpPr txBox="1"/>
              <p:nvPr/>
            </p:nvSpPr>
            <p:spPr>
              <a:xfrm>
                <a:off x="4083065" y="3976406"/>
                <a:ext cx="1504908" cy="553998"/>
              </a:xfrm>
              <a:prstGeom prst="rect">
                <a:avLst/>
              </a:prstGeom>
              <a:noFill/>
            </p:spPr>
            <p:txBody>
              <a:bodyPr wrap="square" lIns="0" tIns="0" rIns="0" bIns="0" rtlCol="0">
                <a:spAutoFit/>
              </a:bodyPr>
              <a:lstStyle/>
              <a:p>
                <a:pPr/>
                <a14:m>
                  <m:oMathPara xmlns:m="http://schemas.openxmlformats.org/officeDocument/2006/math">
                    <m:oMath>
                      <m:r>
                        <a:rPr lang="en-GB" sz="3600" b="0" i="1" smtClean="0">
                          <a:latin typeface="Cambria Math" panose="02040503050406030204" pitchFamily="18" charset="0"/>
                        </a:rPr>
                        <m:t>=</m:t>
                      </m:r>
                    </m:oMath>
                  </m:oMathPara>
                </a14:m>
                <a:endParaRPr lang="en-US" sz="3600" dirty="0"/>
              </a:p>
            </p:txBody>
          </p:sp>
        </mc:Choice>
        <mc:Fallback xmlns="">
          <p:sp>
            <p:nvSpPr>
              <p:cNvPr id="15" name="TextBox 14">
                <a:extLst>
                  <a:ext uri="{FF2B5EF4-FFF2-40B4-BE49-F238E27FC236}">
                    <a16:creationId xmlns:a16="http://schemas.microsoft.com/office/drawing/2014/main" id="{AAED11E0-241D-00CD-54E9-3E80C304ED57}"/>
                  </a:ext>
                </a:extLst>
              </p:cNvPr>
              <p:cNvSpPr txBox="1">
                <a:spLocks noRot="1" noChangeAspect="1" noMove="1" noResize="1" noEditPoints="1" noAdjustHandles="1" noChangeArrowheads="1" noChangeShapeType="1" noTextEdit="1"/>
              </p:cNvSpPr>
              <p:nvPr/>
            </p:nvSpPr>
            <p:spPr>
              <a:xfrm>
                <a:off x="4083065" y="3976406"/>
                <a:ext cx="1504908" cy="55399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DB94E23-EA26-9F57-9C83-FE93E9A11C88}"/>
                  </a:ext>
                </a:extLst>
              </p:cNvPr>
              <p:cNvSpPr txBox="1"/>
              <p:nvPr/>
            </p:nvSpPr>
            <p:spPr>
              <a:xfrm>
                <a:off x="6286783" y="3897941"/>
                <a:ext cx="1504908" cy="1107996"/>
              </a:xfrm>
              <a:prstGeom prst="rect">
                <a:avLst/>
              </a:prstGeom>
              <a:noFill/>
            </p:spPr>
            <p:txBody>
              <a:bodyPr wrap="square" lIns="0" tIns="0" rIns="0" bIns="0" rtlCol="0">
                <a:spAutoFit/>
              </a:bodyPr>
              <a:lstStyle/>
              <a:p>
                <a:pPr/>
                <a14:m>
                  <m:oMathPara xmlns:m="http://schemas.openxmlformats.org/officeDocument/2006/math">
                    <m:oMath>
                      <m:r>
                        <a:rPr lang="en-GB" sz="3600" b="0" i="1" smtClean="0">
                          <a:latin typeface="Cambria Math" panose="02040503050406030204" pitchFamily="18" charset="0"/>
                        </a:rPr>
                        <m:t>×</m:t>
                      </m:r>
                    </m:oMath>
                  </m:oMathPara>
                </a14:m>
                <a:endParaRPr lang="en-GB" sz="3600" b="0" dirty="0"/>
              </a:p>
              <a:p>
                <a:endParaRPr lang="en-US" sz="3600" dirty="0"/>
              </a:p>
            </p:txBody>
          </p:sp>
        </mc:Choice>
        <mc:Fallback xmlns="">
          <p:sp>
            <p:nvSpPr>
              <p:cNvPr id="16" name="TextBox 15">
                <a:extLst>
                  <a:ext uri="{FF2B5EF4-FFF2-40B4-BE49-F238E27FC236}">
                    <a16:creationId xmlns:a16="http://schemas.microsoft.com/office/drawing/2014/main" id="{5DB94E23-EA26-9F57-9C83-FE93E9A11C88}"/>
                  </a:ext>
                </a:extLst>
              </p:cNvPr>
              <p:cNvSpPr txBox="1">
                <a:spLocks noRot="1" noChangeAspect="1" noMove="1" noResize="1" noEditPoints="1" noAdjustHandles="1" noChangeArrowheads="1" noChangeShapeType="1" noTextEdit="1"/>
              </p:cNvSpPr>
              <p:nvPr/>
            </p:nvSpPr>
            <p:spPr>
              <a:xfrm>
                <a:off x="6286783" y="3897941"/>
                <a:ext cx="1504908" cy="1107996"/>
              </a:xfrm>
              <a:prstGeom prst="rect">
                <a:avLst/>
              </a:prstGeom>
              <a:blipFill>
                <a:blip r:embed="rId7"/>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7590A55-1846-5BF3-B58D-652F9A17F35A}"/>
              </a:ext>
            </a:extLst>
          </p:cNvPr>
          <p:cNvCxnSpPr>
            <a:cxnSpLocks/>
          </p:cNvCxnSpPr>
          <p:nvPr/>
        </p:nvCxnSpPr>
        <p:spPr>
          <a:xfrm flipH="1">
            <a:off x="6286783" y="2810142"/>
            <a:ext cx="1885142" cy="1405019"/>
          </a:xfrm>
          <a:prstGeom prst="straightConnector1">
            <a:avLst/>
          </a:prstGeom>
          <a:ln w="2857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3F98A4A-13CA-9B3C-6F48-C2D55C32E8CD}"/>
              </a:ext>
            </a:extLst>
          </p:cNvPr>
          <p:cNvCxnSpPr>
            <a:cxnSpLocks/>
          </p:cNvCxnSpPr>
          <p:nvPr/>
        </p:nvCxnSpPr>
        <p:spPr>
          <a:xfrm>
            <a:off x="8171925" y="2810142"/>
            <a:ext cx="657982" cy="1443263"/>
          </a:xfrm>
          <a:prstGeom prst="straightConnector1">
            <a:avLst/>
          </a:prstGeom>
          <a:ln w="2857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27" name="Content Placeholder 2">
            <a:extLst>
              <a:ext uri="{FF2B5EF4-FFF2-40B4-BE49-F238E27FC236}">
                <a16:creationId xmlns:a16="http://schemas.microsoft.com/office/drawing/2014/main" id="{6EF7B65B-A10B-26A9-7071-2A0B6BAC9D81}"/>
              </a:ext>
            </a:extLst>
          </p:cNvPr>
          <p:cNvSpPr txBox="1">
            <a:spLocks/>
          </p:cNvSpPr>
          <p:nvPr/>
        </p:nvSpPr>
        <p:spPr>
          <a:xfrm>
            <a:off x="7229354" y="2354735"/>
            <a:ext cx="3772829" cy="3721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dirty="0" err="1">
                <a:solidFill>
                  <a:schemeClr val="accent6"/>
                </a:solidFill>
              </a:rPr>
              <a:t>LoRA</a:t>
            </a:r>
            <a:r>
              <a:rPr lang="en-GB" sz="2000" dirty="0">
                <a:solidFill>
                  <a:schemeClr val="accent6"/>
                </a:solidFill>
              </a:rPr>
              <a:t> rank – very small (e.g. 4, 8)</a:t>
            </a:r>
            <a:endParaRPr lang="en-GB"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2202CF1-5FF3-FEAC-BE03-CD40FFC3AFF1}"/>
                  </a:ext>
                </a:extLst>
              </p:cNvPr>
              <p:cNvSpPr txBox="1"/>
              <p:nvPr/>
            </p:nvSpPr>
            <p:spPr>
              <a:xfrm>
                <a:off x="396138" y="5659097"/>
                <a:ext cx="6099716" cy="400110"/>
              </a:xfrm>
              <a:prstGeom prst="rect">
                <a:avLst/>
              </a:prstGeom>
              <a:noFill/>
            </p:spPr>
            <p:txBody>
              <a:bodyPr wrap="square">
                <a:spAutoFit/>
              </a:bodyPr>
              <a:lstStyle/>
              <a:p>
                <a:pPr marL="0" indent="0">
                  <a:buNone/>
                </a:pPr>
                <a:r>
                  <a:rPr lang="en-GB" sz="2000" b="1" dirty="0">
                    <a:latin typeface="CMU SERIF ROMAN" panose="02000603000000000000" pitchFamily="2" charset="0"/>
                    <a:ea typeface="CMU SERIF ROMAN" panose="02000603000000000000" pitchFamily="2" charset="0"/>
                    <a:cs typeface="CMU SERIF ROMAN" panose="02000603000000000000" pitchFamily="2" charset="0"/>
                  </a:rPr>
                  <a:t>So, that’s </a:t>
                </a:r>
                <a14:m>
                  <m:oMath xmlns:m="http://schemas.openxmlformats.org/officeDocument/2006/math">
                    <m:r>
                      <a:rPr lang="en-GB" sz="2000" b="1" i="1" smtClean="0">
                        <a:latin typeface="Cambria Math" panose="02040503050406030204" pitchFamily="18" charset="0"/>
                      </a:rPr>
                      <m:t>𝒓</m:t>
                    </m:r>
                    <m:d>
                      <m:dPr>
                        <m:ctrlPr>
                          <a:rPr lang="en-GB" sz="2000" b="1" i="1" smtClean="0">
                            <a:latin typeface="Cambria Math" panose="02040503050406030204" pitchFamily="18" charset="0"/>
                          </a:rPr>
                        </m:ctrlPr>
                      </m:dPr>
                      <m:e>
                        <m:r>
                          <a:rPr lang="en-GB" sz="2000" b="1" i="1" smtClean="0">
                            <a:latin typeface="Cambria Math" panose="02040503050406030204" pitchFamily="18" charset="0"/>
                          </a:rPr>
                          <m:t>𝒏</m:t>
                        </m:r>
                        <m:r>
                          <a:rPr lang="en-GB" sz="2000" b="1" i="1" smtClean="0">
                            <a:latin typeface="Cambria Math" panose="02040503050406030204" pitchFamily="18" charset="0"/>
                          </a:rPr>
                          <m:t>+</m:t>
                        </m:r>
                        <m:r>
                          <a:rPr lang="en-GB" sz="2000" b="1" i="1" smtClean="0">
                            <a:latin typeface="Cambria Math" panose="02040503050406030204" pitchFamily="18" charset="0"/>
                          </a:rPr>
                          <m:t>𝒎</m:t>
                        </m:r>
                      </m:e>
                    </m:d>
                    <m:r>
                      <a:rPr lang="en-GB" sz="2000" b="1" i="1" smtClean="0">
                        <a:latin typeface="Cambria Math" panose="02040503050406030204" pitchFamily="18" charset="0"/>
                      </a:rPr>
                      <m:t>≪</m:t>
                    </m:r>
                    <m:r>
                      <a:rPr lang="en-GB" sz="2000" b="1" i="1" smtClean="0">
                        <a:latin typeface="Cambria Math" panose="02040503050406030204" pitchFamily="18" charset="0"/>
                      </a:rPr>
                      <m:t>𝒏𝒎</m:t>
                    </m:r>
                  </m:oMath>
                </a14:m>
                <a:r>
                  <a:rPr lang="en-GB" sz="2000" b="1" dirty="0">
                    <a:latin typeface="CMU SERIF ROMAN" panose="02000603000000000000" pitchFamily="2" charset="0"/>
                    <a:ea typeface="CMU SERIF ROMAN" panose="02000603000000000000" pitchFamily="2" charset="0"/>
                    <a:cs typeface="CMU SERIF ROMAN" panose="02000603000000000000" pitchFamily="2" charset="0"/>
                  </a:rPr>
                  <a:t> parameters!</a:t>
                </a:r>
              </a:p>
            </p:txBody>
          </p:sp>
        </mc:Choice>
        <mc:Fallback xmlns="">
          <p:sp>
            <p:nvSpPr>
              <p:cNvPr id="29" name="TextBox 28">
                <a:extLst>
                  <a:ext uri="{FF2B5EF4-FFF2-40B4-BE49-F238E27FC236}">
                    <a16:creationId xmlns:a16="http://schemas.microsoft.com/office/drawing/2014/main" id="{42202CF1-5FF3-FEAC-BE03-CD40FFC3AFF1}"/>
                  </a:ext>
                </a:extLst>
              </p:cNvPr>
              <p:cNvSpPr txBox="1">
                <a:spLocks noRot="1" noChangeAspect="1" noMove="1" noResize="1" noEditPoints="1" noAdjustHandles="1" noChangeArrowheads="1" noChangeShapeType="1" noTextEdit="1"/>
              </p:cNvSpPr>
              <p:nvPr/>
            </p:nvSpPr>
            <p:spPr>
              <a:xfrm>
                <a:off x="396138" y="5659097"/>
                <a:ext cx="6099716" cy="400110"/>
              </a:xfrm>
              <a:prstGeom prst="rect">
                <a:avLst/>
              </a:prstGeom>
              <a:blipFill>
                <a:blip r:embed="rId8"/>
                <a:stretch>
                  <a:fillRect l="-1247" t="-3030" b="-27273"/>
                </a:stretch>
              </a:blipFill>
            </p:spPr>
            <p:txBody>
              <a:bodyPr/>
              <a:lstStyle/>
              <a:p>
                <a:r>
                  <a:rPr lang="en-US">
                    <a:noFill/>
                  </a:rPr>
                  <a:t> </a:t>
                </a:r>
              </a:p>
            </p:txBody>
          </p:sp>
        </mc:Fallback>
      </mc:AlternateContent>
      <p:sp>
        <p:nvSpPr>
          <p:cNvPr id="2" name="Content Placeholder 2">
            <a:extLst>
              <a:ext uri="{FF2B5EF4-FFF2-40B4-BE49-F238E27FC236}">
                <a16:creationId xmlns:a16="http://schemas.microsoft.com/office/drawing/2014/main" id="{6FD50721-403D-3706-C682-365B8DD07B22}"/>
              </a:ext>
            </a:extLst>
          </p:cNvPr>
          <p:cNvSpPr txBox="1">
            <a:spLocks/>
          </p:cNvSpPr>
          <p:nvPr/>
        </p:nvSpPr>
        <p:spPr>
          <a:xfrm>
            <a:off x="9480692" y="5793804"/>
            <a:ext cx="3118738" cy="529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rPr>
              <a:t>arXiv:2106.09685</a:t>
            </a:r>
          </a:p>
          <a:p>
            <a:endParaRPr lang="en-US"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endParaRPr>
          </a:p>
          <a:p>
            <a:endParaRPr lang="en-US" sz="2400" dirty="0">
              <a:solidFill>
                <a:schemeClr val="tx1">
                  <a:lumMod val="50000"/>
                  <a:lumOff val="50000"/>
                </a:schemeClr>
              </a:solidFill>
              <a:latin typeface="CMU Serif Roman" panose="02000603000000000000" pitchFamily="2" charset="0"/>
              <a:ea typeface="CMU Serif Roman" panose="02000603000000000000" pitchFamily="2" charset="0"/>
              <a:cs typeface="CMU Serif Roman" panose="02000603000000000000" pitchFamily="2" charset="0"/>
            </a:endParaRPr>
          </a:p>
        </p:txBody>
      </p:sp>
    </p:spTree>
    <p:extLst>
      <p:ext uri="{BB962C8B-B14F-4D97-AF65-F5344CB8AC3E}">
        <p14:creationId xmlns:p14="http://schemas.microsoft.com/office/powerpoint/2010/main" val="40269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78D6F-10F6-4EF4-840E-4C42E91411CE}"/>
              </a:ext>
            </a:extLst>
          </p:cNvPr>
          <p:cNvSpPr>
            <a:spLocks noGrp="1"/>
          </p:cNvSpPr>
          <p:nvPr>
            <p:ph type="title"/>
          </p:nvPr>
        </p:nvSpPr>
        <p:spPr/>
        <p:txBody>
          <a:bodyPr/>
          <a:lstStyle/>
          <a:p>
            <a:r>
              <a:t>Quantization</a:t>
            </a:r>
          </a:p>
        </p:txBody>
      </p:sp>
      <p:pic>
        <p:nvPicPr>
          <p:cNvPr id="9" name="Picture 3"/>
          <p:cNvPicPr>
            <a:picLocks noChangeAspect="1"/>
          </p:cNvPicPr>
          <p:nvPr/>
        </p:nvPicPr>
        <p:blipFill>
          <a:blip r:embed="rId3"/>
          <a:stretch>
            <a:fillRect/>
          </a:stretch>
        </p:blipFill>
        <p:spPr>
          <a:xfrm>
            <a:off x="1682750" y="1498275"/>
            <a:ext cx="8820149" cy="4572650"/>
          </a:xfrm>
          <a:prstGeom prst="rect">
            <a:avLst/>
          </a:prstGeom>
        </p:spPr>
      </p:pic>
      <p:sp>
        <p:nvSpPr>
          <p:cNvPr id="5" name="TextBox 4">
            <a:extLst>
              <a:ext uri="{FF2B5EF4-FFF2-40B4-BE49-F238E27FC236}">
                <a16:creationId xmlns:a16="http://schemas.microsoft.com/office/drawing/2014/main" id="{07A7BA00-3EBE-3161-7F72-93A6A6EDF961}"/>
              </a:ext>
            </a:extLst>
          </p:cNvPr>
          <p:cNvSpPr>
            <a:spLocks noGrp="1"/>
          </p:cNvSpPr>
          <p:nvPr/>
        </p:nvSpPr>
        <p:spPr>
          <a:xfrm>
            <a:off x="1181370" y="6430928"/>
            <a:ext cx="8333361" cy="276999"/>
          </a:xfrm>
          <a:prstGeom prst="rect">
            <a:avLst/>
          </a:prstGeom>
          <a:noFill/>
        </p:spPr>
        <p:txBody>
          <a:bodyPr rot="0" spcFirstLastPara="0" vert="horz" wrap="square" lIns="91440" tIns="45720" rIns="91440" bIns="45720" anchor="t">
            <a:spAutoFit/>
          </a:bodyPr>
          <a:lstStyle/>
          <a:p>
            <a:pPr algn="l">
              <a:buNone/>
            </a:pPr>
            <a:r>
              <a:rPr sz="1200"/>
              <a:t>https://newsletter.maartengrootendorst.com/p/a-visual-guide-to-quantization</a:t>
            </a:r>
          </a:p>
        </p:txBody>
      </p:sp>
      <p:pic>
        <p:nvPicPr>
          <p:cNvPr id="11" name="Picture 5"/>
          <p:cNvPicPr>
            <a:picLocks noChangeAspect="1"/>
          </p:cNvPicPr>
          <p:nvPr/>
        </p:nvPicPr>
        <p:blipFill>
          <a:blip r:embed="rId4"/>
          <a:stretch>
            <a:fillRect/>
          </a:stretch>
        </p:blipFill>
        <p:spPr>
          <a:xfrm>
            <a:off x="184150" y="5440895"/>
            <a:ext cx="996950" cy="1265759"/>
          </a:xfrm>
          <a:prstGeom prst="rect">
            <a:avLst/>
          </a:prstGeom>
        </p:spPr>
      </p:pic>
    </p:spTree>
    <p:extLst>
      <p:ext uri="{BB962C8B-B14F-4D97-AF65-F5344CB8AC3E}">
        <p14:creationId xmlns:p14="http://schemas.microsoft.com/office/powerpoint/2010/main" val="2592952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14E78-CB51-969F-0B12-052A7CF3950D}"/>
              </a:ext>
            </a:extLst>
          </p:cNvPr>
          <p:cNvSpPr>
            <a:spLocks noGrp="1"/>
          </p:cNvSpPr>
          <p:nvPr>
            <p:ph type="title"/>
          </p:nvPr>
        </p:nvSpPr>
        <p:spPr/>
        <p:txBody>
          <a:bodyPr/>
          <a:lstStyle/>
          <a:p>
            <a:r>
              <a:t>Quantization</a:t>
            </a:r>
          </a:p>
        </p:txBody>
      </p:sp>
      <p:sp>
        <p:nvSpPr>
          <p:cNvPr id="5" name="TextBox 4">
            <a:extLst>
              <a:ext uri="{FF2B5EF4-FFF2-40B4-BE49-F238E27FC236}">
                <a16:creationId xmlns:a16="http://schemas.microsoft.com/office/drawing/2014/main" id="{BEDA3030-C381-CD47-E170-F3DC946FEB71}"/>
              </a:ext>
            </a:extLst>
          </p:cNvPr>
          <p:cNvSpPr>
            <a:spLocks noGrp="1"/>
          </p:cNvSpPr>
          <p:nvPr/>
        </p:nvSpPr>
        <p:spPr>
          <a:xfrm>
            <a:off x="1181370" y="6430928"/>
            <a:ext cx="8333361" cy="276999"/>
          </a:xfrm>
          <a:prstGeom prst="rect">
            <a:avLst/>
          </a:prstGeom>
          <a:noFill/>
        </p:spPr>
        <p:txBody>
          <a:bodyPr rot="0" spcFirstLastPara="0" vert="horz" wrap="square" lIns="91440" tIns="45720" rIns="91440" bIns="45720" anchor="t">
            <a:spAutoFit/>
          </a:bodyPr>
          <a:lstStyle/>
          <a:p>
            <a:pPr algn="l">
              <a:buNone/>
            </a:pPr>
            <a:r>
              <a:rPr sz="1200"/>
              <a:t>https://newsletter.maartengrootendorst.com/p/a-visual-guide-to-quantization</a:t>
            </a:r>
          </a:p>
        </p:txBody>
      </p:sp>
      <p:pic>
        <p:nvPicPr>
          <p:cNvPr id="10" name="Picture 5"/>
          <p:cNvPicPr>
            <a:picLocks noChangeAspect="1"/>
          </p:cNvPicPr>
          <p:nvPr/>
        </p:nvPicPr>
        <p:blipFill>
          <a:blip r:embed="rId3"/>
          <a:stretch>
            <a:fillRect/>
          </a:stretch>
        </p:blipFill>
        <p:spPr>
          <a:xfrm>
            <a:off x="184150" y="5440895"/>
            <a:ext cx="996950" cy="1265759"/>
          </a:xfrm>
          <a:prstGeom prst="rect">
            <a:avLst/>
          </a:prstGeom>
        </p:spPr>
      </p:pic>
      <p:pic>
        <p:nvPicPr>
          <p:cNvPr id="11" name="Picture 2"/>
          <p:cNvPicPr>
            <a:picLocks noChangeAspect="1"/>
          </p:cNvPicPr>
          <p:nvPr/>
        </p:nvPicPr>
        <p:blipFill>
          <a:blip r:embed="rId4"/>
          <a:stretch>
            <a:fillRect/>
          </a:stretch>
        </p:blipFill>
        <p:spPr>
          <a:xfrm>
            <a:off x="3046379" y="1429933"/>
            <a:ext cx="5888475" cy="4468305"/>
          </a:xfrm>
          <a:prstGeom prst="rect">
            <a:avLst/>
          </a:prstGeom>
        </p:spPr>
      </p:pic>
    </p:spTree>
    <p:extLst>
      <p:ext uri="{BB962C8B-B14F-4D97-AF65-F5344CB8AC3E}">
        <p14:creationId xmlns:p14="http://schemas.microsoft.com/office/powerpoint/2010/main" val="4108364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7160-7041-A4C4-8034-D2431F880BBA}"/>
              </a:ext>
            </a:extLst>
          </p:cNvPr>
          <p:cNvSpPr>
            <a:spLocks noGrp="1"/>
          </p:cNvSpPr>
          <p:nvPr>
            <p:ph type="title"/>
          </p:nvPr>
        </p:nvSpPr>
        <p:spPr/>
        <p:txBody>
          <a:bodyPr/>
          <a:lstStyle/>
          <a:p>
            <a:r>
              <a:t>QLoRA</a:t>
            </a:r>
          </a:p>
        </p:txBody>
      </p:sp>
      <p:sp>
        <p:nvSpPr>
          <p:cNvPr id="3" name="Content Placeholder 2">
            <a:extLst>
              <a:ext uri="{FF2B5EF4-FFF2-40B4-BE49-F238E27FC236}">
                <a16:creationId xmlns:a16="http://schemas.microsoft.com/office/drawing/2014/main" id="{9699037D-F63D-083F-2A55-35B68EFE526B}"/>
              </a:ext>
            </a:extLst>
          </p:cNvPr>
          <p:cNvSpPr>
            <a:spLocks noGrp="1"/>
          </p:cNvSpPr>
          <p:nvPr>
            <p:ph idx="1"/>
          </p:nvPr>
        </p:nvSpPr>
        <p:spPr/>
        <p:txBody>
          <a:bodyPr vert="horz" lIns="91440" tIns="45720" rIns="91440" bIns="45720" anchor="t">
            <a:normAutofit/>
          </a:bodyPr>
          <a:lstStyle/>
          <a:p>
            <a:pPr marL="0" indent="0">
              <a:buNone/>
            </a:pPr>
            <a:r>
              <a:t>Combine quantization and LoRA</a:t>
            </a:r>
          </a:p>
          <a:p>
            <a:pPr marL="0" indent="0">
              <a:buNone/>
            </a:pPr>
            <a:endParaRPr/>
          </a:p>
          <a:p>
            <a:pPr marL="0" indent="0">
              <a:buNone/>
            </a:pPr>
            <a:r>
              <a:t>Model is quantized? A and B are not?</a:t>
            </a:r>
          </a:p>
          <a:p>
            <a:pPr marL="0" indent="0">
              <a:buNone/>
            </a:pPr>
            <a:endParaRPr/>
          </a:p>
          <a:p>
            <a:pPr marL="0" indent="0">
              <a:buNone/>
            </a:pPr>
            <a:r>
              <a:t>How do we combine them?</a:t>
            </a:r>
          </a:p>
          <a:p>
            <a:pPr marL="0" indent="0">
              <a:buNone/>
            </a:pPr>
            <a:endParaRPr/>
          </a:p>
          <a:p>
            <a:pPr marL="0" indent="0">
              <a:buNone/>
            </a:pPr>
            <a:r>
              <a:t>...perform on the fly dequantization.</a:t>
            </a:r>
          </a:p>
          <a:p>
            <a:pPr marL="0" indent="0">
              <a:buNone/>
            </a:pPr>
            <a:endParaRPr/>
          </a:p>
        </p:txBody>
      </p:sp>
    </p:spTree>
    <p:extLst>
      <p:ext uri="{BB962C8B-B14F-4D97-AF65-F5344CB8AC3E}">
        <p14:creationId xmlns:p14="http://schemas.microsoft.com/office/powerpoint/2010/main" val="3676266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D2D46-57BF-E41A-A4C6-73E717E4A98D}"/>
              </a:ext>
            </a:extLst>
          </p:cNvPr>
          <p:cNvSpPr>
            <a:spLocks noGrp="1"/>
          </p:cNvSpPr>
          <p:nvPr>
            <p:ph type="title"/>
          </p:nvPr>
        </p:nvSpPr>
        <p:spPr/>
        <p:txBody>
          <a:bodyPr/>
          <a:lstStyle/>
          <a:p>
            <a:r>
              <a:t>What is it good for?</a:t>
            </a:r>
          </a:p>
        </p:txBody>
      </p:sp>
      <p:sp>
        <p:nvSpPr>
          <p:cNvPr id="3" name="Content Placeholder 2">
            <a:extLst>
              <a:ext uri="{FF2B5EF4-FFF2-40B4-BE49-F238E27FC236}">
                <a16:creationId xmlns:a16="http://schemas.microsoft.com/office/drawing/2014/main" id="{22E98EEC-A183-EB50-71EE-4D5B026B9A2A}"/>
              </a:ext>
            </a:extLst>
          </p:cNvPr>
          <p:cNvSpPr>
            <a:spLocks noGrp="1"/>
          </p:cNvSpPr>
          <p:nvPr>
            <p:ph idx="1"/>
          </p:nvPr>
        </p:nvSpPr>
        <p:spPr/>
        <p:txBody>
          <a:bodyPr vert="horz" lIns="91440" tIns="45720" rIns="91440" bIns="45720" anchor="t">
            <a:normAutofit/>
          </a:bodyPr>
          <a:lstStyle/>
          <a:p>
            <a:pPr marL="0" indent="0">
              <a:buNone/>
            </a:pPr>
            <a:r>
              <a:rPr b="1">
                <a:solidFill>
                  <a:schemeClr val="accent1"/>
                </a:solidFill>
              </a:rPr>
              <a:t>Behavioural or stylistic changes</a:t>
            </a:r>
            <a:r>
              <a:t> like tone, verbosity, general behaviour or instructions</a:t>
            </a:r>
          </a:p>
          <a:p>
            <a:pPr marL="0" indent="0">
              <a:buNone/>
            </a:pPr>
            <a:r>
              <a:rPr b="1">
                <a:solidFill>
                  <a:schemeClr val="accent1"/>
                </a:solidFill>
              </a:rPr>
              <a:t>Task-specific optimization</a:t>
            </a:r>
            <a:r>
              <a:t> such as classification, summarization, code generation</a:t>
            </a:r>
          </a:p>
          <a:p>
            <a:pPr marL="0" indent="0">
              <a:buNone/>
            </a:pPr>
            <a:r>
              <a:rPr b="1">
                <a:solidFill>
                  <a:schemeClr val="accent1"/>
                </a:solidFill>
              </a:rPr>
              <a:t>Alignment</a:t>
            </a:r>
            <a:r>
              <a:t> to reduce harm, or make them more helpful to humans</a:t>
            </a:r>
          </a:p>
          <a:p>
            <a:pPr marL="0" indent="0">
              <a:buNone/>
            </a:pPr>
            <a:r>
              <a:rPr b="1">
                <a:solidFill>
                  <a:schemeClr val="accent1"/>
                </a:solidFill>
              </a:rPr>
              <a:t>Domain adaptation</a:t>
            </a:r>
            <a:r>
              <a:t> to specialized domain (legal, medical, etc.) that has domain specific terminology or reasoning patterns</a:t>
            </a:r>
          </a:p>
        </p:txBody>
      </p:sp>
    </p:spTree>
    <p:extLst>
      <p:ext uri="{BB962C8B-B14F-4D97-AF65-F5344CB8AC3E}">
        <p14:creationId xmlns:p14="http://schemas.microsoft.com/office/powerpoint/2010/main" val="1428519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590DD-67C2-C59B-EB17-B7F37D8F35C1}"/>
              </a:ext>
            </a:extLst>
          </p:cNvPr>
          <p:cNvSpPr>
            <a:spLocks noGrp="1"/>
          </p:cNvSpPr>
          <p:nvPr>
            <p:ph type="title"/>
          </p:nvPr>
        </p:nvSpPr>
        <p:spPr/>
        <p:txBody>
          <a:bodyPr/>
          <a:lstStyle/>
          <a:p>
            <a:r>
              <a:t>Input data</a:t>
            </a:r>
          </a:p>
        </p:txBody>
      </p:sp>
      <p:sp>
        <p:nvSpPr>
          <p:cNvPr id="3" name="Content Placeholder 2">
            <a:extLst>
              <a:ext uri="{FF2B5EF4-FFF2-40B4-BE49-F238E27FC236}">
                <a16:creationId xmlns:a16="http://schemas.microsoft.com/office/drawing/2014/main" id="{2BDCA483-7D3C-9891-B9D6-94D966CE0A0A}"/>
              </a:ext>
            </a:extLst>
          </p:cNvPr>
          <p:cNvSpPr>
            <a:spLocks noGrp="1"/>
          </p:cNvSpPr>
          <p:nvPr>
            <p:ph idx="1"/>
          </p:nvPr>
        </p:nvSpPr>
        <p:spPr/>
        <p:txBody>
          <a:bodyPr vert="horz" lIns="91440" tIns="45720" rIns="91440" bIns="45720" anchor="t">
            <a:normAutofit/>
          </a:bodyPr>
          <a:lstStyle/>
          <a:p>
            <a:pPr marL="0" indent="0">
              <a:buNone/>
            </a:pPr>
            <a:r>
              <a:t>Training data is formated as a </a:t>
            </a:r>
            <a:r>
              <a:rPr>
                <a:solidFill>
                  <a:schemeClr val="bg2">
                    <a:lumMod val="49000"/>
                  </a:schemeClr>
                </a:solidFill>
                <a:latin typeface="Courier New"/>
                <a:ea typeface="Courier New"/>
                <a:cs typeface="Courier New"/>
              </a:rPr>
              <a:t>jsonl</a:t>
            </a:r>
            <a:r>
              <a:rPr>
                <a:solidFill>
                  <a:schemeClr val="bg2">
                    <a:lumMod val="49000"/>
                  </a:schemeClr>
                </a:solidFill>
                <a:latin typeface="Aptos"/>
                <a:ea typeface="Aptos"/>
                <a:cs typeface="Aptos"/>
              </a:rPr>
              <a:t> </a:t>
            </a:r>
            <a:r>
              <a:t>file:</a:t>
            </a:r>
          </a:p>
          <a:p>
            <a:pPr marL="0" indent="0">
              <a:buNone/>
            </a:pPr>
            <a:endParaRPr>
              <a:latin typeface="Aptos"/>
              <a:ea typeface="Aptos"/>
              <a:cs typeface="Aptos"/>
            </a:endParaRPr>
          </a:p>
          <a:p>
            <a:pPr marL="0" indent="0">
              <a:buNone/>
            </a:pPr>
            <a:r>
              <a:rPr sz="1200">
                <a:latin typeface="Courier New"/>
                <a:ea typeface="Courier New"/>
                <a:cs typeface="Courier New"/>
              </a:rPr>
              <a:t>// training_data.jsonl</a:t>
            </a:r>
          </a:p>
          <a:p>
            <a:pPr marL="0" indent="0">
              <a:lnSpc>
                <a:spcPct val="100000"/>
              </a:lnSpc>
              <a:spcBef>
                <a:spcPts val="200"/>
              </a:spcBef>
              <a:buNone/>
            </a:pPr>
            <a:r>
              <a:rPr sz="1200">
                <a:latin typeface="Courier New"/>
                <a:ea typeface="Courier New"/>
                <a:cs typeface="Courier New"/>
              </a:rPr>
              <a:t>{"messages": [{"role": "user", "content": "What is the current ..."}, {"role": "assistant", "content": "The</a:t>
            </a:r>
          </a:p>
          <a:p>
            <a:pPr marL="0" indent="0">
              <a:lnSpc>
                <a:spcPct val="100000"/>
              </a:lnSpc>
              <a:spcBef>
                <a:spcPts val="200"/>
              </a:spcBef>
              <a:buNone/>
            </a:pPr>
            <a:r>
              <a:rPr sz="1200">
                <a:latin typeface="Courier New"/>
                <a:ea typeface="Courier New"/>
                <a:cs typeface="Courier New"/>
              </a:rPr>
              <a:t>{"messages": [{"role": "user", "content": "How many days ..."}, {"role": "assistant", "content": "3-4 days</a:t>
            </a:r>
          </a:p>
          <a:p>
            <a:pPr marL="0" indent="0">
              <a:lnSpc>
                <a:spcPct val="100000"/>
              </a:lnSpc>
              <a:spcBef>
                <a:spcPts val="200"/>
              </a:spcBef>
              <a:buNone/>
            </a:pPr>
            <a:r>
              <a:rPr sz="1200">
                <a:latin typeface="Courier New"/>
                <a:ea typeface="Courier New"/>
                <a:cs typeface="Courier New"/>
              </a:rPr>
              <a:t>{"messages": [{"role": "user", "content": "Which renal denervation ..."}, {"role": "assistant", "content": "The</a:t>
            </a:r>
          </a:p>
        </p:txBody>
      </p:sp>
    </p:spTree>
    <p:extLst>
      <p:ext uri="{BB962C8B-B14F-4D97-AF65-F5344CB8AC3E}">
        <p14:creationId xmlns:p14="http://schemas.microsoft.com/office/powerpoint/2010/main" val="1674635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ADB7A-22BD-0921-8DFF-77F35CD77FD6}"/>
              </a:ext>
            </a:extLst>
          </p:cNvPr>
          <p:cNvSpPr>
            <a:spLocks noGrp="1"/>
          </p:cNvSpPr>
          <p:nvPr>
            <p:ph type="title"/>
          </p:nvPr>
        </p:nvSpPr>
        <p:spPr/>
        <p:txBody>
          <a:bodyPr/>
          <a:lstStyle/>
          <a:p>
            <a:r>
              <a:t>Challenges and takeaways</a:t>
            </a:r>
          </a:p>
        </p:txBody>
      </p:sp>
      <p:sp>
        <p:nvSpPr>
          <p:cNvPr id="3" name="Content Placeholder 2">
            <a:extLst>
              <a:ext uri="{FF2B5EF4-FFF2-40B4-BE49-F238E27FC236}">
                <a16:creationId xmlns:a16="http://schemas.microsoft.com/office/drawing/2014/main" id="{C63DB0B1-6033-EDAF-88F3-0A39B0364298}"/>
              </a:ext>
            </a:extLst>
          </p:cNvPr>
          <p:cNvSpPr>
            <a:spLocks noGrp="1"/>
          </p:cNvSpPr>
          <p:nvPr>
            <p:ph idx="1"/>
          </p:nvPr>
        </p:nvSpPr>
        <p:spPr/>
        <p:txBody>
          <a:bodyPr vert="horz" lIns="91440" tIns="45720" rIns="91440" bIns="45720" anchor="t">
            <a:normAutofit/>
          </a:bodyPr>
          <a:lstStyle/>
          <a:p>
            <a:pPr marL="0" indent="0">
              <a:buNone/>
            </a:pPr>
            <a:r>
              <a:t>LoRA : small overhead for forward pass, big saving for backprop</a:t>
            </a:r>
          </a:p>
          <a:p>
            <a:pPr marL="0" indent="0">
              <a:buNone/>
            </a:pPr>
            <a:endParaRPr/>
          </a:p>
          <a:p>
            <a:pPr marL="0" indent="0">
              <a:buNone/>
            </a:pPr>
            <a:r>
              <a:t>QLoRA : memory efficient, but slower than LoRA</a:t>
            </a:r>
          </a:p>
          <a:p>
            <a:pPr marL="0" indent="0">
              <a:buNone/>
            </a:pPr>
            <a:endParaRPr/>
          </a:p>
          <a:p>
            <a:pPr marL="0" indent="0">
              <a:buNone/>
            </a:pPr>
            <a:r>
              <a:t>You need compute.</a:t>
            </a:r>
          </a:p>
        </p:txBody>
      </p:sp>
    </p:spTree>
    <p:extLst>
      <p:ext uri="{BB962C8B-B14F-4D97-AF65-F5344CB8AC3E}">
        <p14:creationId xmlns:p14="http://schemas.microsoft.com/office/powerpoint/2010/main" val="3705023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991E1-0208-4FBF-1F88-348049F3697C}"/>
              </a:ext>
            </a:extLst>
          </p:cNvPr>
          <p:cNvSpPr>
            <a:spLocks noGrp="1"/>
          </p:cNvSpPr>
          <p:nvPr>
            <p:ph type="title"/>
          </p:nvPr>
        </p:nvSpPr>
        <p:spPr/>
        <p:txBody>
          <a:bodyPr/>
          <a:lstStyle/>
          <a:p>
            <a:r>
              <a:t>Challenges and takeaways</a:t>
            </a:r>
          </a:p>
        </p:txBody>
      </p:sp>
      <p:sp>
        <p:nvSpPr>
          <p:cNvPr id="3" name="Content Placeholder 2">
            <a:extLst>
              <a:ext uri="{FF2B5EF4-FFF2-40B4-BE49-F238E27FC236}">
                <a16:creationId xmlns:a16="http://schemas.microsoft.com/office/drawing/2014/main" id="{7147FBD6-2320-7259-EDBF-188C2D1B2275}"/>
              </a:ext>
            </a:extLst>
          </p:cNvPr>
          <p:cNvSpPr>
            <a:spLocks noGrp="1"/>
          </p:cNvSpPr>
          <p:nvPr>
            <p:ph idx="1"/>
          </p:nvPr>
        </p:nvSpPr>
        <p:spPr/>
        <p:txBody>
          <a:bodyPr vert="horz" lIns="91440" tIns="45720" rIns="91440" bIns="45720" anchor="t">
            <a:normAutofit/>
          </a:bodyPr>
          <a:lstStyle/>
          <a:p>
            <a:pPr marL="0" indent="0">
              <a:buNone/>
            </a:pPr>
            <a:r>
              <a:t>You need A LOT of compute for:</a:t>
            </a:r>
          </a:p>
          <a:p>
            <a:pPr marL="0" indent="0">
              <a:buNone/>
            </a:pPr>
            <a:endParaRPr/>
          </a:p>
          <a:p>
            <a:pPr marL="514350" indent="-514350">
              <a:buAutoNum type="arabicPeriod"/>
            </a:pPr>
            <a:r>
              <a:t>Parameters</a:t>
            </a:r>
          </a:p>
          <a:p>
            <a:pPr marL="514350" indent="-514350">
              <a:buAutoNum type="arabicPeriod"/>
            </a:pPr>
            <a:r>
              <a:t>Optimizer states</a:t>
            </a:r>
          </a:p>
          <a:p>
            <a:pPr marL="514350" indent="-514350">
              <a:buAutoNum type="arabicPeriod"/>
            </a:pPr>
            <a:r>
              <a:t>Gradients</a:t>
            </a:r>
          </a:p>
          <a:p>
            <a:pPr marL="514350" indent="-514350">
              <a:buAutoNum type="arabicPeriod"/>
            </a:pPr>
            <a:r>
              <a:t>Activations</a:t>
            </a:r>
          </a:p>
          <a:p>
            <a:pPr marL="0" indent="0">
              <a:buNone/>
            </a:pPr>
            <a:endParaRPr/>
          </a:p>
          <a:p>
            <a:pPr marL="0" indent="0" algn="ctr">
              <a:buNone/>
            </a:pPr>
            <a:r>
              <a:rPr b="1">
                <a:solidFill>
                  <a:srgbClr val="7030A0"/>
                </a:solidFill>
              </a:rPr>
              <a:t>~16GB per 1B parameters</a:t>
            </a:r>
            <a:endParaRPr>
              <a:solidFill>
                <a:srgbClr val="000000"/>
              </a:solidFill>
            </a:endParaRPr>
          </a:p>
        </p:txBody>
      </p:sp>
    </p:spTree>
    <p:extLst>
      <p:ext uri="{BB962C8B-B14F-4D97-AF65-F5344CB8AC3E}">
        <p14:creationId xmlns:p14="http://schemas.microsoft.com/office/powerpoint/2010/main" val="2182650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02EDD-E8EC-F9D4-80A7-0F5B8A571D65}"/>
              </a:ext>
            </a:extLst>
          </p:cNvPr>
          <p:cNvSpPr>
            <a:spLocks noGrp="1"/>
          </p:cNvSpPr>
          <p:nvPr>
            <p:ph type="title"/>
          </p:nvPr>
        </p:nvSpPr>
        <p:spPr/>
        <p:txBody>
          <a:bodyPr/>
          <a:lstStyle/>
          <a:p>
            <a:r>
              <a:t>Challenges and takeaways</a:t>
            </a:r>
          </a:p>
        </p:txBody>
      </p:sp>
      <p:graphicFrame>
        <p:nvGraphicFramePr>
          <p:cNvPr id="28" name="Content Placeholder 4"/>
          <p:cNvGraphicFramePr/>
          <p:nvPr/>
        </p:nvGraphicFramePr>
        <p:xfrm>
          <a:off x="1069521" y="2084161"/>
          <a:ext cx="10052940" cy="2340425"/>
        </p:xfrm>
        <a:graphic>
          <a:graphicData uri="http://schemas.openxmlformats.org/drawingml/2006/table">
            <a:tbl>
              <a:tblPr bandRow="1">
                <a:tableStyleId>{5FD0F851-EC5A-4D38-B0AD-8093EC10F338}</a:tableStyleId>
              </a:tblPr>
              <a:tblGrid>
                <a:gridCol w="1675490">
                  <a:extLst>
                    <a:ext uri="{9D8B030D-6E8A-4147-A177-3AD203B41FA5}">
                      <a16:colId xmlns:a16="http://schemas.microsoft.com/office/drawing/2014/main" val="20000"/>
                    </a:ext>
                  </a:extLst>
                </a:gridCol>
                <a:gridCol w="1675490">
                  <a:extLst>
                    <a:ext uri="{9D8B030D-6E8A-4147-A177-3AD203B41FA5}">
                      <a16:colId xmlns:a16="http://schemas.microsoft.com/office/drawing/2014/main" val="20001"/>
                    </a:ext>
                  </a:extLst>
                </a:gridCol>
                <a:gridCol w="1675490">
                  <a:extLst>
                    <a:ext uri="{9D8B030D-6E8A-4147-A177-3AD203B41FA5}">
                      <a16:colId xmlns:a16="http://schemas.microsoft.com/office/drawing/2014/main" val="20002"/>
                    </a:ext>
                  </a:extLst>
                </a:gridCol>
                <a:gridCol w="1675490">
                  <a:extLst>
                    <a:ext uri="{9D8B030D-6E8A-4147-A177-3AD203B41FA5}">
                      <a16:colId xmlns:a16="http://schemas.microsoft.com/office/drawing/2014/main" val="20003"/>
                    </a:ext>
                  </a:extLst>
                </a:gridCol>
                <a:gridCol w="1675490">
                  <a:extLst>
                    <a:ext uri="{9D8B030D-6E8A-4147-A177-3AD203B41FA5}">
                      <a16:colId xmlns:a16="http://schemas.microsoft.com/office/drawing/2014/main" val="20004"/>
                    </a:ext>
                  </a:extLst>
                </a:gridCol>
                <a:gridCol w="1675490">
                  <a:extLst>
                    <a:ext uri="{9D8B030D-6E8A-4147-A177-3AD203B41FA5}">
                      <a16:colId xmlns:a16="http://schemas.microsoft.com/office/drawing/2014/main" val="20005"/>
                    </a:ext>
                  </a:extLst>
                </a:gridCol>
              </a:tblGrid>
              <a:tr h="468085">
                <a:tc>
                  <a:txBody>
                    <a:bodyPr/>
                    <a:lstStyle/>
                    <a:p>
                      <a:pPr algn="ctr">
                        <a:buNone/>
                      </a:pPr>
                      <a:r>
                        <a:rPr b="1" cap="all">
                          <a:solidFill>
                            <a:schemeClr val="tx1"/>
                          </a:solidFill>
                        </a:rPr>
                        <a:t>Method</a:t>
                      </a:r>
                    </a:p>
                  </a:txBody>
                  <a:tcPr marL="114300" marR="114300" marT="95250" marB="95250" anchor="ctr"/>
                </a:tc>
                <a:tc>
                  <a:txBody>
                    <a:bodyPr/>
                    <a:lstStyle/>
                    <a:p>
                      <a:pPr algn="ctr">
                        <a:buNone/>
                      </a:pPr>
                      <a:r>
                        <a:rPr b="1" cap="all">
                          <a:solidFill>
                            <a:schemeClr val="tx1"/>
                          </a:solidFill>
                        </a:rPr>
                        <a:t>Precision</a:t>
                      </a:r>
                    </a:p>
                  </a:txBody>
                  <a:tcPr marL="114300" marR="114300" marT="95250" marB="95250" anchor="ctr"/>
                </a:tc>
                <a:tc>
                  <a:txBody>
                    <a:bodyPr/>
                    <a:lstStyle/>
                    <a:p>
                      <a:pPr algn="ctr">
                        <a:buNone/>
                      </a:pPr>
                      <a:r>
                        <a:rPr b="1" cap="all">
                          <a:solidFill>
                            <a:schemeClr val="tx1"/>
                          </a:solidFill>
                        </a:rPr>
                        <a:t>1B</a:t>
                      </a:r>
                    </a:p>
                  </a:txBody>
                  <a:tcPr marL="114300" marR="114300" marT="95250" marB="95250" anchor="ctr"/>
                </a:tc>
                <a:tc>
                  <a:txBody>
                    <a:bodyPr/>
                    <a:lstStyle/>
                    <a:p>
                      <a:pPr algn="ctr">
                        <a:buNone/>
                      </a:pPr>
                      <a:r>
                        <a:rPr b="1" cap="all">
                          <a:solidFill>
                            <a:schemeClr val="tx1"/>
                          </a:solidFill>
                        </a:rPr>
                        <a:t>7B</a:t>
                      </a:r>
                    </a:p>
                  </a:txBody>
                  <a:tcPr marL="114300" marR="114300" marT="95250" marB="95250" anchor="ctr"/>
                </a:tc>
                <a:tc>
                  <a:txBody>
                    <a:bodyPr/>
                    <a:lstStyle/>
                    <a:p>
                      <a:pPr algn="ctr">
                        <a:buNone/>
                      </a:pPr>
                      <a:r>
                        <a:rPr b="1" cap="all">
                          <a:solidFill>
                            <a:schemeClr val="tx1"/>
                          </a:solidFill>
                        </a:rPr>
                        <a:t>14B</a:t>
                      </a:r>
                    </a:p>
                  </a:txBody>
                  <a:tcPr marL="114300" marR="114300" marT="95250" marB="95250" anchor="ctr"/>
                </a:tc>
                <a:tc>
                  <a:txBody>
                    <a:bodyPr/>
                    <a:lstStyle/>
                    <a:p>
                      <a:pPr algn="ctr">
                        <a:buNone/>
                      </a:pPr>
                      <a:r>
                        <a:rPr b="1" cap="all">
                          <a:solidFill>
                            <a:schemeClr val="tx1"/>
                          </a:solidFill>
                        </a:rPr>
                        <a:t>70B</a:t>
                      </a:r>
                    </a:p>
                  </a:txBody>
                  <a:tcPr marL="114300" marR="114300" marT="95250" marB="95250" anchor="ctr"/>
                </a:tc>
                <a:extLst>
                  <a:ext uri="{0D108BD9-81ED-4DB2-BD59-A6C34878D82A}">
                    <a16:rowId xmlns:a16="http://schemas.microsoft.com/office/drawing/2014/main" val="10000"/>
                  </a:ext>
                </a:extLst>
              </a:tr>
              <a:tr h="468085">
                <a:tc>
                  <a:txBody>
                    <a:bodyPr/>
                    <a:lstStyle/>
                    <a:p>
                      <a:pPr algn="ctr">
                        <a:buNone/>
                      </a:pPr>
                      <a:r>
                        <a:rPr b="1">
                          <a:solidFill>
                            <a:schemeClr val="tx1"/>
                          </a:solidFill>
                        </a:rPr>
                        <a:t>Full</a:t>
                      </a:r>
                    </a:p>
                  </a:txBody>
                  <a:tcPr marL="114300" marR="114300" marT="95250" marB="95250" anchor="ctr"/>
                </a:tc>
                <a:tc>
                  <a:txBody>
                    <a:bodyPr/>
                    <a:lstStyle/>
                    <a:p>
                      <a:pPr algn="ctr">
                        <a:buNone/>
                      </a:pPr>
                      <a:r>
                        <a:rPr>
                          <a:solidFill>
                            <a:schemeClr val="tx1"/>
                          </a:solidFill>
                        </a:rPr>
                        <a:t>16</a:t>
                      </a:r>
                    </a:p>
                  </a:txBody>
                  <a:tcPr marL="114300" marR="114300" marT="95250" marB="95250" anchor="ctr"/>
                </a:tc>
                <a:tc>
                  <a:txBody>
                    <a:bodyPr/>
                    <a:lstStyle/>
                    <a:p>
                      <a:pPr algn="ctr">
                        <a:buNone/>
                      </a:pPr>
                      <a:r>
                        <a:rPr>
                          <a:solidFill>
                            <a:schemeClr val="tx1"/>
                          </a:solidFill>
                        </a:rPr>
                        <a:t>10GB</a:t>
                      </a:r>
                    </a:p>
                  </a:txBody>
                  <a:tcPr marL="114300" marR="114300" marT="95250" marB="95250" anchor="ctr"/>
                </a:tc>
                <a:tc>
                  <a:txBody>
                    <a:bodyPr/>
                    <a:lstStyle/>
                    <a:p>
                      <a:pPr algn="ctr">
                        <a:buNone/>
                      </a:pPr>
                      <a:r>
                        <a:rPr>
                          <a:solidFill>
                            <a:schemeClr val="tx1"/>
                          </a:solidFill>
                        </a:rPr>
                        <a:t>67GB</a:t>
                      </a:r>
                    </a:p>
                  </a:txBody>
                  <a:tcPr marL="114300" marR="114300" marT="95250" marB="95250" anchor="ctr"/>
                </a:tc>
                <a:tc>
                  <a:txBody>
                    <a:bodyPr/>
                    <a:lstStyle/>
                    <a:p>
                      <a:pPr algn="ctr">
                        <a:buNone/>
                      </a:pPr>
                      <a:r>
                        <a:rPr>
                          <a:solidFill>
                            <a:schemeClr val="tx1"/>
                          </a:solidFill>
                        </a:rPr>
                        <a:t>134GB</a:t>
                      </a:r>
                    </a:p>
                  </a:txBody>
                  <a:tcPr marL="114300" marR="114300" marT="95250" marB="95250" anchor="ctr"/>
                </a:tc>
                <a:tc>
                  <a:txBody>
                    <a:bodyPr/>
                    <a:lstStyle/>
                    <a:p>
                      <a:pPr algn="ctr">
                        <a:buNone/>
                      </a:pPr>
                      <a:r>
                        <a:rPr>
                          <a:solidFill>
                            <a:schemeClr val="tx1"/>
                          </a:solidFill>
                        </a:rPr>
                        <a:t>672GB</a:t>
                      </a:r>
                    </a:p>
                  </a:txBody>
                  <a:tcPr marL="114300" marR="114300" marT="95250" marB="95250" anchor="ctr"/>
                </a:tc>
                <a:extLst>
                  <a:ext uri="{0D108BD9-81ED-4DB2-BD59-A6C34878D82A}">
                    <a16:rowId xmlns:a16="http://schemas.microsoft.com/office/drawing/2014/main" val="10001"/>
                  </a:ext>
                </a:extLst>
              </a:tr>
              <a:tr h="468085">
                <a:tc>
                  <a:txBody>
                    <a:bodyPr/>
                    <a:lstStyle/>
                    <a:p>
                      <a:pPr algn="ctr">
                        <a:buNone/>
                      </a:pPr>
                      <a:r>
                        <a:rPr b="1">
                          <a:solidFill>
                            <a:schemeClr val="tx1"/>
                          </a:solidFill>
                        </a:rPr>
                        <a:t>LoRA</a:t>
                      </a:r>
                    </a:p>
                  </a:txBody>
                  <a:tcPr marL="114300" marR="114300" marT="95250" marB="95250" anchor="ctr"/>
                </a:tc>
                <a:tc>
                  <a:txBody>
                    <a:bodyPr/>
                    <a:lstStyle/>
                    <a:p>
                      <a:pPr algn="ctr">
                        <a:buNone/>
                      </a:pPr>
                      <a:r>
                        <a:rPr>
                          <a:solidFill>
                            <a:schemeClr val="tx1"/>
                          </a:solidFill>
                        </a:rPr>
                        <a:t>16</a:t>
                      </a:r>
                    </a:p>
                  </a:txBody>
                  <a:tcPr marL="114300" marR="114300" marT="95250" marB="95250" anchor="ctr"/>
                </a:tc>
                <a:tc>
                  <a:txBody>
                    <a:bodyPr/>
                    <a:lstStyle/>
                    <a:p>
                      <a:pPr algn="ctr">
                        <a:buNone/>
                      </a:pPr>
                      <a:r>
                        <a:rPr>
                          <a:solidFill>
                            <a:schemeClr val="tx1"/>
                          </a:solidFill>
                        </a:rPr>
                        <a:t>2GB</a:t>
                      </a:r>
                    </a:p>
                  </a:txBody>
                  <a:tcPr marL="114300" marR="114300" marT="95250" marB="95250" anchor="ctr"/>
                </a:tc>
                <a:tc>
                  <a:txBody>
                    <a:bodyPr/>
                    <a:lstStyle/>
                    <a:p>
                      <a:pPr algn="ctr">
                        <a:buNone/>
                      </a:pPr>
                      <a:r>
                        <a:rPr>
                          <a:solidFill>
                            <a:schemeClr val="tx1"/>
                          </a:solidFill>
                        </a:rPr>
                        <a:t>15GB</a:t>
                      </a:r>
                    </a:p>
                  </a:txBody>
                  <a:tcPr marL="114300" marR="114300" marT="95250" marB="95250" anchor="ctr"/>
                </a:tc>
                <a:tc>
                  <a:txBody>
                    <a:bodyPr/>
                    <a:lstStyle/>
                    <a:p>
                      <a:pPr algn="ctr">
                        <a:buNone/>
                      </a:pPr>
                      <a:r>
                        <a:rPr>
                          <a:solidFill>
                            <a:schemeClr val="tx1"/>
                          </a:solidFill>
                        </a:rPr>
                        <a:t>30GB</a:t>
                      </a:r>
                    </a:p>
                  </a:txBody>
                  <a:tcPr marL="114300" marR="114300" marT="95250" marB="95250" anchor="ctr"/>
                </a:tc>
                <a:tc>
                  <a:txBody>
                    <a:bodyPr/>
                    <a:lstStyle/>
                    <a:p>
                      <a:pPr algn="ctr">
                        <a:buNone/>
                      </a:pPr>
                      <a:r>
                        <a:rPr>
                          <a:solidFill>
                            <a:schemeClr val="tx1"/>
                          </a:solidFill>
                        </a:rPr>
                        <a:t>146GB</a:t>
                      </a:r>
                    </a:p>
                  </a:txBody>
                  <a:tcPr marL="114300" marR="114300" marT="95250" marB="95250" anchor="ctr"/>
                </a:tc>
                <a:extLst>
                  <a:ext uri="{0D108BD9-81ED-4DB2-BD59-A6C34878D82A}">
                    <a16:rowId xmlns:a16="http://schemas.microsoft.com/office/drawing/2014/main" val="10002"/>
                  </a:ext>
                </a:extLst>
              </a:tr>
              <a:tr h="468085">
                <a:tc>
                  <a:txBody>
                    <a:bodyPr/>
                    <a:lstStyle/>
                    <a:p>
                      <a:pPr algn="ctr">
                        <a:buNone/>
                      </a:pPr>
                      <a:r>
                        <a:rPr b="1">
                          <a:solidFill>
                            <a:schemeClr val="tx1"/>
                          </a:solidFill>
                        </a:rPr>
                        <a:t>QLoRA</a:t>
                      </a:r>
                    </a:p>
                  </a:txBody>
                  <a:tcPr marL="114300" marR="114300" marT="95250" marB="95250" anchor="ctr"/>
                </a:tc>
                <a:tc>
                  <a:txBody>
                    <a:bodyPr/>
                    <a:lstStyle/>
                    <a:p>
                      <a:pPr algn="ctr">
                        <a:buNone/>
                      </a:pPr>
                      <a:r>
                        <a:rPr>
                          <a:solidFill>
                            <a:schemeClr val="tx1"/>
                          </a:solidFill>
                        </a:rPr>
                        <a:t>8</a:t>
                      </a:r>
                    </a:p>
                  </a:txBody>
                  <a:tcPr marL="114300" marR="114300" marT="95250" marB="95250" anchor="ctr"/>
                </a:tc>
                <a:tc>
                  <a:txBody>
                    <a:bodyPr/>
                    <a:lstStyle/>
                    <a:p>
                      <a:pPr algn="ctr">
                        <a:buNone/>
                      </a:pPr>
                      <a:r>
                        <a:rPr>
                          <a:solidFill>
                            <a:schemeClr val="tx1"/>
                          </a:solidFill>
                        </a:rPr>
                        <a:t>1.3GB</a:t>
                      </a:r>
                    </a:p>
                  </a:txBody>
                  <a:tcPr marL="114300" marR="114300" marT="95250" marB="95250" anchor="ctr"/>
                </a:tc>
                <a:tc>
                  <a:txBody>
                    <a:bodyPr/>
                    <a:lstStyle/>
                    <a:p>
                      <a:pPr algn="ctr">
                        <a:buNone/>
                      </a:pPr>
                      <a:r>
                        <a:rPr>
                          <a:solidFill>
                            <a:schemeClr val="tx1"/>
                          </a:solidFill>
                        </a:rPr>
                        <a:t>9GB</a:t>
                      </a:r>
                    </a:p>
                  </a:txBody>
                  <a:tcPr marL="114300" marR="114300" marT="95250" marB="95250" anchor="ctr"/>
                </a:tc>
                <a:tc>
                  <a:txBody>
                    <a:bodyPr/>
                    <a:lstStyle/>
                    <a:p>
                      <a:pPr algn="ctr">
                        <a:buNone/>
                      </a:pPr>
                      <a:r>
                        <a:rPr>
                          <a:solidFill>
                            <a:schemeClr val="tx1"/>
                          </a:solidFill>
                        </a:rPr>
                        <a:t>18GB</a:t>
                      </a:r>
                    </a:p>
                  </a:txBody>
                  <a:tcPr marL="114300" marR="114300" marT="95250" marB="95250" anchor="ctr"/>
                </a:tc>
                <a:tc>
                  <a:txBody>
                    <a:bodyPr/>
                    <a:lstStyle/>
                    <a:p>
                      <a:pPr algn="ctr">
                        <a:buNone/>
                      </a:pPr>
                      <a:r>
                        <a:rPr>
                          <a:solidFill>
                            <a:schemeClr val="tx1"/>
                          </a:solidFill>
                        </a:rPr>
                        <a:t>88GB</a:t>
                      </a:r>
                    </a:p>
                  </a:txBody>
                  <a:tcPr marL="114300" marR="114300" marT="95250" marB="95250" anchor="ctr"/>
                </a:tc>
                <a:extLst>
                  <a:ext uri="{0D108BD9-81ED-4DB2-BD59-A6C34878D82A}">
                    <a16:rowId xmlns:a16="http://schemas.microsoft.com/office/drawing/2014/main" val="10003"/>
                  </a:ext>
                </a:extLst>
              </a:tr>
              <a:tr h="468085">
                <a:tc>
                  <a:txBody>
                    <a:bodyPr/>
                    <a:lstStyle/>
                    <a:p>
                      <a:pPr algn="ctr">
                        <a:buNone/>
                      </a:pPr>
                      <a:r>
                        <a:rPr b="1">
                          <a:solidFill>
                            <a:schemeClr val="tx1"/>
                          </a:solidFill>
                        </a:rPr>
                        <a:t>QLoRA</a:t>
                      </a:r>
                    </a:p>
                  </a:txBody>
                  <a:tcPr marL="114300" marR="114300" marT="95250" marB="95250" anchor="ctr"/>
                </a:tc>
                <a:tc>
                  <a:txBody>
                    <a:bodyPr/>
                    <a:lstStyle/>
                    <a:p>
                      <a:pPr algn="ctr">
                        <a:buNone/>
                      </a:pPr>
                      <a:r>
                        <a:rPr>
                          <a:solidFill>
                            <a:schemeClr val="tx1"/>
                          </a:solidFill>
                        </a:rPr>
                        <a:t>4</a:t>
                      </a:r>
                    </a:p>
                  </a:txBody>
                  <a:tcPr marL="114300" marR="114300" marT="95250" marB="95250" anchor="ctr"/>
                </a:tc>
                <a:tc>
                  <a:txBody>
                    <a:bodyPr/>
                    <a:lstStyle/>
                    <a:p>
                      <a:pPr algn="ctr">
                        <a:buNone/>
                      </a:pPr>
                      <a:r>
                        <a:rPr>
                          <a:solidFill>
                            <a:schemeClr val="tx1"/>
                          </a:solidFill>
                        </a:rPr>
                        <a:t>0.7GB</a:t>
                      </a:r>
                    </a:p>
                  </a:txBody>
                  <a:tcPr marL="114300" marR="114300" marT="95250" marB="95250" anchor="ctr"/>
                </a:tc>
                <a:tc>
                  <a:txBody>
                    <a:bodyPr/>
                    <a:lstStyle/>
                    <a:p>
                      <a:pPr algn="ctr">
                        <a:buNone/>
                      </a:pPr>
                      <a:r>
                        <a:rPr>
                          <a:solidFill>
                            <a:schemeClr val="tx1"/>
                          </a:solidFill>
                        </a:rPr>
                        <a:t>5GB</a:t>
                      </a:r>
                    </a:p>
                  </a:txBody>
                  <a:tcPr marL="114300" marR="114300" marT="95250" marB="95250" anchor="ctr"/>
                </a:tc>
                <a:tc>
                  <a:txBody>
                    <a:bodyPr/>
                    <a:lstStyle/>
                    <a:p>
                      <a:pPr algn="ctr">
                        <a:buNone/>
                      </a:pPr>
                      <a:r>
                        <a:rPr>
                          <a:solidFill>
                            <a:schemeClr val="tx1"/>
                          </a:solidFill>
                        </a:rPr>
                        <a:t>10GB</a:t>
                      </a:r>
                    </a:p>
                  </a:txBody>
                  <a:tcPr marL="114300" marR="114300" marT="95250" marB="95250" anchor="ctr"/>
                </a:tc>
                <a:tc>
                  <a:txBody>
                    <a:bodyPr/>
                    <a:lstStyle/>
                    <a:p>
                      <a:pPr algn="ctr">
                        <a:buNone/>
                      </a:pPr>
                      <a:r>
                        <a:rPr>
                          <a:solidFill>
                            <a:schemeClr val="tx1"/>
                          </a:solidFill>
                        </a:rPr>
                        <a:t>46GB</a:t>
                      </a:r>
                    </a:p>
                  </a:txBody>
                  <a:tcPr marL="114300" marR="114300" marT="95250" marB="95250" anchor="ctr"/>
                </a:tc>
                <a:extLst>
                  <a:ext uri="{0D108BD9-81ED-4DB2-BD59-A6C34878D82A}">
                    <a16:rowId xmlns:a16="http://schemas.microsoft.com/office/drawing/2014/main" val="10004"/>
                  </a:ext>
                </a:extLst>
              </a:tr>
            </a:tbl>
          </a:graphicData>
        </a:graphic>
      </p:graphicFrame>
      <p:sp>
        <p:nvSpPr>
          <p:cNvPr id="7" name="TextBox 6">
            <a:extLst>
              <a:ext uri="{FF2B5EF4-FFF2-40B4-BE49-F238E27FC236}">
                <a16:creationId xmlns:a16="http://schemas.microsoft.com/office/drawing/2014/main" id="{25CCE899-80CC-8941-E6F7-26AFAE2885C7}"/>
              </a:ext>
            </a:extLst>
          </p:cNvPr>
          <p:cNvSpPr>
            <a:spLocks noGrp="1"/>
          </p:cNvSpPr>
          <p:nvPr/>
        </p:nvSpPr>
        <p:spPr>
          <a:xfrm rot="-10800000" flipV="1">
            <a:off x="836839" y="6082393"/>
            <a:ext cx="6027963" cy="276999"/>
          </a:xfrm>
          <a:prstGeom prst="rect">
            <a:avLst/>
          </a:prstGeom>
          <a:noFill/>
        </p:spPr>
        <p:txBody>
          <a:bodyPr rot="0" spcFirstLastPara="0" vert="horz" wrap="square" lIns="91440" tIns="45720" rIns="91440" bIns="45720" anchor="t">
            <a:spAutoFit/>
          </a:bodyPr>
          <a:lstStyle/>
          <a:p>
            <a:pPr algn="l">
              <a:buNone/>
            </a:pPr>
            <a:r>
              <a:rPr sz="1200"/>
              <a:t>https://www.runpod.io/blog/llm-fine-tuning-gpu-guide</a:t>
            </a:r>
          </a:p>
        </p:txBody>
      </p:sp>
      <p:sp>
        <p:nvSpPr>
          <p:cNvPr id="8" name="Oval 7">
            <a:extLst>
              <a:ext uri="{FF2B5EF4-FFF2-40B4-BE49-F238E27FC236}">
                <a16:creationId xmlns:a16="http://schemas.microsoft.com/office/drawing/2014/main" id="{EA48B52D-1BDB-CB1B-02BB-61C31E2A1C5D}"/>
              </a:ext>
            </a:extLst>
          </p:cNvPr>
          <p:cNvSpPr>
            <a:spLocks noGrp="1"/>
          </p:cNvSpPr>
          <p:nvPr/>
        </p:nvSpPr>
        <p:spPr>
          <a:xfrm>
            <a:off x="9810749" y="2530929"/>
            <a:ext cx="1020535" cy="530678"/>
          </a:xfrm>
          <a:custGeom>
            <a:avLst/>
            <a:gdLst>
              <a:gd name="csX0" fmla="*/ 0 w 1020535"/>
              <a:gd name="csY0" fmla="*/ 265339 h 530678"/>
              <a:gd name="csX1" fmla="*/ 510268 w 1020535"/>
              <a:gd name="csY1" fmla="*/ 0 h 530678"/>
              <a:gd name="csX2" fmla="*/ 1020536 w 1020535"/>
              <a:gd name="csY2" fmla="*/ 265339 h 530678"/>
              <a:gd name="csX3" fmla="*/ 510268 w 1020535"/>
              <a:gd name="csY3" fmla="*/ 530678 h 530678"/>
              <a:gd name="csX4" fmla="*/ 0 w 1020535"/>
              <a:gd name="csY4" fmla="*/ 265339 h 530678"/>
            </a:gdLst>
            <a:ahLst/>
            <a:cxnLst/>
            <a:rect l="l" t="t" r="r" b="b"/>
            <a:pathLst>
              <a:path w="1020535" h="530678">
                <a:moveTo>
                  <a:pt x="0" y="265339"/>
                </a:moveTo>
                <a:cubicBezTo>
                  <a:pt x="54490" y="115045"/>
                  <a:pt x="242447" y="8076"/>
                  <a:pt x="510268" y="0"/>
                </a:cubicBezTo>
                <a:cubicBezTo>
                  <a:pt x="760525" y="6750"/>
                  <a:pt x="1050890" y="121640"/>
                  <a:pt x="1020536" y="265339"/>
                </a:cubicBezTo>
                <a:cubicBezTo>
                  <a:pt x="1052424" y="440822"/>
                  <a:pt x="784274" y="537856"/>
                  <a:pt x="510268" y="530678"/>
                </a:cubicBezTo>
                <a:cubicBezTo>
                  <a:pt x="199063" y="532077"/>
                  <a:pt x="23254" y="427763"/>
                  <a:pt x="0" y="265339"/>
                </a:cubicBezTo>
                <a:close/>
              </a:path>
            </a:pathLst>
          </a:cu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842437B9-7683-15C0-BD10-EA764A439D2C}"/>
              </a:ext>
            </a:extLst>
          </p:cNvPr>
          <p:cNvSpPr>
            <a:spLocks noGrp="1"/>
          </p:cNvSpPr>
          <p:nvPr/>
        </p:nvSpPr>
        <p:spPr>
          <a:xfrm>
            <a:off x="8912678" y="1347107"/>
            <a:ext cx="517072" cy="369332"/>
          </a:xfrm>
          <a:custGeom>
            <a:avLst/>
            <a:gdLst>
              <a:gd name="csX0" fmla="*/ 0 w 517072"/>
              <a:gd name="csY0" fmla="*/ 0 h 369332"/>
              <a:gd name="csX1" fmla="*/ 517072 w 517072"/>
              <a:gd name="csY1" fmla="*/ 0 h 369332"/>
              <a:gd name="csX2" fmla="*/ 517072 w 517072"/>
              <a:gd name="csY2" fmla="*/ 369332 h 369332"/>
              <a:gd name="csX3" fmla="*/ 0 w 517072"/>
              <a:gd name="csY3" fmla="*/ 369332 h 369332"/>
              <a:gd name="csX4" fmla="*/ 0 w 517072"/>
              <a:gd name="csY4" fmla="*/ 0 h 369332"/>
            </a:gdLst>
            <a:ahLst/>
            <a:cxnLst/>
            <a:rect l="l" t="t" r="r" b="b"/>
            <a:pathLst>
              <a:path w="517072" h="369332">
                <a:moveTo>
                  <a:pt x="0" y="0"/>
                </a:moveTo>
                <a:cubicBezTo>
                  <a:pt x="155720" y="-5419"/>
                  <a:pt x="322263" y="19303"/>
                  <a:pt x="517072" y="0"/>
                </a:cubicBezTo>
                <a:cubicBezTo>
                  <a:pt x="546982" y="113583"/>
                  <a:pt x="503347" y="275869"/>
                  <a:pt x="517072" y="369332"/>
                </a:cubicBezTo>
                <a:cubicBezTo>
                  <a:pt x="267266" y="376680"/>
                  <a:pt x="186211" y="332820"/>
                  <a:pt x="0" y="369332"/>
                </a:cubicBezTo>
                <a:cubicBezTo>
                  <a:pt x="-20862" y="209662"/>
                  <a:pt x="30642" y="119457"/>
                  <a:pt x="0" y="0"/>
                </a:cubicBezTo>
                <a:close/>
              </a:path>
            </a:pathLst>
          </a:custGeom>
          <a:noFill/>
          <a:ln w="28575">
            <a:solidFill>
              <a:srgbClr val="C00000"/>
            </a:solidFill>
          </a:ln>
        </p:spPr>
        <p:txBody>
          <a:bodyPr rot="0" spcFirstLastPara="0" vert="horz" wrap="square" lIns="91440" tIns="45720" rIns="91440" bIns="45720" anchor="t">
            <a:spAutoFit/>
          </a:bodyPr>
          <a:lstStyle/>
          <a:p>
            <a:pPr algn="l">
              <a:buNone/>
            </a:pPr>
            <a:r>
              <a:t>lol!</a:t>
            </a:r>
          </a:p>
        </p:txBody>
      </p:sp>
      <p:cxnSp>
        <p:nvCxnSpPr>
          <p:cNvPr id="32" name="Straight Arrow Connector 10"/>
          <p:cNvCxnSpPr/>
          <p:nvPr/>
        </p:nvCxnSpPr>
        <p:spPr>
          <a:xfrm flipH="1" flipV="1">
            <a:off x="9415379" y="1718353"/>
            <a:ext cx="898072" cy="809623"/>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3103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1311</Words>
  <Application>Microsoft Macintosh PowerPoint</Application>
  <DocSecurity>0</DocSecurity>
  <PresentationFormat>Widescreen</PresentationFormat>
  <Paragraphs>231</Paragraphs>
  <Slides>26</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26</vt:i4>
      </vt:variant>
    </vt:vector>
  </HeadingPairs>
  <TitlesOfParts>
    <vt:vector size="38" baseType="lpstr">
      <vt:lpstr>Aptos</vt:lpstr>
      <vt:lpstr>Aptos Display</vt:lpstr>
      <vt:lpstr>Arial</vt:lpstr>
      <vt:lpstr>Cambria Math</vt:lpstr>
      <vt:lpstr>CMU Serif Roman</vt:lpstr>
      <vt:lpstr>CMU Serif Roman</vt:lpstr>
      <vt:lpstr>Comic Sans MS</vt:lpstr>
      <vt:lpstr>Consolas</vt:lpstr>
      <vt:lpstr>Courier New</vt:lpstr>
      <vt:lpstr>IBM Plex Mono</vt:lpstr>
      <vt:lpstr>Source Code Pro</vt:lpstr>
      <vt:lpstr>office theme</vt:lpstr>
      <vt:lpstr>Fine tuning</vt:lpstr>
      <vt:lpstr>Overview</vt:lpstr>
      <vt:lpstr>Post-training vs. Fine-tuning</vt:lpstr>
      <vt:lpstr>PowerPoint Presentation</vt:lpstr>
      <vt:lpstr>Alpaca</vt:lpstr>
      <vt:lpstr>Why?</vt:lpstr>
      <vt:lpstr>Instruction tuning</vt:lpstr>
      <vt:lpstr>Instruction tuning</vt:lpstr>
      <vt:lpstr>Instruction tuning</vt:lpstr>
      <vt:lpstr>Instruction tuning</vt:lpstr>
      <vt:lpstr>Instruction tuning</vt:lpstr>
      <vt:lpstr>Full fine-tuning (FFT)</vt:lpstr>
      <vt:lpstr>Low Rank Adaptation (LoRA)</vt:lpstr>
      <vt:lpstr>LoRA</vt:lpstr>
      <vt:lpstr>LoRA</vt:lpstr>
      <vt:lpstr>Low Rank Adaptation (LoRA)</vt:lpstr>
      <vt:lpstr>Low Rank Adaptation (LoRA)</vt:lpstr>
      <vt:lpstr>Low Rank Adaptation (LoRA)</vt:lpstr>
      <vt:lpstr>Quantization</vt:lpstr>
      <vt:lpstr>Quantization</vt:lpstr>
      <vt:lpstr>QLoRA</vt:lpstr>
      <vt:lpstr>What is it good for?</vt:lpstr>
      <vt:lpstr>Input data</vt:lpstr>
      <vt:lpstr>Challenges and takeaways</vt:lpstr>
      <vt:lpstr>Challenges and takeaways</vt:lpstr>
      <vt:lpstr>Challenges and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Fariba Yousefi</cp:lastModifiedBy>
  <cp:revision>3</cp:revision>
  <dcterms:created xsi:type="dcterms:W3CDTF">2026-09-25T12:54:16Z</dcterms:created>
  <dcterms:modified xsi:type="dcterms:W3CDTF">2026-09-25T22:25:53Z</dcterms:modified>
</cp:coreProperties>
</file>