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83075"/>
  </p:normalViewPr>
  <p:slideViewPr>
    <p:cSldViewPr snapToGrid="0">
      <p:cViewPr varScale="1">
        <p:scale>
          <a:sx n="101" d="100"/>
          <a:sy n="101" d="100"/>
        </p:scale>
        <p:origin x="1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F41D1-DE4A-4A42-88A4-15B6CDEA2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18AB0-7715-4F75-B517-06D6F86BD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097A5-0A0D-4C4E-94E5-C5172D4742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33EBD-EDF0-4B09-9AA7-46D98BD6A1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DE0A-A3A1-4EC5-9792-BB61CA2387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74C2-DE73-4549-931B-3D8F6F55E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F5444-9286-422B-B2B7-AAE628443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96CDE-2875-4190-BA38-7C3CA89A1F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FD981-9CBE-445A-B4BA-8A7977141F3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71F7B-FCEE-47E6-AB91-C9A241D616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F182-F7D5-4ED0-91B8-3B622AC8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F2C36-6FB7-490F-B952-0BA2A5573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DE6C2-3790-49B6-8CE1-B029368990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F7F3C-5B74-4DD6-A4C7-8AE31BD974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84700-FDE0-46C9-A266-7CAFE3848F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781B3-C65A-4ED9-80DD-091D367BA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151DC-7BB2-4B37-B912-2F8DEE57A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A2425-D357-4370-987C-26171D51DE8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837BB-7ABF-4CCF-9439-928C3CEDEE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B7BE1-D237-48D0-9C32-CBDFCE88E8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853E8-A904-49EA-B49A-CE28FE2C34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3425-6412-4AAB-98E0-7432892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91E53-D215-4412-AFCC-6228FA0E2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C1FD4-8BEF-4037-8233-A4356E9A96F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8D1CC2-6677-42B9-8154-0B087460724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F81206-DF6C-4277-920F-D4BA5C4D14C5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923749-01E3-4D10-A121-7AD10858A0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0D6FB5-787D-447A-B9D7-534DE35101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20000-56F7-4EF7-A2FE-B0B11F814A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EAA82-AE35-467C-8ADA-7C9FB4F0A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E71F3-54F8-44C2-A5F5-DE92F1536A6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2CD9E-2459-41FE-8804-CB6BCFF88E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F967C-714B-4865-9258-36953D026C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36F6-2184-4DED-9890-EAD396D37B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E67186-6EB9-4651-8151-2BBD727EBC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36C11-DD43-4B28-BBA6-C79C6EFFA4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BAFB9-A69A-4BDE-A783-181D8B185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BDA5C-B1C9-42D9-B49B-84ED4C539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ABCAE-8E9E-4F3E-A367-7AB35843FC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9952A-DA56-4595-B520-42AA38EA90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725CB-C471-4DC5-A1F8-01B99E3F40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D6130-15E6-4F12-B16B-48A74D8C91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29350-F522-4C3C-996F-AC8424C15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5A3FA-24D2-4B6C-BF92-43E9CAE2F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0BA54-9CFE-42B2-9951-AFEEFE9A646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5B41F-714D-46D1-A6F7-04AB3FFFCC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C450E-68FD-4C94-981E-D0FDF19B2D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0ED28-B178-4D56-955E-DFEE0977D6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06971-3B31-4C66-8FD1-92C7E6FDB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3BCA7-0B92-4627-976F-6BA04985B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FFDB9-DA82-4143-B1D8-0A2C79534A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999F7-4ED0-455C-86FF-0AC2C11F84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A14FC-E901-4269-A7BD-1723321609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77F856-4EEC-486A-8977-08BF855B6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E45C0-6A95-432D-9E4F-A949DDB0D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F283-B074-442B-A256-36B173A9314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530CD-A71D-4F90-84F7-59FBE00CCC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161AE-24A6-4453-93E7-D5FBE7AFCB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5"/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7318129" y="0"/>
            <a:ext cx="4873871" cy="7395883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DB1CE3A-8863-4E2D-B5FD-2FD267486A8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3659" y="373404"/>
            <a:ext cx="11176000" cy="63391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3200" b="1" baseline="0">
                <a:solidFill>
                  <a:srgbClr val="235EE2"/>
                </a:solidFill>
                <a:latin typeface="Helvetica"/>
                <a:ea typeface="Helvetica"/>
                <a:cs typeface="Helvetica"/>
              </a:defRPr>
            </a:lvl1pPr>
            <a:lvl2pPr>
              <a:buNone/>
              <a:defRPr>
                <a:latin typeface="Avenir Heavy"/>
                <a:ea typeface="Avenir Heavy"/>
                <a:cs typeface="Avenir Heavy"/>
              </a:defRPr>
            </a:lvl2pPr>
            <a:lvl3pPr>
              <a:buNone/>
              <a:defRPr>
                <a:latin typeface="Avenir Heavy"/>
                <a:ea typeface="Avenir Heavy"/>
                <a:cs typeface="Avenir Heavy"/>
              </a:defRPr>
            </a:lvl3pPr>
            <a:lvl4pPr>
              <a:buNone/>
              <a:defRPr>
                <a:latin typeface="Avenir Heavy"/>
                <a:ea typeface="Avenir Heavy"/>
                <a:cs typeface="Avenir Heavy"/>
              </a:defRPr>
            </a:lvl4pPr>
            <a:lvl5pPr>
              <a:buNone/>
              <a:defRPr>
                <a:latin typeface="Avenir Heavy"/>
                <a:ea typeface="Avenir Heavy"/>
                <a:cs typeface="Avenir Heavy"/>
              </a:defRPr>
            </a:lvl5pPr>
          </a:lstStyle>
          <a:p>
            <a:pPr lvl="0">
              <a:buNone/>
            </a:pPr>
            <a:r>
              <a:t>Slide title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3A98648E-00EA-4310-80B0-75FBD47E7847}"/>
              </a:ext>
            </a:extLst>
          </p:cNvPr>
          <p:cNvSpPr>
            <a:spLocks noGrp="1"/>
          </p:cNvSpPr>
          <p:nvPr/>
        </p:nvSpPr>
        <p:spPr>
          <a:xfrm>
            <a:off x="503659" y="1071268"/>
            <a:ext cx="11176000" cy="0"/>
          </a:xfrm>
          <a:prstGeom prst="line">
            <a:avLst/>
          </a:prstGeom>
          <a:ln>
            <a:solidFill>
              <a:srgbClr val="1F5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E08A60C3-FC08-489D-8CCB-9AF51A3B2FD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3659" y="1146008"/>
            <a:ext cx="11176000" cy="59942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667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"/>
                <a:ea typeface="Helvetica"/>
                <a:cs typeface="Helvetica"/>
              </a:defRPr>
            </a:lvl1pPr>
            <a:lvl2pPr>
              <a:buNone/>
              <a:defRPr>
                <a:latin typeface="Avenir Heavy"/>
                <a:ea typeface="Avenir Heavy"/>
                <a:cs typeface="Avenir Heavy"/>
              </a:defRPr>
            </a:lvl2pPr>
            <a:lvl3pPr>
              <a:buNone/>
              <a:defRPr>
                <a:latin typeface="Avenir Heavy"/>
                <a:ea typeface="Avenir Heavy"/>
                <a:cs typeface="Avenir Heavy"/>
              </a:defRPr>
            </a:lvl3pPr>
            <a:lvl4pPr>
              <a:buNone/>
              <a:defRPr>
                <a:latin typeface="Avenir Heavy"/>
                <a:ea typeface="Avenir Heavy"/>
                <a:cs typeface="Avenir Heavy"/>
              </a:defRPr>
            </a:lvl4pPr>
            <a:lvl5pPr>
              <a:buNone/>
              <a:defRPr>
                <a:latin typeface="Avenir Heavy"/>
                <a:ea typeface="Avenir Heavy"/>
                <a:cs typeface="Avenir Heavy"/>
              </a:defRPr>
            </a:lvl5pPr>
          </a:lstStyle>
          <a:p>
            <a:pPr lvl="0">
              <a:buNone/>
            </a:pPr>
            <a:r>
              <a:t>Sub-title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6676019-F8FD-4D55-AA0F-42C6FA61894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3659" y="1867010"/>
            <a:ext cx="11176000" cy="3994529"/>
          </a:xfrm>
          <a:prstGeom prst="rect">
            <a:avLst/>
          </a:prstGeom>
        </p:spPr>
        <p:txBody>
          <a:bodyPr vert="horz"/>
          <a:lstStyle>
            <a:lvl1pPr marL="380990" indent="-380990">
              <a:buClr>
                <a:srgbClr val="235EE2"/>
              </a:buClr>
              <a:buSzPct val="70000"/>
              <a:buFont typeface="Courier New"/>
              <a:buChar char="o"/>
              <a:defRPr sz="1867"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"/>
                <a:ea typeface="Helvetica"/>
                <a:cs typeface="Helvetica"/>
              </a:defRPr>
            </a:lvl1pPr>
            <a:lvl2pPr>
              <a:buClr>
                <a:srgbClr val="235EE2"/>
              </a:buClr>
              <a:buSzPct val="70000"/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Helvetica Light"/>
                <a:cs typeface="Helvetica Light"/>
              </a:defRPr>
            </a:lvl2pPr>
            <a:lvl3pPr>
              <a:buNone/>
              <a:defRPr>
                <a:latin typeface="Avenir Heavy"/>
                <a:ea typeface="Avenir Heavy"/>
                <a:cs typeface="Avenir Heavy"/>
              </a:defRPr>
            </a:lvl3pPr>
            <a:lvl4pPr>
              <a:buNone/>
              <a:defRPr>
                <a:latin typeface="Avenir Heavy"/>
                <a:ea typeface="Avenir Heavy"/>
                <a:cs typeface="Avenir Heavy"/>
              </a:defRPr>
            </a:lvl4pPr>
            <a:lvl5pPr>
              <a:buNone/>
              <a:defRPr>
                <a:latin typeface="Avenir Heavy"/>
                <a:ea typeface="Avenir Heavy"/>
                <a:cs typeface="Avenir Heavy"/>
              </a:defRPr>
            </a:lvl5pPr>
          </a:lstStyle>
          <a:p>
            <a:pPr lvl="0">
              <a:buNone/>
            </a:pPr>
            <a:r>
              <a:t>Body text</a:t>
            </a:r>
          </a:p>
          <a:p>
            <a:pPr lvl="1">
              <a:buNone/>
            </a:pPr>
            <a:r>
              <a:rPr>
                <a:latin typeface="Avenir Book"/>
                <a:ea typeface="Avenir Book"/>
                <a:cs typeface="Avenir Book"/>
              </a:rPr>
              <a:t>Sub text</a:t>
            </a:r>
            <a:endParaRPr/>
          </a:p>
          <a:p>
            <a:pPr lvl="0">
              <a:buNone/>
            </a:pPr>
            <a:endParaRPr/>
          </a:p>
        </p:txBody>
      </p:sp>
      <p:pic>
        <p:nvPicPr>
          <p:cNvPr id="24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19" y="6042840"/>
            <a:ext cx="1719725" cy="514429"/>
          </a:xfrm>
          <a:prstGeom prst="rect">
            <a:avLst/>
          </a:prstGeom>
        </p:spPr>
      </p:pic>
      <p:pic>
        <p:nvPicPr>
          <p:cNvPr id="25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7034" y="6042839"/>
            <a:ext cx="1162612" cy="5144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5A1A2890-5A50-47FC-970F-1234BC47A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90467"/>
            <a:ext cx="11360800" cy="1068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B45A288C-4924-45B6-9197-BDB67BE3D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638233"/>
            <a:ext cx="11360800" cy="445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609585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>
            <a:extLst>
              <a:ext uri="{FF2B5EF4-FFF2-40B4-BE49-F238E27FC236}">
                <a16:creationId xmlns:a16="http://schemas.microsoft.com/office/drawing/2014/main" id="{FE05A3DB-4A9A-476D-9AE3-88B947F140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D2996C-8AAA-4C15-968D-3AE22660B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03829-D173-4577-8AD8-02AF1A0F0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10931-11F2-4ACA-89EA-A85E85C47FC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50047-FA4B-4F59-968C-08F707F97D2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5B8BC-50F1-4416-AE28-80C018642D7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95FD-DDA6-434B-8645-B8D3178C1A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buNone/>
            </a:pPr>
            <a:r>
              <a:t>Attention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3E40F-F07D-44A2-AFEF-3A96A4832B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algn="l">
              <a:buNone/>
            </a:pPr>
            <a:r>
              <a:t>This might hurt a little...</a:t>
            </a:r>
          </a:p>
        </p:txBody>
      </p:sp>
      <p:pic>
        <p:nvPicPr>
          <p:cNvPr id="88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497" y="3482926"/>
            <a:ext cx="2018744" cy="3084347"/>
          </a:xfrm>
          <a:prstGeom prst="rect">
            <a:avLst/>
          </a:prstGeom>
        </p:spPr>
      </p:pic>
      <p:cxnSp>
        <p:nvCxnSpPr>
          <p:cNvPr id="89" name="Connector: Curved 24"/>
          <p:cNvCxnSpPr/>
          <p:nvPr/>
        </p:nvCxnSpPr>
        <p:spPr>
          <a:xfrm>
            <a:off x="8337048" y="4457867"/>
            <a:ext cx="201130" cy="434500"/>
          </a:xfrm>
          <a:prstGeom prst="curvedConnector3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Connector: Curved 25"/>
          <p:cNvCxnSpPr/>
          <p:nvPr/>
        </p:nvCxnSpPr>
        <p:spPr>
          <a:xfrm>
            <a:off x="8798321" y="4899003"/>
            <a:ext cx="220353" cy="455139"/>
          </a:xfrm>
          <a:prstGeom prst="curvedConnector3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Connector: Curved 26"/>
          <p:cNvCxnSpPr/>
          <p:nvPr/>
        </p:nvCxnSpPr>
        <p:spPr>
          <a:xfrm>
            <a:off x="9248132" y="5350596"/>
            <a:ext cx="360945" cy="8660"/>
          </a:xfrm>
          <a:prstGeom prst="curvedConnector3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666E5423-C6DB-43D0-96CF-089AF8382095}"/>
              </a:ext>
            </a:extLst>
          </p:cNvPr>
          <p:cNvSpPr>
            <a:spLocks noGrp="1"/>
          </p:cNvSpPr>
          <p:nvPr/>
        </p:nvSpPr>
        <p:spPr>
          <a:xfrm>
            <a:off x="8000454" y="6160543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0</a:t>
            </a:r>
          </a:p>
        </p:txBody>
      </p:sp>
      <p:sp>
        <p:nvSpPr>
          <p:cNvPr id="29" name="TextBox 33">
            <a:extLst>
              <a:ext uri="{FF2B5EF4-FFF2-40B4-BE49-F238E27FC236}">
                <a16:creationId xmlns:a16="http://schemas.microsoft.com/office/drawing/2014/main" id="{E222AB3C-5B7F-6D58-8079-1A371AD7AB81}"/>
              </a:ext>
            </a:extLst>
          </p:cNvPr>
          <p:cNvSpPr>
            <a:spLocks noGrp="1"/>
          </p:cNvSpPr>
          <p:nvPr/>
        </p:nvSpPr>
        <p:spPr>
          <a:xfrm>
            <a:off x="10425810" y="4517776"/>
            <a:ext cx="1351719" cy="338554"/>
          </a:xfrm>
          <a:custGeom>
            <a:avLst/>
            <a:gdLst>
              <a:gd name="csX0" fmla="*/ 0 w 1351719"/>
              <a:gd name="csY0" fmla="*/ 0 h 338554"/>
              <a:gd name="csX1" fmla="*/ 635308 w 1351719"/>
              <a:gd name="csY1" fmla="*/ 0 h 338554"/>
              <a:gd name="csX2" fmla="*/ 1351719 w 1351719"/>
              <a:gd name="csY2" fmla="*/ 0 h 338554"/>
              <a:gd name="csX3" fmla="*/ 1351719 w 1351719"/>
              <a:gd name="csY3" fmla="*/ 338554 h 338554"/>
              <a:gd name="csX4" fmla="*/ 648825 w 1351719"/>
              <a:gd name="csY4" fmla="*/ 338554 h 338554"/>
              <a:gd name="csX5" fmla="*/ 0 w 1351719"/>
              <a:gd name="csY5" fmla="*/ 338554 h 338554"/>
              <a:gd name="csX6" fmla="*/ 0 w 1351719"/>
              <a:gd name="csY6" fmla="*/ 0 h 338554"/>
            </a:gdLst>
            <a:ahLst/>
            <a:cxnLst/>
            <a:rect l="l" t="t" r="r" b="b"/>
            <a:pathLst>
              <a:path w="1351719" h="338554">
                <a:moveTo>
                  <a:pt x="0" y="0"/>
                </a:moveTo>
                <a:cubicBezTo>
                  <a:pt x="143396" y="-25832"/>
                  <a:pt x="453550" y="4788"/>
                  <a:pt x="635308" y="0"/>
                </a:cubicBezTo>
                <a:cubicBezTo>
                  <a:pt x="817066" y="-4788"/>
                  <a:pt x="1056608" y="-35665"/>
                  <a:pt x="1351719" y="0"/>
                </a:cubicBezTo>
                <a:cubicBezTo>
                  <a:pt x="1354532" y="77488"/>
                  <a:pt x="1351383" y="251748"/>
                  <a:pt x="1351719" y="338554"/>
                </a:cubicBezTo>
                <a:cubicBezTo>
                  <a:pt x="1126928" y="310424"/>
                  <a:pt x="985852" y="342082"/>
                  <a:pt x="648825" y="338554"/>
                </a:cubicBezTo>
                <a:cubicBezTo>
                  <a:pt x="311798" y="335026"/>
                  <a:pt x="265888" y="356446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51719" h="338554">
                <a:moveTo>
                  <a:pt x="0" y="0"/>
                </a:moveTo>
                <a:cubicBezTo>
                  <a:pt x="159753" y="-29741"/>
                  <a:pt x="436147" y="14046"/>
                  <a:pt x="648825" y="0"/>
                </a:cubicBezTo>
                <a:cubicBezTo>
                  <a:pt x="861503" y="-14046"/>
                  <a:pt x="1171552" y="-28184"/>
                  <a:pt x="1351719" y="0"/>
                </a:cubicBezTo>
                <a:cubicBezTo>
                  <a:pt x="1366704" y="126099"/>
                  <a:pt x="1367511" y="215826"/>
                  <a:pt x="1351719" y="338554"/>
                </a:cubicBezTo>
                <a:cubicBezTo>
                  <a:pt x="1031547" y="314607"/>
                  <a:pt x="1003531" y="318399"/>
                  <a:pt x="662342" y="338554"/>
                </a:cubicBezTo>
                <a:cubicBezTo>
                  <a:pt x="321153" y="358709"/>
                  <a:pt x="164641" y="358300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600"/>
              <a:t>Tokenization</a:t>
            </a:r>
          </a:p>
        </p:txBody>
      </p:sp>
      <p:sp>
        <p:nvSpPr>
          <p:cNvPr id="30" name="TextBox 34">
            <a:extLst>
              <a:ext uri="{FF2B5EF4-FFF2-40B4-BE49-F238E27FC236}">
                <a16:creationId xmlns:a16="http://schemas.microsoft.com/office/drawing/2014/main" id="{F565E465-14D7-AC96-4BB8-C8E857DBA7A2}"/>
              </a:ext>
            </a:extLst>
          </p:cNvPr>
          <p:cNvSpPr>
            <a:spLocks noGrp="1"/>
          </p:cNvSpPr>
          <p:nvPr/>
        </p:nvSpPr>
        <p:spPr>
          <a:xfrm>
            <a:off x="10425809" y="5037587"/>
            <a:ext cx="1346605" cy="338554"/>
          </a:xfrm>
          <a:custGeom>
            <a:avLst/>
            <a:gdLst>
              <a:gd name="csX0" fmla="*/ 0 w 1346605"/>
              <a:gd name="csY0" fmla="*/ 0 h 338554"/>
              <a:gd name="csX1" fmla="*/ 632904 w 1346605"/>
              <a:gd name="csY1" fmla="*/ 0 h 338554"/>
              <a:gd name="csX2" fmla="*/ 1346605 w 1346605"/>
              <a:gd name="csY2" fmla="*/ 0 h 338554"/>
              <a:gd name="csX3" fmla="*/ 1346605 w 1346605"/>
              <a:gd name="csY3" fmla="*/ 338554 h 338554"/>
              <a:gd name="csX4" fmla="*/ 646370 w 1346605"/>
              <a:gd name="csY4" fmla="*/ 338554 h 338554"/>
              <a:gd name="csX5" fmla="*/ 0 w 1346605"/>
              <a:gd name="csY5" fmla="*/ 338554 h 338554"/>
              <a:gd name="csX6" fmla="*/ 0 w 1346605"/>
              <a:gd name="csY6" fmla="*/ 0 h 338554"/>
            </a:gdLst>
            <a:ahLst/>
            <a:cxnLst/>
            <a:rect l="l" t="t" r="r" b="b"/>
            <a:pathLst>
              <a:path w="1346605" h="338554">
                <a:moveTo>
                  <a:pt x="0" y="0"/>
                </a:moveTo>
                <a:cubicBezTo>
                  <a:pt x="253654" y="29217"/>
                  <a:pt x="356173" y="4834"/>
                  <a:pt x="632904" y="0"/>
                </a:cubicBezTo>
                <a:cubicBezTo>
                  <a:pt x="909635" y="-4834"/>
                  <a:pt x="1121379" y="26169"/>
                  <a:pt x="1346605" y="0"/>
                </a:cubicBezTo>
                <a:cubicBezTo>
                  <a:pt x="1349418" y="77488"/>
                  <a:pt x="1346269" y="251748"/>
                  <a:pt x="1346605" y="338554"/>
                </a:cubicBezTo>
                <a:cubicBezTo>
                  <a:pt x="1156298" y="318515"/>
                  <a:pt x="891539" y="357030"/>
                  <a:pt x="646370" y="338554"/>
                </a:cubicBezTo>
                <a:cubicBezTo>
                  <a:pt x="401201" y="320078"/>
                  <a:pt x="140549" y="357089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46605" h="338554">
                <a:moveTo>
                  <a:pt x="0" y="0"/>
                </a:moveTo>
                <a:cubicBezTo>
                  <a:pt x="133781" y="28092"/>
                  <a:pt x="482181" y="-20522"/>
                  <a:pt x="646370" y="0"/>
                </a:cubicBezTo>
                <a:cubicBezTo>
                  <a:pt x="810559" y="20522"/>
                  <a:pt x="1153150" y="29368"/>
                  <a:pt x="1346605" y="0"/>
                </a:cubicBezTo>
                <a:cubicBezTo>
                  <a:pt x="1361590" y="126099"/>
                  <a:pt x="1362397" y="215826"/>
                  <a:pt x="1346605" y="338554"/>
                </a:cubicBezTo>
                <a:cubicBezTo>
                  <a:pt x="1190988" y="358096"/>
                  <a:pt x="883384" y="335404"/>
                  <a:pt x="659836" y="338554"/>
                </a:cubicBezTo>
                <a:cubicBezTo>
                  <a:pt x="436288" y="341704"/>
                  <a:pt x="243431" y="341210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600"/>
              <a:t>Embeddings</a:t>
            </a:r>
          </a:p>
        </p:txBody>
      </p:sp>
      <p:sp>
        <p:nvSpPr>
          <p:cNvPr id="32" name="TextBox 36">
            <a:extLst>
              <a:ext uri="{FF2B5EF4-FFF2-40B4-BE49-F238E27FC236}">
                <a16:creationId xmlns:a16="http://schemas.microsoft.com/office/drawing/2014/main" id="{54ED427E-7866-13F9-59C0-BC0D7F989A8A}"/>
              </a:ext>
            </a:extLst>
          </p:cNvPr>
          <p:cNvSpPr>
            <a:spLocks noGrp="1"/>
          </p:cNvSpPr>
          <p:nvPr/>
        </p:nvSpPr>
        <p:spPr>
          <a:xfrm>
            <a:off x="10425809" y="5550504"/>
            <a:ext cx="1351720" cy="338554"/>
          </a:xfrm>
          <a:custGeom>
            <a:avLst/>
            <a:gdLst>
              <a:gd name="csX0" fmla="*/ 0 w 1351720"/>
              <a:gd name="csY0" fmla="*/ 0 h 338554"/>
              <a:gd name="csX1" fmla="*/ 635308 w 1351720"/>
              <a:gd name="csY1" fmla="*/ 0 h 338554"/>
              <a:gd name="csX2" fmla="*/ 1351720 w 1351720"/>
              <a:gd name="csY2" fmla="*/ 0 h 338554"/>
              <a:gd name="csX3" fmla="*/ 1351720 w 1351720"/>
              <a:gd name="csY3" fmla="*/ 338554 h 338554"/>
              <a:gd name="csX4" fmla="*/ 648826 w 1351720"/>
              <a:gd name="csY4" fmla="*/ 338554 h 338554"/>
              <a:gd name="csX5" fmla="*/ 0 w 1351720"/>
              <a:gd name="csY5" fmla="*/ 338554 h 338554"/>
              <a:gd name="csX6" fmla="*/ 0 w 1351720"/>
              <a:gd name="csY6" fmla="*/ 0 h 338554"/>
            </a:gdLst>
            <a:ahLst/>
            <a:cxnLst/>
            <a:rect l="l" t="t" r="r" b="b"/>
            <a:pathLst>
              <a:path w="1351720" h="338554">
                <a:moveTo>
                  <a:pt x="0" y="0"/>
                </a:moveTo>
                <a:cubicBezTo>
                  <a:pt x="143396" y="-25832"/>
                  <a:pt x="453550" y="4788"/>
                  <a:pt x="635308" y="0"/>
                </a:cubicBezTo>
                <a:cubicBezTo>
                  <a:pt x="817066" y="-4788"/>
                  <a:pt x="1054450" y="34900"/>
                  <a:pt x="1351720" y="0"/>
                </a:cubicBezTo>
                <a:cubicBezTo>
                  <a:pt x="1354533" y="77488"/>
                  <a:pt x="1351384" y="251748"/>
                  <a:pt x="1351720" y="338554"/>
                </a:cubicBezTo>
                <a:cubicBezTo>
                  <a:pt x="1126929" y="310424"/>
                  <a:pt x="985853" y="342082"/>
                  <a:pt x="648826" y="338554"/>
                </a:cubicBezTo>
                <a:cubicBezTo>
                  <a:pt x="311799" y="335026"/>
                  <a:pt x="271547" y="361133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51720" h="338554">
                <a:moveTo>
                  <a:pt x="0" y="0"/>
                </a:moveTo>
                <a:cubicBezTo>
                  <a:pt x="159052" y="28615"/>
                  <a:pt x="432890" y="8531"/>
                  <a:pt x="648826" y="0"/>
                </a:cubicBezTo>
                <a:cubicBezTo>
                  <a:pt x="864762" y="-8531"/>
                  <a:pt x="1171553" y="-28184"/>
                  <a:pt x="1351720" y="0"/>
                </a:cubicBezTo>
                <a:cubicBezTo>
                  <a:pt x="1366705" y="126099"/>
                  <a:pt x="1367512" y="215826"/>
                  <a:pt x="1351720" y="338554"/>
                </a:cubicBezTo>
                <a:cubicBezTo>
                  <a:pt x="1031548" y="314607"/>
                  <a:pt x="1003532" y="318399"/>
                  <a:pt x="662343" y="338554"/>
                </a:cubicBezTo>
                <a:cubicBezTo>
                  <a:pt x="321154" y="358709"/>
                  <a:pt x="166031" y="362599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600"/>
              <a:t>Attention</a:t>
            </a:r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BCC5FE95-2FF8-7809-29D7-EE6C05FB86AD}"/>
              </a:ext>
            </a:extLst>
          </p:cNvPr>
          <p:cNvSpPr>
            <a:spLocks noGrp="1"/>
          </p:cNvSpPr>
          <p:nvPr/>
        </p:nvSpPr>
        <p:spPr>
          <a:xfrm>
            <a:off x="10428531" y="4004202"/>
            <a:ext cx="1351720" cy="338554"/>
          </a:xfrm>
          <a:custGeom>
            <a:avLst/>
            <a:gdLst>
              <a:gd name="csX0" fmla="*/ 0 w 1351720"/>
              <a:gd name="csY0" fmla="*/ 0 h 338554"/>
              <a:gd name="csX1" fmla="*/ 635308 w 1351720"/>
              <a:gd name="csY1" fmla="*/ 0 h 338554"/>
              <a:gd name="csX2" fmla="*/ 1351720 w 1351720"/>
              <a:gd name="csY2" fmla="*/ 0 h 338554"/>
              <a:gd name="csX3" fmla="*/ 1351720 w 1351720"/>
              <a:gd name="csY3" fmla="*/ 338554 h 338554"/>
              <a:gd name="csX4" fmla="*/ 648826 w 1351720"/>
              <a:gd name="csY4" fmla="*/ 338554 h 338554"/>
              <a:gd name="csX5" fmla="*/ 0 w 1351720"/>
              <a:gd name="csY5" fmla="*/ 338554 h 338554"/>
              <a:gd name="csX6" fmla="*/ 0 w 1351720"/>
              <a:gd name="csY6" fmla="*/ 0 h 338554"/>
            </a:gdLst>
            <a:ahLst/>
            <a:cxnLst/>
            <a:rect l="l" t="t" r="r" b="b"/>
            <a:pathLst>
              <a:path w="1351720" h="338554">
                <a:moveTo>
                  <a:pt x="0" y="0"/>
                </a:moveTo>
                <a:cubicBezTo>
                  <a:pt x="143396" y="-25832"/>
                  <a:pt x="453550" y="4788"/>
                  <a:pt x="635308" y="0"/>
                </a:cubicBezTo>
                <a:cubicBezTo>
                  <a:pt x="817066" y="-4788"/>
                  <a:pt x="1054450" y="34900"/>
                  <a:pt x="1351720" y="0"/>
                </a:cubicBezTo>
                <a:cubicBezTo>
                  <a:pt x="1354533" y="77488"/>
                  <a:pt x="1351384" y="251748"/>
                  <a:pt x="1351720" y="338554"/>
                </a:cubicBezTo>
                <a:cubicBezTo>
                  <a:pt x="1126929" y="310424"/>
                  <a:pt x="985853" y="342082"/>
                  <a:pt x="648826" y="338554"/>
                </a:cubicBezTo>
                <a:cubicBezTo>
                  <a:pt x="311799" y="335026"/>
                  <a:pt x="271547" y="361133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51720" h="338554">
                <a:moveTo>
                  <a:pt x="0" y="0"/>
                </a:moveTo>
                <a:cubicBezTo>
                  <a:pt x="159052" y="28615"/>
                  <a:pt x="432890" y="8531"/>
                  <a:pt x="648826" y="0"/>
                </a:cubicBezTo>
                <a:cubicBezTo>
                  <a:pt x="864762" y="-8531"/>
                  <a:pt x="1171553" y="-28184"/>
                  <a:pt x="1351720" y="0"/>
                </a:cubicBezTo>
                <a:cubicBezTo>
                  <a:pt x="1366705" y="126099"/>
                  <a:pt x="1367512" y="215826"/>
                  <a:pt x="1351720" y="338554"/>
                </a:cubicBezTo>
                <a:cubicBezTo>
                  <a:pt x="1031548" y="314607"/>
                  <a:pt x="1003532" y="318399"/>
                  <a:pt x="662343" y="338554"/>
                </a:cubicBezTo>
                <a:cubicBezTo>
                  <a:pt x="321154" y="358709"/>
                  <a:pt x="166031" y="362599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600"/>
              <a:t>Hardware</a:t>
            </a:r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3B67FE26-BA0B-EB7C-E6DF-06FE55609F80}"/>
              </a:ext>
            </a:extLst>
          </p:cNvPr>
          <p:cNvSpPr>
            <a:spLocks noGrp="1"/>
          </p:cNvSpPr>
          <p:nvPr/>
        </p:nvSpPr>
        <p:spPr>
          <a:xfrm>
            <a:off x="8112964" y="4365496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1</a:t>
            </a:r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F29CDA69-8DBD-3E29-B51F-E7AF0A971805}"/>
              </a:ext>
            </a:extLst>
          </p:cNvPr>
          <p:cNvSpPr>
            <a:spLocks noGrp="1"/>
          </p:cNvSpPr>
          <p:nvPr/>
        </p:nvSpPr>
        <p:spPr>
          <a:xfrm>
            <a:off x="9013045" y="5240006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3</a:t>
            </a: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B3483E34-C09F-DF87-AF53-2A6AFB5409B4}"/>
              </a:ext>
            </a:extLst>
          </p:cNvPr>
          <p:cNvSpPr>
            <a:spLocks noGrp="1"/>
          </p:cNvSpPr>
          <p:nvPr/>
        </p:nvSpPr>
        <p:spPr>
          <a:xfrm>
            <a:off x="8552776" y="4789966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2</a:t>
            </a:r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A23D6165-3F28-EF25-0D10-05FC78F18519}"/>
              </a:ext>
            </a:extLst>
          </p:cNvPr>
          <p:cNvSpPr>
            <a:spLocks noGrp="1"/>
          </p:cNvSpPr>
          <p:nvPr/>
        </p:nvSpPr>
        <p:spPr>
          <a:xfrm>
            <a:off x="10056320" y="4043307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0</a:t>
            </a:r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071CFCA2-49B3-8FF2-8AFB-2051C9ABDC0B}"/>
              </a:ext>
            </a:extLst>
          </p:cNvPr>
          <p:cNvSpPr>
            <a:spLocks noGrp="1"/>
          </p:cNvSpPr>
          <p:nvPr/>
        </p:nvSpPr>
        <p:spPr>
          <a:xfrm>
            <a:off x="10056319" y="4570059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1</a:t>
            </a: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8B4F6DD6-AF0F-8D7A-4EC5-7049183C79FA}"/>
              </a:ext>
            </a:extLst>
          </p:cNvPr>
          <p:cNvSpPr>
            <a:spLocks noGrp="1"/>
          </p:cNvSpPr>
          <p:nvPr/>
        </p:nvSpPr>
        <p:spPr>
          <a:xfrm>
            <a:off x="10056319" y="5603106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3</a:t>
            </a: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924D63B4-71D9-DAC8-54D5-0543F2073663}"/>
              </a:ext>
            </a:extLst>
          </p:cNvPr>
          <p:cNvSpPr>
            <a:spLocks noGrp="1"/>
          </p:cNvSpPr>
          <p:nvPr/>
        </p:nvSpPr>
        <p:spPr>
          <a:xfrm>
            <a:off x="10056320" y="5086582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E3B4D-D24F-3176-14E3-80134B5A0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Attention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F79660-2F09-D50C-39BE-08896B7371E1}"/>
              </a:ext>
            </a:extLst>
          </p:cNvPr>
          <p:cNvSpPr>
            <a:spLocks noGrp="1"/>
          </p:cNvSpPr>
          <p:nvPr/>
        </p:nvSpPr>
        <p:spPr>
          <a:xfrm>
            <a:off x="8984337" y="5610595"/>
            <a:ext cx="3076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arXiv:1706.03762v7 [cs.CL]</a:t>
            </a:r>
          </a:p>
        </p:txBody>
      </p:sp>
      <p:pic>
        <p:nvPicPr>
          <p:cNvPr id="1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700" y="1404210"/>
            <a:ext cx="5308600" cy="47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05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</a:extLst>
          </p:cNvPr>
          <p:cNvSpPr>
            <a:spLocks noGrp="1"/>
          </p:cNvSpPr>
          <p:nvPr/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897E95-C461-AEA7-B038-A6936AADE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/>
          <a:p>
            <a:pPr algn="ctr">
              <a:buNone/>
            </a:pPr>
            <a:r>
              <a:rPr sz="360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Original Transformer Architecture</a:t>
            </a:r>
          </a:p>
        </p:txBody>
      </p:sp>
      <p:pic>
        <p:nvPicPr>
          <p:cNvPr id="2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401474"/>
            <a:ext cx="4117438" cy="605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83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EB20D-1EBB-8240-6E67-3773F96ED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58B05-9AF8-B56B-8D28-175A8B74D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token representation is projected into three learned vectors:</a:t>
            </a:r>
          </a:p>
          <a:p>
            <a:r>
              <a:t>Query (Q): features used to find relevant positions.</a:t>
            </a:r>
          </a:p>
          <a:p>
            <a:r>
              <a:t>Key (K): features used to match against a query.</a:t>
            </a:r>
          </a:p>
          <a:p>
            <a:r>
              <a:t>Value (V): information mixed into the output.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771" y="4810426"/>
            <a:ext cx="5484457" cy="126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25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1A335-168D-11E7-8E5B-36F7A0CE0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 Matrix Transformations</a:t>
            </a:r>
            <a:br/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BBA8E-83F2-79DA-9C42-BF763C704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238"/>
            <a:ext cx="10515600" cy="4727725"/>
          </a:xfrm>
        </p:spPr>
        <p:txBody>
          <a:bodyPr/>
          <a:lstStyle/>
          <a:p>
            <a:r>
              <a:t>Transformer attention starts with three learned weight matrices: </a:t>
            </a:r>
          </a:p>
          <a:p>
            <a:pPr lvl="1">
              <a:buNone/>
            </a:pPr>
            <a:r>
              <a:t>W^Q (Query), W^K (Key), and W^V (Value)</a:t>
            </a:r>
          </a:p>
          <a:p>
            <a:endParaRPr/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891" y="2324819"/>
            <a:ext cx="7900665" cy="421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82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42882-4404-AB90-1C9A-8E4A77730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Transformer Engine</a:t>
            </a:r>
            <a:br/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A5882-2FE4-0CDB-31AD-D66A318A1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 next-token prediction loop</a:t>
            </a:r>
          </a:p>
          <a:p>
            <a:pPr lvl="1">
              <a:buNone/>
            </a:pPr>
            <a:endParaRPr/>
          </a:p>
          <a:p>
            <a:pPr lvl="1">
              <a:buNone/>
            </a:pPr>
            <a:r>
              <a:t>Input: every token starts as a vector.</a:t>
            </a:r>
          </a:p>
          <a:p>
            <a:pPr lvl="1">
              <a:buNone/>
            </a:pPr>
            <a:r>
              <a:t>Projection: learned matrices create Q, K, and V.</a:t>
            </a:r>
          </a:p>
          <a:p>
            <a:pPr lvl="1">
              <a:buNone/>
            </a:pPr>
            <a:r>
              <a:t>Matching: QK^T produces compatibility scores.</a:t>
            </a:r>
          </a:p>
          <a:p>
            <a:pPr lvl="1">
              <a:buNone/>
            </a:pPr>
            <a:r>
              <a:t>Normalisation: scaling and softmax produce attention weights.</a:t>
            </a:r>
          </a:p>
          <a:p>
            <a:pPr lvl="1">
              <a:buNone/>
            </a:pPr>
            <a:r>
              <a:t>Mixing: the weights combine the Value vectors.</a:t>
            </a:r>
          </a:p>
          <a:p>
            <a:pPr lvl="1">
              <a:buNone/>
            </a:pPr>
            <a:r>
              <a:t>Masking: future positions are hidden during causal generation.</a:t>
            </a:r>
          </a:p>
        </p:txBody>
      </p:sp>
    </p:spTree>
    <p:extLst>
      <p:ext uri="{BB962C8B-B14F-4D97-AF65-F5344CB8AC3E}">
        <p14:creationId xmlns:p14="http://schemas.microsoft.com/office/powerpoint/2010/main" val="3254743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B7B4-1581-B0F7-CEB8-685D8BFB0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Self-Attention and Multi-Head Attention</a:t>
            </a:r>
            <a:br/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6BAEE-AE57-0B81-BB20-3C2E31BD5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Self-attention lets positions in one sequence exchange information.</a:t>
            </a:r>
          </a:p>
          <a:p>
            <a:r>
              <a:t>Multi-head attention performs several learned attention operations in parallel.</a:t>
            </a:r>
          </a:p>
        </p:txBody>
      </p:sp>
    </p:spTree>
    <p:extLst>
      <p:ext uri="{BB962C8B-B14F-4D97-AF65-F5344CB8AC3E}">
        <p14:creationId xmlns:p14="http://schemas.microsoft.com/office/powerpoint/2010/main" val="643394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E7EE8-EC99-C435-D059-86240F85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476D3-D89C-6EFC-E2B2-B72D7C011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i="1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The same word can require different context:</a:t>
            </a:r>
          </a:p>
          <a:p>
            <a:pPr marL="0" indent="0">
              <a:buNone/>
            </a:pP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r>
              <a:rPr b="1">
                <a:latin typeface="CMU SERIF ROMAN"/>
                <a:ea typeface="CMU SERIF ROMAN"/>
                <a:cs typeface="CMU SERIF ROMAN"/>
              </a:rPr>
              <a:t>[The][ bat][ flew][ out][ of][ the][?] → cave</a:t>
            </a:r>
          </a:p>
          <a:p>
            <a:pPr marL="0" indent="0">
              <a:buNone/>
            </a:pPr>
            <a:r>
              <a:t>[The][ bat][ was][ made][ of][ solid][?] → wood</a:t>
            </a:r>
            <a:endParaRPr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r>
              <a:t>The surrounding tokens change the meaning of "bat" and the prediction.</a:t>
            </a:r>
            <a:endParaRPr baseline="30000">
              <a:latin typeface="CMU Serif Roman"/>
              <a:ea typeface="CMU Serif Roman"/>
              <a:cs typeface="CMU Serif Roman"/>
            </a:endParaRPr>
          </a:p>
        </p:txBody>
      </p:sp>
    </p:spTree>
    <p:extLst>
      <p:ext uri="{BB962C8B-B14F-4D97-AF65-F5344CB8AC3E}">
        <p14:creationId xmlns:p14="http://schemas.microsoft.com/office/powerpoint/2010/main" val="2936109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4B5CB-F5FA-5AB9-D872-3EF5BB88C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FD32E-97F8-8473-2299-E980038EB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i="1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[The][ bat][ flew][ out][ of][ the][?]</a:t>
            </a:r>
          </a:p>
          <a:p>
            <a:pPr marL="0" indent="0">
              <a:buNone/>
            </a:pP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r>
              <a:rPr b="1">
                <a:latin typeface="CMU SERIF ROMAN"/>
                <a:ea typeface="CMU SERIF ROMAN"/>
                <a:cs typeface="CMU SERIF ROMAN"/>
              </a:rPr>
              <a:t>2. Generate embedding vectors</a:t>
            </a:r>
            <a:endParaRPr i="1" baseline="-25000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0606CD-87DF-980F-D65C-D667860845FB}"/>
              </a:ext>
            </a:extLst>
          </p:cNvPr>
          <p:cNvSpPr>
            <a:spLocks noGrp="1"/>
          </p:cNvSpPr>
          <p:nvPr/>
        </p:nvSpPr>
        <p:spPr>
          <a:xfrm>
            <a:off x="965752" y="3692857"/>
            <a:ext cx="7752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0.6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0.1</a:t>
            </a: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5DC2F68F-AA21-FB0A-722A-4DA3B7CF5197}"/>
              </a:ext>
            </a:extLst>
          </p:cNvPr>
          <p:cNvSpPr>
            <a:spLocks noGrp="1"/>
          </p:cNvSpPr>
          <p:nvPr/>
        </p:nvSpPr>
        <p:spPr>
          <a:xfrm>
            <a:off x="838200" y="3692857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BCFFA1E4-533A-C6B2-2205-988CCD44AB3D}"/>
              </a:ext>
            </a:extLst>
          </p:cNvPr>
          <p:cNvSpPr>
            <a:spLocks noGrp="1"/>
          </p:cNvSpPr>
          <p:nvPr/>
        </p:nvSpPr>
        <p:spPr>
          <a:xfrm flipH="1">
            <a:off x="1485902" y="3692857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89C987-4033-056F-C496-A689DE33557D}"/>
              </a:ext>
            </a:extLst>
          </p:cNvPr>
          <p:cNvSpPr>
            <a:spLocks noGrp="1"/>
          </p:cNvSpPr>
          <p:nvPr/>
        </p:nvSpPr>
        <p:spPr>
          <a:xfrm>
            <a:off x="1996109" y="3692857"/>
            <a:ext cx="7752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0.5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0.2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B952CB13-DD4C-F0C4-4A62-2EB1420C60D1}"/>
              </a:ext>
            </a:extLst>
          </p:cNvPr>
          <p:cNvSpPr>
            <a:spLocks noGrp="1"/>
          </p:cNvSpPr>
          <p:nvPr/>
        </p:nvSpPr>
        <p:spPr>
          <a:xfrm>
            <a:off x="1868557" y="3692857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1" name="Left Bracket 10">
            <a:extLst>
              <a:ext uri="{FF2B5EF4-FFF2-40B4-BE49-F238E27FC236}">
                <a16:creationId xmlns:a16="http://schemas.microsoft.com/office/drawing/2014/main" id="{1BCFA351-2218-00D0-9272-BC856952BC31}"/>
              </a:ext>
            </a:extLst>
          </p:cNvPr>
          <p:cNvSpPr>
            <a:spLocks noGrp="1"/>
          </p:cNvSpPr>
          <p:nvPr/>
        </p:nvSpPr>
        <p:spPr>
          <a:xfrm flipH="1">
            <a:off x="2516259" y="3692857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89B43A-2A1D-7287-BBC9-F16D0229194B}"/>
              </a:ext>
            </a:extLst>
          </p:cNvPr>
          <p:cNvSpPr>
            <a:spLocks noGrp="1"/>
          </p:cNvSpPr>
          <p:nvPr/>
        </p:nvSpPr>
        <p:spPr>
          <a:xfrm>
            <a:off x="3026466" y="3692857"/>
            <a:ext cx="7752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0.7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</p:txBody>
      </p:sp>
      <p:sp>
        <p:nvSpPr>
          <p:cNvPr id="13" name="Left Bracket 12">
            <a:extLst>
              <a:ext uri="{FF2B5EF4-FFF2-40B4-BE49-F238E27FC236}">
                <a16:creationId xmlns:a16="http://schemas.microsoft.com/office/drawing/2014/main" id="{42D8FF3C-4A95-BF37-2DB4-BB31640F57D8}"/>
              </a:ext>
            </a:extLst>
          </p:cNvPr>
          <p:cNvSpPr>
            <a:spLocks noGrp="1"/>
          </p:cNvSpPr>
          <p:nvPr/>
        </p:nvSpPr>
        <p:spPr>
          <a:xfrm>
            <a:off x="2898914" y="3692857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BB75C6CB-0F34-9725-4B5D-116E2F35DE32}"/>
              </a:ext>
            </a:extLst>
          </p:cNvPr>
          <p:cNvSpPr>
            <a:spLocks noGrp="1"/>
          </p:cNvSpPr>
          <p:nvPr/>
        </p:nvSpPr>
        <p:spPr>
          <a:xfrm flipH="1">
            <a:off x="3546616" y="3692857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333D83-67FB-4DF6-7B04-3B8D5429C0F6}"/>
              </a:ext>
            </a:extLst>
          </p:cNvPr>
          <p:cNvSpPr>
            <a:spLocks noGrp="1"/>
          </p:cNvSpPr>
          <p:nvPr/>
        </p:nvSpPr>
        <p:spPr>
          <a:xfrm>
            <a:off x="4056823" y="3692857"/>
            <a:ext cx="7752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0.2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0.1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0.5</a:t>
            </a:r>
          </a:p>
        </p:txBody>
      </p: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F17D32D4-288C-7F48-6125-EC35072C08B1}"/>
              </a:ext>
            </a:extLst>
          </p:cNvPr>
          <p:cNvSpPr>
            <a:spLocks noGrp="1"/>
          </p:cNvSpPr>
          <p:nvPr/>
        </p:nvSpPr>
        <p:spPr>
          <a:xfrm>
            <a:off x="3929271" y="3692857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E5061890-71BB-185D-C7B2-8C7F6AF6392F}"/>
              </a:ext>
            </a:extLst>
          </p:cNvPr>
          <p:cNvSpPr>
            <a:spLocks noGrp="1"/>
          </p:cNvSpPr>
          <p:nvPr/>
        </p:nvSpPr>
        <p:spPr>
          <a:xfrm flipH="1">
            <a:off x="4576973" y="3692857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35341B-8005-612A-8D1D-6530565319E4}"/>
              </a:ext>
            </a:extLst>
          </p:cNvPr>
          <p:cNvSpPr>
            <a:spLocks noGrp="1"/>
          </p:cNvSpPr>
          <p:nvPr/>
        </p:nvSpPr>
        <p:spPr>
          <a:xfrm>
            <a:off x="5087180" y="3692857"/>
            <a:ext cx="7752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0.9</a:t>
            </a:r>
          </a:p>
        </p:txBody>
      </p:sp>
      <p:sp>
        <p:nvSpPr>
          <p:cNvPr id="19" name="Left Bracket 18">
            <a:extLst>
              <a:ext uri="{FF2B5EF4-FFF2-40B4-BE49-F238E27FC236}">
                <a16:creationId xmlns:a16="http://schemas.microsoft.com/office/drawing/2014/main" id="{72DC3F32-2A10-ECF2-33D2-4251932CEB5F}"/>
              </a:ext>
            </a:extLst>
          </p:cNvPr>
          <p:cNvSpPr>
            <a:spLocks noGrp="1"/>
          </p:cNvSpPr>
          <p:nvPr/>
        </p:nvSpPr>
        <p:spPr>
          <a:xfrm>
            <a:off x="4959628" y="3692857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2929A6CE-8245-166A-AEA9-B64C289E4924}"/>
              </a:ext>
            </a:extLst>
          </p:cNvPr>
          <p:cNvSpPr>
            <a:spLocks noGrp="1"/>
          </p:cNvSpPr>
          <p:nvPr/>
        </p:nvSpPr>
        <p:spPr>
          <a:xfrm flipH="1">
            <a:off x="5607330" y="3692857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F3013B-3060-5D7C-7AE5-BF259A26712D}"/>
              </a:ext>
            </a:extLst>
          </p:cNvPr>
          <p:cNvSpPr>
            <a:spLocks noGrp="1"/>
          </p:cNvSpPr>
          <p:nvPr/>
        </p:nvSpPr>
        <p:spPr>
          <a:xfrm>
            <a:off x="1045267" y="5684451"/>
            <a:ext cx="66675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The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C6556B-3BEB-217E-BB10-DC1AB07B74BE}"/>
              </a:ext>
            </a:extLst>
          </p:cNvPr>
          <p:cNvSpPr>
            <a:spLocks noGrp="1"/>
          </p:cNvSpPr>
          <p:nvPr/>
        </p:nvSpPr>
        <p:spPr>
          <a:xfrm>
            <a:off x="1996108" y="5684451"/>
            <a:ext cx="103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bat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572D93-7E06-383D-15EF-307DC5F24083}"/>
              </a:ext>
            </a:extLst>
          </p:cNvPr>
          <p:cNvSpPr>
            <a:spLocks noGrp="1"/>
          </p:cNvSpPr>
          <p:nvPr/>
        </p:nvSpPr>
        <p:spPr>
          <a:xfrm>
            <a:off x="3026466" y="5684451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flew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EC21DB-FCE0-A60A-29BE-567D99471955}"/>
              </a:ext>
            </a:extLst>
          </p:cNvPr>
          <p:cNvSpPr>
            <a:spLocks noGrp="1"/>
          </p:cNvSpPr>
          <p:nvPr/>
        </p:nvSpPr>
        <p:spPr>
          <a:xfrm>
            <a:off x="4075874" y="5684451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out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9E8388-C395-A96A-0E82-FA258CAAB7A8}"/>
              </a:ext>
            </a:extLst>
          </p:cNvPr>
          <p:cNvSpPr>
            <a:spLocks noGrp="1"/>
          </p:cNvSpPr>
          <p:nvPr/>
        </p:nvSpPr>
        <p:spPr>
          <a:xfrm>
            <a:off x="5173321" y="5684451"/>
            <a:ext cx="516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of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ADEC91-E634-1517-531B-AF9CCE36509E}"/>
              </a:ext>
            </a:extLst>
          </p:cNvPr>
          <p:cNvSpPr>
            <a:spLocks noGrp="1"/>
          </p:cNvSpPr>
          <p:nvPr/>
        </p:nvSpPr>
        <p:spPr>
          <a:xfrm>
            <a:off x="6245089" y="4339188"/>
            <a:ext cx="3925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⋮</a:t>
            </a:r>
          </a:p>
        </p:txBody>
      </p:sp>
      <p:sp>
        <p:nvSpPr>
          <p:cNvPr id="32" name="Left Bracket 31">
            <a:extLst>
              <a:ext uri="{FF2B5EF4-FFF2-40B4-BE49-F238E27FC236}">
                <a16:creationId xmlns:a16="http://schemas.microsoft.com/office/drawing/2014/main" id="{E7F2D841-101C-D631-1C8B-D5F212645311}"/>
              </a:ext>
            </a:extLst>
          </p:cNvPr>
          <p:cNvSpPr>
            <a:spLocks noGrp="1"/>
          </p:cNvSpPr>
          <p:nvPr/>
        </p:nvSpPr>
        <p:spPr>
          <a:xfrm>
            <a:off x="5989985" y="3692857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33" name="Left Bracket 32">
            <a:extLst>
              <a:ext uri="{FF2B5EF4-FFF2-40B4-BE49-F238E27FC236}">
                <a16:creationId xmlns:a16="http://schemas.microsoft.com/office/drawing/2014/main" id="{C9C2ED6A-9C10-C17F-0ECD-9682FFC2607F}"/>
              </a:ext>
            </a:extLst>
          </p:cNvPr>
          <p:cNvSpPr>
            <a:spLocks noGrp="1"/>
          </p:cNvSpPr>
          <p:nvPr/>
        </p:nvSpPr>
        <p:spPr>
          <a:xfrm flipH="1">
            <a:off x="6637687" y="3692857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E91483-CFEE-0589-D968-FFAC761EAE1E}"/>
              </a:ext>
            </a:extLst>
          </p:cNvPr>
          <p:cNvSpPr>
            <a:spLocks noGrp="1"/>
          </p:cNvSpPr>
          <p:nvPr/>
        </p:nvSpPr>
        <p:spPr>
          <a:xfrm>
            <a:off x="6241779" y="5730774"/>
            <a:ext cx="51683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the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5F4284-E280-3D26-DCF8-5B7BEB65B7A6}"/>
              </a:ext>
            </a:extLst>
          </p:cNvPr>
          <p:cNvSpPr>
            <a:spLocks noGrp="1"/>
          </p:cNvSpPr>
          <p:nvPr/>
        </p:nvSpPr>
        <p:spPr>
          <a:xfrm>
            <a:off x="7487481" y="4339188"/>
            <a:ext cx="3925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6"/>
                </a:solidFill>
                <a:latin typeface="CMU Serif Roman"/>
                <a:ea typeface="CMU Serif Roman"/>
                <a:cs typeface="CMU Serif Roman"/>
              </a:rPr>
              <a:t>?</a:t>
            </a:r>
          </a:p>
        </p:txBody>
      </p: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6C874B36-F76F-0D37-CC98-F565ECF8A932}"/>
              </a:ext>
            </a:extLst>
          </p:cNvPr>
          <p:cNvSpPr>
            <a:spLocks noGrp="1"/>
          </p:cNvSpPr>
          <p:nvPr/>
        </p:nvSpPr>
        <p:spPr>
          <a:xfrm>
            <a:off x="7232377" y="3692857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6"/>
              </a:solidFill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D8F3F45D-9E48-B542-F429-FF8886420F8A}"/>
              </a:ext>
            </a:extLst>
          </p:cNvPr>
          <p:cNvSpPr>
            <a:spLocks noGrp="1"/>
          </p:cNvSpPr>
          <p:nvPr/>
        </p:nvSpPr>
        <p:spPr>
          <a:xfrm flipH="1">
            <a:off x="7880079" y="3692857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6"/>
              </a:solidFill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61ED09-C381-47DB-362E-8829E8A775E7}"/>
              </a:ext>
            </a:extLst>
          </p:cNvPr>
          <p:cNvSpPr>
            <a:spLocks noGrp="1"/>
          </p:cNvSpPr>
          <p:nvPr/>
        </p:nvSpPr>
        <p:spPr>
          <a:xfrm>
            <a:off x="7484171" y="5730774"/>
            <a:ext cx="51683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accent6">
                    <a:lumMod val="40000"/>
                    <a:lumOff val="60000"/>
                  </a:schemeClr>
                </a:solidFill>
                <a:latin typeface="CMU Serif Roman"/>
                <a:ea typeface="CMU Serif Roman"/>
                <a:cs typeface="CMU Serif Roman"/>
              </a:rPr>
              <a:t>[?]</a:t>
            </a:r>
          </a:p>
        </p:txBody>
      </p:sp>
    </p:spTree>
    <p:extLst>
      <p:ext uri="{BB962C8B-B14F-4D97-AF65-F5344CB8AC3E}">
        <p14:creationId xmlns:p14="http://schemas.microsoft.com/office/powerpoint/2010/main" val="485590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988C-ACA0-25F9-5BBF-C69BA4F3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8D5B4-F0A4-C43A-610E-902E2C10B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3105"/>
          </a:xfrm>
        </p:spPr>
        <p:txBody>
          <a:bodyPr/>
          <a:lstStyle/>
          <a:p>
            <a:pPr marL="0" indent="0">
              <a:buNone/>
            </a:pP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C0284A-3C88-BB2B-9867-76E17B7911C0}"/>
              </a:ext>
            </a:extLst>
          </p:cNvPr>
          <p:cNvSpPr>
            <a:spLocks noGrp="1"/>
          </p:cNvSpPr>
          <p:nvPr/>
        </p:nvSpPr>
        <p:spPr>
          <a:xfrm>
            <a:off x="965752" y="1825625"/>
            <a:ext cx="7752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0.6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0.1</a:t>
            </a:r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E3EC27A7-F594-D89B-3C3F-3DABFFA831DF}"/>
              </a:ext>
            </a:extLst>
          </p:cNvPr>
          <p:cNvSpPr>
            <a:spLocks noGrp="1"/>
          </p:cNvSpPr>
          <p:nvPr/>
        </p:nvSpPr>
        <p:spPr>
          <a:xfrm>
            <a:off x="838200" y="1825625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E2041BBE-19D7-FF0C-8923-9130B5ACF4DD}"/>
              </a:ext>
            </a:extLst>
          </p:cNvPr>
          <p:cNvSpPr>
            <a:spLocks noGrp="1"/>
          </p:cNvSpPr>
          <p:nvPr/>
        </p:nvSpPr>
        <p:spPr>
          <a:xfrm flipH="1">
            <a:off x="1485902" y="1825625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128E95-565A-64C1-718B-223C78C5186C}"/>
              </a:ext>
            </a:extLst>
          </p:cNvPr>
          <p:cNvSpPr>
            <a:spLocks noGrp="1"/>
          </p:cNvSpPr>
          <p:nvPr/>
        </p:nvSpPr>
        <p:spPr>
          <a:xfrm>
            <a:off x="1996109" y="1825625"/>
            <a:ext cx="7752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0.5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0.2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</p:txBody>
      </p:sp>
      <p:sp>
        <p:nvSpPr>
          <p:cNvPr id="25" name="Left Bracket 24">
            <a:extLst>
              <a:ext uri="{FF2B5EF4-FFF2-40B4-BE49-F238E27FC236}">
                <a16:creationId xmlns:a16="http://schemas.microsoft.com/office/drawing/2014/main" id="{9C4B549D-ACDF-F319-8BA2-DA8854357358}"/>
              </a:ext>
            </a:extLst>
          </p:cNvPr>
          <p:cNvSpPr>
            <a:spLocks noGrp="1"/>
          </p:cNvSpPr>
          <p:nvPr/>
        </p:nvSpPr>
        <p:spPr>
          <a:xfrm>
            <a:off x="1868557" y="1825625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1BD14F8D-60BA-2488-72CD-38A1DABD71F2}"/>
              </a:ext>
            </a:extLst>
          </p:cNvPr>
          <p:cNvSpPr>
            <a:spLocks noGrp="1"/>
          </p:cNvSpPr>
          <p:nvPr/>
        </p:nvSpPr>
        <p:spPr>
          <a:xfrm flipH="1">
            <a:off x="2516259" y="1825625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CCEC08-FD30-824B-39AE-49AF99CF5864}"/>
              </a:ext>
            </a:extLst>
          </p:cNvPr>
          <p:cNvSpPr>
            <a:spLocks noGrp="1"/>
          </p:cNvSpPr>
          <p:nvPr/>
        </p:nvSpPr>
        <p:spPr>
          <a:xfrm>
            <a:off x="3485136" y="1833994"/>
            <a:ext cx="72527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0.9</a:t>
            </a:r>
          </a:p>
        </p:txBody>
      </p:sp>
      <p:sp>
        <p:nvSpPr>
          <p:cNvPr id="43" name="Left Bracket 42">
            <a:extLst>
              <a:ext uri="{FF2B5EF4-FFF2-40B4-BE49-F238E27FC236}">
                <a16:creationId xmlns:a16="http://schemas.microsoft.com/office/drawing/2014/main" id="{44C91BAD-3501-592F-99D6-BF054370671F}"/>
              </a:ext>
            </a:extLst>
          </p:cNvPr>
          <p:cNvSpPr>
            <a:spLocks noGrp="1"/>
          </p:cNvSpPr>
          <p:nvPr/>
        </p:nvSpPr>
        <p:spPr>
          <a:xfrm>
            <a:off x="3357584" y="1833994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44" name="Left Bracket 43">
            <a:extLst>
              <a:ext uri="{FF2B5EF4-FFF2-40B4-BE49-F238E27FC236}">
                <a16:creationId xmlns:a16="http://schemas.microsoft.com/office/drawing/2014/main" id="{BCC0FC2A-C63C-6A44-938C-295608A8D3F9}"/>
              </a:ext>
            </a:extLst>
          </p:cNvPr>
          <p:cNvSpPr>
            <a:spLocks noGrp="1"/>
          </p:cNvSpPr>
          <p:nvPr/>
        </p:nvSpPr>
        <p:spPr>
          <a:xfrm flipH="1">
            <a:off x="4005286" y="1833994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17DDD6-331D-EE0E-E21B-15414DB52741}"/>
              </a:ext>
            </a:extLst>
          </p:cNvPr>
          <p:cNvSpPr>
            <a:spLocks noGrp="1"/>
          </p:cNvSpPr>
          <p:nvPr/>
        </p:nvSpPr>
        <p:spPr>
          <a:xfrm>
            <a:off x="1045267" y="3817219"/>
            <a:ext cx="66675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The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B94EB3-6BD8-01D1-6C56-5E37B1CAA460}"/>
              </a:ext>
            </a:extLst>
          </p:cNvPr>
          <p:cNvSpPr>
            <a:spLocks noGrp="1"/>
          </p:cNvSpPr>
          <p:nvPr/>
        </p:nvSpPr>
        <p:spPr>
          <a:xfrm>
            <a:off x="1769166" y="3817219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bat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37C4B1-37CB-9270-DCFE-EEDB3B82AAAB}"/>
              </a:ext>
            </a:extLst>
          </p:cNvPr>
          <p:cNvSpPr>
            <a:spLocks noGrp="1"/>
          </p:cNvSpPr>
          <p:nvPr/>
        </p:nvSpPr>
        <p:spPr>
          <a:xfrm>
            <a:off x="3561337" y="3813367"/>
            <a:ext cx="114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the</a:t>
            </a:r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B8DE063F-9CED-997B-8082-220F879691AC}"/>
              </a:ext>
            </a:extLst>
          </p:cNvPr>
          <p:cNvSpPr>
            <a:spLocks noGrp="1"/>
          </p:cNvSpPr>
          <p:nvPr/>
        </p:nvSpPr>
        <p:spPr>
          <a:xfrm>
            <a:off x="838200" y="1825625"/>
            <a:ext cx="10515600" cy="50323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Font typeface="Arial"/>
              <a:buNone/>
            </a:pP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Font typeface="Arial"/>
              <a:buNone/>
            </a:pP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Font typeface="Arial"/>
              <a:buNone/>
            </a:pP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Font typeface="Arial"/>
              <a:buNone/>
            </a:pP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Font typeface="Arial"/>
              <a:buNone/>
            </a:pPr>
            <a:endParaRPr>
              <a:latin typeface="CMU Serif Roman"/>
              <a:ea typeface="CMU Serif Roman"/>
              <a:cs typeface="CMU Serif Roman"/>
            </a:endParaRPr>
          </a:p>
          <a:p>
            <a:pPr marL="0" indent="0">
              <a:buFont typeface="Arial"/>
              <a:buNone/>
            </a:pPr>
            <a:r>
              <a:rPr b="1">
                <a:latin typeface="CMU SERIF ROMAN"/>
                <a:ea typeface="CMU SERIF ROMAN"/>
                <a:cs typeface="CMU SERIF ROMAN"/>
              </a:rPr>
              <a:t>3. Use the Transformer to summarize the visible prefix into a contextual hidden state. A learned output layer converts that state into probabilities over possible next tokens.</a:t>
            </a: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</p:txBody>
      </p:sp>
      <p:cxnSp>
        <p:nvCxnSpPr>
          <p:cNvPr id="1272" name="Straight Arrow Connector 62"/>
          <p:cNvCxnSpPr/>
          <p:nvPr/>
        </p:nvCxnSpPr>
        <p:spPr>
          <a:xfrm>
            <a:off x="4427649" y="2745759"/>
            <a:ext cx="18155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9" name="Content Placeholder 2">
            <a:extLst>
              <a:ext uri="{FF2B5EF4-FFF2-40B4-BE49-F238E27FC236}">
                <a16:creationId xmlns:a16="http://schemas.microsoft.com/office/drawing/2014/main" id="{FFD84B94-B93C-E348-F3A3-CDC00525A9D9}"/>
              </a:ext>
            </a:extLst>
          </p:cNvPr>
          <p:cNvSpPr>
            <a:spLocks noGrp="1"/>
          </p:cNvSpPr>
          <p:nvPr/>
        </p:nvSpPr>
        <p:spPr>
          <a:xfrm>
            <a:off x="4427649" y="2332349"/>
            <a:ext cx="1885122" cy="87680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Neural Network</a:t>
            </a:r>
            <a:endParaRPr sz="1800"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A108D162-8367-D13D-DDFA-14C8539442F7}"/>
              </a:ext>
            </a:extLst>
          </p:cNvPr>
          <p:cNvSpPr>
            <a:spLocks noGrp="1"/>
          </p:cNvSpPr>
          <p:nvPr/>
        </p:nvSpPr>
        <p:spPr>
          <a:xfrm>
            <a:off x="6632943" y="1837818"/>
            <a:ext cx="68288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0.7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0.1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0.5</a:t>
            </a:r>
          </a:p>
        </p:txBody>
      </p:sp>
      <p:sp>
        <p:nvSpPr>
          <p:cNvPr id="1032" name="Left Bracket 1031">
            <a:extLst>
              <a:ext uri="{FF2B5EF4-FFF2-40B4-BE49-F238E27FC236}">
                <a16:creationId xmlns:a16="http://schemas.microsoft.com/office/drawing/2014/main" id="{19C8A03C-5842-67A5-FA4E-BAF33027789C}"/>
              </a:ext>
            </a:extLst>
          </p:cNvPr>
          <p:cNvSpPr>
            <a:spLocks noGrp="1"/>
          </p:cNvSpPr>
          <p:nvPr/>
        </p:nvSpPr>
        <p:spPr>
          <a:xfrm>
            <a:off x="6505391" y="1837818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033" name="Left Bracket 1032">
            <a:extLst>
              <a:ext uri="{FF2B5EF4-FFF2-40B4-BE49-F238E27FC236}">
                <a16:creationId xmlns:a16="http://schemas.microsoft.com/office/drawing/2014/main" id="{475EBA90-A987-248E-FEFC-B803F5EC2872}"/>
              </a:ext>
            </a:extLst>
          </p:cNvPr>
          <p:cNvSpPr>
            <a:spLocks noGrp="1"/>
          </p:cNvSpPr>
          <p:nvPr/>
        </p:nvSpPr>
        <p:spPr>
          <a:xfrm flipH="1">
            <a:off x="7153093" y="1837818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</p:txBody>
      </p:sp>
      <p:pic>
        <p:nvPicPr>
          <p:cNvPr id="1277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87709" y="2834725"/>
            <a:ext cx="1885120" cy="978642"/>
          </a:xfrm>
          <a:prstGeom prst="rect">
            <a:avLst/>
          </a:prstGeom>
        </p:spPr>
      </p:pic>
      <p:cxnSp>
        <p:nvCxnSpPr>
          <p:cNvPr id="1278" name="Straight Arrow Connector 1037"/>
          <p:cNvCxnSpPr/>
          <p:nvPr/>
        </p:nvCxnSpPr>
        <p:spPr>
          <a:xfrm flipV="1">
            <a:off x="7582774" y="2730774"/>
            <a:ext cx="1174844" cy="2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" name="Content Placeholder 2">
            <a:extLst>
              <a:ext uri="{FF2B5EF4-FFF2-40B4-BE49-F238E27FC236}">
                <a16:creationId xmlns:a16="http://schemas.microsoft.com/office/drawing/2014/main" id="{C7EA6A6D-2B0D-895F-80CF-ACDAC4B48FD7}"/>
              </a:ext>
            </a:extLst>
          </p:cNvPr>
          <p:cNvSpPr>
            <a:spLocks noGrp="1"/>
          </p:cNvSpPr>
          <p:nvPr/>
        </p:nvSpPr>
        <p:spPr>
          <a:xfrm>
            <a:off x="6300851" y="1289732"/>
            <a:ext cx="1885122" cy="87680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Hidden State</a:t>
            </a:r>
          </a:p>
        </p:txBody>
      </p:sp>
      <p:cxnSp>
        <p:nvCxnSpPr>
          <p:cNvPr id="1280" name="Straight Arrow Connector 1049"/>
          <p:cNvCxnSpPr/>
          <p:nvPr/>
        </p:nvCxnSpPr>
        <p:spPr>
          <a:xfrm flipV="1">
            <a:off x="9066500" y="1872097"/>
            <a:ext cx="0" cy="170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5" name="Content Placeholder 2">
            <a:extLst>
              <a:ext uri="{FF2B5EF4-FFF2-40B4-BE49-F238E27FC236}">
                <a16:creationId xmlns:a16="http://schemas.microsoft.com/office/drawing/2014/main" id="{1B351C08-EDED-06CB-4B37-58C928748A85}"/>
              </a:ext>
            </a:extLst>
          </p:cNvPr>
          <p:cNvSpPr>
            <a:spLocks noGrp="1"/>
          </p:cNvSpPr>
          <p:nvPr/>
        </p:nvSpPr>
        <p:spPr>
          <a:xfrm>
            <a:off x="7511626" y="2320192"/>
            <a:ext cx="1461723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Linear Layer</a:t>
            </a:r>
          </a:p>
        </p:txBody>
      </p:sp>
      <p:sp>
        <p:nvSpPr>
          <p:cNvPr id="1061" name="Content Placeholder 2">
            <a:extLst>
              <a:ext uri="{FF2B5EF4-FFF2-40B4-BE49-F238E27FC236}">
                <a16:creationId xmlns:a16="http://schemas.microsoft.com/office/drawing/2014/main" id="{D847F162-57BF-AD1E-BDF2-D71C8A2AD251}"/>
              </a:ext>
            </a:extLst>
          </p:cNvPr>
          <p:cNvSpPr>
            <a:spLocks noGrp="1"/>
          </p:cNvSpPr>
          <p:nvPr/>
        </p:nvSpPr>
        <p:spPr>
          <a:xfrm>
            <a:off x="10801018" y="3162679"/>
            <a:ext cx="2193741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</p:txBody>
      </p:sp>
      <p:sp>
        <p:nvSpPr>
          <p:cNvPr id="1062" name="Content Placeholder 2">
            <a:extLst>
              <a:ext uri="{FF2B5EF4-FFF2-40B4-BE49-F238E27FC236}">
                <a16:creationId xmlns:a16="http://schemas.microsoft.com/office/drawing/2014/main" id="{0301B593-7A71-F5DC-4AC9-9AF3B25DAFF7}"/>
              </a:ext>
            </a:extLst>
          </p:cNvPr>
          <p:cNvSpPr>
            <a:spLocks noGrp="1"/>
          </p:cNvSpPr>
          <p:nvPr/>
        </p:nvSpPr>
        <p:spPr>
          <a:xfrm>
            <a:off x="9120250" y="3166118"/>
            <a:ext cx="2193741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</p:txBody>
      </p:sp>
      <p:sp>
        <p:nvSpPr>
          <p:cNvPr id="1065" name="Content Placeholder 2">
            <a:extLst>
              <a:ext uri="{FF2B5EF4-FFF2-40B4-BE49-F238E27FC236}">
                <a16:creationId xmlns:a16="http://schemas.microsoft.com/office/drawing/2014/main" id="{738D6CCE-D765-8367-64CD-8EA88901712E}"/>
              </a:ext>
            </a:extLst>
          </p:cNvPr>
          <p:cNvSpPr>
            <a:spLocks noGrp="1"/>
          </p:cNvSpPr>
          <p:nvPr/>
        </p:nvSpPr>
        <p:spPr>
          <a:xfrm>
            <a:off x="2829363" y="2557270"/>
            <a:ext cx="505931" cy="36933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BE5AC1AE-6F96-4E56-CE73-F109842E164C}"/>
              </a:ext>
            </a:extLst>
          </p:cNvPr>
          <p:cNvSpPr>
            <a:spLocks noGrp="1"/>
          </p:cNvSpPr>
          <p:nvPr/>
        </p:nvSpPr>
        <p:spPr>
          <a:xfrm>
            <a:off x="9445895" y="2940447"/>
            <a:ext cx="465649" cy="5369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50910CAF-1D6C-E62A-D5A3-CACE03ACB36F}"/>
              </a:ext>
            </a:extLst>
          </p:cNvPr>
          <p:cNvSpPr>
            <a:spLocks noGrp="1"/>
          </p:cNvSpPr>
          <p:nvPr/>
        </p:nvSpPr>
        <p:spPr>
          <a:xfrm>
            <a:off x="10387138" y="3256438"/>
            <a:ext cx="465649" cy="22048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077" name="Content Placeholder 2">
            <a:extLst>
              <a:ext uri="{FF2B5EF4-FFF2-40B4-BE49-F238E27FC236}">
                <a16:creationId xmlns:a16="http://schemas.microsoft.com/office/drawing/2014/main" id="{20029FC0-4198-7236-36E0-85E074AEEA7C}"/>
              </a:ext>
            </a:extLst>
          </p:cNvPr>
          <p:cNvSpPr>
            <a:spLocks noGrp="1"/>
          </p:cNvSpPr>
          <p:nvPr/>
        </p:nvSpPr>
        <p:spPr>
          <a:xfrm>
            <a:off x="9691972" y="3496445"/>
            <a:ext cx="1461723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 i="1">
                <a:solidFill>
                  <a:schemeClr val="accent6"/>
                </a:solidFill>
                <a:latin typeface="CMU SERIF ROMAN"/>
                <a:ea typeface="CMU SERIF ROMAN"/>
                <a:cs typeface="CMU SERIF ROMAN"/>
              </a:rPr>
              <a:t>cave</a:t>
            </a: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3B200D-C358-E765-F554-D4695967CB6F}"/>
              </a:ext>
            </a:extLst>
          </p:cNvPr>
          <p:cNvSpPr>
            <a:spLocks noGrp="1"/>
          </p:cNvSpPr>
          <p:nvPr/>
        </p:nvSpPr>
        <p:spPr>
          <a:xfrm>
            <a:off x="9916117" y="2009462"/>
            <a:ext cx="465649" cy="146678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080" name="Content Placeholder 2">
            <a:extLst>
              <a:ext uri="{FF2B5EF4-FFF2-40B4-BE49-F238E27FC236}">
                <a16:creationId xmlns:a16="http://schemas.microsoft.com/office/drawing/2014/main" id="{8D57CD52-9EB7-DA37-5B7E-B3AD641C0340}"/>
              </a:ext>
            </a:extLst>
          </p:cNvPr>
          <p:cNvSpPr>
            <a:spLocks noGrp="1"/>
          </p:cNvSpPr>
          <p:nvPr/>
        </p:nvSpPr>
        <p:spPr>
          <a:xfrm>
            <a:off x="8850931" y="1211080"/>
            <a:ext cx="2596019" cy="108349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Probability Distribution over Vocabulary</a:t>
            </a:r>
          </a:p>
        </p:txBody>
      </p:sp>
      <p:cxnSp>
        <p:nvCxnSpPr>
          <p:cNvPr id="1290" name="Straight Arrow Connector 1050"/>
          <p:cNvCxnSpPr/>
          <p:nvPr/>
        </p:nvCxnSpPr>
        <p:spPr>
          <a:xfrm>
            <a:off x="8904111" y="3461299"/>
            <a:ext cx="2322137" cy="17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98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7B7F-C0C7-8167-6015-380B873CA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631A7-3994-CCCB-726D-727AD6719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CMU Serif Roman"/>
                <a:ea typeface="CMU Serif Roman"/>
                <a:cs typeface="CMU Serif Roman"/>
              </a:rPr>
              <a:t>Something a bit trickier…</a:t>
            </a:r>
          </a:p>
          <a:p>
            <a:pPr marL="0" indent="0">
              <a:buNone/>
            </a:pP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r>
              <a:t>"The animal bat slept in a cave.</a:t>
            </a: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r>
              <a:rPr i="1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The baseball bat was made of wood.</a:t>
            </a:r>
          </a:p>
          <a:p>
            <a:pPr marL="0" indent="0">
              <a:buNone/>
            </a:pP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r>
              <a:rPr i="1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The bat flew back into the [?]"</a:t>
            </a:r>
          </a:p>
        </p:txBody>
      </p:sp>
      <p:cxnSp>
        <p:nvCxnSpPr>
          <p:cNvPr id="105" name="Straight Arrow Connector 3"/>
          <p:cNvCxnSpPr/>
          <p:nvPr/>
        </p:nvCxnSpPr>
        <p:spPr>
          <a:xfrm>
            <a:off x="5843450" y="4304590"/>
            <a:ext cx="21161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46147" y="3735977"/>
            <a:ext cx="433676" cy="43367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77E8FA-8FEE-E48A-160B-39D62F14FC15}"/>
              </a:ext>
            </a:extLst>
          </p:cNvPr>
          <p:cNvSpPr>
            <a:spLocks noGrp="1"/>
          </p:cNvSpPr>
          <p:nvPr/>
        </p:nvSpPr>
        <p:spPr>
          <a:xfrm>
            <a:off x="6096000" y="3800323"/>
            <a:ext cx="1461723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RNN from</a:t>
            </a:r>
          </a:p>
        </p:txBody>
      </p:sp>
      <p:cxnSp>
        <p:nvCxnSpPr>
          <p:cNvPr id="108" name="Straight Arrow Connector 8"/>
          <p:cNvCxnSpPr/>
          <p:nvPr/>
        </p:nvCxnSpPr>
        <p:spPr>
          <a:xfrm flipV="1">
            <a:off x="8344256" y="3022463"/>
            <a:ext cx="0" cy="2364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947A6AD-9217-70DE-D0B9-6CF45A07B683}"/>
              </a:ext>
            </a:extLst>
          </p:cNvPr>
          <p:cNvSpPr>
            <a:spLocks noGrp="1"/>
          </p:cNvSpPr>
          <p:nvPr/>
        </p:nvSpPr>
        <p:spPr>
          <a:xfrm>
            <a:off x="10926794" y="4990665"/>
            <a:ext cx="2193741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CD848F2-4EB5-1C92-437F-0517D4565867}"/>
              </a:ext>
            </a:extLst>
          </p:cNvPr>
          <p:cNvSpPr>
            <a:spLocks noGrp="1"/>
          </p:cNvSpPr>
          <p:nvPr/>
        </p:nvSpPr>
        <p:spPr>
          <a:xfrm>
            <a:off x="8332645" y="4990665"/>
            <a:ext cx="2193741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63BACC-E02A-CBA1-99A7-A2D780F011AC}"/>
              </a:ext>
            </a:extLst>
          </p:cNvPr>
          <p:cNvSpPr>
            <a:spLocks noGrp="1"/>
          </p:cNvSpPr>
          <p:nvPr/>
        </p:nvSpPr>
        <p:spPr>
          <a:xfrm>
            <a:off x="9478369" y="5305847"/>
            <a:ext cx="1461723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 i="1">
                <a:solidFill>
                  <a:schemeClr val="accent6"/>
                </a:solidFill>
                <a:latin typeface="CMU SERIF ROMAN"/>
                <a:ea typeface="CMU SERIF ROMAN"/>
                <a:cs typeface="CMU SERIF ROMAN"/>
              </a:rPr>
              <a:t>[wood]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A0C39-15AB-A902-F558-6AFF77B34BD8}"/>
              </a:ext>
            </a:extLst>
          </p:cNvPr>
          <p:cNvSpPr>
            <a:spLocks noGrp="1"/>
          </p:cNvSpPr>
          <p:nvPr/>
        </p:nvSpPr>
        <p:spPr>
          <a:xfrm>
            <a:off x="9601320" y="3800323"/>
            <a:ext cx="465649" cy="1479003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>
                <a:latin typeface="CMU Serif Roman"/>
                <a:ea typeface="CMU Serif Roman"/>
                <a:cs typeface="CMU Serif Roman"/>
              </a:rPr>
              <a:t>0.39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FC74C2-B5BE-6075-1758-BADC5C442479}"/>
              </a:ext>
            </a:extLst>
          </p:cNvPr>
          <p:cNvSpPr>
            <a:spLocks noGrp="1"/>
          </p:cNvSpPr>
          <p:nvPr/>
        </p:nvSpPr>
        <p:spPr>
          <a:xfrm>
            <a:off x="8533534" y="2531623"/>
            <a:ext cx="2596019" cy="108349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Probability Distribution over Vocabulary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DF410C-9515-CDA6-CDBF-3A07B6A5CD61}"/>
              </a:ext>
            </a:extLst>
          </p:cNvPr>
          <p:cNvSpPr>
            <a:spLocks noGrp="1"/>
          </p:cNvSpPr>
          <p:nvPr/>
        </p:nvSpPr>
        <p:spPr>
          <a:xfrm>
            <a:off x="10526446" y="4559974"/>
            <a:ext cx="465649" cy="71935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>
                <a:latin typeface="CMU Serif Roman"/>
                <a:ea typeface="CMU Serif Roman"/>
                <a:cs typeface="CMU Serif Roman"/>
              </a:rPr>
              <a:t>0.12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B7164D-85FD-F051-D296-68EFEF0C4058}"/>
              </a:ext>
            </a:extLst>
          </p:cNvPr>
          <p:cNvSpPr>
            <a:spLocks noGrp="1"/>
          </p:cNvSpPr>
          <p:nvPr/>
        </p:nvSpPr>
        <p:spPr>
          <a:xfrm>
            <a:off x="8673790" y="4977501"/>
            <a:ext cx="465649" cy="3018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>
                <a:latin typeface="CMU Serif Roman"/>
                <a:ea typeface="CMU Serif Roman"/>
                <a:cs typeface="CMU Serif Roman"/>
              </a:rPr>
              <a:t>0.04</a:t>
            </a:r>
          </a:p>
        </p:txBody>
      </p:sp>
      <p:cxnSp>
        <p:nvCxnSpPr>
          <p:cNvPr id="116" name="Straight Arrow Connector 16"/>
          <p:cNvCxnSpPr/>
          <p:nvPr/>
        </p:nvCxnSpPr>
        <p:spPr>
          <a:xfrm>
            <a:off x="8181867" y="5272682"/>
            <a:ext cx="3299354" cy="66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70A7BF7-EAE3-251D-81FF-3B8EE6A763C4}"/>
              </a:ext>
            </a:extLst>
          </p:cNvPr>
          <p:cNvSpPr>
            <a:spLocks noGrp="1"/>
          </p:cNvSpPr>
          <p:nvPr/>
        </p:nvSpPr>
        <p:spPr>
          <a:xfrm>
            <a:off x="10261233" y="5293826"/>
            <a:ext cx="1461723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 i="1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[cave]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84796A1-1374-7F4E-DA88-BAAF9E701235}"/>
              </a:ext>
            </a:extLst>
          </p:cNvPr>
          <p:cNvSpPr>
            <a:spLocks noGrp="1"/>
          </p:cNvSpPr>
          <p:nvPr/>
        </p:nvSpPr>
        <p:spPr>
          <a:xfrm>
            <a:off x="8620028" y="5311124"/>
            <a:ext cx="1461723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 i="1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[the]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9105F9A-A209-7EA2-2668-AB503DED2D38}"/>
              </a:ext>
            </a:extLst>
          </p:cNvPr>
          <p:cNvSpPr>
            <a:spLocks noGrp="1"/>
          </p:cNvSpPr>
          <p:nvPr/>
        </p:nvSpPr>
        <p:spPr>
          <a:xfrm>
            <a:off x="10093948" y="4957500"/>
            <a:ext cx="2193741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4EB27204-828F-C124-314C-10954A4F0148}"/>
              </a:ext>
            </a:extLst>
          </p:cNvPr>
          <p:cNvSpPr>
            <a:spLocks noGrp="1"/>
          </p:cNvSpPr>
          <p:nvPr/>
        </p:nvSpPr>
        <p:spPr>
          <a:xfrm>
            <a:off x="9171670" y="4943217"/>
            <a:ext cx="2193741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2840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C716F-2142-4AB8-3542-4B676270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68C35-0CFA-4E91-00F0-480293B40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CMU Serif Roman"/>
                <a:ea typeface="CMU Serif Roman"/>
                <a:cs typeface="CMU Serif Roman"/>
              </a:rPr>
              <a:t>Something a bit trickier…</a:t>
            </a:r>
          </a:p>
          <a:p>
            <a:pPr marL="0" indent="0">
              <a:buNone/>
            </a:pP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r>
              <a:t>"The animal bat slept in a cave.</a:t>
            </a: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r>
              <a:rPr i="1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The baseball bat was made of wood.</a:t>
            </a:r>
          </a:p>
          <a:p>
            <a:pPr marL="0" indent="0">
              <a:buNone/>
            </a:pP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r>
              <a:rPr i="1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The bat flew back into the [?]"</a:t>
            </a:r>
          </a:p>
        </p:txBody>
      </p:sp>
      <p:cxnSp>
        <p:nvCxnSpPr>
          <p:cNvPr id="103" name="Straight Arrow Connector 3"/>
          <p:cNvCxnSpPr/>
          <p:nvPr/>
        </p:nvCxnSpPr>
        <p:spPr>
          <a:xfrm>
            <a:off x="5843450" y="4304590"/>
            <a:ext cx="21161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46147" y="3735977"/>
            <a:ext cx="433676" cy="43367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1D263D4-140D-ED31-3418-9D831FDB8650}"/>
              </a:ext>
            </a:extLst>
          </p:cNvPr>
          <p:cNvSpPr>
            <a:spLocks noGrp="1"/>
          </p:cNvSpPr>
          <p:nvPr/>
        </p:nvSpPr>
        <p:spPr>
          <a:xfrm>
            <a:off x="5819455" y="3829050"/>
            <a:ext cx="1461723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Llama 3.1 8B</a:t>
            </a:r>
          </a:p>
        </p:txBody>
      </p:sp>
      <p:cxnSp>
        <p:nvCxnSpPr>
          <p:cNvPr id="106" name="Straight Arrow Connector 8"/>
          <p:cNvCxnSpPr/>
          <p:nvPr/>
        </p:nvCxnSpPr>
        <p:spPr>
          <a:xfrm flipV="1">
            <a:off x="8344256" y="3022463"/>
            <a:ext cx="0" cy="2364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6DA0429-2DC4-610C-8645-98CA4F820ABA}"/>
              </a:ext>
            </a:extLst>
          </p:cNvPr>
          <p:cNvSpPr>
            <a:spLocks noGrp="1"/>
          </p:cNvSpPr>
          <p:nvPr/>
        </p:nvSpPr>
        <p:spPr>
          <a:xfrm>
            <a:off x="10992094" y="4928225"/>
            <a:ext cx="2193741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EBF93C5-BE24-B8BC-44EE-DB38C197FB81}"/>
              </a:ext>
            </a:extLst>
          </p:cNvPr>
          <p:cNvSpPr>
            <a:spLocks noGrp="1"/>
          </p:cNvSpPr>
          <p:nvPr/>
        </p:nvSpPr>
        <p:spPr>
          <a:xfrm>
            <a:off x="8321094" y="4941794"/>
            <a:ext cx="2193741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7D1C131-6E2A-7673-D217-EFCC943158F4}"/>
              </a:ext>
            </a:extLst>
          </p:cNvPr>
          <p:cNvSpPr>
            <a:spLocks noGrp="1"/>
          </p:cNvSpPr>
          <p:nvPr/>
        </p:nvSpPr>
        <p:spPr>
          <a:xfrm>
            <a:off x="9561359" y="5293826"/>
            <a:ext cx="1461723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 i="1">
                <a:solidFill>
                  <a:schemeClr val="accent6"/>
                </a:solidFill>
                <a:latin typeface="CMU SERIF ROMAN"/>
                <a:ea typeface="CMU SERIF ROMAN"/>
                <a:cs typeface="CMU SERIF ROMAN"/>
              </a:rPr>
              <a:t>[cave]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E2F44B-D6B9-9D8E-87C1-C59FFC246F33}"/>
              </a:ext>
            </a:extLst>
          </p:cNvPr>
          <p:cNvSpPr>
            <a:spLocks noGrp="1"/>
          </p:cNvSpPr>
          <p:nvPr/>
        </p:nvSpPr>
        <p:spPr>
          <a:xfrm>
            <a:off x="9601320" y="3320715"/>
            <a:ext cx="465649" cy="1958611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>
                <a:latin typeface="CMU Serif Roman"/>
                <a:ea typeface="CMU Serif Roman"/>
                <a:cs typeface="CMU Serif Roman"/>
              </a:rPr>
              <a:t>0.84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2D03CCF-19A3-FCE5-957E-653F2ABACD73}"/>
              </a:ext>
            </a:extLst>
          </p:cNvPr>
          <p:cNvSpPr>
            <a:spLocks noGrp="1"/>
          </p:cNvSpPr>
          <p:nvPr/>
        </p:nvSpPr>
        <p:spPr>
          <a:xfrm>
            <a:off x="8533534" y="2531623"/>
            <a:ext cx="2596019" cy="108349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Probability Distribution over Vocabulary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4E9EF2-1542-F14F-9872-52D6235E3F4A}"/>
              </a:ext>
            </a:extLst>
          </p:cNvPr>
          <p:cNvSpPr>
            <a:spLocks noGrp="1"/>
          </p:cNvSpPr>
          <p:nvPr/>
        </p:nvSpPr>
        <p:spPr>
          <a:xfrm>
            <a:off x="10526446" y="5011588"/>
            <a:ext cx="465649" cy="2677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>
                <a:latin typeface="CMU Serif Roman"/>
                <a:ea typeface="CMU Serif Roman"/>
                <a:cs typeface="CMU Serif Roman"/>
              </a:rPr>
              <a:t>0.01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517C1E-D776-B754-EEE8-18AB5B30088C}"/>
              </a:ext>
            </a:extLst>
          </p:cNvPr>
          <p:cNvSpPr>
            <a:spLocks noGrp="1"/>
          </p:cNvSpPr>
          <p:nvPr/>
        </p:nvSpPr>
        <p:spPr>
          <a:xfrm>
            <a:off x="8673790" y="5011588"/>
            <a:ext cx="465649" cy="26773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>
                <a:latin typeface="CMU Serif Roman"/>
                <a:ea typeface="CMU Serif Roman"/>
                <a:cs typeface="CMU Serif Roman"/>
              </a:rPr>
              <a:t>0.03</a:t>
            </a:r>
          </a:p>
        </p:txBody>
      </p:sp>
      <p:cxnSp>
        <p:nvCxnSpPr>
          <p:cNvPr id="114" name="Straight Arrow Connector 16"/>
          <p:cNvCxnSpPr/>
          <p:nvPr/>
        </p:nvCxnSpPr>
        <p:spPr>
          <a:xfrm>
            <a:off x="8181867" y="5272682"/>
            <a:ext cx="3299354" cy="66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2B8448E-08F0-A7C1-12F0-06997DBC6FA2}"/>
              </a:ext>
            </a:extLst>
          </p:cNvPr>
          <p:cNvSpPr>
            <a:spLocks noGrp="1"/>
          </p:cNvSpPr>
          <p:nvPr/>
        </p:nvSpPr>
        <p:spPr>
          <a:xfrm>
            <a:off x="10470831" y="5325957"/>
            <a:ext cx="1461723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 i="1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[wood]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DBBD2CE-5C81-9158-921D-4C12EEA1CBB5}"/>
              </a:ext>
            </a:extLst>
          </p:cNvPr>
          <p:cNvSpPr>
            <a:spLocks noGrp="1"/>
          </p:cNvSpPr>
          <p:nvPr/>
        </p:nvSpPr>
        <p:spPr>
          <a:xfrm>
            <a:off x="8569586" y="5311124"/>
            <a:ext cx="1461723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 i="1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[the]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7EDFC1-9B35-98AE-13FE-ACFF470D7FA7}"/>
              </a:ext>
            </a:extLst>
          </p:cNvPr>
          <p:cNvSpPr>
            <a:spLocks noGrp="1"/>
          </p:cNvSpPr>
          <p:nvPr/>
        </p:nvSpPr>
        <p:spPr>
          <a:xfrm>
            <a:off x="9171670" y="4943217"/>
            <a:ext cx="2193741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B793D9-44D3-757F-32C0-957B84847AB8}"/>
              </a:ext>
            </a:extLst>
          </p:cNvPr>
          <p:cNvSpPr>
            <a:spLocks noGrp="1"/>
          </p:cNvSpPr>
          <p:nvPr/>
        </p:nvSpPr>
        <p:spPr>
          <a:xfrm>
            <a:off x="10104823" y="4963095"/>
            <a:ext cx="2193741" cy="36933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08717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C7742-6279-0A59-8A5C-0F8E99E55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Attention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5C40B98-27E1-26FD-77CB-8CE922005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i="1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"The bat flew out of the </a:t>
            </a:r>
            <a:r>
              <a:rPr i="1" dirty="0">
                <a:solidFill>
                  <a:schemeClr val="accent6"/>
                </a:solidFill>
                <a:latin typeface="CMU SERIF ROMAN"/>
                <a:ea typeface="CMU SERIF ROMAN"/>
                <a:cs typeface="CMU SERIF ROMAN"/>
              </a:rPr>
              <a:t>[?]</a:t>
            </a:r>
            <a:r>
              <a:rPr i="1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"</a:t>
            </a:r>
          </a:p>
          <a:p>
            <a:pPr marL="0" indent="0">
              <a:buNone/>
            </a:pPr>
            <a:endParaRPr i="1" dirty="0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r>
              <a:rPr b="1" dirty="0">
                <a:latin typeface="CMU SERIF ROMAN"/>
                <a:ea typeface="CMU SERIF ROMAN"/>
                <a:cs typeface="CMU SERIF ROMAN"/>
              </a:rPr>
              <a:t>1. Tokenize</a:t>
            </a:r>
          </a:p>
          <a:p>
            <a:pPr marL="0" indent="0">
              <a:buNone/>
            </a:pPr>
            <a:endParaRPr dirty="0"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r>
              <a:rPr i="1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[The][ bat][ flew][ out][ of][ the]</a:t>
            </a:r>
            <a:r>
              <a:rPr i="1" dirty="0">
                <a:solidFill>
                  <a:schemeClr val="accent6"/>
                </a:solidFill>
                <a:latin typeface="CMU SERIF ROMAN"/>
                <a:ea typeface="CMU SERIF ROMAN"/>
                <a:cs typeface="CMU SERIF ROMAN"/>
              </a:rPr>
              <a:t>[?]</a:t>
            </a:r>
            <a:endParaRPr dirty="0">
              <a:solidFill>
                <a:schemeClr val="accent6"/>
              </a:solidFill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4FD2D2E-E0D5-EEF4-E48D-AF2E1DB2B648}"/>
              </a:ext>
            </a:extLst>
          </p:cNvPr>
          <p:cNvSpPr>
            <a:spLocks noGrp="1"/>
          </p:cNvSpPr>
          <p:nvPr/>
        </p:nvSpPr>
        <p:spPr>
          <a:xfrm>
            <a:off x="838200" y="1825625"/>
            <a:ext cx="10515600" cy="160337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9873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738F9-D424-53F7-A311-73C0FB9D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C5A4-5581-6050-1214-0D95D0080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i="1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[The][ bat][ flew][ out][ of][ the][?]</a:t>
            </a:r>
          </a:p>
          <a:p>
            <a:pPr marL="0" indent="0">
              <a:buNone/>
            </a:pPr>
            <a:endParaRPr i="1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r>
              <a:rPr b="1">
                <a:latin typeface="CMU SERIF ROMAN"/>
                <a:ea typeface="CMU SERIF ROMAN"/>
                <a:cs typeface="CMU SERIF ROMAN"/>
              </a:rPr>
              <a:t>2. Generate embedding vectors</a:t>
            </a:r>
            <a:endParaRPr i="1" baseline="-25000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5ED06-2C46-2313-B861-335365145EBA}"/>
              </a:ext>
            </a:extLst>
          </p:cNvPr>
          <p:cNvSpPr>
            <a:spLocks noGrp="1"/>
          </p:cNvSpPr>
          <p:nvPr/>
        </p:nvSpPr>
        <p:spPr>
          <a:xfrm>
            <a:off x="965752" y="3692857"/>
            <a:ext cx="7752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0.6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0.1</a:t>
            </a: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CCF5D816-B261-B4AD-AB46-3CCA6130D7B0}"/>
              </a:ext>
            </a:extLst>
          </p:cNvPr>
          <p:cNvSpPr>
            <a:spLocks noGrp="1"/>
          </p:cNvSpPr>
          <p:nvPr/>
        </p:nvSpPr>
        <p:spPr>
          <a:xfrm>
            <a:off x="838200" y="3692857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59ADAD9E-3145-2299-0156-07D133F53BB1}"/>
              </a:ext>
            </a:extLst>
          </p:cNvPr>
          <p:cNvSpPr>
            <a:spLocks noGrp="1"/>
          </p:cNvSpPr>
          <p:nvPr/>
        </p:nvSpPr>
        <p:spPr>
          <a:xfrm flipH="1">
            <a:off x="1485902" y="3692857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3056C0-964F-C54B-AAF3-84751E09A0C3}"/>
              </a:ext>
            </a:extLst>
          </p:cNvPr>
          <p:cNvSpPr>
            <a:spLocks noGrp="1"/>
          </p:cNvSpPr>
          <p:nvPr/>
        </p:nvSpPr>
        <p:spPr>
          <a:xfrm>
            <a:off x="1996109" y="3692857"/>
            <a:ext cx="77525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  <a:p>
            <a:r>
              <a:rPr lang="en-GB"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0.7</a:t>
            </a:r>
          </a:p>
          <a:p>
            <a:r>
              <a:rPr lang="en-GB"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lang="en-GB"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  <a:p>
            <a:endParaRPr sz="2800" dirty="0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A684A662-B578-2DDB-B494-7468EA4ACD07}"/>
              </a:ext>
            </a:extLst>
          </p:cNvPr>
          <p:cNvSpPr>
            <a:spLocks noGrp="1"/>
          </p:cNvSpPr>
          <p:nvPr/>
        </p:nvSpPr>
        <p:spPr>
          <a:xfrm>
            <a:off x="1868557" y="3692857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1" name="Left Bracket 10">
            <a:extLst>
              <a:ext uri="{FF2B5EF4-FFF2-40B4-BE49-F238E27FC236}">
                <a16:creationId xmlns:a16="http://schemas.microsoft.com/office/drawing/2014/main" id="{7D60A2CF-9C01-C5BE-1834-EC0DA9E4CEB4}"/>
              </a:ext>
            </a:extLst>
          </p:cNvPr>
          <p:cNvSpPr>
            <a:spLocks noGrp="1"/>
          </p:cNvSpPr>
          <p:nvPr/>
        </p:nvSpPr>
        <p:spPr>
          <a:xfrm flipH="1">
            <a:off x="2516259" y="3692857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3" name="Left Bracket 12">
            <a:extLst>
              <a:ext uri="{FF2B5EF4-FFF2-40B4-BE49-F238E27FC236}">
                <a16:creationId xmlns:a16="http://schemas.microsoft.com/office/drawing/2014/main" id="{D21D2F2B-FB26-961C-5200-20ED724E273B}"/>
              </a:ext>
            </a:extLst>
          </p:cNvPr>
          <p:cNvSpPr>
            <a:spLocks noGrp="1"/>
          </p:cNvSpPr>
          <p:nvPr/>
        </p:nvSpPr>
        <p:spPr>
          <a:xfrm>
            <a:off x="2898914" y="3692857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2FA23912-6075-5662-C9E0-E71117823DEA}"/>
              </a:ext>
            </a:extLst>
          </p:cNvPr>
          <p:cNvSpPr>
            <a:spLocks noGrp="1"/>
          </p:cNvSpPr>
          <p:nvPr/>
        </p:nvSpPr>
        <p:spPr>
          <a:xfrm flipH="1">
            <a:off x="3546616" y="3692857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F3B68B-B42F-C937-1F5B-7E8FD857D741}"/>
              </a:ext>
            </a:extLst>
          </p:cNvPr>
          <p:cNvSpPr>
            <a:spLocks noGrp="1"/>
          </p:cNvSpPr>
          <p:nvPr/>
        </p:nvSpPr>
        <p:spPr>
          <a:xfrm>
            <a:off x="4056823" y="3692857"/>
            <a:ext cx="7752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0.2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0.1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0.5</a:t>
            </a:r>
          </a:p>
        </p:txBody>
      </p: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9C050247-1049-2E54-11B3-BF0C8238AA89}"/>
              </a:ext>
            </a:extLst>
          </p:cNvPr>
          <p:cNvSpPr>
            <a:spLocks noGrp="1"/>
          </p:cNvSpPr>
          <p:nvPr/>
        </p:nvSpPr>
        <p:spPr>
          <a:xfrm>
            <a:off x="3929271" y="3692857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A0758EA9-BF2E-83A5-5D36-35AC41286D31}"/>
              </a:ext>
            </a:extLst>
          </p:cNvPr>
          <p:cNvSpPr>
            <a:spLocks noGrp="1"/>
          </p:cNvSpPr>
          <p:nvPr/>
        </p:nvSpPr>
        <p:spPr>
          <a:xfrm flipH="1">
            <a:off x="4576973" y="3692857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4DE46B-CAEC-1A03-9940-D513431112E1}"/>
              </a:ext>
            </a:extLst>
          </p:cNvPr>
          <p:cNvSpPr>
            <a:spLocks noGrp="1"/>
          </p:cNvSpPr>
          <p:nvPr/>
        </p:nvSpPr>
        <p:spPr>
          <a:xfrm>
            <a:off x="5087180" y="3692857"/>
            <a:ext cx="7752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0.9</a:t>
            </a:r>
          </a:p>
        </p:txBody>
      </p:sp>
      <p:sp>
        <p:nvSpPr>
          <p:cNvPr id="19" name="Left Bracket 18">
            <a:extLst>
              <a:ext uri="{FF2B5EF4-FFF2-40B4-BE49-F238E27FC236}">
                <a16:creationId xmlns:a16="http://schemas.microsoft.com/office/drawing/2014/main" id="{0B19EDF7-17D2-05B0-9428-63113A2AC7CF}"/>
              </a:ext>
            </a:extLst>
          </p:cNvPr>
          <p:cNvSpPr>
            <a:spLocks noGrp="1"/>
          </p:cNvSpPr>
          <p:nvPr/>
        </p:nvSpPr>
        <p:spPr>
          <a:xfrm>
            <a:off x="4959628" y="3692857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832DFF16-CCE6-5F19-A70F-CBFCE2C43283}"/>
              </a:ext>
            </a:extLst>
          </p:cNvPr>
          <p:cNvSpPr>
            <a:spLocks noGrp="1"/>
          </p:cNvSpPr>
          <p:nvPr/>
        </p:nvSpPr>
        <p:spPr>
          <a:xfrm flipH="1">
            <a:off x="5607330" y="3692857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69B4FE-09C0-281B-F240-FF85B62B1618}"/>
              </a:ext>
            </a:extLst>
          </p:cNvPr>
          <p:cNvSpPr>
            <a:spLocks noGrp="1"/>
          </p:cNvSpPr>
          <p:nvPr/>
        </p:nvSpPr>
        <p:spPr>
          <a:xfrm>
            <a:off x="1045267" y="5684451"/>
            <a:ext cx="66675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The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E22D71-2ACE-3F9E-1D72-5B0FA04CE186}"/>
              </a:ext>
            </a:extLst>
          </p:cNvPr>
          <p:cNvSpPr>
            <a:spLocks noGrp="1"/>
          </p:cNvSpPr>
          <p:nvPr/>
        </p:nvSpPr>
        <p:spPr>
          <a:xfrm>
            <a:off x="1996108" y="5684451"/>
            <a:ext cx="1030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dirty="0"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bat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168CF9-D9D6-0B8B-5732-7C196A32FE38}"/>
              </a:ext>
            </a:extLst>
          </p:cNvPr>
          <p:cNvSpPr>
            <a:spLocks noGrp="1"/>
          </p:cNvSpPr>
          <p:nvPr/>
        </p:nvSpPr>
        <p:spPr>
          <a:xfrm>
            <a:off x="3026466" y="5684451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flew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8A01FC-7270-7F4C-07C8-EC2B7F49B7C5}"/>
              </a:ext>
            </a:extLst>
          </p:cNvPr>
          <p:cNvSpPr>
            <a:spLocks noGrp="1"/>
          </p:cNvSpPr>
          <p:nvPr/>
        </p:nvSpPr>
        <p:spPr>
          <a:xfrm>
            <a:off x="4075874" y="5684451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A6D8AC-6C3D-C0E3-03ED-467D7C310D3A}"/>
              </a:ext>
            </a:extLst>
          </p:cNvPr>
          <p:cNvSpPr>
            <a:spLocks noGrp="1"/>
          </p:cNvSpPr>
          <p:nvPr/>
        </p:nvSpPr>
        <p:spPr>
          <a:xfrm>
            <a:off x="5173321" y="5684451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the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923B79F-8660-D5E7-0267-7089E86036F0}"/>
              </a:ext>
            </a:extLst>
          </p:cNvPr>
          <p:cNvGrpSpPr/>
          <p:nvPr/>
        </p:nvGrpSpPr>
        <p:grpSpPr>
          <a:xfrm>
            <a:off x="5989985" y="3692857"/>
            <a:ext cx="902805" cy="2407249"/>
            <a:chOff x="5989985" y="3692857"/>
            <a:chExt cx="902805" cy="240724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D864179-E2D7-DB44-1879-A1956C0705FD}"/>
                </a:ext>
              </a:extLst>
            </p:cNvPr>
            <p:cNvSpPr txBox="1"/>
            <p:nvPr/>
          </p:nvSpPr>
          <p:spPr>
            <a:xfrm>
              <a:off x="6245089" y="4339188"/>
              <a:ext cx="3925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6"/>
                  </a:solidFill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?</a:t>
              </a:r>
            </a:p>
          </p:txBody>
        </p:sp>
        <p:sp>
          <p:nvSpPr>
            <p:cNvPr id="41" name="Left Bracket 40">
              <a:extLst>
                <a:ext uri="{FF2B5EF4-FFF2-40B4-BE49-F238E27FC236}">
                  <a16:creationId xmlns:a16="http://schemas.microsoft.com/office/drawing/2014/main" id="{95BDA9D2-E941-59DA-15AE-0EF9DC4AFFD1}"/>
                </a:ext>
              </a:extLst>
            </p:cNvPr>
            <p:cNvSpPr/>
            <p:nvPr/>
          </p:nvSpPr>
          <p:spPr>
            <a:xfrm>
              <a:off x="5989985" y="3692857"/>
              <a:ext cx="255104" cy="1815882"/>
            </a:xfrm>
            <a:prstGeom prst="leftBracket">
              <a:avLst>
                <a:gd name="adj" fmla="val 0"/>
              </a:avLst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endParaRPr>
            </a:p>
          </p:txBody>
        </p:sp>
        <p:sp>
          <p:nvSpPr>
            <p:cNvPr id="42" name="Left Bracket 41">
              <a:extLst>
                <a:ext uri="{FF2B5EF4-FFF2-40B4-BE49-F238E27FC236}">
                  <a16:creationId xmlns:a16="http://schemas.microsoft.com/office/drawing/2014/main" id="{A9072AF0-759A-CCDB-2D5D-568BCAAAB953}"/>
                </a:ext>
              </a:extLst>
            </p:cNvPr>
            <p:cNvSpPr/>
            <p:nvPr/>
          </p:nvSpPr>
          <p:spPr>
            <a:xfrm flipH="1">
              <a:off x="6637687" y="3692857"/>
              <a:ext cx="255103" cy="1815882"/>
            </a:xfrm>
            <a:prstGeom prst="leftBracket">
              <a:avLst>
                <a:gd name="adj" fmla="val 0"/>
              </a:avLst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8BFAAAE-1C60-EBFD-BF7E-8129A1EA85C8}"/>
                </a:ext>
              </a:extLst>
            </p:cNvPr>
            <p:cNvSpPr txBox="1"/>
            <p:nvPr/>
          </p:nvSpPr>
          <p:spPr>
            <a:xfrm>
              <a:off x="6241779" y="5730774"/>
              <a:ext cx="51683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[?]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BBBD1B92-FA0E-688D-CF61-744A42567A30}"/>
              </a:ext>
            </a:extLst>
          </p:cNvPr>
          <p:cNvSpPr txBox="1"/>
          <p:nvPr/>
        </p:nvSpPr>
        <p:spPr>
          <a:xfrm>
            <a:off x="2986574" y="3692857"/>
            <a:ext cx="75371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0.5</a:t>
            </a:r>
          </a:p>
          <a:p>
            <a:r>
              <a:rPr lang="en-GB"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0.2</a:t>
            </a:r>
          </a:p>
          <a:p>
            <a:r>
              <a:rPr lang="en-GB"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lang="en-GB"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376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D0C99-C636-6C7A-8972-C282E5FB2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B34AD-D019-C6C0-E3BE-90C6AE0E0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rPr b="1">
                <a:latin typeface="CMU SERIF ROMAN"/>
                <a:ea typeface="CMU SERIF ROMAN"/>
                <a:cs typeface="CMU SERIF ROMAN"/>
              </a:rPr>
              <a:t>Query: what context does the final token "the" need in order to help predict the next token?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16F106-8CCC-1D9E-195C-F5377051F89B}"/>
              </a:ext>
            </a:extLst>
          </p:cNvPr>
          <p:cNvSpPr>
            <a:spLocks noGrp="1"/>
          </p:cNvSpPr>
          <p:nvPr/>
        </p:nvSpPr>
        <p:spPr>
          <a:xfrm>
            <a:off x="1867864" y="5135151"/>
            <a:ext cx="12573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[ the]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170765-8A73-E405-2539-4672E809DD4C}"/>
              </a:ext>
            </a:extLst>
          </p:cNvPr>
          <p:cNvSpPr>
            <a:spLocks noGrp="1"/>
          </p:cNvSpPr>
          <p:nvPr/>
        </p:nvSpPr>
        <p:spPr>
          <a:xfrm>
            <a:off x="1817448" y="3144290"/>
            <a:ext cx="7752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0.9</a:t>
            </a:r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AFFAFE58-8181-6234-FAE6-B0DB2D76110B}"/>
              </a:ext>
            </a:extLst>
          </p:cNvPr>
          <p:cNvSpPr>
            <a:spLocks noGrp="1"/>
          </p:cNvSpPr>
          <p:nvPr/>
        </p:nvSpPr>
        <p:spPr>
          <a:xfrm>
            <a:off x="1689896" y="3144290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1F69ABE8-C2E5-10F5-D131-5019A3B5A65C}"/>
              </a:ext>
            </a:extLst>
          </p:cNvPr>
          <p:cNvSpPr>
            <a:spLocks noGrp="1"/>
          </p:cNvSpPr>
          <p:nvPr/>
        </p:nvSpPr>
        <p:spPr>
          <a:xfrm flipH="1">
            <a:off x="2337598" y="3144290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E498E7-7807-7365-32A5-864BA7B0A1E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39773" y="3805464"/>
                <a:ext cx="12573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8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  <m:r>
                        <a:rPr lang="en-GB" sz="28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2800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E498E7-7807-7365-32A5-864BA7B0A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73" y="3805464"/>
                <a:ext cx="12573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4"/>
          <p:cNvCxnSpPr/>
          <p:nvPr/>
        </p:nvCxnSpPr>
        <p:spPr>
          <a:xfrm>
            <a:off x="2716704" y="4044703"/>
            <a:ext cx="7306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95FFDA-B9AC-714B-C9CC-88F5E058D06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447309" y="3783093"/>
                <a:ext cx="4331368" cy="5536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GB" sz="2800" b="0" i="1">
                        <a:solidFill>
                          <a:schemeClr val="accent1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  <m:r>
                      <a:rPr lang="en-GB" sz="2800" b="0" i="1">
                        <a:solidFill>
                          <a:schemeClr val="accent1"/>
                        </a:solidFill>
                        <a:latin typeface="Cambria Math"/>
                        <a:ea typeface="Cambria Math"/>
                        <a:cs typeface="Cambria Math"/>
                      </a:rPr>
                      <m:t>⋅</m:t>
                    </m:r>
                    <m:sSub>
                      <m:sSubPr>
                        <m:ctrlPr>
                          <a:rPr lang="en-GB" sz="2800" b="0" i="1">
                            <a:solidFill>
                              <a:schemeClr val="accent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en-GB" sz="2800" b="0" i="1">
                            <a:solidFill>
                              <a:schemeClr val="accent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𝑊</m:t>
                        </m:r>
                      </m:e>
                      <m:sub>
                        <m:r>
                          <a:rPr lang="en-GB" sz="2800" b="0" i="1">
                            <a:solidFill>
                              <a:schemeClr val="accent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𝑄</m:t>
                        </m:r>
                      </m:sub>
                    </m:sSub>
                  </m:oMath>
                </a14:m>
                <a:r>
                  <a:rPr sz="2800">
                    <a:solidFill>
                      <a:schemeClr val="accent1"/>
                    </a:solidFill>
                    <a:latin typeface="CMU Serif Roman"/>
                    <a:ea typeface="CMU Serif Roman"/>
                    <a:cs typeface="CMU Serif Roman"/>
                  </a:rPr>
                  <a:t>=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95FFDA-B9AC-714B-C9CC-88F5E058D0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309" y="3783093"/>
                <a:ext cx="4331368" cy="553613"/>
              </a:xfrm>
              <a:prstGeom prst="rect">
                <a:avLst/>
              </a:prstGeom>
              <a:blipFill>
                <a:blip r:embed="rId4"/>
                <a:stretch>
                  <a:fillRect t="-11364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73D55A2-7D66-4D88-E2BA-61BFA1295F0F}"/>
              </a:ext>
            </a:extLst>
          </p:cNvPr>
          <p:cNvSpPr>
            <a:spLocks noGrp="1"/>
          </p:cNvSpPr>
          <p:nvPr/>
        </p:nvSpPr>
        <p:spPr>
          <a:xfrm>
            <a:off x="4999296" y="3144290"/>
            <a:ext cx="6872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0.9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0.1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0.2</a:t>
            </a:r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8D40DFF6-AB39-D5AF-8ADD-D31F99F1FFD4}"/>
              </a:ext>
            </a:extLst>
          </p:cNvPr>
          <p:cNvSpPr>
            <a:spLocks noGrp="1"/>
          </p:cNvSpPr>
          <p:nvPr/>
        </p:nvSpPr>
        <p:spPr>
          <a:xfrm>
            <a:off x="4871743" y="3144290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4" name="Left Bracket 23">
            <a:extLst>
              <a:ext uri="{FF2B5EF4-FFF2-40B4-BE49-F238E27FC236}">
                <a16:creationId xmlns:a16="http://schemas.microsoft.com/office/drawing/2014/main" id="{34C04141-8D6C-FC7A-1E27-C1314CDAEC5A}"/>
              </a:ext>
            </a:extLst>
          </p:cNvPr>
          <p:cNvSpPr>
            <a:spLocks noGrp="1"/>
          </p:cNvSpPr>
          <p:nvPr/>
        </p:nvSpPr>
        <p:spPr>
          <a:xfrm flipH="1">
            <a:off x="5519445" y="3144290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9A7BE9-16EB-B22D-B014-8F57041AA4AD}"/>
              </a:ext>
            </a:extLst>
          </p:cNvPr>
          <p:cNvSpPr>
            <a:spLocks noGrp="1"/>
          </p:cNvSpPr>
          <p:nvPr/>
        </p:nvSpPr>
        <p:spPr>
          <a:xfrm>
            <a:off x="6109007" y="3136762"/>
            <a:ext cx="7270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0.1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0.6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A239A1C4-681E-2498-D7D5-3A99375355AE}"/>
              </a:ext>
            </a:extLst>
          </p:cNvPr>
          <p:cNvSpPr>
            <a:spLocks noGrp="1"/>
          </p:cNvSpPr>
          <p:nvPr/>
        </p:nvSpPr>
        <p:spPr>
          <a:xfrm>
            <a:off x="5981454" y="3136762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AF4CC723-D277-D610-21A7-72A2C77F6C79}"/>
              </a:ext>
            </a:extLst>
          </p:cNvPr>
          <p:cNvSpPr>
            <a:spLocks noGrp="1"/>
          </p:cNvSpPr>
          <p:nvPr/>
        </p:nvSpPr>
        <p:spPr>
          <a:xfrm flipH="1">
            <a:off x="7985583" y="3136762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276B36-ECB4-51A8-BB4D-D24777CBDC69}"/>
              </a:ext>
            </a:extLst>
          </p:cNvPr>
          <p:cNvSpPr>
            <a:spLocks noGrp="1"/>
          </p:cNvSpPr>
          <p:nvPr/>
        </p:nvSpPr>
        <p:spPr>
          <a:xfrm>
            <a:off x="7415149" y="3136762"/>
            <a:ext cx="7270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0.5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0.2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1A8CA6-022D-71BE-626D-D7BC44DADF39}"/>
              </a:ext>
            </a:extLst>
          </p:cNvPr>
          <p:cNvSpPr>
            <a:spLocks noGrp="1"/>
          </p:cNvSpPr>
          <p:nvPr/>
        </p:nvSpPr>
        <p:spPr>
          <a:xfrm>
            <a:off x="6698801" y="3136762"/>
            <a:ext cx="7270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  <a:p>
            <a:pPr algn="ctr">
              <a:buNone/>
            </a:pPr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⋮</a:t>
            </a:r>
          </a:p>
          <a:p>
            <a:pPr algn="ctr">
              <a:buNone/>
            </a:pPr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⋮</a:t>
            </a:r>
          </a:p>
          <a:p>
            <a:pPr algn="ctr">
              <a:buNone/>
            </a:pPr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F8B8088-08AC-347B-05D1-FFC4F78DF7B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860632" y="3798289"/>
                <a:ext cx="4331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8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en-GB" sz="2800" b="0" i="1">
                          <a:solidFill>
                            <a:schemeClr val="accent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𝑄</m:t>
                      </m:r>
                    </m:oMath>
                  </m:oMathPara>
                </a14:m>
                <a:endParaRPr sz="2800">
                  <a:solidFill>
                    <a:schemeClr val="accent6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F8B8088-08AC-347B-05D1-FFC4F78DF7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0632" y="3798289"/>
                <a:ext cx="4331368" cy="52322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34527A56-05F9-A242-0B43-BB2D058B64D2}"/>
              </a:ext>
            </a:extLst>
          </p:cNvPr>
          <p:cNvSpPr>
            <a:spLocks noGrp="1"/>
          </p:cNvSpPr>
          <p:nvPr/>
        </p:nvSpPr>
        <p:spPr>
          <a:xfrm>
            <a:off x="8864876" y="3136762"/>
            <a:ext cx="6872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6"/>
                </a:solidFill>
                <a:latin typeface="CMU Serif Roman"/>
                <a:ea typeface="CMU Serif Roman"/>
                <a:cs typeface="CMU Serif Roman"/>
              </a:rPr>
              <a:t>0.1</a:t>
            </a:r>
          </a:p>
          <a:p>
            <a:r>
              <a:rPr sz="2800">
                <a:solidFill>
                  <a:schemeClr val="accent6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  <a:p>
            <a:r>
              <a:rPr sz="2800">
                <a:solidFill>
                  <a:schemeClr val="accent6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6"/>
                </a:solidFill>
                <a:latin typeface="CMU Serif Roman"/>
                <a:ea typeface="CMU Serif Roman"/>
                <a:cs typeface="CMU Serif Roman"/>
              </a:rPr>
              <a:t>0.5</a:t>
            </a:r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369D555C-000B-18D3-98A6-E6E45363298F}"/>
              </a:ext>
            </a:extLst>
          </p:cNvPr>
          <p:cNvSpPr>
            <a:spLocks noGrp="1"/>
          </p:cNvSpPr>
          <p:nvPr/>
        </p:nvSpPr>
        <p:spPr>
          <a:xfrm>
            <a:off x="8737323" y="3136762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37" name="Left Bracket 36">
            <a:extLst>
              <a:ext uri="{FF2B5EF4-FFF2-40B4-BE49-F238E27FC236}">
                <a16:creationId xmlns:a16="http://schemas.microsoft.com/office/drawing/2014/main" id="{6361394F-C93D-0DAB-A675-BFF82A727589}"/>
              </a:ext>
            </a:extLst>
          </p:cNvPr>
          <p:cNvSpPr>
            <a:spLocks noGrp="1"/>
          </p:cNvSpPr>
          <p:nvPr/>
        </p:nvSpPr>
        <p:spPr>
          <a:xfrm flipH="1">
            <a:off x="9385025" y="3136762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0292462-3AA8-23FD-787E-84A02AAE936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318513" y="3798289"/>
                <a:ext cx="4331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8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2800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0292462-3AA8-23FD-787E-84A02AAE93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513" y="3798289"/>
                <a:ext cx="433136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334FC3CB-62FF-84D7-AFC6-D18B87232675}"/>
              </a:ext>
            </a:extLst>
          </p:cNvPr>
          <p:cNvSpPr>
            <a:spLocks noGrp="1"/>
          </p:cNvSpPr>
          <p:nvPr/>
        </p:nvSpPr>
        <p:spPr>
          <a:xfrm>
            <a:off x="2243818" y="5770323"/>
            <a:ext cx="5255849" cy="8845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Query Matrix</a:t>
            </a:r>
          </a:p>
        </p:txBody>
      </p:sp>
      <p:cxnSp>
        <p:nvCxnSpPr>
          <p:cNvPr id="216" name="Straight Arrow Connector 39"/>
          <p:cNvCxnSpPr/>
          <p:nvPr/>
        </p:nvCxnSpPr>
        <p:spPr>
          <a:xfrm flipH="1" flipV="1">
            <a:off x="4201365" y="4336706"/>
            <a:ext cx="670378" cy="1358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43"/>
          <p:cNvCxnSpPr>
            <a:endCxn id="29" idx="2"/>
          </p:cNvCxnSpPr>
          <p:nvPr/>
        </p:nvCxnSpPr>
        <p:spPr>
          <a:xfrm flipV="1">
            <a:off x="4871743" y="4952644"/>
            <a:ext cx="2190586" cy="742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49"/>
          <p:cNvCxnSpPr>
            <a:stCxn id="57" idx="0"/>
          </p:cNvCxnSpPr>
          <p:nvPr/>
        </p:nvCxnSpPr>
        <p:spPr>
          <a:xfrm flipV="1">
            <a:off x="10242342" y="4336705"/>
            <a:ext cx="0" cy="15123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53"/>
          <p:cNvCxnSpPr>
            <a:stCxn id="57" idx="0"/>
            <a:endCxn id="35" idx="2"/>
          </p:cNvCxnSpPr>
          <p:nvPr/>
        </p:nvCxnSpPr>
        <p:spPr>
          <a:xfrm flipH="1" flipV="1">
            <a:off x="9208515" y="4952644"/>
            <a:ext cx="1033827" cy="89641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4ADEFA68-8529-1758-6A5A-813593F63BB5}"/>
              </a:ext>
            </a:extLst>
          </p:cNvPr>
          <p:cNvSpPr>
            <a:spLocks noGrp="1"/>
          </p:cNvSpPr>
          <p:nvPr/>
        </p:nvSpPr>
        <p:spPr>
          <a:xfrm>
            <a:off x="9110143" y="5849059"/>
            <a:ext cx="2264397" cy="8845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Font typeface="Arial"/>
              <a:buNone/>
            </a:pPr>
            <a:r>
              <a:rPr sz="1800">
                <a:solidFill>
                  <a:schemeClr val="accent6"/>
                </a:solidFill>
                <a:latin typeface="CMU Serif Roman"/>
                <a:ea typeface="CMU Serif Roman"/>
                <a:cs typeface="CMU Serif Roman"/>
              </a:rPr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4260787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F089-D270-96D6-8639-7C7A08A53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6F57F-B392-0A6B-300D-D5EBA29CA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rPr b="1">
                <a:latin typeface="CMU SERIF ROMAN"/>
                <a:ea typeface="CMU SERIF ROMAN"/>
                <a:cs typeface="CMU SERIF ROMAN"/>
              </a:rPr>
              <a:t>Key: what contextual feature can a token such as "flew" provide?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32BB76-2BF0-B947-4305-5F71EFEB320E}"/>
              </a:ext>
            </a:extLst>
          </p:cNvPr>
          <p:cNvSpPr>
            <a:spLocks noGrp="1"/>
          </p:cNvSpPr>
          <p:nvPr/>
        </p:nvSpPr>
        <p:spPr>
          <a:xfrm>
            <a:off x="1689896" y="5091250"/>
            <a:ext cx="114382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dirty="0"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[ flew]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C5F91-5D58-2B99-0F69-980F54EDEF4E}"/>
              </a:ext>
            </a:extLst>
          </p:cNvPr>
          <p:cNvSpPr>
            <a:spLocks noGrp="1"/>
          </p:cNvSpPr>
          <p:nvPr/>
        </p:nvSpPr>
        <p:spPr>
          <a:xfrm>
            <a:off x="1817448" y="3144290"/>
            <a:ext cx="7752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0.5</a:t>
            </a:r>
          </a:p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0.2</a:t>
            </a:r>
          </a:p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57B7AD49-B5CB-9385-197A-FE4B9DC928CD}"/>
              </a:ext>
            </a:extLst>
          </p:cNvPr>
          <p:cNvSpPr>
            <a:spLocks noGrp="1"/>
          </p:cNvSpPr>
          <p:nvPr/>
        </p:nvSpPr>
        <p:spPr>
          <a:xfrm>
            <a:off x="1689896" y="3144290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22ACF19A-67C1-3A48-DFB0-5AA7EEAD1354}"/>
              </a:ext>
            </a:extLst>
          </p:cNvPr>
          <p:cNvSpPr>
            <a:spLocks noGrp="1"/>
          </p:cNvSpPr>
          <p:nvPr/>
        </p:nvSpPr>
        <p:spPr>
          <a:xfrm flipH="1">
            <a:off x="2337598" y="3144290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46FA0-E351-309D-2F60-4B0E34FDAB5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39773" y="3805464"/>
                <a:ext cx="12573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8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  <m:r>
                        <a:rPr lang="en-GB" sz="28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2800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746FA0-E351-309D-2F60-4B0E34FDAB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73" y="3805464"/>
                <a:ext cx="12573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4"/>
          <p:cNvCxnSpPr/>
          <p:nvPr/>
        </p:nvCxnSpPr>
        <p:spPr>
          <a:xfrm>
            <a:off x="2716704" y="4044703"/>
            <a:ext cx="7306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972B95A-0AB1-EC68-9462-C2B6B6C6B3B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447308" y="3783093"/>
                <a:ext cx="1947951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>
                            <a:solidFill>
                              <a:schemeClr val="accent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en-GB" sz="2800" b="0" i="1">
                            <a:solidFill>
                              <a:schemeClr val="accent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𝑊</m:t>
                        </m:r>
                      </m:e>
                      <m:sub>
                        <m:r>
                          <a:rPr lang="en-GB" sz="2800" b="0" i="1">
                            <a:solidFill>
                              <a:schemeClr val="accent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𝐾</m:t>
                        </m:r>
                      </m:sub>
                    </m:sSub>
                    <m:r>
                      <a:rPr lang="en-GB" sz="2800" b="0" i="1">
                        <a:solidFill>
                          <a:schemeClr val="accent1"/>
                        </a:solidFill>
                        <a:latin typeface="Cambria Math"/>
                        <a:ea typeface="Cambria Math"/>
                        <a:cs typeface="Cambria Math"/>
                      </a:rPr>
                      <m:t>⋅</m:t>
                    </m:r>
                    <m:r>
                      <a:rPr lang="en-GB" sz="2800" b="0" i="1">
                        <a:solidFill>
                          <a:schemeClr val="accent1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a14:m>
                <a:r>
                  <a:rPr sz="2800" b="0">
                    <a:solidFill>
                      <a:schemeClr val="accent1"/>
                    </a:solidFill>
                    <a:latin typeface="CMU Serif Roman"/>
                    <a:ea typeface="CMU Serif Roman"/>
                    <a:cs typeface="CMU Serif Roman"/>
                  </a:rPr>
                  <a:t> =</a:t>
                </a:r>
              </a:p>
              <a:p>
                <a:endParaRPr sz="2800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972B95A-0AB1-EC68-9462-C2B6B6C6B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308" y="3783093"/>
                <a:ext cx="1947951" cy="954107"/>
              </a:xfrm>
              <a:prstGeom prst="rect">
                <a:avLst/>
              </a:prstGeom>
              <a:blipFill>
                <a:blip r:embed="rId4"/>
                <a:stretch>
                  <a:fillRect l="-1948" t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74E1EBC3-E736-0B5C-075D-484CBF7CCC98}"/>
              </a:ext>
            </a:extLst>
          </p:cNvPr>
          <p:cNvSpPr>
            <a:spLocks noGrp="1"/>
          </p:cNvSpPr>
          <p:nvPr/>
        </p:nvSpPr>
        <p:spPr>
          <a:xfrm>
            <a:off x="7441923" y="3136762"/>
            <a:ext cx="6872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0.5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0.2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9CE6AC67-6339-1A68-A3C8-A60BF7E645A1}"/>
              </a:ext>
            </a:extLst>
          </p:cNvPr>
          <p:cNvSpPr>
            <a:spLocks noGrp="1"/>
          </p:cNvSpPr>
          <p:nvPr/>
        </p:nvSpPr>
        <p:spPr>
          <a:xfrm>
            <a:off x="7314370" y="3136762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4" name="Left Bracket 23">
            <a:extLst>
              <a:ext uri="{FF2B5EF4-FFF2-40B4-BE49-F238E27FC236}">
                <a16:creationId xmlns:a16="http://schemas.microsoft.com/office/drawing/2014/main" id="{9A61BD3E-06EC-6558-725D-5703A8577E59}"/>
              </a:ext>
            </a:extLst>
          </p:cNvPr>
          <p:cNvSpPr>
            <a:spLocks noGrp="1"/>
          </p:cNvSpPr>
          <p:nvPr/>
        </p:nvSpPr>
        <p:spPr>
          <a:xfrm flipH="1">
            <a:off x="7962072" y="3136762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337701-3DCB-B1C1-46BF-B6F4EFDDAFE2}"/>
              </a:ext>
            </a:extLst>
          </p:cNvPr>
          <p:cNvSpPr>
            <a:spLocks noGrp="1"/>
          </p:cNvSpPr>
          <p:nvPr/>
        </p:nvSpPr>
        <p:spPr>
          <a:xfrm>
            <a:off x="5023858" y="3136762"/>
            <a:ext cx="7270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0.7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0.1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0.2</a:t>
            </a:r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D9B26346-8089-3153-87D3-A083F8A8248F}"/>
              </a:ext>
            </a:extLst>
          </p:cNvPr>
          <p:cNvSpPr>
            <a:spLocks noGrp="1"/>
          </p:cNvSpPr>
          <p:nvPr/>
        </p:nvSpPr>
        <p:spPr>
          <a:xfrm>
            <a:off x="4896305" y="3136762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A86CD5FF-FD96-FAE1-AB3E-EEA6BE588078}"/>
              </a:ext>
            </a:extLst>
          </p:cNvPr>
          <p:cNvSpPr>
            <a:spLocks noGrp="1"/>
          </p:cNvSpPr>
          <p:nvPr/>
        </p:nvSpPr>
        <p:spPr>
          <a:xfrm flipH="1">
            <a:off x="6900434" y="3136762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6F40C6-60F7-4A2F-B79D-73149FB0B716}"/>
              </a:ext>
            </a:extLst>
          </p:cNvPr>
          <p:cNvSpPr>
            <a:spLocks noGrp="1"/>
          </p:cNvSpPr>
          <p:nvPr/>
        </p:nvSpPr>
        <p:spPr>
          <a:xfrm>
            <a:off x="6330000" y="3136762"/>
            <a:ext cx="7270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0.7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8FFB4C-D0CF-020C-B9AF-0C240FE29B44}"/>
              </a:ext>
            </a:extLst>
          </p:cNvPr>
          <p:cNvSpPr>
            <a:spLocks noGrp="1"/>
          </p:cNvSpPr>
          <p:nvPr/>
        </p:nvSpPr>
        <p:spPr>
          <a:xfrm>
            <a:off x="5613652" y="3136762"/>
            <a:ext cx="7270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  <a:p>
            <a:pPr algn="ctr">
              <a:buNone/>
            </a:pPr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⋮</a:t>
            </a:r>
          </a:p>
          <a:p>
            <a:pPr algn="ctr">
              <a:buNone/>
            </a:pPr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⋮</a:t>
            </a:r>
          </a:p>
          <a:p>
            <a:pPr algn="ctr">
              <a:buNone/>
            </a:pPr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3261211-9DA1-D0D1-A9CD-A1E79FEA305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860632" y="3798289"/>
                <a:ext cx="4331368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8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en-GB" sz="2800" b="0" i="1">
                          <a:solidFill>
                            <a:schemeClr val="accent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𝐾</m:t>
                      </m:r>
                    </m:oMath>
                  </m:oMathPara>
                </a14:m>
                <a:endParaRPr sz="2800" b="0">
                  <a:solidFill>
                    <a:schemeClr val="accent2"/>
                  </a:solidFill>
                  <a:latin typeface="CMU Serif Roman"/>
                  <a:ea typeface="CMU Serif Roman"/>
                  <a:cs typeface="CMU Serif Roman"/>
                </a:endParaRPr>
              </a:p>
              <a:p>
                <a:endParaRPr sz="2800">
                  <a:solidFill>
                    <a:schemeClr val="accent2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3261211-9DA1-D0D1-A9CD-A1E79FEA30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0632" y="3798289"/>
                <a:ext cx="4331368" cy="9541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E43B07FF-42D5-4A02-71D5-65B10D897322}"/>
              </a:ext>
            </a:extLst>
          </p:cNvPr>
          <p:cNvSpPr>
            <a:spLocks noGrp="1"/>
          </p:cNvSpPr>
          <p:nvPr/>
        </p:nvSpPr>
        <p:spPr>
          <a:xfrm>
            <a:off x="8864876" y="3136762"/>
            <a:ext cx="6872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2"/>
                </a:solidFill>
                <a:latin typeface="CMU Serif Roman"/>
                <a:ea typeface="CMU Serif Roman"/>
                <a:cs typeface="CMU Serif Roman"/>
              </a:rPr>
              <a:t>0.9</a:t>
            </a:r>
          </a:p>
          <a:p>
            <a:r>
              <a:rPr sz="2800">
                <a:solidFill>
                  <a:schemeClr val="accent2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  <a:p>
            <a:r>
              <a:rPr sz="2800">
                <a:solidFill>
                  <a:schemeClr val="accent2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2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4CD2FBE3-CA34-E8F6-5873-D2900CC41198}"/>
              </a:ext>
            </a:extLst>
          </p:cNvPr>
          <p:cNvSpPr>
            <a:spLocks noGrp="1"/>
          </p:cNvSpPr>
          <p:nvPr/>
        </p:nvSpPr>
        <p:spPr>
          <a:xfrm>
            <a:off x="8737323" y="3136762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37" name="Left Bracket 36">
            <a:extLst>
              <a:ext uri="{FF2B5EF4-FFF2-40B4-BE49-F238E27FC236}">
                <a16:creationId xmlns:a16="http://schemas.microsoft.com/office/drawing/2014/main" id="{9A3427AC-57CE-DFE6-9CAF-7FC216A821A7}"/>
              </a:ext>
            </a:extLst>
          </p:cNvPr>
          <p:cNvSpPr>
            <a:spLocks noGrp="1"/>
          </p:cNvSpPr>
          <p:nvPr/>
        </p:nvSpPr>
        <p:spPr>
          <a:xfrm flipH="1">
            <a:off x="9385025" y="3136762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4050673-9E41-F5B9-54C3-E3E27757AAC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318513" y="3798289"/>
                <a:ext cx="4331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8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2800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4050673-9E41-F5B9-54C3-E3E27757AA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513" y="3798289"/>
                <a:ext cx="433136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F9524A9-5F31-69BE-3783-C556840961FC}"/>
              </a:ext>
            </a:extLst>
          </p:cNvPr>
          <p:cNvSpPr>
            <a:spLocks noGrp="1"/>
          </p:cNvSpPr>
          <p:nvPr/>
        </p:nvSpPr>
        <p:spPr>
          <a:xfrm>
            <a:off x="2186073" y="5765436"/>
            <a:ext cx="5255849" cy="8845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Key Matrix</a:t>
            </a:r>
          </a:p>
        </p:txBody>
      </p:sp>
      <p:cxnSp>
        <p:nvCxnSpPr>
          <p:cNvPr id="216" name="Straight Arrow Connector 39"/>
          <p:cNvCxnSpPr/>
          <p:nvPr/>
        </p:nvCxnSpPr>
        <p:spPr>
          <a:xfrm flipH="1" flipV="1">
            <a:off x="3755571" y="4336705"/>
            <a:ext cx="994507" cy="1346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43"/>
          <p:cNvCxnSpPr>
            <a:endCxn id="29" idx="2"/>
          </p:cNvCxnSpPr>
          <p:nvPr/>
        </p:nvCxnSpPr>
        <p:spPr>
          <a:xfrm flipV="1">
            <a:off x="4750078" y="4952644"/>
            <a:ext cx="1227102" cy="730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49"/>
          <p:cNvCxnSpPr>
            <a:stCxn id="57" idx="0"/>
          </p:cNvCxnSpPr>
          <p:nvPr/>
        </p:nvCxnSpPr>
        <p:spPr>
          <a:xfrm flipV="1">
            <a:off x="10242342" y="4336705"/>
            <a:ext cx="0" cy="151235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53"/>
          <p:cNvCxnSpPr>
            <a:stCxn id="57" idx="0"/>
            <a:endCxn id="35" idx="2"/>
          </p:cNvCxnSpPr>
          <p:nvPr/>
        </p:nvCxnSpPr>
        <p:spPr>
          <a:xfrm flipH="1" flipV="1">
            <a:off x="9208515" y="4952644"/>
            <a:ext cx="1033827" cy="89641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6AD33F3D-307B-00D8-52D7-AE8CC793C4FE}"/>
              </a:ext>
            </a:extLst>
          </p:cNvPr>
          <p:cNvSpPr>
            <a:spLocks noGrp="1"/>
          </p:cNvSpPr>
          <p:nvPr/>
        </p:nvSpPr>
        <p:spPr>
          <a:xfrm>
            <a:off x="9110143" y="5849059"/>
            <a:ext cx="2264397" cy="8845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Font typeface="Arial"/>
              <a:buNone/>
            </a:pPr>
            <a:r>
              <a:rPr sz="1800">
                <a:solidFill>
                  <a:schemeClr val="accent2"/>
                </a:solidFill>
                <a:latin typeface="CMU Serif Roman"/>
                <a:ea typeface="CMU Serif Roman"/>
                <a:cs typeface="CMU Serif Roman"/>
              </a:rPr>
              <a:t>Key</a:t>
            </a:r>
          </a:p>
        </p:txBody>
      </p:sp>
    </p:spTree>
    <p:extLst>
      <p:ext uri="{BB962C8B-B14F-4D97-AF65-F5344CB8AC3E}">
        <p14:creationId xmlns:p14="http://schemas.microsoft.com/office/powerpoint/2010/main" val="3190745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7878D-D071-5320-E28A-AB0F161BB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D7574-EBB1-1021-8A6D-C35DF173D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CMU Serif Roman"/>
                <a:ea typeface="CMU Serif Roman"/>
                <a:cs typeface="CMU Serif Roman"/>
              </a:rPr>
              <a:t>The dot product between the query for the final "the" and the key for "flew" measures how strongly those learned features match.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98AFA-2A46-BD19-3CF2-4ABD647DADCC}"/>
              </a:ext>
            </a:extLst>
          </p:cNvPr>
          <p:cNvSpPr>
            <a:spLocks noGrp="1"/>
          </p:cNvSpPr>
          <p:nvPr/>
        </p:nvSpPr>
        <p:spPr>
          <a:xfrm>
            <a:off x="838199" y="4034064"/>
            <a:ext cx="40617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𝑄(the) ⋅ 𝐾(flew) =</a:t>
            </a:r>
            <a:endParaRPr sz="2800" b="0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A2A0C-17EA-6B91-650C-2596C99DF7FB}"/>
              </a:ext>
            </a:extLst>
          </p:cNvPr>
          <p:cNvSpPr>
            <a:spLocks noGrp="1"/>
          </p:cNvSpPr>
          <p:nvPr/>
        </p:nvSpPr>
        <p:spPr>
          <a:xfrm>
            <a:off x="6389207" y="3429000"/>
            <a:ext cx="6872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2"/>
                </a:solidFill>
                <a:latin typeface="CMU Serif Roman"/>
                <a:ea typeface="CMU Serif Roman"/>
                <a:cs typeface="CMU Serif Roman"/>
              </a:rPr>
              <a:t>0.9</a:t>
            </a:r>
          </a:p>
          <a:p>
            <a:r>
              <a:rPr sz="2800">
                <a:solidFill>
                  <a:schemeClr val="accent2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  <a:p>
            <a:r>
              <a:rPr sz="2800">
                <a:solidFill>
                  <a:schemeClr val="accent2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2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</p:txBody>
      </p:sp>
      <p:sp>
        <p:nvSpPr>
          <p:cNvPr id="7" name="Left Bracket 6">
            <a:extLst>
              <a:ext uri="{FF2B5EF4-FFF2-40B4-BE49-F238E27FC236}">
                <a16:creationId xmlns:a16="http://schemas.microsoft.com/office/drawing/2014/main" id="{B9D1422C-8BC3-12E5-0F8E-13E465E8E0C9}"/>
              </a:ext>
            </a:extLst>
          </p:cNvPr>
          <p:cNvSpPr>
            <a:spLocks noGrp="1"/>
          </p:cNvSpPr>
          <p:nvPr/>
        </p:nvSpPr>
        <p:spPr>
          <a:xfrm>
            <a:off x="6261654" y="3429000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1E0E038E-7489-E9E4-5074-BD64FA41AEE8}"/>
              </a:ext>
            </a:extLst>
          </p:cNvPr>
          <p:cNvSpPr>
            <a:spLocks noGrp="1"/>
          </p:cNvSpPr>
          <p:nvPr/>
        </p:nvSpPr>
        <p:spPr>
          <a:xfrm flipH="1">
            <a:off x="6909356" y="3429000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C231D2-FC52-BB30-9288-A0D5B6D8C87E}"/>
              </a:ext>
            </a:extLst>
          </p:cNvPr>
          <p:cNvSpPr>
            <a:spLocks noGrp="1"/>
          </p:cNvSpPr>
          <p:nvPr/>
        </p:nvSpPr>
        <p:spPr>
          <a:xfrm>
            <a:off x="5027544" y="3429000"/>
            <a:ext cx="6872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6"/>
                </a:solidFill>
                <a:latin typeface="CMU Serif Roman"/>
                <a:ea typeface="CMU Serif Roman"/>
                <a:cs typeface="CMU Serif Roman"/>
              </a:rPr>
              <a:t>0.1</a:t>
            </a:r>
          </a:p>
          <a:p>
            <a:r>
              <a:rPr sz="2800">
                <a:solidFill>
                  <a:schemeClr val="accent6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  <a:p>
            <a:r>
              <a:rPr sz="2800">
                <a:solidFill>
                  <a:schemeClr val="accent6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6"/>
                </a:solidFill>
                <a:latin typeface="CMU Serif Roman"/>
                <a:ea typeface="CMU Serif Roman"/>
                <a:cs typeface="CMU Serif Roman"/>
              </a:rPr>
              <a:t>0.5</a:t>
            </a:r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506A1F8C-13C4-4A80-4B08-88BFD9CACF40}"/>
              </a:ext>
            </a:extLst>
          </p:cNvPr>
          <p:cNvSpPr>
            <a:spLocks noGrp="1"/>
          </p:cNvSpPr>
          <p:nvPr/>
        </p:nvSpPr>
        <p:spPr>
          <a:xfrm>
            <a:off x="4899991" y="3429000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1" name="Left Bracket 10">
            <a:extLst>
              <a:ext uri="{FF2B5EF4-FFF2-40B4-BE49-F238E27FC236}">
                <a16:creationId xmlns:a16="http://schemas.microsoft.com/office/drawing/2014/main" id="{69E43756-82F3-A411-9645-62FD69A100F4}"/>
              </a:ext>
            </a:extLst>
          </p:cNvPr>
          <p:cNvSpPr>
            <a:spLocks noGrp="1"/>
          </p:cNvSpPr>
          <p:nvPr/>
        </p:nvSpPr>
        <p:spPr>
          <a:xfrm flipH="1">
            <a:off x="5547693" y="3429000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443042-314E-FC5B-B57F-69E95D42411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567859" y="4075331"/>
                <a:ext cx="28864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8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</m:oMath>
                  </m:oMathPara>
                </a14:m>
                <a:endParaRPr sz="2800"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443042-314E-FC5B-B57F-69E95D4241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859" y="4075331"/>
                <a:ext cx="288648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D09B2F-44F4-51BE-A2C5-B1727F8020F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75653" y="4023203"/>
                <a:ext cx="4061791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8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 3.7</m:t>
                      </m:r>
                    </m:oMath>
                  </m:oMathPara>
                </a14:m>
                <a:endParaRPr sz="2800" b="0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  <a:p>
                <a:endParaRPr sz="2800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D09B2F-44F4-51BE-A2C5-B1727F8020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653" y="4023203"/>
                <a:ext cx="4061791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9" name="Picture 4"/>
          <p:cNvPicPr>
            <a:picLocks noChangeAspect="1"/>
          </p:cNvPicPr>
          <p:nvPr/>
        </p:nvPicPr>
        <p:blipFill rotWithShape="1">
          <a:blip r:embed="rId5"/>
          <a:srcRect l="10492" t="12526" r="11651" b="6419"/>
          <a:stretch>
            <a:fillRect/>
          </a:stretch>
        </p:blipFill>
        <p:spPr>
          <a:xfrm>
            <a:off x="8309038" y="2847975"/>
            <a:ext cx="3368612" cy="3212504"/>
          </a:xfrm>
          <a:prstGeom prst="rect">
            <a:avLst/>
          </a:prstGeom>
        </p:spPr>
      </p:pic>
      <p:cxnSp>
        <p:nvCxnSpPr>
          <p:cNvPr id="150" name="Straight Arrow Connector 39"/>
          <p:cNvCxnSpPr/>
          <p:nvPr/>
        </p:nvCxnSpPr>
        <p:spPr>
          <a:xfrm flipV="1">
            <a:off x="9869208" y="3860800"/>
            <a:ext cx="1200789" cy="928997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42"/>
          <p:cNvCxnSpPr/>
          <p:nvPr/>
        </p:nvCxnSpPr>
        <p:spPr>
          <a:xfrm flipV="1">
            <a:off x="9837444" y="3498008"/>
            <a:ext cx="854690" cy="1291789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D0F0BD4D-9647-426B-AF97-93C0478F9290}"/>
              </a:ext>
            </a:extLst>
          </p:cNvPr>
          <p:cNvSpPr>
            <a:spLocks noGrp="1"/>
          </p:cNvSpPr>
          <p:nvPr/>
        </p:nvSpPr>
        <p:spPr>
          <a:xfrm>
            <a:off x="10692134" y="3498008"/>
            <a:ext cx="377863" cy="36279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D398F4-3765-8E46-CC40-01719573AFE2}"/>
              </a:ext>
            </a:extLst>
          </p:cNvPr>
          <p:cNvSpPr>
            <a:spLocks noGrp="1"/>
          </p:cNvSpPr>
          <p:nvPr/>
        </p:nvSpPr>
        <p:spPr>
          <a:xfrm>
            <a:off x="8661238" y="2912825"/>
            <a:ext cx="4061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𝑄(the)</a:t>
            </a:r>
            <a:endParaRPr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4E2276-0F5E-1F5F-B06A-1F80A13B19E2}"/>
              </a:ext>
            </a:extLst>
          </p:cNvPr>
          <p:cNvSpPr>
            <a:spLocks noGrp="1"/>
          </p:cNvSpPr>
          <p:nvPr/>
        </p:nvSpPr>
        <p:spPr>
          <a:xfrm>
            <a:off x="9408139" y="4084895"/>
            <a:ext cx="4061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t>𝐾(flew)</a:t>
            </a:r>
            <a:endParaRPr>
              <a:solidFill>
                <a:schemeClr val="accent2"/>
              </a:solidFill>
              <a:latin typeface="CMU Serif Roman"/>
              <a:ea typeface="CMU Serif Roman"/>
              <a:cs typeface="CMU Serif Roman"/>
            </a:endParaRPr>
          </a:p>
        </p:txBody>
      </p:sp>
    </p:spTree>
    <p:extLst>
      <p:ext uri="{BB962C8B-B14F-4D97-AF65-F5344CB8AC3E}">
        <p14:creationId xmlns:p14="http://schemas.microsoft.com/office/powerpoint/2010/main" val="3781753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09050-1BB5-A3D7-2DE4-FF29682E8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FDF5-85F4-6404-DFC6-7134F8BA3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rPr>
                <a:latin typeface="CMU Serif Roman"/>
                <a:ea typeface="CMU Serif Roman"/>
                <a:cs typeface="CMU Serif Roman"/>
              </a:rPr>
              <a:t>We then repeat this for all tokens…</a:t>
            </a:r>
            <a:endParaRPr i="1">
              <a:latin typeface="CMU SERIF ROMAN"/>
              <a:ea typeface="CMU SERIF ROMAN"/>
              <a:cs typeface="CMU SERIF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6" name="Table 4"/>
              <p:cNvGraphicFramePr/>
              <p:nvPr>
                <p:extLst>
                  <p:ext uri="{D42A27DB-BD31-4B8C-83A1-F6EECF244321}">
                    <p14:modId xmlns:p14="http://schemas.microsoft.com/office/powerpoint/2010/main" val="2148733640"/>
                  </p:ext>
                </p:extLst>
              </p:nvPr>
            </p:nvGraphicFramePr>
            <p:xfrm>
              <a:off x="838200" y="2717441"/>
              <a:ext cx="9426262" cy="1654694"/>
            </p:xfrm>
            <a:graphic>
              <a:graphicData uri="http://schemas.openxmlformats.org/drawingml/2006/table">
                <a:tbl>
                  <a:tblPr firstRow="1" bandRow="1">
                    <a:tableStyleId>{5202B0CA-FC54-4496-8BCA-5EF66A818D29}</a:tableStyleId>
                  </a:tblPr>
                  <a:tblGrid>
                    <a:gridCol w="145423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0455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4789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91511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827347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sz="1800"/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GB" sz="2000" b="0" i="1" smtClean="0">
                                    <a:solidFill>
                                      <a:schemeClr val="accent2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𝐾</m:t>
                                </m:r>
                                <m:r>
                                  <a:rPr lang="en-GB" sz="2000" b="1" i="1">
                                    <a:solidFill>
                                      <a:schemeClr val="accent2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(</m:t>
                                </m:r>
                                <m:r>
                                  <a:rPr lang="en-GB" sz="20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𝑇ℎ𝑒</m:t>
                                </m:r>
                                <m:r>
                                  <a:rPr lang="en-GB" sz="2000" b="1" i="1">
                                    <a:solidFill>
                                      <a:schemeClr val="accent2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GB" sz="2000" b="0" i="1" smtClean="0">
                                    <a:solidFill>
                                      <a:schemeClr val="accent2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𝐾</m:t>
                                </m:r>
                                <m:r>
                                  <a:rPr lang="en-GB" sz="2000" b="1" i="1">
                                    <a:solidFill>
                                      <a:schemeClr val="accent2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(</m:t>
                                </m:r>
                                <m:r>
                                  <a:rPr lang="en-GB" sz="20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𝑏𝑎𝑡</m:t>
                                </m:r>
                                <m:r>
                                  <a:rPr lang="en-GB" sz="2000" b="1" i="1">
                                    <a:solidFill>
                                      <a:schemeClr val="accent2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GB" sz="2000" b="0" i="1" smtClean="0">
                                    <a:solidFill>
                                      <a:schemeClr val="accent2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𝐾</m:t>
                                </m:r>
                                <m:r>
                                  <a:rPr lang="en-GB" sz="2000" b="1" i="1">
                                    <a:solidFill>
                                      <a:schemeClr val="accent2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(</m:t>
                                </m:r>
                                <m:r>
                                  <a:rPr lang="en-GB" sz="20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𝑓𝑙𝑒𝑤</m:t>
                                </m:r>
                                <m:r>
                                  <a:rPr lang="en-GB" sz="2000" b="1" i="1">
                                    <a:solidFill>
                                      <a:schemeClr val="accent2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GB" sz="2000" b="0" i="1" smtClean="0">
                                    <a:solidFill>
                                      <a:schemeClr val="accent2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𝐾</m:t>
                                </m:r>
                                <m:r>
                                  <a:rPr lang="en-GB" sz="2000" b="1" i="1">
                                    <a:solidFill>
                                      <a:schemeClr val="accent2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(</m:t>
                                </m:r>
                                <m:r>
                                  <a:rPr lang="en-GB" sz="20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𝑜𝑢𝑡</m:t>
                                </m:r>
                                <m:r>
                                  <a:rPr lang="en-GB" sz="2000" b="1" i="1">
                                    <a:solidFill>
                                      <a:schemeClr val="accent2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GB" sz="2000" b="0" i="1" smtClean="0">
                                    <a:solidFill>
                                      <a:schemeClr val="accent2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𝐾</m:t>
                                </m:r>
                                <m:r>
                                  <a:rPr lang="en-GB" sz="2000" b="1" i="1">
                                    <a:solidFill>
                                      <a:schemeClr val="accent2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(</m:t>
                                </m:r>
                                <m:r>
                                  <a:rPr lang="en-GB" sz="20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𝑜𝑓</m:t>
                                </m:r>
                                <m:r>
                                  <a:rPr lang="en-GB" sz="2000" b="1" i="1">
                                    <a:solidFill>
                                      <a:schemeClr val="accent2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27347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dirty="0">
                              <a:solidFill>
                                <a:schemeClr val="accent6"/>
                              </a:solidFill>
                            </a:rPr>
                            <a:t>𝑄(the)</a:t>
                          </a:r>
                          <a:endParaRPr sz="20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600">
                              <a:solidFill>
                                <a:schemeClr val="accent1"/>
                              </a:solidFill>
                            </a:rPr>
                            <a:t>0.1</a:t>
                          </a: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2400" b="1" dirty="0">
                              <a:solidFill>
                                <a:schemeClr val="accent1"/>
                              </a:solidFill>
                            </a:rPr>
                            <a:t>2.9</a:t>
                          </a:r>
                          <a:endParaRPr sz="2400" b="1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2800" b="1" dirty="0">
                              <a:solidFill>
                                <a:schemeClr val="accent1"/>
                              </a:solidFill>
                            </a:rPr>
                            <a:t>3.</a:t>
                          </a:r>
                          <a:r>
                            <a:rPr lang="en-GB" sz="2800" b="1" dirty="0">
                              <a:solidFill>
                                <a:schemeClr val="accent1"/>
                              </a:solidFill>
                            </a:rPr>
                            <a:t>7</a:t>
                          </a:r>
                          <a:endParaRPr sz="2800" b="1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2000" dirty="0">
                              <a:solidFill>
                                <a:schemeClr val="accent1"/>
                              </a:solidFill>
                            </a:rPr>
                            <a:t>1.</a:t>
                          </a:r>
                          <a:r>
                            <a:rPr lang="en-GB" sz="2000" dirty="0">
                              <a:solidFill>
                                <a:schemeClr val="accent1"/>
                              </a:solidFill>
                            </a:rPr>
                            <a:t>1</a:t>
                          </a:r>
                          <a:endParaRPr sz="200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2000" b="0" dirty="0">
                              <a:solidFill>
                                <a:schemeClr val="accent1"/>
                              </a:solidFill>
                            </a:rPr>
                            <a:t>0.</a:t>
                          </a:r>
                          <a:r>
                            <a:rPr lang="en-GB" sz="2000" b="0" dirty="0">
                              <a:solidFill>
                                <a:schemeClr val="accent1"/>
                              </a:solidFill>
                            </a:rPr>
                            <a:t>1</a:t>
                          </a:r>
                          <a:endParaRPr sz="2000" b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6" name="Table 4"/>
              <p:cNvGraphicFramePr/>
              <p:nvPr>
                <p:extLst>
                  <p:ext uri="{D42A27DB-BD31-4B8C-83A1-F6EECF244321}">
                    <p14:modId xmlns:p14="http://schemas.microsoft.com/office/powerpoint/2010/main" val="2148733640"/>
                  </p:ext>
                </p:extLst>
              </p:nvPr>
            </p:nvGraphicFramePr>
            <p:xfrm>
              <a:off x="838200" y="2717441"/>
              <a:ext cx="9426262" cy="1654694"/>
            </p:xfrm>
            <a:graphic>
              <a:graphicData uri="http://schemas.openxmlformats.org/drawingml/2006/table">
                <a:tbl>
                  <a:tblPr firstRow="1" bandRow="1">
                    <a:tableStyleId>{5202B0CA-FC54-4496-8BCA-5EF66A818D29}</a:tableStyleId>
                  </a:tblPr>
                  <a:tblGrid>
                    <a:gridCol w="145423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0455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4789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91511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827347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sz="1800"/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146835" r="-696203" b="-1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121118" r="-241615" b="-1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299160" r="-226891" b="-1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402542" r="-128814" b="-1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392715" r="-662" b="-10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27347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dirty="0">
                              <a:solidFill>
                                <a:schemeClr val="accent6"/>
                              </a:solidFill>
                            </a:rPr>
                            <a:t>𝑄(the)</a:t>
                          </a:r>
                          <a:endParaRPr sz="2000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600">
                              <a:solidFill>
                                <a:schemeClr val="accent1"/>
                              </a:solidFill>
                            </a:rPr>
                            <a:t>0.1</a:t>
                          </a: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2400" b="1" dirty="0">
                              <a:solidFill>
                                <a:schemeClr val="accent1"/>
                              </a:solidFill>
                            </a:rPr>
                            <a:t>2.9</a:t>
                          </a:r>
                          <a:endParaRPr sz="2400" b="1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2800" b="1" dirty="0">
                              <a:solidFill>
                                <a:schemeClr val="accent1"/>
                              </a:solidFill>
                            </a:rPr>
                            <a:t>3.</a:t>
                          </a:r>
                          <a:r>
                            <a:rPr lang="en-GB" sz="2800" b="1" dirty="0">
                              <a:solidFill>
                                <a:schemeClr val="accent1"/>
                              </a:solidFill>
                            </a:rPr>
                            <a:t>7</a:t>
                          </a:r>
                          <a:endParaRPr sz="2800" b="1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2000" dirty="0">
                              <a:solidFill>
                                <a:schemeClr val="accent1"/>
                              </a:solidFill>
                            </a:rPr>
                            <a:t>1.</a:t>
                          </a:r>
                          <a:r>
                            <a:rPr lang="en-GB" sz="2000" dirty="0">
                              <a:solidFill>
                                <a:schemeClr val="accent1"/>
                              </a:solidFill>
                            </a:rPr>
                            <a:t>1</a:t>
                          </a:r>
                          <a:endParaRPr sz="200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2000" b="0" dirty="0">
                              <a:solidFill>
                                <a:schemeClr val="accent1"/>
                              </a:solidFill>
                            </a:rPr>
                            <a:t>0.</a:t>
                          </a:r>
                          <a:r>
                            <a:rPr lang="en-GB" sz="2000" b="0" dirty="0">
                              <a:solidFill>
                                <a:schemeClr val="accent1"/>
                              </a:solidFill>
                            </a:rPr>
                            <a:t>1</a:t>
                          </a:r>
                          <a:endParaRPr sz="2000" b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7" name="Straight Arrow Connector 6"/>
          <p:cNvCxnSpPr/>
          <p:nvPr/>
        </p:nvCxnSpPr>
        <p:spPr>
          <a:xfrm>
            <a:off x="6096000" y="4584879"/>
            <a:ext cx="0" cy="4121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AAAE2AF5-5C9D-1BE8-0EDE-5D6DBC8177F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231464" y="4553818"/>
                <a:ext cx="1885122" cy="995531"/>
              </a:xfrm>
              <a:prstGeom prst="rect">
                <a:avLst/>
              </a:prstGeom>
            </p:spPr>
            <p:txBody>
              <a:bodyPr vert="horz" lIns="91440" tIns="45720" rIns="91440" bIns="45720">
                <a:normAutofit/>
              </a:bodyPr>
              <a:lstStyle>
                <a:lvl1pPr marL="228600" indent="-228600" algn="l" defTabSz="914400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lvl1pPr>
                <a:lvl2pPr marL="685800" indent="-228600" algn="l" defTabSz="914400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lvl2pPr>
                <a:lvl3pPr marL="1143000" indent="-228600" algn="l" defTabSz="914400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lvl3pPr>
                <a:lvl4pPr marL="1600200" indent="-228600" algn="l" defTabSz="914400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lvl4pPr>
                <a:lvl5pPr marL="2057400" indent="-228600" algn="l" defTabSz="914400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lvl5pPr>
                <a:lvl6pPr marL="2514600" indent="-228600" algn="l" defTabSz="914400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lvl6pPr>
                <a:lvl7pPr marL="2971800" indent="-228600" algn="l" defTabSz="914400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lvl7pPr>
                <a:lvl8pPr marL="3429000" indent="-228600" algn="l" defTabSz="914400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lvl8pPr>
                <a:lvl9pPr marL="3886200" indent="-228600" algn="l" defTabSz="914400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lvl9pPr>
              </a:lstStyle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𝑠</m:t>
                      </m:r>
                      <m:r>
                        <a:rPr lang="en-GB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𝑜𝑓𝑡𝑚𝑎𝑥</m:t>
                      </m:r>
                      <m:r>
                        <a:rPr lang="en-GB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()</m:t>
                      </m:r>
                    </m:oMath>
                  </m:oMathPara>
                </a14:m>
                <a:endParaRPr i="1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AAAE2AF5-5C9D-1BE8-0EDE-5D6DBC817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464" y="4553818"/>
                <a:ext cx="1885122" cy="995531"/>
              </a:xfrm>
              <a:prstGeom prst="rect">
                <a:avLst/>
              </a:prstGeom>
              <a:blipFill>
                <a:blip r:embed="rId4"/>
                <a:stretch>
                  <a:fillRect r="-4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9" name="Table 3"/>
          <p:cNvGraphicFramePr/>
          <p:nvPr>
            <p:extLst>
              <p:ext uri="{D42A27DB-BD31-4B8C-83A1-F6EECF244321}">
                <p14:modId xmlns:p14="http://schemas.microsoft.com/office/powerpoint/2010/main" val="2410938887"/>
              </p:ext>
            </p:extLst>
          </p:nvPr>
        </p:nvGraphicFramePr>
        <p:xfrm>
          <a:off x="838200" y="5263951"/>
          <a:ext cx="9426262" cy="827347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454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7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5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73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200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dirty="0">
                          <a:solidFill>
                            <a:schemeClr val="accent1"/>
                          </a:solidFill>
                        </a:rPr>
                        <a:t>0.0</a:t>
                      </a:r>
                      <a:r>
                        <a:rPr lang="en-GB" sz="1600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sz="16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 dirty="0">
                          <a:solidFill>
                            <a:schemeClr val="accent1"/>
                          </a:solidFill>
                        </a:rPr>
                        <a:t>0.</a:t>
                      </a:r>
                      <a:r>
                        <a:rPr lang="en-GB" sz="2400" b="1" dirty="0">
                          <a:solidFill>
                            <a:schemeClr val="accent1"/>
                          </a:solidFill>
                        </a:rPr>
                        <a:t>28</a:t>
                      </a:r>
                      <a:endParaRPr sz="24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 b="1" dirty="0">
                          <a:solidFill>
                            <a:schemeClr val="accent1"/>
                          </a:solidFill>
                        </a:rPr>
                        <a:t>0.6</a:t>
                      </a:r>
                      <a:r>
                        <a:rPr lang="en-GB" sz="28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 dirty="0">
                          <a:solidFill>
                            <a:schemeClr val="accent1"/>
                          </a:solidFill>
                        </a:rPr>
                        <a:t>0.</a:t>
                      </a:r>
                      <a:r>
                        <a:rPr lang="en-GB" sz="2000" b="1" dirty="0">
                          <a:solidFill>
                            <a:schemeClr val="accent1"/>
                          </a:solidFill>
                        </a:rPr>
                        <a:t>05</a:t>
                      </a:r>
                      <a:endParaRPr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dirty="0">
                          <a:solidFill>
                            <a:schemeClr val="accent1"/>
                          </a:solidFill>
                        </a:rPr>
                        <a:t>0.0</a:t>
                      </a:r>
                      <a:r>
                        <a:rPr lang="en-GB" sz="16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sz="16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560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04FA2-70E9-6AEA-86B9-4EF99F8C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5B0D4-FD99-5A8E-74FA-8699E3102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43374"/>
          </a:xfrm>
        </p:spPr>
        <p:txBody>
          <a:bodyPr vert="horz" lIns="91440" tIns="45720" rIns="91440" bIns="45720" anchor="t">
            <a:normAutofit fontScale="94483"/>
          </a:bodyPr>
          <a:lstStyle/>
          <a:p>
            <a:pPr marL="0" indent="0">
              <a:buNone/>
            </a:pPr>
            <a:r>
              <a:rPr b="1">
                <a:latin typeface="CMU SERIF ROMAN"/>
                <a:ea typeface="CMU SERIF ROMAN"/>
                <a:cs typeface="CMU SERIF ROMAN"/>
              </a:rPr>
              <a:t>Quick recap: the query and keys produce weights that sum to one. These weights show how much each visible token contributes to the contextual representation at the final position.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805143-D1F7-55E6-476F-594223DCC755}"/>
              </a:ext>
            </a:extLst>
          </p:cNvPr>
          <p:cNvSpPr>
            <a:spLocks noGrp="1"/>
          </p:cNvSpPr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endParaRPr>
              <a:latin typeface="CMU Serif Roman"/>
              <a:ea typeface="CMU Serif Roman"/>
              <a:cs typeface="CMU Serif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DD837D-C4D1-9F9F-46ED-AF381430DE1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044700" y="4118379"/>
                <a:ext cx="6120674" cy="88998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800" b="0" i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𝑠𝑜𝑓𝑡𝑚𝑎𝑥</m:t>
                      </m:r>
                      <m:d>
                        <m:dPr>
                          <m:ctrlPr>
                            <a:rPr lang="en-GB" sz="2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800" b="0" i="1">
                                  <a:solidFill>
                                    <a:schemeClr val="accent6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GB" sz="2800" b="0" i="1">
                                  <a:solidFill>
                                    <a:schemeClr val="accent6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𝑄</m:t>
                              </m:r>
                              <m:r>
                                <a:rPr lang="en-GB" sz="2800" b="0" i="1">
                                  <a:solidFill>
                                    <a:schemeClr val="accent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⋅</m:t>
                              </m:r>
                              <m:r>
                                <a:rPr lang="en-GB" sz="2800" b="0" i="1">
                                  <a:solidFill>
                                    <a:schemeClr val="accent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𝐾</m:t>
                              </m:r>
                            </m:num>
                            <m:den>
                              <m:rad>
                                <m:radPr>
                                  <m:ctrlPr>
                                    <a:rPr lang="en-GB" sz="2800" b="0" i="1">
                                      <a:solidFill>
                                        <a:schemeClr val="accent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e>
                                  <m:r>
                                    <a:rPr lang="en-GB" sz="2800" b="0" i="1">
                                      <a:solidFill>
                                        <a:schemeClr val="accent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GB" sz="28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2800" dirty="0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DD837D-C4D1-9F9F-46ED-AF381430DE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700" y="4118379"/>
                <a:ext cx="6120674" cy="889987"/>
              </a:xfrm>
              <a:prstGeom prst="rect">
                <a:avLst/>
              </a:prstGeom>
              <a:blipFill>
                <a:blip r:embed="rId3"/>
                <a:stretch>
                  <a:fillRect t="-2817" b="-9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5A4CB5F-E63B-C3C1-9426-3BE29E2495DD}"/>
              </a:ext>
            </a:extLst>
          </p:cNvPr>
          <p:cNvSpPr>
            <a:spLocks noGrp="1"/>
          </p:cNvSpPr>
          <p:nvPr/>
        </p:nvSpPr>
        <p:spPr>
          <a:xfrm>
            <a:off x="6717749" y="3589002"/>
            <a:ext cx="93020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0.02</a:t>
            </a:r>
          </a:p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</a:t>
            </a:r>
            <a:r>
              <a:rPr lang="en-GB"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2</a:t>
            </a:r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8</a:t>
            </a:r>
          </a:p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</a:t>
            </a:r>
            <a:r>
              <a:rPr lang="en-GB"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02</a:t>
            </a:r>
            <a:endParaRPr sz="2800" dirty="0">
              <a:solidFill>
                <a:schemeClr val="accent1"/>
              </a:solidFill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1" name="Left Bracket 10">
            <a:extLst>
              <a:ext uri="{FF2B5EF4-FFF2-40B4-BE49-F238E27FC236}">
                <a16:creationId xmlns:a16="http://schemas.microsoft.com/office/drawing/2014/main" id="{078E9075-3A02-E21A-DD0D-72B93EFFBE27}"/>
              </a:ext>
            </a:extLst>
          </p:cNvPr>
          <p:cNvSpPr>
            <a:spLocks noGrp="1"/>
          </p:cNvSpPr>
          <p:nvPr/>
        </p:nvSpPr>
        <p:spPr>
          <a:xfrm>
            <a:off x="6590196" y="3589002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2" name="Left Bracket 11">
            <a:extLst>
              <a:ext uri="{FF2B5EF4-FFF2-40B4-BE49-F238E27FC236}">
                <a16:creationId xmlns:a16="http://schemas.microsoft.com/office/drawing/2014/main" id="{F3B34A4C-52F2-F341-A774-475FD91A6E09}"/>
              </a:ext>
            </a:extLst>
          </p:cNvPr>
          <p:cNvSpPr>
            <a:spLocks noGrp="1"/>
          </p:cNvSpPr>
          <p:nvPr/>
        </p:nvSpPr>
        <p:spPr>
          <a:xfrm flipH="1">
            <a:off x="7454368" y="3589002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6FDB46-A4FC-0737-E142-6584E165EFD6}"/>
              </a:ext>
            </a:extLst>
          </p:cNvPr>
          <p:cNvSpPr>
            <a:spLocks noGrp="1"/>
          </p:cNvSpPr>
          <p:nvPr/>
        </p:nvSpPr>
        <p:spPr>
          <a:xfrm>
            <a:off x="7886806" y="3669025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The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5F1758-FEB9-EE5E-1A5C-D29F28751842}"/>
              </a:ext>
            </a:extLst>
          </p:cNvPr>
          <p:cNvSpPr>
            <a:spLocks noGrp="1"/>
          </p:cNvSpPr>
          <p:nvPr/>
        </p:nvSpPr>
        <p:spPr>
          <a:xfrm>
            <a:off x="7886805" y="4058557"/>
            <a:ext cx="1217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bat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F76675-D1DE-9867-7802-61CEA0C65254}"/>
              </a:ext>
            </a:extLst>
          </p:cNvPr>
          <p:cNvSpPr>
            <a:spLocks noGrp="1"/>
          </p:cNvSpPr>
          <p:nvPr/>
        </p:nvSpPr>
        <p:spPr>
          <a:xfrm>
            <a:off x="7886805" y="4958637"/>
            <a:ext cx="1146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the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6BD15B-D4E9-13D3-DCDD-4D7FB88412B0}"/>
              </a:ext>
            </a:extLst>
          </p:cNvPr>
          <p:cNvSpPr>
            <a:spLocks noGrp="1"/>
          </p:cNvSpPr>
          <p:nvPr/>
        </p:nvSpPr>
        <p:spPr>
          <a:xfrm>
            <a:off x="8026090" y="4507911"/>
            <a:ext cx="1146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⋮</a:t>
            </a:r>
          </a:p>
        </p:txBody>
      </p:sp>
      <p:cxnSp>
        <p:nvCxnSpPr>
          <p:cNvPr id="91" name="Straight Arrow Connector 16"/>
          <p:cNvCxnSpPr/>
          <p:nvPr/>
        </p:nvCxnSpPr>
        <p:spPr>
          <a:xfrm flipV="1">
            <a:off x="4510007" y="5118800"/>
            <a:ext cx="964245" cy="476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39CEB-2D37-2EC1-9F9F-42A80720D571}"/>
              </a:ext>
            </a:extLst>
          </p:cNvPr>
          <p:cNvSpPr>
            <a:spLocks noGrp="1"/>
          </p:cNvSpPr>
          <p:nvPr/>
        </p:nvSpPr>
        <p:spPr>
          <a:xfrm>
            <a:off x="1057162" y="5608363"/>
            <a:ext cx="5255849" cy="8845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This is for scaling</a:t>
            </a:r>
          </a:p>
        </p:txBody>
      </p:sp>
    </p:spTree>
    <p:extLst>
      <p:ext uri="{BB962C8B-B14F-4D97-AF65-F5344CB8AC3E}">
        <p14:creationId xmlns:p14="http://schemas.microsoft.com/office/powerpoint/2010/main" val="2331220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03326-9643-E15B-4060-ED9842BCC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4CD4B-E398-7866-16FD-FE4C1565B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rPr b="1">
                <a:latin typeface="CMU SERIF ROMAN"/>
                <a:ea typeface="CMU SERIF ROMAN"/>
                <a:cs typeface="CMU SERIF ROMAN"/>
              </a:rPr>
              <a:t>Value: if "flew" is attended to, what information does it contribute to the final-position representation?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68246D-E76B-17D5-35BB-9BB2F03DB9CA}"/>
              </a:ext>
            </a:extLst>
          </p:cNvPr>
          <p:cNvSpPr>
            <a:spLocks noGrp="1"/>
          </p:cNvSpPr>
          <p:nvPr/>
        </p:nvSpPr>
        <p:spPr>
          <a:xfrm>
            <a:off x="1817448" y="5091250"/>
            <a:ext cx="10162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dirty="0"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[ flew]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D6CCE-3C0C-D64E-CEEE-DB48CB338AF2}"/>
              </a:ext>
            </a:extLst>
          </p:cNvPr>
          <p:cNvSpPr>
            <a:spLocks noGrp="1"/>
          </p:cNvSpPr>
          <p:nvPr/>
        </p:nvSpPr>
        <p:spPr>
          <a:xfrm>
            <a:off x="1817448" y="3144290"/>
            <a:ext cx="7752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0.5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0.2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F0696576-3DB9-532D-3468-71AA1078A8C0}"/>
              </a:ext>
            </a:extLst>
          </p:cNvPr>
          <p:cNvSpPr>
            <a:spLocks noGrp="1"/>
          </p:cNvSpPr>
          <p:nvPr/>
        </p:nvSpPr>
        <p:spPr>
          <a:xfrm>
            <a:off x="1689896" y="3144290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E3864649-EE89-6437-78F7-EA1D31A3FFBA}"/>
              </a:ext>
            </a:extLst>
          </p:cNvPr>
          <p:cNvSpPr>
            <a:spLocks noGrp="1"/>
          </p:cNvSpPr>
          <p:nvPr/>
        </p:nvSpPr>
        <p:spPr>
          <a:xfrm flipH="1">
            <a:off x="2337598" y="3144290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EC10AA-7090-B80B-8E5C-0F8A3813E24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39773" y="3805464"/>
                <a:ext cx="12573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8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  <m:r>
                        <a:rPr lang="en-GB" sz="28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2800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EC10AA-7090-B80B-8E5C-0F8A3813E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73" y="3805464"/>
                <a:ext cx="12573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4"/>
          <p:cNvCxnSpPr/>
          <p:nvPr/>
        </p:nvCxnSpPr>
        <p:spPr>
          <a:xfrm>
            <a:off x="2716704" y="4044703"/>
            <a:ext cx="7306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4135DA7-FC3B-A188-852D-A1C886C0452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447308" y="3783093"/>
                <a:ext cx="1947951" cy="986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>
                            <a:solidFill>
                              <a:schemeClr val="accent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en-GB" sz="2800" b="0" i="1">
                            <a:solidFill>
                              <a:schemeClr val="accent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𝑊</m:t>
                        </m:r>
                      </m:e>
                      <m:sub>
                        <m:r>
                          <a:rPr lang="en-GB" sz="2800" b="0" i="1">
                            <a:solidFill>
                              <a:schemeClr val="accent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𝑉</m:t>
                        </m:r>
                      </m:sub>
                    </m:sSub>
                    <m:r>
                      <a:rPr lang="en-GB" sz="2800" b="0" i="1">
                        <a:solidFill>
                          <a:schemeClr val="accent1"/>
                        </a:solidFill>
                        <a:latin typeface="Cambria Math"/>
                        <a:ea typeface="Cambria Math"/>
                        <a:cs typeface="Cambria Math"/>
                      </a:rPr>
                      <m:t>⋅</m:t>
                    </m:r>
                    <m:r>
                      <a:rPr lang="en-GB" sz="2800" b="0" i="1">
                        <a:solidFill>
                          <a:schemeClr val="accent1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a14:m>
                <a:r>
                  <a:rPr sz="2800" b="0">
                    <a:solidFill>
                      <a:schemeClr val="accent1"/>
                    </a:solidFill>
                    <a:latin typeface="CMU Serif Roman"/>
                    <a:ea typeface="CMU Serif Roman"/>
                    <a:cs typeface="CMU Serif Roman"/>
                  </a:rPr>
                  <a:t> =</a:t>
                </a:r>
              </a:p>
              <a:p>
                <a:endParaRPr sz="2800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4135DA7-FC3B-A188-852D-A1C886C045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308" y="3783093"/>
                <a:ext cx="1947951" cy="986167"/>
              </a:xfrm>
              <a:prstGeom prst="rect">
                <a:avLst/>
              </a:prstGeom>
              <a:blipFill>
                <a:blip r:embed="rId4"/>
                <a:stretch>
                  <a:fillRect l="-1948" t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BDDBDE5B-6D1E-8281-CA6D-57CF9E1ABA5C}"/>
              </a:ext>
            </a:extLst>
          </p:cNvPr>
          <p:cNvSpPr>
            <a:spLocks noGrp="1"/>
          </p:cNvSpPr>
          <p:nvPr/>
        </p:nvSpPr>
        <p:spPr>
          <a:xfrm>
            <a:off x="7441923" y="3136762"/>
            <a:ext cx="6872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0.5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0.2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604F497E-19B1-B809-155B-D126EBA24635}"/>
              </a:ext>
            </a:extLst>
          </p:cNvPr>
          <p:cNvSpPr>
            <a:spLocks noGrp="1"/>
          </p:cNvSpPr>
          <p:nvPr/>
        </p:nvSpPr>
        <p:spPr>
          <a:xfrm>
            <a:off x="7314370" y="3136762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4" name="Left Bracket 23">
            <a:extLst>
              <a:ext uri="{FF2B5EF4-FFF2-40B4-BE49-F238E27FC236}">
                <a16:creationId xmlns:a16="http://schemas.microsoft.com/office/drawing/2014/main" id="{65B26575-E42F-1517-F835-25A2715A2533}"/>
              </a:ext>
            </a:extLst>
          </p:cNvPr>
          <p:cNvSpPr>
            <a:spLocks noGrp="1"/>
          </p:cNvSpPr>
          <p:nvPr/>
        </p:nvSpPr>
        <p:spPr>
          <a:xfrm flipH="1">
            <a:off x="7962072" y="3136762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C00D59-2E52-12A0-54BC-F8BAC493E2AA}"/>
              </a:ext>
            </a:extLst>
          </p:cNvPr>
          <p:cNvSpPr>
            <a:spLocks noGrp="1"/>
          </p:cNvSpPr>
          <p:nvPr/>
        </p:nvSpPr>
        <p:spPr>
          <a:xfrm>
            <a:off x="5023858" y="3136762"/>
            <a:ext cx="7270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0.2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0.9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0.1</a:t>
            </a:r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A32C441E-4D41-4158-86DD-E30008D7DFA0}"/>
              </a:ext>
            </a:extLst>
          </p:cNvPr>
          <p:cNvSpPr>
            <a:spLocks noGrp="1"/>
          </p:cNvSpPr>
          <p:nvPr/>
        </p:nvSpPr>
        <p:spPr>
          <a:xfrm>
            <a:off x="4896305" y="3136762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9BC51BA8-86C1-9EF3-DDC9-65935274E8E7}"/>
              </a:ext>
            </a:extLst>
          </p:cNvPr>
          <p:cNvSpPr>
            <a:spLocks noGrp="1"/>
          </p:cNvSpPr>
          <p:nvPr/>
        </p:nvSpPr>
        <p:spPr>
          <a:xfrm flipH="1">
            <a:off x="6900434" y="3136762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36EE17-9CAC-3C35-8166-74926C552002}"/>
              </a:ext>
            </a:extLst>
          </p:cNvPr>
          <p:cNvSpPr>
            <a:spLocks noGrp="1"/>
          </p:cNvSpPr>
          <p:nvPr/>
        </p:nvSpPr>
        <p:spPr>
          <a:xfrm>
            <a:off x="6330000" y="3136762"/>
            <a:ext cx="7270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0.5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6FD79C-4AB9-C4A2-55C2-CBAD504C3F65}"/>
              </a:ext>
            </a:extLst>
          </p:cNvPr>
          <p:cNvSpPr>
            <a:spLocks noGrp="1"/>
          </p:cNvSpPr>
          <p:nvPr/>
        </p:nvSpPr>
        <p:spPr>
          <a:xfrm>
            <a:off x="5613652" y="3136762"/>
            <a:ext cx="7270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  <a:p>
            <a:pPr algn="ctr">
              <a:buNone/>
            </a:pPr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⋮</a:t>
            </a:r>
          </a:p>
          <a:p>
            <a:pPr algn="ctr">
              <a:buNone/>
            </a:pPr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⋮</a:t>
            </a:r>
          </a:p>
          <a:p>
            <a:pPr algn="ctr">
              <a:buNone/>
            </a:pPr>
            <a:r>
              <a:rPr sz="2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98A74D9-A5BB-B656-3B45-303E3B0741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860632" y="3798289"/>
                <a:ext cx="4331368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8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en-GB" sz="2800" b="0" i="1">
                          <a:solidFill>
                            <a:schemeClr val="accent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𝑉</m:t>
                      </m:r>
                    </m:oMath>
                  </m:oMathPara>
                </a14:m>
                <a:endParaRPr sz="2800" b="0">
                  <a:solidFill>
                    <a:schemeClr val="accent5"/>
                  </a:solidFill>
                  <a:latin typeface="CMU Serif Roman"/>
                  <a:ea typeface="CMU Serif Roman"/>
                  <a:cs typeface="CMU Serif Roman"/>
                </a:endParaRPr>
              </a:p>
              <a:p>
                <a:endParaRPr sz="2800" b="0">
                  <a:solidFill>
                    <a:schemeClr val="accent5"/>
                  </a:solidFill>
                  <a:latin typeface="CMU Serif Roman"/>
                  <a:ea typeface="CMU Serif Roman"/>
                  <a:cs typeface="CMU Serif Roman"/>
                </a:endParaRPr>
              </a:p>
              <a:p>
                <a:endParaRPr sz="2800">
                  <a:solidFill>
                    <a:schemeClr val="accent5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98A74D9-A5BB-B656-3B45-303E3B0741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0632" y="3798289"/>
                <a:ext cx="4331368" cy="13849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09D400B4-9D02-F8EF-4265-91F6EF09190F}"/>
              </a:ext>
            </a:extLst>
          </p:cNvPr>
          <p:cNvSpPr>
            <a:spLocks noGrp="1"/>
          </p:cNvSpPr>
          <p:nvPr/>
        </p:nvSpPr>
        <p:spPr>
          <a:xfrm>
            <a:off x="8864876" y="3136762"/>
            <a:ext cx="6872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0.9</a:t>
            </a:r>
          </a:p>
          <a:p>
            <a:r>
              <a:rPr sz="280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  <a:p>
            <a:r>
              <a:rPr sz="280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5672C3F4-8F6E-90C1-F459-B23A944E6E02}"/>
              </a:ext>
            </a:extLst>
          </p:cNvPr>
          <p:cNvSpPr>
            <a:spLocks noGrp="1"/>
          </p:cNvSpPr>
          <p:nvPr/>
        </p:nvSpPr>
        <p:spPr>
          <a:xfrm>
            <a:off x="8737323" y="3136762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37" name="Left Bracket 36">
            <a:extLst>
              <a:ext uri="{FF2B5EF4-FFF2-40B4-BE49-F238E27FC236}">
                <a16:creationId xmlns:a16="http://schemas.microsoft.com/office/drawing/2014/main" id="{C705C80C-44DC-43BE-F3B6-A3700A191446}"/>
              </a:ext>
            </a:extLst>
          </p:cNvPr>
          <p:cNvSpPr>
            <a:spLocks noGrp="1"/>
          </p:cNvSpPr>
          <p:nvPr/>
        </p:nvSpPr>
        <p:spPr>
          <a:xfrm flipH="1">
            <a:off x="9385025" y="3136762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D8AB7D2-2DD1-9337-DE5B-CC880B93637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318513" y="3798289"/>
                <a:ext cx="4331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8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2800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D8AB7D2-2DD1-9337-DE5B-CC880B9363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513" y="3798289"/>
                <a:ext cx="433136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EAACE43B-3990-7F27-9791-CB28080E6352}"/>
              </a:ext>
            </a:extLst>
          </p:cNvPr>
          <p:cNvSpPr>
            <a:spLocks noGrp="1"/>
          </p:cNvSpPr>
          <p:nvPr/>
        </p:nvSpPr>
        <p:spPr>
          <a:xfrm>
            <a:off x="2289830" y="5772555"/>
            <a:ext cx="5255849" cy="8845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Font typeface="Arial"/>
              <a:buNone/>
            </a:pPr>
            <a:r>
              <a:rPr sz="180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Value Matrix</a:t>
            </a:r>
          </a:p>
        </p:txBody>
      </p:sp>
      <p:cxnSp>
        <p:nvCxnSpPr>
          <p:cNvPr id="216" name="Straight Arrow Connector 39"/>
          <p:cNvCxnSpPr/>
          <p:nvPr/>
        </p:nvCxnSpPr>
        <p:spPr>
          <a:xfrm flipH="1" flipV="1">
            <a:off x="3755571" y="4336705"/>
            <a:ext cx="1122060" cy="1392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43"/>
          <p:cNvCxnSpPr>
            <a:endCxn id="29" idx="2"/>
          </p:cNvCxnSpPr>
          <p:nvPr/>
        </p:nvCxnSpPr>
        <p:spPr>
          <a:xfrm flipV="1">
            <a:off x="4877631" y="4952644"/>
            <a:ext cx="1099549" cy="776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49"/>
          <p:cNvCxnSpPr>
            <a:stCxn id="57" idx="0"/>
          </p:cNvCxnSpPr>
          <p:nvPr/>
        </p:nvCxnSpPr>
        <p:spPr>
          <a:xfrm flipV="1">
            <a:off x="10242342" y="4336705"/>
            <a:ext cx="0" cy="151235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53"/>
          <p:cNvCxnSpPr>
            <a:stCxn id="57" idx="0"/>
            <a:endCxn id="35" idx="2"/>
          </p:cNvCxnSpPr>
          <p:nvPr/>
        </p:nvCxnSpPr>
        <p:spPr>
          <a:xfrm flipH="1" flipV="1">
            <a:off x="9208515" y="4952644"/>
            <a:ext cx="1033827" cy="89641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4B4FAACD-3F14-4290-2AF0-77785AC8C1D5}"/>
              </a:ext>
            </a:extLst>
          </p:cNvPr>
          <p:cNvSpPr>
            <a:spLocks noGrp="1"/>
          </p:cNvSpPr>
          <p:nvPr/>
        </p:nvSpPr>
        <p:spPr>
          <a:xfrm>
            <a:off x="9110143" y="5849059"/>
            <a:ext cx="2264397" cy="8845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Font typeface="Arial"/>
              <a:buNone/>
            </a:pPr>
            <a:r>
              <a:rPr sz="180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1842389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345F-F828-07C0-C567-3B74A7C6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AD17C-97D5-219A-2EE9-2390D636F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rPr dirty="0">
                <a:latin typeface="CMU Serif Roman"/>
                <a:ea typeface="CMU Serif Roman"/>
                <a:cs typeface="CMU Serif Roman"/>
              </a:rPr>
              <a:t>Now we add all value vectors to the embedding vector for “the”, weighted by their weights.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FC90A8-72E1-5842-F76A-D2B3FF8F5F4B}"/>
              </a:ext>
            </a:extLst>
          </p:cNvPr>
          <p:cNvSpPr>
            <a:spLocks noGrp="1"/>
          </p:cNvSpPr>
          <p:nvPr/>
        </p:nvSpPr>
        <p:spPr>
          <a:xfrm>
            <a:off x="1817448" y="3144290"/>
            <a:ext cx="7752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0.9</a:t>
            </a:r>
          </a:p>
        </p:txBody>
      </p:sp>
      <p:sp>
        <p:nvSpPr>
          <p:cNvPr id="11" name="Left Bracket 10">
            <a:extLst>
              <a:ext uri="{FF2B5EF4-FFF2-40B4-BE49-F238E27FC236}">
                <a16:creationId xmlns:a16="http://schemas.microsoft.com/office/drawing/2014/main" id="{2713AA01-498A-D7D0-E5BB-2FB8E1BADB6F}"/>
              </a:ext>
            </a:extLst>
          </p:cNvPr>
          <p:cNvSpPr>
            <a:spLocks noGrp="1"/>
          </p:cNvSpPr>
          <p:nvPr/>
        </p:nvSpPr>
        <p:spPr>
          <a:xfrm>
            <a:off x="1689896" y="3144290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2" name="Left Bracket 11">
            <a:extLst>
              <a:ext uri="{FF2B5EF4-FFF2-40B4-BE49-F238E27FC236}">
                <a16:creationId xmlns:a16="http://schemas.microsoft.com/office/drawing/2014/main" id="{27892F71-91B4-8A13-FD58-2F2AFDDE3A63}"/>
              </a:ext>
            </a:extLst>
          </p:cNvPr>
          <p:cNvSpPr>
            <a:spLocks noGrp="1"/>
          </p:cNvSpPr>
          <p:nvPr/>
        </p:nvSpPr>
        <p:spPr>
          <a:xfrm flipH="1">
            <a:off x="2337598" y="3144290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5B49AA-DA2C-980F-DD14-E27655B8376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39773" y="3805464"/>
                <a:ext cx="12573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4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  <m:r>
                        <a:rPr lang="en-GB" sz="24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’=</m:t>
                      </m:r>
                    </m:oMath>
                  </m:oMathPara>
                </a14:m>
                <a:endParaRPr sz="2400" dirty="0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5B49AA-DA2C-980F-DD14-E27655B837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73" y="3805464"/>
                <a:ext cx="12573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67E32C-A1E3-58D6-3996-28D2F53FABA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536266" y="3805464"/>
                <a:ext cx="12573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20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en-GB" sz="22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0.02</m:t>
                      </m:r>
                    </m:oMath>
                  </m:oMathPara>
                </a14:m>
                <a:endParaRPr sz="2200" dirty="0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67E32C-A1E3-58D6-3996-28D2F53FAB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266" y="3805464"/>
                <a:ext cx="1257300" cy="430887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EAD6674-D5CD-FB0D-AA93-5E2CCCF9D2E5}"/>
              </a:ext>
            </a:extLst>
          </p:cNvPr>
          <p:cNvSpPr>
            <a:spLocks noGrp="1"/>
          </p:cNvSpPr>
          <p:nvPr/>
        </p:nvSpPr>
        <p:spPr>
          <a:xfrm>
            <a:off x="3921119" y="3144290"/>
            <a:ext cx="6872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0.7</a:t>
            </a:r>
          </a:p>
          <a:p>
            <a:r>
              <a:rPr sz="2800" dirty="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0.2</a:t>
            </a:r>
          </a:p>
          <a:p>
            <a:r>
              <a:rPr sz="2800" dirty="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 dirty="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0.1</a:t>
            </a:r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95A678DA-2BA4-D383-97FC-4AAD14B1D24C}"/>
              </a:ext>
            </a:extLst>
          </p:cNvPr>
          <p:cNvSpPr>
            <a:spLocks noGrp="1"/>
          </p:cNvSpPr>
          <p:nvPr/>
        </p:nvSpPr>
        <p:spPr>
          <a:xfrm>
            <a:off x="3793566" y="3144290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19" name="Left Bracket 18">
            <a:extLst>
              <a:ext uri="{FF2B5EF4-FFF2-40B4-BE49-F238E27FC236}">
                <a16:creationId xmlns:a16="http://schemas.microsoft.com/office/drawing/2014/main" id="{B776050D-7A0C-428E-FFA7-8ABFA447CB87}"/>
              </a:ext>
            </a:extLst>
          </p:cNvPr>
          <p:cNvSpPr>
            <a:spLocks noGrp="1"/>
          </p:cNvSpPr>
          <p:nvPr/>
        </p:nvSpPr>
        <p:spPr>
          <a:xfrm flipH="1">
            <a:off x="4441268" y="3144290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DD010D7-E36B-A96D-A4AC-6CC4472DFC7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64114" y="3805464"/>
                <a:ext cx="1703828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20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en-GB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…+</m:t>
                      </m:r>
                      <m:r>
                        <a:rPr lang="en-GB" sz="22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</m:t>
                      </m:r>
                      <m:r>
                        <a:rPr lang="en-GB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63</m:t>
                      </m:r>
                    </m:oMath>
                  </m:oMathPara>
                </a14:m>
                <a:endParaRPr sz="2200" dirty="0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DD010D7-E36B-A96D-A4AC-6CC4472DFC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114" y="3805464"/>
                <a:ext cx="170382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A44C733-8170-7C11-F09E-AF00AC870490}"/>
              </a:ext>
            </a:extLst>
          </p:cNvPr>
          <p:cNvSpPr>
            <a:spLocks noGrp="1"/>
          </p:cNvSpPr>
          <p:nvPr/>
        </p:nvSpPr>
        <p:spPr>
          <a:xfrm>
            <a:off x="6391868" y="3144290"/>
            <a:ext cx="6872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0.</a:t>
            </a:r>
            <a:r>
              <a:rPr lang="en-GB" sz="2800" dirty="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9</a:t>
            </a:r>
            <a:endParaRPr sz="2800" dirty="0">
              <a:solidFill>
                <a:schemeClr val="accent5"/>
              </a:solidFill>
              <a:latin typeface="CMU Serif Roman"/>
              <a:ea typeface="CMU Serif Roman"/>
              <a:cs typeface="CMU Serif Roman"/>
            </a:endParaRPr>
          </a:p>
          <a:p>
            <a:r>
              <a:rPr sz="2800" dirty="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0.</a:t>
            </a:r>
            <a:r>
              <a:rPr lang="en-GB" sz="2800" dirty="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4</a:t>
            </a:r>
            <a:endParaRPr sz="2800" dirty="0">
              <a:solidFill>
                <a:schemeClr val="accent5"/>
              </a:solidFill>
              <a:latin typeface="CMU Serif Roman"/>
              <a:ea typeface="CMU Serif Roman"/>
              <a:cs typeface="CMU Serif Roman"/>
            </a:endParaRPr>
          </a:p>
          <a:p>
            <a:r>
              <a:rPr sz="2800" dirty="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 dirty="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6216DD7E-67A0-3808-A473-4046005DB3F5}"/>
              </a:ext>
            </a:extLst>
          </p:cNvPr>
          <p:cNvSpPr>
            <a:spLocks noGrp="1"/>
          </p:cNvSpPr>
          <p:nvPr/>
        </p:nvSpPr>
        <p:spPr>
          <a:xfrm>
            <a:off x="6264315" y="3144290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4245D4FF-5863-51FF-3F7E-444430A6EBC8}"/>
              </a:ext>
            </a:extLst>
          </p:cNvPr>
          <p:cNvSpPr>
            <a:spLocks noGrp="1"/>
          </p:cNvSpPr>
          <p:nvPr/>
        </p:nvSpPr>
        <p:spPr>
          <a:xfrm flipH="1">
            <a:off x="6912017" y="3144290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0A5788-AB75-D841-ED1D-24C95E037F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566369" y="3819600"/>
                <a:ext cx="275537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20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en-GB" sz="22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…+0.0</m:t>
                      </m:r>
                      <m:r>
                        <a:rPr lang="en-GB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2</m:t>
                      </m:r>
                    </m:oMath>
                  </m:oMathPara>
                </a14:m>
                <a:endParaRPr sz="2200" b="0" dirty="0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0A5788-AB75-D841-ED1D-24C95E037F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369" y="3819600"/>
                <a:ext cx="275537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3906C94-3587-F493-ADFE-5E2BABABCA56}"/>
              </a:ext>
            </a:extLst>
          </p:cNvPr>
          <p:cNvSpPr>
            <a:spLocks noGrp="1"/>
          </p:cNvSpPr>
          <p:nvPr/>
        </p:nvSpPr>
        <p:spPr>
          <a:xfrm>
            <a:off x="8860872" y="3144290"/>
            <a:ext cx="6872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0.9</a:t>
            </a:r>
          </a:p>
          <a:p>
            <a:r>
              <a:rPr sz="2800" dirty="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0.4</a:t>
            </a:r>
          </a:p>
          <a:p>
            <a:r>
              <a:rPr sz="2800" dirty="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 dirty="0">
                <a:solidFill>
                  <a:schemeClr val="accent5"/>
                </a:solidFill>
                <a:latin typeface="CMU Serif Roman"/>
                <a:ea typeface="CMU Serif Roman"/>
                <a:cs typeface="CMU Serif Roman"/>
              </a:rPr>
              <a:t>0.3</a:t>
            </a:r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D5EFE33E-4ABA-69FF-920D-A5ACF9704471}"/>
              </a:ext>
            </a:extLst>
          </p:cNvPr>
          <p:cNvSpPr>
            <a:spLocks noGrp="1"/>
          </p:cNvSpPr>
          <p:nvPr/>
        </p:nvSpPr>
        <p:spPr>
          <a:xfrm>
            <a:off x="8733319" y="3144290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ABD941ED-E2DF-9AFB-F705-1AD84DF14BD6}"/>
              </a:ext>
            </a:extLst>
          </p:cNvPr>
          <p:cNvSpPr>
            <a:spLocks noGrp="1"/>
          </p:cNvSpPr>
          <p:nvPr/>
        </p:nvSpPr>
        <p:spPr>
          <a:xfrm flipH="1">
            <a:off x="9381021" y="3144290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cxnSp>
        <p:nvCxnSpPr>
          <p:cNvPr id="62" name="Straight Arrow Connector 28"/>
          <p:cNvCxnSpPr>
            <a:cxnSpLocks/>
          </p:cNvCxnSpPr>
          <p:nvPr/>
        </p:nvCxnSpPr>
        <p:spPr>
          <a:xfrm flipV="1">
            <a:off x="5237837" y="4267129"/>
            <a:ext cx="535310" cy="107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9B10B88-940D-1BBF-5693-713734C668C9}"/>
              </a:ext>
            </a:extLst>
          </p:cNvPr>
          <p:cNvSpPr>
            <a:spLocks noGrp="1"/>
          </p:cNvSpPr>
          <p:nvPr/>
        </p:nvSpPr>
        <p:spPr>
          <a:xfrm>
            <a:off x="4437410" y="5374945"/>
            <a:ext cx="1969382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6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How much “the” pays attention to “flew”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4DBF229-AB5D-EF80-70E1-73EA8AB95D8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21741" y="3790621"/>
                <a:ext cx="12573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400" b="0" i="1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  <a:endParaRPr sz="2400">
                  <a:solidFill>
                    <a:schemeClr val="accent1"/>
                  </a:solidFill>
                  <a:latin typeface="CMU Serif Roman"/>
                  <a:ea typeface="CMU Serif Roman"/>
                  <a:cs typeface="CMU Serif Roman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4DBF229-AB5D-EF80-70E1-73EA8AB95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741" y="3790621"/>
                <a:ext cx="125730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B3D925C3-0FFF-E551-2D92-515FAB8843F2}"/>
              </a:ext>
            </a:extLst>
          </p:cNvPr>
          <p:cNvSpPr>
            <a:spLocks noGrp="1"/>
          </p:cNvSpPr>
          <p:nvPr/>
        </p:nvSpPr>
        <p:spPr>
          <a:xfrm>
            <a:off x="10377373" y="3144290"/>
            <a:ext cx="74124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1.4</a:t>
            </a:r>
          </a:p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0.8</a:t>
            </a:r>
          </a:p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   ⋮</a:t>
            </a:r>
          </a:p>
          <a:p>
            <a:r>
              <a:rPr sz="2800"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0.6</a:t>
            </a:r>
          </a:p>
        </p:txBody>
      </p:sp>
      <p:sp>
        <p:nvSpPr>
          <p:cNvPr id="38" name="Left Bracket 37">
            <a:extLst>
              <a:ext uri="{FF2B5EF4-FFF2-40B4-BE49-F238E27FC236}">
                <a16:creationId xmlns:a16="http://schemas.microsoft.com/office/drawing/2014/main" id="{4EAE6DA2-01C7-7501-FB6B-9136C6AACE97}"/>
              </a:ext>
            </a:extLst>
          </p:cNvPr>
          <p:cNvSpPr>
            <a:spLocks noGrp="1"/>
          </p:cNvSpPr>
          <p:nvPr/>
        </p:nvSpPr>
        <p:spPr>
          <a:xfrm>
            <a:off x="10249820" y="3144290"/>
            <a:ext cx="255104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39" name="Left Bracket 38">
            <a:extLst>
              <a:ext uri="{FF2B5EF4-FFF2-40B4-BE49-F238E27FC236}">
                <a16:creationId xmlns:a16="http://schemas.microsoft.com/office/drawing/2014/main" id="{8912D623-739A-EC54-D919-86B830425A5F}"/>
              </a:ext>
            </a:extLst>
          </p:cNvPr>
          <p:cNvSpPr>
            <a:spLocks noGrp="1"/>
          </p:cNvSpPr>
          <p:nvPr/>
        </p:nvSpPr>
        <p:spPr>
          <a:xfrm flipH="1">
            <a:off x="10897522" y="3144290"/>
            <a:ext cx="255103" cy="1815882"/>
          </a:xfrm>
          <a:prstGeom prst="leftBracke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</p:txBody>
      </p:sp>
      <p:cxnSp>
        <p:nvCxnSpPr>
          <p:cNvPr id="68" name="Straight Arrow Connector 40"/>
          <p:cNvCxnSpPr/>
          <p:nvPr/>
        </p:nvCxnSpPr>
        <p:spPr>
          <a:xfrm flipV="1">
            <a:off x="10579041" y="5016342"/>
            <a:ext cx="185957" cy="488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29ED847-FCFB-292F-D982-0F0BB47429E8}"/>
              </a:ext>
            </a:extLst>
          </p:cNvPr>
          <p:cNvSpPr>
            <a:spLocks noGrp="1"/>
          </p:cNvSpPr>
          <p:nvPr/>
        </p:nvSpPr>
        <p:spPr>
          <a:xfrm>
            <a:off x="9456443" y="5555749"/>
            <a:ext cx="2443596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dirty="0">
                <a:solidFill>
                  <a:schemeClr val="accent1"/>
                </a:solidFill>
                <a:latin typeface="CMU Serif Roman"/>
                <a:ea typeface="CMU Serif Roman"/>
                <a:cs typeface="CMU Serif Roman"/>
              </a:rPr>
              <a:t>Context adjusted embedding for [ the]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4D7FDA5-E7D4-ADB1-0530-B25A4171880C}"/>
              </a:ext>
            </a:extLst>
          </p:cNvPr>
          <p:cNvSpPr>
            <a:spLocks noGrp="1"/>
          </p:cNvSpPr>
          <p:nvPr/>
        </p:nvSpPr>
        <p:spPr>
          <a:xfrm>
            <a:off x="1868340" y="5091250"/>
            <a:ext cx="12573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dirty="0"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ourier New" panose="02070309020205020404" pitchFamily="49" charset="0"/>
              </a:rPr>
              <a:t>[ the]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F60A55A-E841-7A94-50E9-43BD7E74062B}"/>
              </a:ext>
            </a:extLst>
          </p:cNvPr>
          <p:cNvSpPr>
            <a:spLocks noGrp="1"/>
          </p:cNvSpPr>
          <p:nvPr/>
        </p:nvSpPr>
        <p:spPr>
          <a:xfrm>
            <a:off x="6141294" y="5154194"/>
            <a:ext cx="1257301" cy="369332"/>
          </a:xfrm>
          <a:prstGeom prst="rect">
            <a:avLst/>
          </a:prstGeom>
        </p:spPr>
        <p:txBody>
          <a:bodyPr vert="horz" lIns="91440" tIns="45720" rIns="91440" bIns="45720">
            <a:normAutofit fontScale="94859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Font typeface="Arial"/>
              <a:buNone/>
            </a:pPr>
            <a:r>
              <a:rPr sz="1800" dirty="0">
                <a:solidFill>
                  <a:schemeClr val="bg2">
                    <a:lumMod val="75000"/>
                  </a:schemeClr>
                </a:solidFill>
              </a:rPr>
              <a:t>𝑉(</a:t>
            </a:r>
            <a:r>
              <a:rPr lang="en-GB" sz="1800" dirty="0">
                <a:solidFill>
                  <a:schemeClr val="bg2">
                    <a:lumMod val="75000"/>
                  </a:schemeClr>
                </a:solidFill>
              </a:rPr>
              <a:t>flew</a:t>
            </a:r>
            <a:r>
              <a:rPr sz="1800" dirty="0">
                <a:solidFill>
                  <a:schemeClr val="bg2">
                    <a:lumMod val="75000"/>
                  </a:schemeClr>
                </a:solidFill>
              </a:rPr>
              <a:t>)</a:t>
            </a:r>
            <a:endParaRPr sz="1800" dirty="0">
              <a:solidFill>
                <a:schemeClr val="bg2">
                  <a:lumMod val="75000"/>
                </a:schemeClr>
              </a:solidFill>
              <a:latin typeface="CMU Serif Roman"/>
              <a:ea typeface="CMU Serif Roman"/>
              <a:cs typeface="Courier New" panose="02070309020205020404" pitchFamily="49" charset="0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878F2D0-F72A-28C3-CC9D-1AB37C3A9FA8}"/>
              </a:ext>
            </a:extLst>
          </p:cNvPr>
          <p:cNvSpPr>
            <a:spLocks noGrp="1"/>
          </p:cNvSpPr>
          <p:nvPr/>
        </p:nvSpPr>
        <p:spPr>
          <a:xfrm>
            <a:off x="3580646" y="5113970"/>
            <a:ext cx="1257301" cy="369332"/>
          </a:xfrm>
          <a:prstGeom prst="rect">
            <a:avLst/>
          </a:prstGeom>
        </p:spPr>
        <p:txBody>
          <a:bodyPr vert="horz" lIns="91440" tIns="45720" rIns="91440" bIns="45720">
            <a:normAutofit fontScale="94859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Font typeface="Arial"/>
              <a:buNone/>
            </a:pPr>
            <a:r>
              <a:rPr sz="1800" dirty="0">
                <a:solidFill>
                  <a:schemeClr val="bg2">
                    <a:lumMod val="75000"/>
                  </a:schemeClr>
                </a:solidFill>
              </a:rPr>
              <a:t>𝑉(The)</a:t>
            </a:r>
            <a:endParaRPr sz="1800" dirty="0">
              <a:solidFill>
                <a:schemeClr val="bg2">
                  <a:lumMod val="75000"/>
                </a:schemeClr>
              </a:solidFill>
              <a:latin typeface="CMU Serif Roman"/>
              <a:ea typeface="CMU Serif Roman"/>
              <a:cs typeface="Courier New" panose="02070309020205020404" pitchFamily="49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CE9DE7A-07D6-96A6-FDBE-2688D3D88234}"/>
              </a:ext>
            </a:extLst>
          </p:cNvPr>
          <p:cNvSpPr>
            <a:spLocks noGrp="1"/>
          </p:cNvSpPr>
          <p:nvPr/>
        </p:nvSpPr>
        <p:spPr>
          <a:xfrm>
            <a:off x="8633424" y="5157438"/>
            <a:ext cx="1257301" cy="369332"/>
          </a:xfrm>
          <a:prstGeom prst="rect">
            <a:avLst/>
          </a:prstGeom>
        </p:spPr>
        <p:txBody>
          <a:bodyPr vert="horz" lIns="91440" tIns="45720" rIns="91440" bIns="45720">
            <a:normAutofit fontScale="94859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Font typeface="Arial"/>
              <a:buNone/>
            </a:pPr>
            <a:r>
              <a:rPr sz="1800" dirty="0">
                <a:solidFill>
                  <a:schemeClr val="bg2">
                    <a:lumMod val="75000"/>
                  </a:schemeClr>
                </a:solidFill>
              </a:rPr>
              <a:t>𝑉(the)</a:t>
            </a:r>
            <a:endParaRPr sz="1800" dirty="0">
              <a:solidFill>
                <a:schemeClr val="bg2">
                  <a:lumMod val="75000"/>
                </a:schemeClr>
              </a:solidFill>
              <a:latin typeface="CMU Serif Roman"/>
              <a:ea typeface="CMU Serif Roman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52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120CD-9E2A-3DB2-2BA5-D2E8731D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Multi-headed attention</a:t>
            </a: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060909"/>
            <a:ext cx="6677025" cy="3583907"/>
          </a:xfrm>
          <a:prstGeom prst="rect">
            <a:avLst/>
          </a:prstGeom>
        </p:spPr>
      </p:pic>
      <p:pic>
        <p:nvPicPr>
          <p:cNvPr id="7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212859"/>
            <a:ext cx="3657599" cy="443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81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CC07320-C2CA-4E29-8481-9D9E143C7788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3" name="Picture 2"/>
          <p:cNvPicPr>
            <a:picLocks noChangeAspect="1"/>
          </p:cNvPicPr>
          <p:nvPr/>
        </p:nvPicPr>
        <p:blipFill>
          <a:blip r:embed="rId3"/>
          <a:srcRect l="7730" r="11550" b="1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78FB36B-5BFE-42CA-BC60-1115E0D95E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5A3536-AE41-4DA8-8EDE-224F3E428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prstGeom prst="rect">
            <a:avLst/>
          </a:prstGeom>
          <a:noFill/>
        </p:spPr>
        <p:txBody>
          <a:bodyPr vert="horz" lIns="91440" tIns="45720" rIns="91440" bIns="45720" anchor="b">
            <a:normAutofit/>
          </a:bodyPr>
          <a:lstStyle/>
          <a:p>
            <a:r>
              <a:rPr sz="5200"/>
              <a:t>Two types of models</a:t>
            </a:r>
          </a:p>
        </p:txBody>
      </p:sp>
    </p:spTree>
    <p:extLst>
      <p:ext uri="{BB962C8B-B14F-4D97-AF65-F5344CB8AC3E}">
        <p14:creationId xmlns:p14="http://schemas.microsoft.com/office/powerpoint/2010/main" val="3842090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4CCFE-9DE0-466E-0BED-A9F27583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Two common attention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30D48-B322-A80E-8C0D-200948028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91" y="4594951"/>
            <a:ext cx="4024993" cy="4351338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rPr b="1">
                <a:latin typeface="CMU SERIF ROMAN"/>
                <a:ea typeface="CMU SERIF ROMAN"/>
                <a:cs typeface="CMU SERIF ROMAN"/>
              </a:rPr>
              <a:t>Causal attention</a:t>
            </a:r>
          </a:p>
          <a:p>
            <a:pPr marL="0" indent="0">
              <a:buNone/>
            </a:pPr>
            <a:r>
              <a:rPr b="1">
                <a:latin typeface="CMU SERIF ROMAN"/>
                <a:ea typeface="CMU SERIF ROMAN"/>
                <a:cs typeface="CMU SERIF ROMAN"/>
              </a:rPr>
              <a:t>Looks left during generation</a:t>
            </a:r>
          </a:p>
          <a:p>
            <a:pPr marL="0" indent="0">
              <a:buNone/>
            </a:pPr>
            <a:r>
              <a:rPr b="1">
                <a:latin typeface="CMU SERIF ROMAN"/>
                <a:ea typeface="CMU SERIF ROMAN"/>
                <a:cs typeface="CMU SERIF ROMAN"/>
              </a:rPr>
              <a:t>Common in decoder-only LLMs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811A40-8425-4195-C65F-82D579514460}"/>
              </a:ext>
            </a:extLst>
          </p:cNvPr>
          <p:cNvSpPr>
            <a:spLocks noGrp="1"/>
          </p:cNvSpPr>
          <p:nvPr/>
        </p:nvSpPr>
        <p:spPr>
          <a:xfrm>
            <a:off x="6448223" y="4597672"/>
            <a:ext cx="4843186" cy="4351338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 typeface="Arial"/>
              <a:buNone/>
            </a:pPr>
            <a:r>
              <a:rPr b="1">
                <a:latin typeface="CMU SERIF ROMAN"/>
                <a:ea typeface="CMU SERIF ROMAN"/>
                <a:cs typeface="CMU SERIF ROMAN"/>
              </a:rPr>
              <a:t>Bidirectional attention</a:t>
            </a:r>
          </a:p>
          <a:p>
            <a:pPr marL="0" indent="0">
              <a:buNone/>
            </a:pPr>
            <a:r>
              <a:rPr b="1">
                <a:latin typeface="CMU SERIF ROMAN"/>
                <a:ea typeface="CMU SERIF ROMAN"/>
                <a:cs typeface="CMU SERIF ROMAN"/>
              </a:rPr>
              <a:t>Uses context on both sides</a:t>
            </a:r>
          </a:p>
          <a:p>
            <a:pPr marL="0" indent="0">
              <a:buFont typeface="Arial"/>
              <a:buNone/>
            </a:pPr>
            <a:r>
              <a:rPr b="1">
                <a:latin typeface="CMU SERIF ROMAN"/>
                <a:ea typeface="CMU SERIF ROMAN"/>
                <a:cs typeface="CMU SERIF ROMAN"/>
              </a:rPr>
              <a:t>Common in encoder models</a:t>
            </a:r>
          </a:p>
        </p:txBody>
      </p:sp>
      <p:pic>
        <p:nvPicPr>
          <p:cNvPr id="11" name="Google Shape;210;p3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5999" y="1576252"/>
            <a:ext cx="2776069" cy="2783568"/>
          </a:xfrm>
          <a:prstGeom prst="rect">
            <a:avLst/>
          </a:prstGeom>
          <a:ln>
            <a:noFill/>
          </a:ln>
        </p:spPr>
      </p:pic>
      <p:pic>
        <p:nvPicPr>
          <p:cNvPr id="12" name="Google Shape;232;p34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8223" y="1633470"/>
            <a:ext cx="4003719" cy="266913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1368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D9872C54-FE30-4CC4-987F-8EAF4B55C540}"/>
              </a:ext>
            </a:extLst>
          </p:cNvPr>
          <p:cNvSpPr>
            <a:spLocks noGrp="1"/>
          </p:cNvSpPr>
          <p:nvPr/>
        </p:nvSpPr>
        <p:spPr>
          <a:xfrm>
            <a:off x="435173" y="624945"/>
            <a:ext cx="13160400" cy="10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90000"/>
              </a:lnSpc>
              <a:spcBef>
                <a:spcPts val="1600"/>
              </a:spcBef>
              <a:buNone/>
            </a:pPr>
            <a:r>
              <a:rPr sz="2700" b="1" u="sng">
                <a:solidFill>
                  <a:srgbClr val="3F3F3F"/>
                </a:solidFill>
                <a:latin typeface="Source Code Pro"/>
                <a:ea typeface="Source Code Pro"/>
                <a:cs typeface="Source Code Pro"/>
              </a:rPr>
              <a:t>L</a:t>
            </a:r>
            <a:r>
              <a:rPr sz="2700">
                <a:solidFill>
                  <a:srgbClr val="3F3F3F"/>
                </a:solidFill>
                <a:latin typeface="Source Code Pro"/>
                <a:ea typeface="Source Code Pro"/>
                <a:cs typeface="Source Code Pro"/>
              </a:rPr>
              <a:t>arge </a:t>
            </a:r>
            <a:r>
              <a:rPr sz="2700" b="1" u="sng">
                <a:solidFill>
                  <a:srgbClr val="3F3F3F"/>
                </a:solidFill>
                <a:latin typeface="Source Code Pro"/>
                <a:ea typeface="Source Code Pro"/>
                <a:cs typeface="Source Code Pro"/>
              </a:rPr>
              <a:t>La</a:t>
            </a:r>
            <a:r>
              <a:rPr sz="2700">
                <a:solidFill>
                  <a:srgbClr val="3F3F3F"/>
                </a:solidFill>
                <a:latin typeface="Source Code Pro"/>
                <a:ea typeface="Source Code Pro"/>
                <a:cs typeface="Source Code Pro"/>
              </a:rPr>
              <a:t>nguage Model </a:t>
            </a:r>
            <a:r>
              <a:rPr sz="2700" b="1" u="sng">
                <a:solidFill>
                  <a:srgbClr val="3F3F3F"/>
                </a:solidFill>
                <a:latin typeface="Source Code Pro"/>
                <a:ea typeface="Source Code Pro"/>
                <a:cs typeface="Source Code Pro"/>
              </a:rPr>
              <a:t>M</a:t>
            </a:r>
            <a:r>
              <a:rPr sz="2700">
                <a:solidFill>
                  <a:srgbClr val="3F3F3F"/>
                </a:solidFill>
                <a:latin typeface="Source Code Pro"/>
                <a:ea typeface="Source Code Pro"/>
                <a:cs typeface="Source Code Pro"/>
              </a:rPr>
              <a:t>eta </a:t>
            </a:r>
            <a:r>
              <a:rPr sz="2700" b="1" u="sng">
                <a:solidFill>
                  <a:srgbClr val="3F3F3F"/>
                </a:solidFill>
                <a:latin typeface="Source Code Pro"/>
                <a:ea typeface="Source Code Pro"/>
                <a:cs typeface="Source Code Pro"/>
              </a:rPr>
              <a:t>A</a:t>
            </a:r>
            <a:r>
              <a:rPr sz="2700">
                <a:solidFill>
                  <a:srgbClr val="3F3F3F"/>
                </a:solidFill>
                <a:latin typeface="Source Code Pro"/>
                <a:ea typeface="Source Code Pro"/>
                <a:cs typeface="Source Code Pro"/>
              </a:rPr>
              <a:t>I</a:t>
            </a:r>
          </a:p>
          <a:p>
            <a:pPr marL="0" lvl="0" indent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667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3200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667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667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90000"/>
              </a:lnSpc>
              <a:spcBef>
                <a:spcPts val="1600"/>
              </a:spcBef>
              <a:spcAft>
                <a:spcPts val="267"/>
              </a:spcAft>
              <a:buNone/>
            </a:pPr>
            <a:endParaRPr sz="2667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Google Shape;196;p33">
            <a:extLst>
              <a:ext uri="{FF2B5EF4-FFF2-40B4-BE49-F238E27FC236}">
                <a16:creationId xmlns:a16="http://schemas.microsoft.com/office/drawing/2014/main" id="{D6CF21CA-9CD3-441C-9CA9-E485E173E069}"/>
              </a:ext>
            </a:extLst>
          </p:cNvPr>
          <p:cNvSpPr>
            <a:spLocks noGrp="1"/>
          </p:cNvSpPr>
          <p:nvPr/>
        </p:nvSpPr>
        <p:spPr>
          <a:xfrm>
            <a:off x="5670602" y="2217962"/>
            <a:ext cx="3251200" cy="3566000"/>
          </a:xfrm>
          <a:prstGeom prst="roundRect">
            <a:avLst>
              <a:gd name="adj" fmla="val 16667"/>
            </a:avLst>
          </a:prstGeom>
          <a:solidFill>
            <a:srgbClr val="DFE3E5"/>
          </a:solidFill>
          <a:ln w="9525" cmpd="sng">
            <a:solidFill>
              <a:srgbClr val="335B74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20" name="Google Shape;197;p33"/>
          <p:cNvGraphicFramePr/>
          <p:nvPr/>
        </p:nvGraphicFramePr>
        <p:xfrm>
          <a:off x="450674" y="2416162"/>
          <a:ext cx="825800" cy="3200160"/>
        </p:xfrm>
        <a:graphic>
          <a:graphicData uri="http://schemas.openxmlformats.org/drawingml/2006/table">
            <a:tbl>
              <a:tblPr/>
              <a:tblGrid>
                <a:gridCol w="8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‘the’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‘cat’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‘sat’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‘on’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‘the’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‘mat’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21" name="Google Shape;198;p33"/>
          <p:cNvGraphicFramePr/>
          <p:nvPr/>
        </p:nvGraphicFramePr>
        <p:xfrm>
          <a:off x="2121008" y="1887896"/>
          <a:ext cx="1158967" cy="4266880"/>
        </p:xfrm>
        <a:graphic>
          <a:graphicData uri="http://schemas.openxmlformats.org/drawingml/2006/table">
            <a:tbl>
              <a:tblPr/>
              <a:tblGrid>
                <a:gridCol w="1158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‘&lt;bos&gt;’’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‘the’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‘cat’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‘sat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‘on’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‘the’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‘mat’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‘&lt;eos&gt;’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2" name="Google Shape;199;p33"/>
          <p:cNvGraphicFramePr/>
          <p:nvPr/>
        </p:nvGraphicFramePr>
        <p:xfrm>
          <a:off x="4175741" y="1887896"/>
          <a:ext cx="1062100" cy="4266880"/>
        </p:xfrm>
        <a:graphic>
          <a:graphicData uri="http://schemas.openxmlformats.org/drawingml/2006/table">
            <a:tbl>
              <a:tblPr/>
              <a:tblGrid>
                <a:gridCol w="106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101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1996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4937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6583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2006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1996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13523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102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3" name="Google Shape;200;p33"/>
          <p:cNvGraphicFramePr/>
          <p:nvPr/>
        </p:nvGraphicFramePr>
        <p:xfrm>
          <a:off x="9199740" y="2404162"/>
          <a:ext cx="2590266" cy="1600080"/>
        </p:xfrm>
        <a:graphic>
          <a:graphicData uri="http://schemas.openxmlformats.org/drawingml/2006/table">
            <a:tbl>
              <a:tblPr/>
              <a:tblGrid>
                <a:gridCol w="1295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‘mat’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0.19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‘dog’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0.14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‘hippo’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0.07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7582EAF7-BA64-4995-81ED-466CF1FA4550}"/>
              </a:ext>
            </a:extLst>
          </p:cNvPr>
          <p:cNvSpPr>
            <a:spLocks noGrp="1"/>
          </p:cNvSpPr>
          <p:nvPr/>
        </p:nvSpPr>
        <p:spPr>
          <a:xfrm>
            <a:off x="10452074" y="4216396"/>
            <a:ext cx="85600" cy="100400"/>
          </a:xfrm>
          <a:prstGeom prst="ellipse">
            <a:avLst/>
          </a:prstGeom>
          <a:solidFill>
            <a:srgbClr val="DFE3E5"/>
          </a:solidFill>
          <a:ln w="9525" cmpd="sng">
            <a:solidFill>
              <a:srgbClr val="335B74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</a:endParaRPr>
          </a:p>
        </p:txBody>
      </p:sp>
      <p:sp>
        <p:nvSpPr>
          <p:cNvPr id="203" name="Google Shape;203;p33">
            <a:extLst>
              <a:ext uri="{FF2B5EF4-FFF2-40B4-BE49-F238E27FC236}">
                <a16:creationId xmlns:a16="http://schemas.microsoft.com/office/drawing/2014/main" id="{5BA15FBB-E754-45E4-80A0-3B2286FDC3E1}"/>
              </a:ext>
            </a:extLst>
          </p:cNvPr>
          <p:cNvSpPr>
            <a:spLocks noGrp="1"/>
          </p:cNvSpPr>
          <p:nvPr/>
        </p:nvSpPr>
        <p:spPr>
          <a:xfrm>
            <a:off x="10452074" y="4479029"/>
            <a:ext cx="85600" cy="100400"/>
          </a:xfrm>
          <a:prstGeom prst="ellipse">
            <a:avLst/>
          </a:prstGeom>
          <a:solidFill>
            <a:srgbClr val="DFE3E5"/>
          </a:solidFill>
          <a:ln w="9525" cmpd="sng">
            <a:solidFill>
              <a:srgbClr val="335B74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p33">
            <a:extLst>
              <a:ext uri="{FF2B5EF4-FFF2-40B4-BE49-F238E27FC236}">
                <a16:creationId xmlns:a16="http://schemas.microsoft.com/office/drawing/2014/main" id="{A1AC0226-44DC-45F8-B35B-E3FDA0E55A9D}"/>
              </a:ext>
            </a:extLst>
          </p:cNvPr>
          <p:cNvSpPr>
            <a:spLocks noGrp="1"/>
          </p:cNvSpPr>
          <p:nvPr/>
        </p:nvSpPr>
        <p:spPr>
          <a:xfrm>
            <a:off x="10452074" y="4741663"/>
            <a:ext cx="85600" cy="100400"/>
          </a:xfrm>
          <a:prstGeom prst="ellipse">
            <a:avLst/>
          </a:prstGeom>
          <a:solidFill>
            <a:srgbClr val="DFE3E5"/>
          </a:solidFill>
          <a:ln w="9525" cmpd="sng">
            <a:solidFill>
              <a:srgbClr val="335B74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27" name="Google Shape;205;p33"/>
          <p:cNvGraphicFramePr/>
          <p:nvPr/>
        </p:nvGraphicFramePr>
        <p:xfrm>
          <a:off x="9199740" y="5069496"/>
          <a:ext cx="2590266" cy="533360"/>
        </p:xfrm>
        <a:graphic>
          <a:graphicData uri="http://schemas.openxmlformats.org/drawingml/2006/table">
            <a:tbl>
              <a:tblPr/>
              <a:tblGrid>
                <a:gridCol w="1295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‘was’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0.000001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6" name="Google Shape;206;p33">
            <a:extLst>
              <a:ext uri="{FF2B5EF4-FFF2-40B4-BE49-F238E27FC236}">
                <a16:creationId xmlns:a16="http://schemas.microsoft.com/office/drawing/2014/main" id="{8059D49F-7FF2-428B-81F4-3AD47FB775B4}"/>
              </a:ext>
            </a:extLst>
          </p:cNvPr>
          <p:cNvSpPr>
            <a:spLocks noGrp="1"/>
          </p:cNvSpPr>
          <p:nvPr/>
        </p:nvSpPr>
        <p:spPr>
          <a:xfrm>
            <a:off x="1319540" y="3902562"/>
            <a:ext cx="758400" cy="19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FE3E5"/>
          </a:solidFill>
          <a:ln w="9525" cmpd="sng">
            <a:solidFill>
              <a:srgbClr val="335B74"/>
            </a:solidFill>
            <a:prstDash val="solid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</a:endParaRPr>
          </a:p>
        </p:txBody>
      </p:sp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BFDA3C2A-37B3-42DC-970C-AC977FCE165C}"/>
              </a:ext>
            </a:extLst>
          </p:cNvPr>
          <p:cNvSpPr>
            <a:spLocks noGrp="1"/>
          </p:cNvSpPr>
          <p:nvPr/>
        </p:nvSpPr>
        <p:spPr>
          <a:xfrm>
            <a:off x="3348658" y="3902562"/>
            <a:ext cx="758400" cy="19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FE3E5"/>
          </a:solidFill>
          <a:ln w="9525" cmpd="sng">
            <a:solidFill>
              <a:srgbClr val="335B74"/>
            </a:solidFill>
            <a:prstDash val="solid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</a:endParaRPr>
          </a:p>
        </p:txBody>
      </p:sp>
      <p:sp>
        <p:nvSpPr>
          <p:cNvPr id="208" name="Google Shape;208;p33">
            <a:extLst>
              <a:ext uri="{FF2B5EF4-FFF2-40B4-BE49-F238E27FC236}">
                <a16:creationId xmlns:a16="http://schemas.microsoft.com/office/drawing/2014/main" id="{DEAB1A79-FD68-4C2F-A864-7A5BB11FDDD2}"/>
              </a:ext>
            </a:extLst>
          </p:cNvPr>
          <p:cNvSpPr>
            <a:spLocks noGrp="1"/>
          </p:cNvSpPr>
          <p:nvPr/>
        </p:nvSpPr>
        <p:spPr>
          <a:xfrm>
            <a:off x="5368668" y="3902562"/>
            <a:ext cx="912400" cy="19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FE3E5"/>
          </a:solidFill>
          <a:ln w="9525" cmpd="sng">
            <a:solidFill>
              <a:srgbClr val="335B74"/>
            </a:solidFill>
            <a:prstDash val="solid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</a:endParaRPr>
          </a:p>
        </p:txBody>
      </p:sp>
      <p:sp>
        <p:nvSpPr>
          <p:cNvPr id="209" name="Google Shape;209;p33">
            <a:extLst>
              <a:ext uri="{FF2B5EF4-FFF2-40B4-BE49-F238E27FC236}">
                <a16:creationId xmlns:a16="http://schemas.microsoft.com/office/drawing/2014/main" id="{C6B8BE03-8349-42BD-9F1D-646E71A8ECCA}"/>
              </a:ext>
            </a:extLst>
          </p:cNvPr>
          <p:cNvSpPr>
            <a:spLocks noGrp="1"/>
          </p:cNvSpPr>
          <p:nvPr/>
        </p:nvSpPr>
        <p:spPr>
          <a:xfrm>
            <a:off x="8277067" y="3902562"/>
            <a:ext cx="826000" cy="19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FE3E5"/>
          </a:solidFill>
          <a:ln w="9525" cmpd="sng">
            <a:solidFill>
              <a:srgbClr val="335B74"/>
            </a:solidFill>
            <a:prstDash val="solid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</a:endParaRPr>
          </a:p>
        </p:txBody>
      </p:sp>
      <p:pic>
        <p:nvPicPr>
          <p:cNvPr id="232" name="Google Shape;210;p3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4490" y="2296662"/>
            <a:ext cx="3408600" cy="3408600"/>
          </a:xfrm>
          <a:prstGeom prst="rect">
            <a:avLst/>
          </a:prstGeom>
          <a:ln>
            <a:noFill/>
          </a:ln>
        </p:spPr>
      </p:pic>
      <p:sp>
        <p:nvSpPr>
          <p:cNvPr id="211" name="Google Shape;211;p33">
            <a:extLst>
              <a:ext uri="{FF2B5EF4-FFF2-40B4-BE49-F238E27FC236}">
                <a16:creationId xmlns:a16="http://schemas.microsoft.com/office/drawing/2014/main" id="{EEF7DA08-DAC0-4398-B409-AD804EF4B8B8}"/>
              </a:ext>
            </a:extLst>
          </p:cNvPr>
          <p:cNvSpPr>
            <a:spLocks noGrp="1"/>
          </p:cNvSpPr>
          <p:nvPr/>
        </p:nvSpPr>
        <p:spPr>
          <a:xfrm>
            <a:off x="2121007" y="5093782"/>
            <a:ext cx="1158800" cy="528400"/>
          </a:xfrm>
          <a:prstGeom prst="rect">
            <a:avLst/>
          </a:prstGeom>
          <a:noFill/>
          <a:ln w="19050" cmpd="sng">
            <a:solidFill>
              <a:srgbClr val="9900FF"/>
            </a:solidFill>
            <a:prstDash val="solid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Source Code Pro"/>
              <a:ea typeface="Source Code Pro"/>
              <a:cs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1520247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>
            <a:extLst>
              <a:ext uri="{FF2B5EF4-FFF2-40B4-BE49-F238E27FC236}">
                <a16:creationId xmlns:a16="http://schemas.microsoft.com/office/drawing/2014/main" id="{11B0B042-4DD9-4502-93E2-D27F7354CC44}"/>
              </a:ext>
            </a:extLst>
          </p:cNvPr>
          <p:cNvSpPr>
            <a:spLocks noGrp="1"/>
          </p:cNvSpPr>
          <p:nvPr/>
        </p:nvSpPr>
        <p:spPr>
          <a:xfrm>
            <a:off x="5602566" y="2177140"/>
            <a:ext cx="3251200" cy="3566000"/>
          </a:xfrm>
          <a:prstGeom prst="roundRect">
            <a:avLst>
              <a:gd name="adj" fmla="val 16667"/>
            </a:avLst>
          </a:prstGeom>
          <a:solidFill>
            <a:srgbClr val="DFE3E5"/>
          </a:solidFill>
          <a:ln w="9525" cmpd="sng">
            <a:solidFill>
              <a:srgbClr val="335B74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39" name="Google Shape;219;p34"/>
          <p:cNvGraphicFramePr/>
          <p:nvPr/>
        </p:nvGraphicFramePr>
        <p:xfrm>
          <a:off x="382638" y="2375340"/>
          <a:ext cx="825800" cy="3200160"/>
        </p:xfrm>
        <a:graphic>
          <a:graphicData uri="http://schemas.openxmlformats.org/drawingml/2006/table">
            <a:tbl>
              <a:tblPr/>
              <a:tblGrid>
                <a:gridCol w="8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‘the’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‘cat’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‘sat’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‘on’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‘the’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‘mat’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40" name="Google Shape;220;p34"/>
          <p:cNvGraphicFramePr/>
          <p:nvPr/>
        </p:nvGraphicFramePr>
        <p:xfrm>
          <a:off x="2052972" y="1847074"/>
          <a:ext cx="1158967" cy="4266880"/>
        </p:xfrm>
        <a:graphic>
          <a:graphicData uri="http://schemas.openxmlformats.org/drawingml/2006/table">
            <a:tbl>
              <a:tblPr/>
              <a:tblGrid>
                <a:gridCol w="1158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‘[CLS]’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‘the’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‘cat’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‘[MASK]’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‘on’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‘the’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‘mat’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‘[SEP]’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41" name="Google Shape;221;p34"/>
          <p:cNvGraphicFramePr/>
          <p:nvPr/>
        </p:nvGraphicFramePr>
        <p:xfrm>
          <a:off x="4107705" y="1847074"/>
          <a:ext cx="1062100" cy="4266880"/>
        </p:xfrm>
        <a:graphic>
          <a:graphicData uri="http://schemas.openxmlformats.org/drawingml/2006/table">
            <a:tbl>
              <a:tblPr/>
              <a:tblGrid>
                <a:gridCol w="106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101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1996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4937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103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2006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1996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13523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102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42" name="Google Shape;222;p34"/>
          <p:cNvGraphicFramePr/>
          <p:nvPr/>
        </p:nvGraphicFramePr>
        <p:xfrm>
          <a:off x="9131704" y="2363340"/>
          <a:ext cx="2590266" cy="1600080"/>
        </p:xfrm>
        <a:graphic>
          <a:graphicData uri="http://schemas.openxmlformats.org/drawingml/2006/table">
            <a:tbl>
              <a:tblPr/>
              <a:tblGrid>
                <a:gridCol w="1295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‘sat’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0.19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‘was’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0.14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‘lay’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0.07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4" name="Google Shape;224;p34">
            <a:extLst>
              <a:ext uri="{FF2B5EF4-FFF2-40B4-BE49-F238E27FC236}">
                <a16:creationId xmlns:a16="http://schemas.microsoft.com/office/drawing/2014/main" id="{71C77B86-74FF-4B95-9B1E-2C8A9D7ADEBB}"/>
              </a:ext>
            </a:extLst>
          </p:cNvPr>
          <p:cNvSpPr>
            <a:spLocks noGrp="1"/>
          </p:cNvSpPr>
          <p:nvPr/>
        </p:nvSpPr>
        <p:spPr>
          <a:xfrm>
            <a:off x="10384038" y="4175574"/>
            <a:ext cx="85600" cy="100400"/>
          </a:xfrm>
          <a:prstGeom prst="ellipse">
            <a:avLst/>
          </a:prstGeom>
          <a:solidFill>
            <a:srgbClr val="DFE3E5"/>
          </a:solidFill>
          <a:ln w="9525" cmpd="sng">
            <a:solidFill>
              <a:srgbClr val="335B74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</a:endParaRPr>
          </a:p>
        </p:txBody>
      </p:sp>
      <p:sp>
        <p:nvSpPr>
          <p:cNvPr id="225" name="Google Shape;225;p34">
            <a:extLst>
              <a:ext uri="{FF2B5EF4-FFF2-40B4-BE49-F238E27FC236}">
                <a16:creationId xmlns:a16="http://schemas.microsoft.com/office/drawing/2014/main" id="{58442F6D-1CAB-49F6-BB12-DD249D0EB891}"/>
              </a:ext>
            </a:extLst>
          </p:cNvPr>
          <p:cNvSpPr>
            <a:spLocks noGrp="1"/>
          </p:cNvSpPr>
          <p:nvPr/>
        </p:nvSpPr>
        <p:spPr>
          <a:xfrm>
            <a:off x="10384038" y="4438207"/>
            <a:ext cx="85600" cy="100400"/>
          </a:xfrm>
          <a:prstGeom prst="ellipse">
            <a:avLst/>
          </a:prstGeom>
          <a:solidFill>
            <a:srgbClr val="DFE3E5"/>
          </a:solidFill>
          <a:ln w="9525" cmpd="sng">
            <a:solidFill>
              <a:srgbClr val="335B74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34">
            <a:extLst>
              <a:ext uri="{FF2B5EF4-FFF2-40B4-BE49-F238E27FC236}">
                <a16:creationId xmlns:a16="http://schemas.microsoft.com/office/drawing/2014/main" id="{EC6A26F2-A711-400C-9037-A82E89BA31F0}"/>
              </a:ext>
            </a:extLst>
          </p:cNvPr>
          <p:cNvSpPr>
            <a:spLocks noGrp="1"/>
          </p:cNvSpPr>
          <p:nvPr/>
        </p:nvSpPr>
        <p:spPr>
          <a:xfrm>
            <a:off x="10384038" y="4700841"/>
            <a:ext cx="85600" cy="100400"/>
          </a:xfrm>
          <a:prstGeom prst="ellipse">
            <a:avLst/>
          </a:prstGeom>
          <a:solidFill>
            <a:srgbClr val="DFE3E5"/>
          </a:solidFill>
          <a:ln w="9525" cmpd="sng">
            <a:solidFill>
              <a:srgbClr val="335B74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46" name="Google Shape;227;p34"/>
          <p:cNvGraphicFramePr/>
          <p:nvPr/>
        </p:nvGraphicFramePr>
        <p:xfrm>
          <a:off x="9131704" y="5028674"/>
          <a:ext cx="2590266" cy="533360"/>
        </p:xfrm>
        <a:graphic>
          <a:graphicData uri="http://schemas.openxmlformats.org/drawingml/2006/table">
            <a:tbl>
              <a:tblPr/>
              <a:tblGrid>
                <a:gridCol w="1295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28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‘hippo’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900"/>
                        <a:t>0.000001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8" name="Google Shape;228;p34">
            <a:extLst>
              <a:ext uri="{FF2B5EF4-FFF2-40B4-BE49-F238E27FC236}">
                <a16:creationId xmlns:a16="http://schemas.microsoft.com/office/drawing/2014/main" id="{C8317CF2-BBF6-4A70-B4CF-81E0DBEBF57E}"/>
              </a:ext>
            </a:extLst>
          </p:cNvPr>
          <p:cNvSpPr>
            <a:spLocks noGrp="1"/>
          </p:cNvSpPr>
          <p:nvPr/>
        </p:nvSpPr>
        <p:spPr>
          <a:xfrm>
            <a:off x="1251504" y="3861740"/>
            <a:ext cx="758400" cy="19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FE3E5"/>
          </a:solidFill>
          <a:ln w="9525" cmpd="sng">
            <a:solidFill>
              <a:srgbClr val="335B74"/>
            </a:solidFill>
            <a:prstDash val="solid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</a:endParaRPr>
          </a:p>
        </p:txBody>
      </p:sp>
      <p:sp>
        <p:nvSpPr>
          <p:cNvPr id="229" name="Google Shape;229;p34">
            <a:extLst>
              <a:ext uri="{FF2B5EF4-FFF2-40B4-BE49-F238E27FC236}">
                <a16:creationId xmlns:a16="http://schemas.microsoft.com/office/drawing/2014/main" id="{4A788CC0-4294-41DF-B35E-BB8B1B904528}"/>
              </a:ext>
            </a:extLst>
          </p:cNvPr>
          <p:cNvSpPr>
            <a:spLocks noGrp="1"/>
          </p:cNvSpPr>
          <p:nvPr/>
        </p:nvSpPr>
        <p:spPr>
          <a:xfrm>
            <a:off x="3280622" y="3861740"/>
            <a:ext cx="758400" cy="19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FE3E5"/>
          </a:solidFill>
          <a:ln w="9525" cmpd="sng">
            <a:solidFill>
              <a:srgbClr val="335B74"/>
            </a:solidFill>
            <a:prstDash val="solid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</a:endParaRPr>
          </a:p>
        </p:txBody>
      </p:sp>
      <p:sp>
        <p:nvSpPr>
          <p:cNvPr id="230" name="Google Shape;230;p34">
            <a:extLst>
              <a:ext uri="{FF2B5EF4-FFF2-40B4-BE49-F238E27FC236}">
                <a16:creationId xmlns:a16="http://schemas.microsoft.com/office/drawing/2014/main" id="{AD5EDFD9-E8AF-4891-A2BB-80B7A65B1045}"/>
              </a:ext>
            </a:extLst>
          </p:cNvPr>
          <p:cNvSpPr>
            <a:spLocks noGrp="1"/>
          </p:cNvSpPr>
          <p:nvPr/>
        </p:nvSpPr>
        <p:spPr>
          <a:xfrm>
            <a:off x="5300632" y="3861740"/>
            <a:ext cx="912400" cy="19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FE3E5"/>
          </a:solidFill>
          <a:ln w="9525" cmpd="sng">
            <a:solidFill>
              <a:srgbClr val="335B74"/>
            </a:solidFill>
            <a:prstDash val="solid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</a:endParaRPr>
          </a:p>
        </p:txBody>
      </p:sp>
      <p:sp>
        <p:nvSpPr>
          <p:cNvPr id="231" name="Google Shape;231;p34">
            <a:extLst>
              <a:ext uri="{FF2B5EF4-FFF2-40B4-BE49-F238E27FC236}">
                <a16:creationId xmlns:a16="http://schemas.microsoft.com/office/drawing/2014/main" id="{FDFA7D71-B2BE-48A5-ADE5-D50D29C7CD96}"/>
              </a:ext>
            </a:extLst>
          </p:cNvPr>
          <p:cNvSpPr>
            <a:spLocks noGrp="1"/>
          </p:cNvSpPr>
          <p:nvPr/>
        </p:nvSpPr>
        <p:spPr>
          <a:xfrm>
            <a:off x="8209031" y="3861740"/>
            <a:ext cx="826000" cy="19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FE3E5"/>
          </a:solidFill>
          <a:ln w="9525" cmpd="sng">
            <a:solidFill>
              <a:srgbClr val="335B74"/>
            </a:solidFill>
            <a:prstDash val="solid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</a:endParaRPr>
          </a:p>
        </p:txBody>
      </p:sp>
      <p:pic>
        <p:nvPicPr>
          <p:cNvPr id="251" name="Google Shape;232;p34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5939" y="2252000"/>
            <a:ext cx="5124465" cy="3416292"/>
          </a:xfrm>
          <a:prstGeom prst="rect">
            <a:avLst/>
          </a:prstGeom>
          <a:ln>
            <a:noFill/>
          </a:ln>
        </p:spPr>
      </p:pic>
      <p:sp>
        <p:nvSpPr>
          <p:cNvPr id="5" name="Google Shape;211;p33">
            <a:extLst>
              <a:ext uri="{FF2B5EF4-FFF2-40B4-BE49-F238E27FC236}">
                <a16:creationId xmlns:a16="http://schemas.microsoft.com/office/drawing/2014/main" id="{E0E47159-A9F5-6412-F898-29C79B02E900}"/>
              </a:ext>
            </a:extLst>
          </p:cNvPr>
          <p:cNvSpPr>
            <a:spLocks noGrp="1"/>
          </p:cNvSpPr>
          <p:nvPr/>
        </p:nvSpPr>
        <p:spPr>
          <a:xfrm>
            <a:off x="2052971" y="3440514"/>
            <a:ext cx="1158800" cy="528400"/>
          </a:xfrm>
          <a:prstGeom prst="rect">
            <a:avLst/>
          </a:prstGeom>
          <a:noFill/>
          <a:ln w="19050" cmpd="sng">
            <a:solidFill>
              <a:srgbClr val="9900FF"/>
            </a:solidFill>
            <a:prstDash val="solid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Source Code Pro"/>
              <a:ea typeface="Source Code Pro"/>
              <a:cs typeface="Source Code Pro"/>
            </a:endParaRPr>
          </a:p>
        </p:txBody>
      </p:sp>
      <p:sp>
        <p:nvSpPr>
          <p:cNvPr id="7" name="Google Shape;195;p33">
            <a:extLst>
              <a:ext uri="{FF2B5EF4-FFF2-40B4-BE49-F238E27FC236}">
                <a16:creationId xmlns:a16="http://schemas.microsoft.com/office/drawing/2014/main" id="{055C77B6-9701-0DEB-0EE9-EA42C30DD5F5}"/>
              </a:ext>
            </a:extLst>
          </p:cNvPr>
          <p:cNvSpPr>
            <a:spLocks noGrp="1"/>
          </p:cNvSpPr>
          <p:nvPr/>
        </p:nvSpPr>
        <p:spPr>
          <a:xfrm>
            <a:off x="435173" y="547190"/>
            <a:ext cx="13160400" cy="10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t">
            <a:norm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sz="2700" b="1" u="sng">
                <a:solidFill>
                  <a:srgbClr val="3F3F3F"/>
                </a:solidFill>
                <a:latin typeface="Source Code Pro"/>
                <a:ea typeface="Source Code Pro"/>
                <a:cs typeface="Source Code Pro"/>
              </a:rPr>
              <a:t>B</a:t>
            </a:r>
            <a:r>
              <a:rPr sz="2700">
                <a:solidFill>
                  <a:srgbClr val="3F3F3F"/>
                </a:solidFill>
                <a:latin typeface="Source Code Pro"/>
                <a:ea typeface="Source Code Pro"/>
                <a:cs typeface="Source Code Pro"/>
              </a:rPr>
              <a:t>idirectional </a:t>
            </a:r>
            <a:r>
              <a:rPr sz="2700" b="1" u="sng">
                <a:solidFill>
                  <a:srgbClr val="3F3F3F"/>
                </a:solidFill>
                <a:latin typeface="Source Code Pro"/>
                <a:ea typeface="Source Code Pro"/>
                <a:cs typeface="Source Code Pro"/>
              </a:rPr>
              <a:t>E</a:t>
            </a:r>
            <a:r>
              <a:rPr sz="2700">
                <a:solidFill>
                  <a:srgbClr val="3F3F3F"/>
                </a:solidFill>
                <a:latin typeface="Source Code Pro"/>
                <a:ea typeface="Source Code Pro"/>
                <a:cs typeface="Source Code Pro"/>
              </a:rPr>
              <a:t>ncoder </a:t>
            </a:r>
            <a:r>
              <a:rPr sz="2700" b="1" u="sng">
                <a:solidFill>
                  <a:srgbClr val="3F3F3F"/>
                </a:solidFill>
                <a:latin typeface="Source Code Pro"/>
                <a:ea typeface="Source Code Pro"/>
                <a:cs typeface="Source Code Pro"/>
              </a:rPr>
              <a:t>R</a:t>
            </a:r>
            <a:r>
              <a:rPr sz="2700">
                <a:solidFill>
                  <a:srgbClr val="3F3F3F"/>
                </a:solidFill>
                <a:latin typeface="Source Code Pro"/>
                <a:ea typeface="Source Code Pro"/>
                <a:cs typeface="Source Code Pro"/>
              </a:rPr>
              <a:t>epresentations from </a:t>
            </a:r>
            <a:r>
              <a:rPr sz="2700" b="1" u="sng">
                <a:solidFill>
                  <a:srgbClr val="3F3F3F"/>
                </a:solidFill>
                <a:latin typeface="Source Code Pro"/>
                <a:ea typeface="Source Code Pro"/>
                <a:cs typeface="Source Code Pro"/>
              </a:rPr>
              <a:t>T</a:t>
            </a:r>
            <a:r>
              <a:rPr sz="2700">
                <a:solidFill>
                  <a:srgbClr val="3F3F3F"/>
                </a:solidFill>
                <a:latin typeface="Source Code Pro"/>
                <a:ea typeface="Source Code Pro"/>
                <a:cs typeface="Source Code Pro"/>
              </a:rPr>
              <a:t>ransformers</a:t>
            </a:r>
            <a:endParaRPr sz="2700">
              <a:latin typeface="Source Code Pro"/>
              <a:ea typeface="Source Code Pro"/>
              <a:cs typeface="Source Code Pro"/>
            </a:endParaRPr>
          </a:p>
          <a:p>
            <a:pPr marL="0" lvl="0" indent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667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3200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667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667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90000"/>
              </a:lnSpc>
              <a:spcBef>
                <a:spcPts val="1600"/>
              </a:spcBef>
              <a:spcAft>
                <a:spcPts val="267"/>
              </a:spcAft>
              <a:buNone/>
            </a:pPr>
            <a:endParaRPr sz="2667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8660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57BAE-4AA9-D9D3-B88D-4137620EE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Further Reading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D7ACF-8A45-3F08-F5D6-8311FA9D9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“Attention is All You Need”, Vaswani et al. 2017</a:t>
            </a:r>
          </a:p>
          <a:p>
            <a:pPr marL="152396" indent="0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  <a:p>
            <a:r>
              <a:rPr>
                <a:latin typeface="CMU Serif Roman"/>
                <a:ea typeface="CMU Serif Roman"/>
                <a:cs typeface="CMU Serif Roman"/>
              </a:rPr>
              <a:t>3Blue1Brown “Attention in transformers, step-by-step” (YouTube)</a:t>
            </a:r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92492" y="3076377"/>
            <a:ext cx="5207016" cy="287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72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74674C2-DE73-4549-931B-3D8F6F55E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Resolving “it” with context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E2F5444-9286-422B-B2B7-AAE628443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dirty="0"/>
              <a:t>Work in pairs</a:t>
            </a:r>
          </a:p>
          <a:p>
            <a:pPr lvl="2">
              <a:buNone/>
            </a:pPr>
            <a:r>
              <a:rPr dirty="0"/>
              <a:t>Compare:</a:t>
            </a:r>
          </a:p>
          <a:p>
            <a:pPr lvl="3">
              <a:buNone/>
            </a:pPr>
            <a:r>
              <a:rPr dirty="0"/>
              <a:t>A. “The trophy did not fit in the suitcase because it was too small.”</a:t>
            </a:r>
            <a:endParaRPr lang="en-GB" dirty="0"/>
          </a:p>
          <a:p>
            <a:pPr lvl="3">
              <a:buNone/>
            </a:pPr>
            <a:r>
              <a:rPr dirty="0"/>
              <a:t>B. “The trophy did not fit in the suitcase because it was too large.”</a:t>
            </a:r>
          </a:p>
          <a:p>
            <a:pPr lvl="4">
              <a:buNone/>
            </a:pPr>
            <a:endParaRPr dirty="0"/>
          </a:p>
          <a:p>
            <a:pPr lvl="4">
              <a:buNone/>
            </a:pPr>
            <a:r>
              <a:rPr dirty="0"/>
              <a:t>For each sentence:</a:t>
            </a:r>
          </a:p>
          <a:p>
            <a:pPr lvl="4">
              <a:buNone/>
            </a:pPr>
            <a:r>
              <a:rPr dirty="0"/>
              <a:t>1. Decide what “it” refers to.</a:t>
            </a:r>
          </a:p>
          <a:p>
            <a:pPr lvl="4">
              <a:buNone/>
            </a:pPr>
            <a:r>
              <a:rPr dirty="0"/>
              <a:t>2. Circle the words most useful for making that decision.</a:t>
            </a:r>
          </a:p>
          <a:p>
            <a:pPr lvl="4">
              <a:buNone/>
            </a:pPr>
            <a:r>
              <a:rPr dirty="0"/>
              <a:t>3. Assign five illustrative attention weights that sum to 1.</a:t>
            </a:r>
          </a:p>
          <a:p>
            <a:pPr lvl="4">
              <a:buNone/>
            </a:pPr>
            <a:r>
              <a:rPr dirty="0"/>
              <a:t>4. Explain why changing one adjective changes the interpretation.</a:t>
            </a:r>
          </a:p>
          <a:p>
            <a:pPr lvl="4">
              <a:buNone/>
            </a:pPr>
            <a:endParaRPr dirty="0"/>
          </a:p>
          <a:p>
            <a:pPr lvl="4">
              <a:buNone/>
            </a:pPr>
            <a:r>
              <a:rPr dirty="0"/>
              <a:t>Share one limitation of using attention weights as an explanation.</a:t>
            </a:r>
          </a:p>
        </p:txBody>
      </p:sp>
    </p:spTree>
    <p:extLst>
      <p:ext uri="{BB962C8B-B14F-4D97-AF65-F5344CB8AC3E}">
        <p14:creationId xmlns:p14="http://schemas.microsoft.com/office/powerpoint/2010/main" val="975412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74674C2-DE73-4549-931B-3D8F6F55E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answers: Resolving “it”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E2F5444-9286-422B-B2B7-AAE628443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buNone/>
            </a:pPr>
            <a:r>
              <a:rPr dirty="0"/>
              <a:t>Sentence A</a:t>
            </a:r>
          </a:p>
          <a:p>
            <a:pPr lvl="1">
              <a:buNone/>
            </a:pPr>
            <a:r>
              <a:rPr dirty="0"/>
              <a:t>“It” = suitcase. It is too small to contain the trophy.</a:t>
            </a:r>
            <a:endParaRPr lang="en-GB" dirty="0"/>
          </a:p>
          <a:p>
            <a:pPr>
              <a:buNone/>
            </a:pPr>
            <a:r>
              <a:rPr dirty="0"/>
              <a:t>Sentence B</a:t>
            </a:r>
          </a:p>
          <a:p>
            <a:pPr lvl="1">
              <a:buNone/>
            </a:pPr>
            <a:r>
              <a:rPr dirty="0"/>
              <a:t>“It” = trophy. It is too large to fit in the suitcase.</a:t>
            </a:r>
          </a:p>
          <a:p>
            <a:pPr lvl="2">
              <a:buNone/>
            </a:pPr>
            <a:endParaRPr dirty="0"/>
          </a:p>
          <a:p>
            <a:pPr lvl="2">
              <a:buNone/>
            </a:pPr>
            <a:r>
              <a:rPr dirty="0"/>
              <a:t>Context clues</a:t>
            </a:r>
          </a:p>
          <a:p>
            <a:pPr lvl="2">
              <a:buNone/>
            </a:pPr>
            <a:r>
              <a:rPr dirty="0"/>
              <a:t>“Trophy,” “fit,” “suitcase,” and the final adjective work together.</a:t>
            </a:r>
          </a:p>
          <a:p>
            <a:pPr lvl="2">
              <a:buNone/>
            </a:pPr>
            <a:endParaRPr dirty="0"/>
          </a:p>
          <a:p>
            <a:pPr lvl="2">
              <a:buNone/>
            </a:pPr>
            <a:r>
              <a:rPr dirty="0"/>
              <a:t>Illustrative weights</a:t>
            </a:r>
          </a:p>
          <a:p>
            <a:pPr lvl="2">
              <a:buNone/>
            </a:pPr>
            <a:r>
              <a:rPr dirty="0"/>
              <a:t>Any non-negative distribution that sums to 1 can illustrate the idea.</a:t>
            </a:r>
          </a:p>
          <a:p>
            <a:pPr lvl="2">
              <a:buNone/>
            </a:pPr>
            <a:endParaRPr dirty="0"/>
          </a:p>
          <a:p>
            <a:pPr lvl="2">
              <a:buNone/>
            </a:pPr>
            <a:r>
              <a:rPr dirty="0"/>
              <a:t>Limitation</a:t>
            </a:r>
          </a:p>
          <a:p>
            <a:pPr lvl="2">
              <a:buNone/>
            </a:pPr>
            <a:r>
              <a:rPr dirty="0"/>
              <a:t>Attention weights alone do not fully explain the model’s decision.</a:t>
            </a:r>
          </a:p>
        </p:txBody>
      </p:sp>
    </p:spTree>
    <p:extLst>
      <p:ext uri="{BB962C8B-B14F-4D97-AF65-F5344CB8AC3E}">
        <p14:creationId xmlns:p14="http://schemas.microsoft.com/office/powerpoint/2010/main" val="1508939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1388</Words>
  <Application>Microsoft Macintosh PowerPoint</Application>
  <DocSecurity>0</DocSecurity>
  <PresentationFormat>Widescreen</PresentationFormat>
  <Paragraphs>476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3" baseType="lpstr">
      <vt:lpstr>Aptos</vt:lpstr>
      <vt:lpstr>Aptos Display</vt:lpstr>
      <vt:lpstr>Arial</vt:lpstr>
      <vt:lpstr>Avenir Book</vt:lpstr>
      <vt:lpstr>Avenir Heavy</vt:lpstr>
      <vt:lpstr>Calibri</vt:lpstr>
      <vt:lpstr>Cambria Math</vt:lpstr>
      <vt:lpstr>CMU Serif Roman</vt:lpstr>
      <vt:lpstr>CMU Serif Roman</vt:lpstr>
      <vt:lpstr>Courier New</vt:lpstr>
      <vt:lpstr>Helvetica</vt:lpstr>
      <vt:lpstr>Helvetica Light</vt:lpstr>
      <vt:lpstr>Source Code Pro</vt:lpstr>
      <vt:lpstr>office theme</vt:lpstr>
      <vt:lpstr>Attention</vt:lpstr>
      <vt:lpstr>Attention</vt:lpstr>
      <vt:lpstr>Original Transformer Architecture</vt:lpstr>
      <vt:lpstr>Attention</vt:lpstr>
      <vt:lpstr>Transformer Matrix Transformations </vt:lpstr>
      <vt:lpstr>The Transformer Engine </vt:lpstr>
      <vt:lpstr>Self-Attention and Multi-Head Attention 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Multi-headed attention</vt:lpstr>
      <vt:lpstr>Two types of models</vt:lpstr>
      <vt:lpstr>Two common attention patterns</vt:lpstr>
      <vt:lpstr>PowerPoint Presentation</vt:lpstr>
      <vt:lpstr>PowerPoint Presentation</vt:lpstr>
      <vt:lpstr>Further Reading</vt:lpstr>
      <vt:lpstr>Activity: Resolving “it” with context</vt:lpstr>
      <vt:lpstr>Activity answers: Resolving “it”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Fariba Yousefi</cp:lastModifiedBy>
  <cp:revision>23</cp:revision>
  <dcterms:created xsi:type="dcterms:W3CDTF">2026-09-25T12:54:14Z</dcterms:created>
  <dcterms:modified xsi:type="dcterms:W3CDTF">2026-09-25T22:09:32Z</dcterms:modified>
</cp:coreProperties>
</file>