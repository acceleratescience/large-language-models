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415"/>
  </p:normalViewPr>
  <p:slideViewPr>
    <p:cSldViewPr snapToGrid="0">
      <p:cViewPr varScale="1">
        <p:scale>
          <a:sx n="106" d="100"/>
          <a:sy n="106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kern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1FED-5FE6-4D11-B882-AD195C6E1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22255-9A2D-42B1-A5D4-327AE570F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CEA1B-25FB-40ED-99D9-30D8C31368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49604-B697-4E12-A880-48487BD6D6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0671-E8ED-4C4F-8212-EF42DE9BB7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B807-6D3D-411C-A443-B50A2DE4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47ABF-1648-458B-82B7-74AAAAF71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04AE-0B7B-49F5-84BF-7E356F33E2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FD6CC-CC0D-4B03-A54F-6FB3DB43F3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7A009-282B-4DC8-855D-E570DFC0D9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B3E2-DDFB-403E-9645-05AB0FFA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2A945-966B-4B99-928F-58C3B29E6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681D4-9389-4AC4-988E-A982382B24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0394-AC54-45F2-BBBB-40869DB3AF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5DD68-2604-4453-B55B-ACFDC00B78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6150-5F4D-4A3F-A856-FA7DDA64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42605-A72E-493A-88E4-581C7F781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A46C7-6512-4DCD-A06C-0AA6E7FAE2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9E5F8-5630-4465-B6A4-68B2E08648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7A86A-196B-46F5-B4E6-97B9AB3DDA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D99E5-CA20-4A40-81DA-7A4BE2166F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C457-1FA0-4A69-A26C-12950C48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96492-EAC0-41DE-9E17-8EB34370A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6BCCA-366E-4B53-B32B-275F432A86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4A7BA-3EE6-4E4D-A6B8-9C400E8E9FE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2594E-899E-4088-9603-AE18699FE5A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2E6ED-E0A7-4AF0-958D-B7E8D1E536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BBEA1-58A2-4944-B6FF-8716792103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AC7FB-5E41-48BC-8467-F3F7964AB7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B017-089F-4651-B89F-522FE7BE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6A6345-708A-467D-A001-8C37A8DFF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96F04-D51F-46A9-9B2D-ACE9009BAA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D5BF6-544D-44B6-89AE-ADDF964125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B0ADC-5BD5-4CDA-BE16-D1B0FA8341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E3CDB-9D4D-472E-A728-DCBA084510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30A94-38F3-4296-BC69-A8BAB81F7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4826-0114-4C37-9DBA-01C4BAA59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70D08-601C-47E3-B590-65CE39CEA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10FE4-6723-48F5-BB16-D74E535DE3C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23962-9027-451E-9D44-C0FD610F40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FDF0E-C78E-409E-B916-AADBA1EF64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583A8-BFC5-4C03-854F-F9F381491A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011D-BA8E-4ADB-B215-B74B72BA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627E1-7065-40E7-AEB4-5A565A782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F527A-6B43-41F4-91F1-2DBBB1CFBA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C8A24-10C2-43A8-BBE2-DF1A33DD65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515DC-D5CF-49A3-B6B2-F29F2BF184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38C28-F4B2-4CF4-8938-5DF76A8B8C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1EA90-2E77-4AC6-BCC9-7979A659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518A-DAA6-41FB-BEB1-C8000FE75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16615-F646-4E80-8D8F-38FC31F28B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D6CB7-4027-4B7D-8166-B1D95D23DC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3F5D4-345A-4F75-8E58-8A6642A363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E33F02-677C-4D2C-AF3E-6CD022F7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E9920-88A3-462D-8B06-E7813C1C3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538C-4881-4310-AEC0-031B6E6266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437B5-9C80-4E2D-94BE-4A1397617D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57087-E65E-47BB-AA15-646B066DD3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6BDC8-6F63-455E-9C84-83DFEE38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A6737-C08F-4CE3-97E0-88962B94E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8987-4633-4EAD-9361-68F966E1B7A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ECD68-6BF7-45C3-977A-D4B22F82088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9B246-07A7-4A5B-96AC-CA0BF747DB0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E52A-03A9-4504-B99E-ECB2121E76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t>Output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F3EC9-A94B-4DC3-BE5A-C7A7F841E2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algn="l">
              <a:buNone/>
            </a:pPr>
            <a:r>
              <a:t>...and pretraining</a:t>
            </a:r>
          </a:p>
        </p:txBody>
      </p:sp>
      <p:pic>
        <p:nvPicPr>
          <p:cNvPr id="60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584" y="3549409"/>
            <a:ext cx="2018744" cy="3084347"/>
          </a:xfrm>
          <a:prstGeom prst="rect">
            <a:avLst/>
          </a:prstGeom>
        </p:spPr>
      </p:pic>
      <p:cxnSp>
        <p:nvCxnSpPr>
          <p:cNvPr id="61" name="Connector: Curved 24"/>
          <p:cNvCxnSpPr/>
          <p:nvPr/>
        </p:nvCxnSpPr>
        <p:spPr>
          <a:xfrm>
            <a:off x="8296135" y="4524350"/>
            <a:ext cx="201130" cy="434500"/>
          </a:xfrm>
          <a:prstGeom prst="curved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Connector: Curved 25"/>
          <p:cNvCxnSpPr/>
          <p:nvPr/>
        </p:nvCxnSpPr>
        <p:spPr>
          <a:xfrm>
            <a:off x="8757408" y="4965486"/>
            <a:ext cx="220353" cy="455139"/>
          </a:xfrm>
          <a:prstGeom prst="curved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Connector: Curved 26"/>
          <p:cNvCxnSpPr/>
          <p:nvPr/>
        </p:nvCxnSpPr>
        <p:spPr>
          <a:xfrm>
            <a:off x="9207219" y="5417079"/>
            <a:ext cx="360945" cy="8660"/>
          </a:xfrm>
          <a:prstGeom prst="curved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66E5423-C6DB-43D0-96CF-089AF8382095}"/>
              </a:ext>
            </a:extLst>
          </p:cNvPr>
          <p:cNvSpPr>
            <a:spLocks noGrp="1"/>
          </p:cNvSpPr>
          <p:nvPr/>
        </p:nvSpPr>
        <p:spPr>
          <a:xfrm>
            <a:off x="7959541" y="622702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E222AB3C-5B7F-6D58-8079-1A371AD7AB81}"/>
              </a:ext>
            </a:extLst>
          </p:cNvPr>
          <p:cNvSpPr>
            <a:spLocks noGrp="1"/>
          </p:cNvSpPr>
          <p:nvPr/>
        </p:nvSpPr>
        <p:spPr>
          <a:xfrm>
            <a:off x="10384897" y="4584259"/>
            <a:ext cx="1351719" cy="338554"/>
          </a:xfrm>
          <a:custGeom>
            <a:avLst/>
            <a:gdLst>
              <a:gd name="csX0" fmla="*/ 0 w 1351719"/>
              <a:gd name="csY0" fmla="*/ 0 h 338554"/>
              <a:gd name="csX1" fmla="*/ 635308 w 1351719"/>
              <a:gd name="csY1" fmla="*/ 0 h 338554"/>
              <a:gd name="csX2" fmla="*/ 1351719 w 1351719"/>
              <a:gd name="csY2" fmla="*/ 0 h 338554"/>
              <a:gd name="csX3" fmla="*/ 1351719 w 1351719"/>
              <a:gd name="csY3" fmla="*/ 338554 h 338554"/>
              <a:gd name="csX4" fmla="*/ 648825 w 1351719"/>
              <a:gd name="csY4" fmla="*/ 338554 h 338554"/>
              <a:gd name="csX5" fmla="*/ 0 w 1351719"/>
              <a:gd name="csY5" fmla="*/ 338554 h 338554"/>
              <a:gd name="csX6" fmla="*/ 0 w 1351719"/>
              <a:gd name="csY6" fmla="*/ 0 h 338554"/>
            </a:gdLst>
            <a:ahLst/>
            <a:cxnLst/>
            <a:rect l="l" t="t" r="r" b="b"/>
            <a:pathLst>
              <a:path w="1351719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6608" y="-35665"/>
                  <a:pt x="1351719" y="0"/>
                </a:cubicBezTo>
                <a:cubicBezTo>
                  <a:pt x="1354532" y="77488"/>
                  <a:pt x="1351383" y="251748"/>
                  <a:pt x="1351719" y="338554"/>
                </a:cubicBezTo>
                <a:cubicBezTo>
                  <a:pt x="1126928" y="310424"/>
                  <a:pt x="985852" y="342082"/>
                  <a:pt x="648825" y="338554"/>
                </a:cubicBezTo>
                <a:cubicBezTo>
                  <a:pt x="311798" y="335026"/>
                  <a:pt x="265888" y="356446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19" h="338554">
                <a:moveTo>
                  <a:pt x="0" y="0"/>
                </a:moveTo>
                <a:cubicBezTo>
                  <a:pt x="159753" y="-29741"/>
                  <a:pt x="436147" y="14046"/>
                  <a:pt x="648825" y="0"/>
                </a:cubicBezTo>
                <a:cubicBezTo>
                  <a:pt x="861503" y="-14046"/>
                  <a:pt x="1171552" y="-28184"/>
                  <a:pt x="1351719" y="0"/>
                </a:cubicBezTo>
                <a:cubicBezTo>
                  <a:pt x="1366704" y="126099"/>
                  <a:pt x="1367511" y="215826"/>
                  <a:pt x="1351719" y="338554"/>
                </a:cubicBezTo>
                <a:cubicBezTo>
                  <a:pt x="1031547" y="314607"/>
                  <a:pt x="1003531" y="318399"/>
                  <a:pt x="662342" y="338554"/>
                </a:cubicBezTo>
                <a:cubicBezTo>
                  <a:pt x="321153" y="358709"/>
                  <a:pt x="164641" y="35830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Tokenization</a:t>
            </a: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F565E465-14D7-AC96-4BB8-C8E857DBA7A2}"/>
              </a:ext>
            </a:extLst>
          </p:cNvPr>
          <p:cNvSpPr>
            <a:spLocks noGrp="1"/>
          </p:cNvSpPr>
          <p:nvPr/>
        </p:nvSpPr>
        <p:spPr>
          <a:xfrm>
            <a:off x="10384896" y="5104070"/>
            <a:ext cx="1346605" cy="338554"/>
          </a:xfrm>
          <a:custGeom>
            <a:avLst/>
            <a:gdLst>
              <a:gd name="csX0" fmla="*/ 0 w 1346605"/>
              <a:gd name="csY0" fmla="*/ 0 h 338554"/>
              <a:gd name="csX1" fmla="*/ 632904 w 1346605"/>
              <a:gd name="csY1" fmla="*/ 0 h 338554"/>
              <a:gd name="csX2" fmla="*/ 1346605 w 1346605"/>
              <a:gd name="csY2" fmla="*/ 0 h 338554"/>
              <a:gd name="csX3" fmla="*/ 1346605 w 1346605"/>
              <a:gd name="csY3" fmla="*/ 338554 h 338554"/>
              <a:gd name="csX4" fmla="*/ 646370 w 1346605"/>
              <a:gd name="csY4" fmla="*/ 338554 h 338554"/>
              <a:gd name="csX5" fmla="*/ 0 w 1346605"/>
              <a:gd name="csY5" fmla="*/ 338554 h 338554"/>
              <a:gd name="csX6" fmla="*/ 0 w 1346605"/>
              <a:gd name="csY6" fmla="*/ 0 h 338554"/>
            </a:gdLst>
            <a:ahLst/>
            <a:cxnLst/>
            <a:rect l="l" t="t" r="r" b="b"/>
            <a:pathLst>
              <a:path w="1346605" h="338554">
                <a:moveTo>
                  <a:pt x="0" y="0"/>
                </a:moveTo>
                <a:cubicBezTo>
                  <a:pt x="253654" y="29217"/>
                  <a:pt x="356173" y="4834"/>
                  <a:pt x="632904" y="0"/>
                </a:cubicBezTo>
                <a:cubicBezTo>
                  <a:pt x="909635" y="-4834"/>
                  <a:pt x="1121379" y="26169"/>
                  <a:pt x="1346605" y="0"/>
                </a:cubicBezTo>
                <a:cubicBezTo>
                  <a:pt x="1349418" y="77488"/>
                  <a:pt x="1346269" y="251748"/>
                  <a:pt x="1346605" y="338554"/>
                </a:cubicBezTo>
                <a:cubicBezTo>
                  <a:pt x="1156298" y="318515"/>
                  <a:pt x="891539" y="357030"/>
                  <a:pt x="646370" y="338554"/>
                </a:cubicBezTo>
                <a:cubicBezTo>
                  <a:pt x="401201" y="320078"/>
                  <a:pt x="140549" y="357089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46605" h="338554">
                <a:moveTo>
                  <a:pt x="0" y="0"/>
                </a:moveTo>
                <a:cubicBezTo>
                  <a:pt x="133781" y="28092"/>
                  <a:pt x="482181" y="-20522"/>
                  <a:pt x="646370" y="0"/>
                </a:cubicBezTo>
                <a:cubicBezTo>
                  <a:pt x="810559" y="20522"/>
                  <a:pt x="1153150" y="29368"/>
                  <a:pt x="1346605" y="0"/>
                </a:cubicBezTo>
                <a:cubicBezTo>
                  <a:pt x="1361590" y="126099"/>
                  <a:pt x="1362397" y="215826"/>
                  <a:pt x="1346605" y="338554"/>
                </a:cubicBezTo>
                <a:cubicBezTo>
                  <a:pt x="1190988" y="358096"/>
                  <a:pt x="883384" y="335404"/>
                  <a:pt x="659836" y="338554"/>
                </a:cubicBezTo>
                <a:cubicBezTo>
                  <a:pt x="436288" y="341704"/>
                  <a:pt x="243431" y="34121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Embeddings</a:t>
            </a:r>
          </a:p>
        </p:txBody>
      </p:sp>
      <p:sp>
        <p:nvSpPr>
          <p:cNvPr id="31" name="TextBox 35">
            <a:extLst>
              <a:ext uri="{FF2B5EF4-FFF2-40B4-BE49-F238E27FC236}">
                <a16:creationId xmlns:a16="http://schemas.microsoft.com/office/drawing/2014/main" id="{C21CB81B-840D-ED4E-DF15-D302248C1FB2}"/>
              </a:ext>
            </a:extLst>
          </p:cNvPr>
          <p:cNvSpPr>
            <a:spLocks noGrp="1"/>
          </p:cNvSpPr>
          <p:nvPr/>
        </p:nvSpPr>
        <p:spPr>
          <a:xfrm>
            <a:off x="10390010" y="6145520"/>
            <a:ext cx="1341491" cy="338554"/>
          </a:xfrm>
          <a:custGeom>
            <a:avLst/>
            <a:gdLst>
              <a:gd name="csX0" fmla="*/ 0 w 1341491"/>
              <a:gd name="csY0" fmla="*/ 0 h 338554"/>
              <a:gd name="csX1" fmla="*/ 630501 w 1341491"/>
              <a:gd name="csY1" fmla="*/ 0 h 338554"/>
              <a:gd name="csX2" fmla="*/ 1341491 w 1341491"/>
              <a:gd name="csY2" fmla="*/ 0 h 338554"/>
              <a:gd name="csX3" fmla="*/ 1341491 w 1341491"/>
              <a:gd name="csY3" fmla="*/ 338554 h 338554"/>
              <a:gd name="csX4" fmla="*/ 643916 w 1341491"/>
              <a:gd name="csY4" fmla="*/ 338554 h 338554"/>
              <a:gd name="csX5" fmla="*/ 0 w 1341491"/>
              <a:gd name="csY5" fmla="*/ 338554 h 338554"/>
              <a:gd name="csX6" fmla="*/ 0 w 1341491"/>
              <a:gd name="csY6" fmla="*/ 0 h 338554"/>
            </a:gdLst>
            <a:ahLst/>
            <a:cxnLst/>
            <a:rect l="l" t="t" r="r" b="b"/>
            <a:pathLst>
              <a:path w="1341491" h="338554">
                <a:moveTo>
                  <a:pt x="0" y="0"/>
                </a:moveTo>
                <a:cubicBezTo>
                  <a:pt x="201971" y="22649"/>
                  <a:pt x="355596" y="-14105"/>
                  <a:pt x="630501" y="0"/>
                </a:cubicBezTo>
                <a:cubicBezTo>
                  <a:pt x="905406" y="14105"/>
                  <a:pt x="1018929" y="-31432"/>
                  <a:pt x="1341491" y="0"/>
                </a:cubicBezTo>
                <a:cubicBezTo>
                  <a:pt x="1344304" y="77488"/>
                  <a:pt x="1341155" y="251748"/>
                  <a:pt x="1341491" y="338554"/>
                </a:cubicBezTo>
                <a:cubicBezTo>
                  <a:pt x="1071780" y="305917"/>
                  <a:pt x="941141" y="314440"/>
                  <a:pt x="643916" y="338554"/>
                </a:cubicBezTo>
                <a:cubicBezTo>
                  <a:pt x="346691" y="362668"/>
                  <a:pt x="302681" y="339446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41491" h="338554">
                <a:moveTo>
                  <a:pt x="0" y="0"/>
                </a:moveTo>
                <a:cubicBezTo>
                  <a:pt x="313537" y="7450"/>
                  <a:pt x="392150" y="-21928"/>
                  <a:pt x="643916" y="0"/>
                </a:cubicBezTo>
                <a:cubicBezTo>
                  <a:pt x="895682" y="21928"/>
                  <a:pt x="1009220" y="5527"/>
                  <a:pt x="1341491" y="0"/>
                </a:cubicBezTo>
                <a:cubicBezTo>
                  <a:pt x="1356476" y="126099"/>
                  <a:pt x="1357283" y="215826"/>
                  <a:pt x="1341491" y="338554"/>
                </a:cubicBezTo>
                <a:cubicBezTo>
                  <a:pt x="1092623" y="306327"/>
                  <a:pt x="858267" y="323813"/>
                  <a:pt x="657331" y="338554"/>
                </a:cubicBezTo>
                <a:cubicBezTo>
                  <a:pt x="456395" y="353295"/>
                  <a:pt x="296557" y="31248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Output</a:t>
            </a: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54ED427E-7866-13F9-59C0-BC0D7F989A8A}"/>
              </a:ext>
            </a:extLst>
          </p:cNvPr>
          <p:cNvSpPr>
            <a:spLocks noGrp="1"/>
          </p:cNvSpPr>
          <p:nvPr/>
        </p:nvSpPr>
        <p:spPr>
          <a:xfrm>
            <a:off x="10384896" y="5616987"/>
            <a:ext cx="1351720" cy="338554"/>
          </a:xfrm>
          <a:custGeom>
            <a:avLst/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ahLst/>
            <a:cxnLst/>
            <a:rect l="l" t="t" r="r" b="b"/>
            <a:pathLst>
              <a:path w="1351720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Attention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BCC5FE95-2FF8-7809-29D7-EE6C05FB86AD}"/>
              </a:ext>
            </a:extLst>
          </p:cNvPr>
          <p:cNvSpPr>
            <a:spLocks noGrp="1"/>
          </p:cNvSpPr>
          <p:nvPr/>
        </p:nvSpPr>
        <p:spPr>
          <a:xfrm>
            <a:off x="10387618" y="4070685"/>
            <a:ext cx="1351720" cy="338554"/>
          </a:xfrm>
          <a:custGeom>
            <a:avLst/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ahLst/>
            <a:cxnLst/>
            <a:rect l="l" t="t" r="r" b="b"/>
            <a:pathLst>
              <a:path w="1351720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Hardware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3B67FE26-BA0B-EB7C-E6DF-06FE55609F80}"/>
              </a:ext>
            </a:extLst>
          </p:cNvPr>
          <p:cNvSpPr>
            <a:spLocks noGrp="1"/>
          </p:cNvSpPr>
          <p:nvPr/>
        </p:nvSpPr>
        <p:spPr>
          <a:xfrm>
            <a:off x="8072051" y="443197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1</a:t>
            </a: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F29CDA69-8DBD-3E29-B51F-E7AF0A971805}"/>
              </a:ext>
            </a:extLst>
          </p:cNvPr>
          <p:cNvSpPr>
            <a:spLocks noGrp="1"/>
          </p:cNvSpPr>
          <p:nvPr/>
        </p:nvSpPr>
        <p:spPr>
          <a:xfrm>
            <a:off x="8972132" y="530648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3</a:t>
            </a: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FED7BF59-DE51-30E0-FC68-64D6D83590FA}"/>
              </a:ext>
            </a:extLst>
          </p:cNvPr>
          <p:cNvSpPr>
            <a:spLocks noGrp="1"/>
          </p:cNvSpPr>
          <p:nvPr/>
        </p:nvSpPr>
        <p:spPr>
          <a:xfrm>
            <a:off x="9575594" y="5306488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4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3483E34-C09F-DF87-AF53-2A6AFB5409B4}"/>
              </a:ext>
            </a:extLst>
          </p:cNvPr>
          <p:cNvSpPr>
            <a:spLocks noGrp="1"/>
          </p:cNvSpPr>
          <p:nvPr/>
        </p:nvSpPr>
        <p:spPr>
          <a:xfrm>
            <a:off x="8511863" y="485644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2</a:t>
            </a: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23D6165-3F28-EF25-0D10-05FC78F18519}"/>
              </a:ext>
            </a:extLst>
          </p:cNvPr>
          <p:cNvSpPr>
            <a:spLocks noGrp="1"/>
          </p:cNvSpPr>
          <p:nvPr/>
        </p:nvSpPr>
        <p:spPr>
          <a:xfrm>
            <a:off x="10015407" y="4109790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071CFCA2-49B3-8FF2-8AFB-2051C9ABDC0B}"/>
              </a:ext>
            </a:extLst>
          </p:cNvPr>
          <p:cNvSpPr>
            <a:spLocks noGrp="1"/>
          </p:cNvSpPr>
          <p:nvPr/>
        </p:nvSpPr>
        <p:spPr>
          <a:xfrm>
            <a:off x="10015406" y="4636542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1</a:t>
            </a: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718A2B7E-3A80-360E-83EF-2F6EA0A422D5}"/>
              </a:ext>
            </a:extLst>
          </p:cNvPr>
          <p:cNvSpPr>
            <a:spLocks noGrp="1"/>
          </p:cNvSpPr>
          <p:nvPr/>
        </p:nvSpPr>
        <p:spPr>
          <a:xfrm>
            <a:off x="10015407" y="6196341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4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8B4F6DD6-AF0F-8D7A-4EC5-7049183C79FA}"/>
              </a:ext>
            </a:extLst>
          </p:cNvPr>
          <p:cNvSpPr>
            <a:spLocks noGrp="1"/>
          </p:cNvSpPr>
          <p:nvPr/>
        </p:nvSpPr>
        <p:spPr>
          <a:xfrm>
            <a:off x="10015406" y="566958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3</a:t>
            </a: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924D63B4-71D9-DAC8-54D5-0543F2073663}"/>
              </a:ext>
            </a:extLst>
          </p:cNvPr>
          <p:cNvSpPr>
            <a:spLocks noGrp="1"/>
          </p:cNvSpPr>
          <p:nvPr/>
        </p:nvSpPr>
        <p:spPr>
          <a:xfrm>
            <a:off x="10015407" y="5153065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9EDF-3F7F-0240-5489-0F9149C1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00B96-849B-4C7A-7739-F95E74541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Softmax</a:t>
            </a:r>
          </a:p>
          <a:p>
            <a:pPr marL="0" indent="0">
              <a:buNone/>
            </a:pPr>
            <a:r>
              <a:t>Sampling methods</a:t>
            </a:r>
          </a:p>
          <a:p>
            <a:pPr marL="0" indent="0">
              <a:buNone/>
            </a:pPr>
            <a:r>
              <a:t>Scaling laws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F8B1-875F-ED0F-7654-4D298333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From the Last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40AD-0DAB-330E-800A-A7A141EE1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>
                <a:latin typeface="CMU Serif Roman"/>
                <a:ea typeface="CMU Serif Roman"/>
                <a:cs typeface="CMU Serif Roman"/>
              </a:rPr>
              <a:t>We got out of the model: 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CMU Serif Roman"/>
                <a:ea typeface="CMU Serif Roman"/>
                <a:cs typeface="CMU Serif Roman"/>
              </a:rPr>
              <a:t>[sequence_length, embedding_dim]</a:t>
            </a: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endParaRPr>
              <a:latin typeface="CMU Serif Roman"/>
              <a:ea typeface="CMU Serif Roman"/>
              <a:cs typeface="CMU Serif Roman"/>
            </a:endParaRPr>
          </a:p>
          <a:p>
            <a:pPr marL="0" indent="0">
              <a:buNone/>
            </a:pPr>
            <a:r>
              <a:rPr>
                <a:latin typeface="CMU Serif Roman"/>
                <a:ea typeface="CMU Serif Roman"/>
                <a:cs typeface="CMU Serif Roman"/>
              </a:rPr>
              <a:t>Great... now what?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721F7-5D5D-31BA-BFBD-298AAA5F3A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26811" y="3313537"/>
                <a:ext cx="3138378" cy="113941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GB" sz="2800" b="0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800" b="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2.7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2800" b="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−1.2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1.1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sz="2800" b="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8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721F7-5D5D-31BA-BFBD-298AAA5F3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811" y="3313537"/>
                <a:ext cx="3138378" cy="1139414"/>
              </a:xfrm>
              <a:prstGeom prst="rect">
                <a:avLst/>
              </a:prstGeom>
              <a:blipFill>
                <a:blip r:embed="rId3"/>
                <a:stretch>
                  <a:fillRect t="-111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F1923C56-A3D7-0983-FE0C-CDCB3776E673}"/>
              </a:ext>
            </a:extLst>
          </p:cNvPr>
          <p:cNvSpPr>
            <a:spLocks noGrp="1"/>
          </p:cNvSpPr>
          <p:nvPr/>
        </p:nvSpPr>
        <p:spPr>
          <a:xfrm>
            <a:off x="4526811" y="3313537"/>
            <a:ext cx="293842" cy="113941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7AC38CC4-B8B9-0549-3459-8E7068101A7E}"/>
              </a:ext>
            </a:extLst>
          </p:cNvPr>
          <p:cNvSpPr>
            <a:spLocks noGrp="1"/>
          </p:cNvSpPr>
          <p:nvPr/>
        </p:nvSpPr>
        <p:spPr>
          <a:xfrm rot="5400000">
            <a:off x="5932824" y="1975988"/>
            <a:ext cx="293842" cy="224631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2856F2-1956-E41A-2C67-6DE9B5880984}"/>
              </a:ext>
            </a:extLst>
          </p:cNvPr>
          <p:cNvSpPr>
            <a:spLocks noGrp="1"/>
          </p:cNvSpPr>
          <p:nvPr/>
        </p:nvSpPr>
        <p:spPr>
          <a:xfrm>
            <a:off x="2630138" y="3698578"/>
            <a:ext cx="189667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sequence_length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52DE53-07FD-283E-5275-3C7E119F7CCF}"/>
              </a:ext>
            </a:extLst>
          </p:cNvPr>
          <p:cNvSpPr>
            <a:spLocks noGrp="1"/>
          </p:cNvSpPr>
          <p:nvPr/>
        </p:nvSpPr>
        <p:spPr>
          <a:xfrm>
            <a:off x="5160262" y="2582894"/>
            <a:ext cx="18389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embedding_dim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55574E-BA21-C271-5D42-D6619493BEDE}"/>
              </a:ext>
            </a:extLst>
          </p:cNvPr>
          <p:cNvSpPr>
            <a:spLocks noGrp="1"/>
          </p:cNvSpPr>
          <p:nvPr/>
        </p:nvSpPr>
        <p:spPr>
          <a:xfrm>
            <a:off x="5061284" y="3246069"/>
            <a:ext cx="2085474" cy="452509"/>
          </a:xfrm>
          <a:prstGeom prst="rect">
            <a:avLst/>
          </a:prstGeom>
          <a:solidFill>
            <a:srgbClr val="1B55EB">
              <a:alpha val="32000"/>
            </a:srgbClr>
          </a:solidFill>
          <a:ln>
            <a:noFill/>
          </a:ln>
          <a:effectLst>
            <a:softEdge rad="57129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22498-D9C3-2FA5-4C1B-D9D0CE806423}"/>
              </a:ext>
            </a:extLst>
          </p:cNvPr>
          <p:cNvSpPr>
            <a:spLocks noGrp="1"/>
          </p:cNvSpPr>
          <p:nvPr/>
        </p:nvSpPr>
        <p:spPr>
          <a:xfrm>
            <a:off x="7905820" y="3246069"/>
            <a:ext cx="35946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1B55EB"/>
                </a:solidFill>
                <a:latin typeface="CMU Serif Roman"/>
                <a:ea typeface="CMU Serif Roman"/>
                <a:cs typeface="CMU Serif Roman"/>
              </a:rPr>
              <a:t>Context-adjusted embedding vector for a single token</a:t>
            </a:r>
          </a:p>
          <a:p>
            <a:r>
              <a:rPr>
                <a:solidFill>
                  <a:srgbClr val="1B55EB"/>
                </a:solidFill>
                <a:latin typeface="CMU Serif Roman"/>
                <a:ea typeface="CMU Serif Roman"/>
                <a:cs typeface="CMU Serif Roman"/>
              </a:rPr>
              <a:t>e.g. “the” in “the cat sat on the mat”</a:t>
            </a:r>
          </a:p>
        </p:txBody>
      </p:sp>
      <p:cxnSp>
        <p:nvCxnSpPr>
          <p:cNvPr id="42" name="Curved Connector 11"/>
          <p:cNvCxnSpPr/>
          <p:nvPr/>
        </p:nvCxnSpPr>
        <p:spPr>
          <a:xfrm rot="10800000">
            <a:off x="7269018" y="3472323"/>
            <a:ext cx="636802" cy="373910"/>
          </a:xfrm>
          <a:prstGeom prst="curvedConnector3">
            <a:avLst/>
          </a:prstGeom>
          <a:ln>
            <a:solidFill>
              <a:srgbClr val="1B55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27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C22F-6922-7631-5B3A-2674B97B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language model</a:t>
            </a:r>
          </a:p>
        </p:txBody>
      </p:sp>
      <p:graphicFrame>
        <p:nvGraphicFramePr>
          <p:cNvPr id="37" name="Table 2"/>
          <p:cNvGraphicFramePr/>
          <p:nvPr/>
        </p:nvGraphicFramePr>
        <p:xfrm>
          <a:off x="840105" y="2084451"/>
          <a:ext cx="691460" cy="3642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Table 10"/>
          <p:cNvGraphicFramePr/>
          <p:nvPr/>
        </p:nvGraphicFramePr>
        <p:xfrm>
          <a:off x="2240279" y="1474851"/>
          <a:ext cx="810523" cy="4856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&lt;bos&gt;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&lt;eos&gt;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9" name="Table 11"/>
          <p:cNvGraphicFramePr/>
          <p:nvPr/>
        </p:nvGraphicFramePr>
        <p:xfrm>
          <a:off x="3802379" y="1474850"/>
          <a:ext cx="810523" cy="4856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13523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0" name="Table 12"/>
          <p:cNvGraphicFramePr/>
          <p:nvPr/>
        </p:nvGraphicFramePr>
        <p:xfrm>
          <a:off x="9563100" y="2085975"/>
          <a:ext cx="17868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was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hippo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Table 14"/>
          <p:cNvGraphicFramePr/>
          <p:nvPr/>
        </p:nvGraphicFramePr>
        <p:xfrm>
          <a:off x="9534525" y="4305300"/>
          <a:ext cx="17868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0.54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2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238" y="2081213"/>
            <a:ext cx="2028825" cy="3095625"/>
          </a:xfrm>
          <a:prstGeom prst="rect">
            <a:avLst/>
          </a:prstGeom>
        </p:spPr>
      </p:pic>
      <p:graphicFrame>
        <p:nvGraphicFramePr>
          <p:cNvPr id="43" name="Table 16"/>
          <p:cNvGraphicFramePr/>
          <p:nvPr/>
        </p:nvGraphicFramePr>
        <p:xfrm>
          <a:off x="5288279" y="1474850"/>
          <a:ext cx="810523" cy="42491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D79510A-59CD-2B2F-447B-19B259840DAE}"/>
              </a:ext>
            </a:extLst>
          </p:cNvPr>
          <p:cNvSpPr>
            <a:spLocks noGrp="1"/>
          </p:cNvSpPr>
          <p:nvPr/>
        </p:nvSpPr>
        <p:spPr>
          <a:xfrm>
            <a:off x="10020120" y="3298087"/>
            <a:ext cx="816919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spAutoFit/>
          </a:bodyPr>
          <a:lstStyle/>
          <a:p>
            <a:pPr algn="ctr">
              <a:buNone/>
            </a:pPr>
            <a:r>
              <a:t>•</a:t>
            </a:r>
          </a:p>
          <a:p>
            <a:pPr algn="ctr">
              <a:buNone/>
            </a:pPr>
            <a:r>
              <a:t>•</a:t>
            </a:r>
          </a:p>
          <a:p>
            <a:pPr algn="ctr">
              <a:buNone/>
            </a:pPr>
            <a:r>
              <a:t>•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F836DE-5FC2-429A-B112-EC1D886F544E}"/>
              </a:ext>
            </a:extLst>
          </p:cNvPr>
          <p:cNvSpPr>
            <a:spLocks noGrp="1"/>
          </p:cNvSpPr>
          <p:nvPr/>
        </p:nvSpPr>
        <p:spPr>
          <a:xfrm>
            <a:off x="1534283" y="3744726"/>
            <a:ext cx="77698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A20D30C-751C-BF22-4EF4-DCAEB7CB54A5}"/>
              </a:ext>
            </a:extLst>
          </p:cNvPr>
          <p:cNvSpPr>
            <a:spLocks noGrp="1"/>
          </p:cNvSpPr>
          <p:nvPr/>
        </p:nvSpPr>
        <p:spPr>
          <a:xfrm>
            <a:off x="3048757" y="3744726"/>
            <a:ext cx="79603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129F320-481D-BBDF-9098-CE1552590EE2}"/>
              </a:ext>
            </a:extLst>
          </p:cNvPr>
          <p:cNvSpPr>
            <a:spLocks noGrp="1"/>
          </p:cNvSpPr>
          <p:nvPr/>
        </p:nvSpPr>
        <p:spPr>
          <a:xfrm>
            <a:off x="4610857" y="3735201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12CE7A2-B0B9-48FA-D3A6-E3E6934B96EA}"/>
              </a:ext>
            </a:extLst>
          </p:cNvPr>
          <p:cNvSpPr>
            <a:spLocks noGrp="1"/>
          </p:cNvSpPr>
          <p:nvPr/>
        </p:nvSpPr>
        <p:spPr>
          <a:xfrm>
            <a:off x="609675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BFDBCF9-63F7-DD86-7695-799A77FE0427}"/>
              </a:ext>
            </a:extLst>
          </p:cNvPr>
          <p:cNvSpPr>
            <a:spLocks noGrp="1"/>
          </p:cNvSpPr>
          <p:nvPr/>
        </p:nvSpPr>
        <p:spPr>
          <a:xfrm>
            <a:off x="878280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ACDD33-AD34-E457-B435-8917F7EB2D91}"/>
              </a:ext>
            </a:extLst>
          </p:cNvPr>
          <p:cNvSpPr>
            <a:spLocks noGrp="1"/>
          </p:cNvSpPr>
          <p:nvPr/>
        </p:nvSpPr>
        <p:spPr>
          <a:xfrm>
            <a:off x="9475490" y="4218232"/>
            <a:ext cx="1910749" cy="5213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Arrow: Bent 27">
            <a:extLst>
              <a:ext uri="{FF2B5EF4-FFF2-40B4-BE49-F238E27FC236}">
                <a16:creationId xmlns:a16="http://schemas.microsoft.com/office/drawing/2014/main" id="{1EB94B09-A333-CE43-1B39-D30837ECA6EB}"/>
              </a:ext>
            </a:extLst>
          </p:cNvPr>
          <p:cNvSpPr>
            <a:spLocks noGrp="1"/>
          </p:cNvSpPr>
          <p:nvPr/>
        </p:nvSpPr>
        <p:spPr>
          <a:xfrm rot="10800000">
            <a:off x="6182521" y="4873765"/>
            <a:ext cx="4337923" cy="687318"/>
          </a:xfrm>
          <a:prstGeom prst="ben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66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6B15-1A80-2EFF-42A1-B82D19E3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language model</a:t>
            </a:r>
          </a:p>
        </p:txBody>
      </p:sp>
      <p:graphicFrame>
        <p:nvGraphicFramePr>
          <p:cNvPr id="33" name="Table 2"/>
          <p:cNvGraphicFramePr/>
          <p:nvPr/>
        </p:nvGraphicFramePr>
        <p:xfrm>
          <a:off x="840105" y="2084451"/>
          <a:ext cx="691460" cy="36421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Table 10"/>
          <p:cNvGraphicFramePr/>
          <p:nvPr/>
        </p:nvGraphicFramePr>
        <p:xfrm>
          <a:off x="2240279" y="1474851"/>
          <a:ext cx="810523" cy="4856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&lt;bos&gt;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&lt;eos&gt;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5" name="Table 11"/>
          <p:cNvGraphicFramePr/>
          <p:nvPr/>
        </p:nvGraphicFramePr>
        <p:xfrm>
          <a:off x="3802379" y="1474850"/>
          <a:ext cx="810523" cy="4856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13523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6" name="Table 12"/>
          <p:cNvGraphicFramePr/>
          <p:nvPr/>
        </p:nvGraphicFramePr>
        <p:xfrm>
          <a:off x="9563100" y="2085975"/>
          <a:ext cx="17868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eating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Table 14"/>
          <p:cNvGraphicFramePr/>
          <p:nvPr/>
        </p:nvGraphicFramePr>
        <p:xfrm>
          <a:off x="9534525" y="4305300"/>
          <a:ext cx="17868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&lt;eos&gt;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0.54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8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238" y="2081213"/>
            <a:ext cx="2028825" cy="3095625"/>
          </a:xfrm>
          <a:prstGeom prst="rect">
            <a:avLst/>
          </a:prstGeom>
        </p:spPr>
      </p:pic>
      <p:graphicFrame>
        <p:nvGraphicFramePr>
          <p:cNvPr id="39" name="Table 16"/>
          <p:cNvGraphicFramePr/>
          <p:nvPr/>
        </p:nvGraphicFramePr>
        <p:xfrm>
          <a:off x="5288279" y="1474850"/>
          <a:ext cx="810523" cy="4856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0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4937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13523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0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CC14675-F106-FBE2-741B-018B08EDCACA}"/>
              </a:ext>
            </a:extLst>
          </p:cNvPr>
          <p:cNvSpPr>
            <a:spLocks noGrp="1"/>
          </p:cNvSpPr>
          <p:nvPr/>
        </p:nvSpPr>
        <p:spPr>
          <a:xfrm>
            <a:off x="10020120" y="3298087"/>
            <a:ext cx="816919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spAutoFit/>
          </a:bodyPr>
          <a:lstStyle/>
          <a:p>
            <a:pPr algn="ctr">
              <a:buNone/>
            </a:pPr>
            <a:r>
              <a:t>•</a:t>
            </a:r>
          </a:p>
          <a:p>
            <a:pPr algn="ctr">
              <a:buNone/>
            </a:pPr>
            <a:r>
              <a:t>•</a:t>
            </a:r>
          </a:p>
          <a:p>
            <a:pPr algn="ctr">
              <a:buNone/>
            </a:pPr>
            <a:r>
              <a:t>•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7722D60-EB1B-B659-7041-26D6A4B0A8BD}"/>
              </a:ext>
            </a:extLst>
          </p:cNvPr>
          <p:cNvSpPr>
            <a:spLocks noGrp="1"/>
          </p:cNvSpPr>
          <p:nvPr/>
        </p:nvSpPr>
        <p:spPr>
          <a:xfrm>
            <a:off x="1534283" y="3744726"/>
            <a:ext cx="77698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50B9C55-E596-9ADE-C328-FCBCC11C8A20}"/>
              </a:ext>
            </a:extLst>
          </p:cNvPr>
          <p:cNvSpPr>
            <a:spLocks noGrp="1"/>
          </p:cNvSpPr>
          <p:nvPr/>
        </p:nvSpPr>
        <p:spPr>
          <a:xfrm>
            <a:off x="3048757" y="3744726"/>
            <a:ext cx="796033" cy="333226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9C47DE0-7B5B-4FC2-D5BE-22C18F0A1B9F}"/>
              </a:ext>
            </a:extLst>
          </p:cNvPr>
          <p:cNvSpPr>
            <a:spLocks noGrp="1"/>
          </p:cNvSpPr>
          <p:nvPr/>
        </p:nvSpPr>
        <p:spPr>
          <a:xfrm>
            <a:off x="4610857" y="3735201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54C077-E989-5C82-1E3E-1D1F30FEDC39}"/>
              </a:ext>
            </a:extLst>
          </p:cNvPr>
          <p:cNvSpPr>
            <a:spLocks noGrp="1"/>
          </p:cNvSpPr>
          <p:nvPr/>
        </p:nvSpPr>
        <p:spPr>
          <a:xfrm>
            <a:off x="609675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F9A249E-BEE8-EC6A-AD0B-83EAA70D4E7A}"/>
              </a:ext>
            </a:extLst>
          </p:cNvPr>
          <p:cNvSpPr>
            <a:spLocks noGrp="1"/>
          </p:cNvSpPr>
          <p:nvPr/>
        </p:nvSpPr>
        <p:spPr>
          <a:xfrm>
            <a:off x="8782807" y="3725676"/>
            <a:ext cx="748408" cy="342751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47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CC3D-7026-15F4-FE12-816E52C7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final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8E219-FEC3-A8AB-CD9E-B9D14BC49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sz="2000" dirty="0"/>
              <a:t>The output to attention told us how to modify the initial embedding:</a:t>
            </a:r>
          </a:p>
          <a:p>
            <a:pPr marL="0" indent="0">
              <a:buNone/>
            </a:pPr>
            <a:endParaRPr sz="20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marL="0" indent="0" algn="ctr">
              <a:buNone/>
            </a:pPr>
            <a:r>
              <a:rPr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sequence_length</a:t>
            </a:r>
            <a:r>
              <a:rPr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embedding_dim</a:t>
            </a:r>
            <a:r>
              <a:rPr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marL="0" indent="0">
              <a:buNone/>
            </a:pPr>
            <a:endParaRPr sz="2000" dirty="0">
              <a:solidFill>
                <a:srgbClr val="727272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2000" dirty="0"/>
              <a:t>And our goal is to predict the </a:t>
            </a:r>
            <a:r>
              <a:rPr sz="2000" i="1" dirty="0">
                <a:solidFill>
                  <a:srgbClr val="C00000"/>
                </a:solidFill>
              </a:rPr>
              <a:t>[?]</a:t>
            </a:r>
          </a:p>
          <a:p>
            <a:pPr marL="0" indent="0">
              <a:buNone/>
            </a:pPr>
            <a:endParaRPr sz="2000" dirty="0"/>
          </a:p>
          <a:p>
            <a:pPr marL="0" indent="0" algn="ctr">
              <a:buNone/>
            </a:pPr>
            <a:r>
              <a:rPr sz="2000" i="1" dirty="0"/>
              <a:t>"</a:t>
            </a:r>
            <a:r>
              <a:rPr sz="2000" i="1" dirty="0">
                <a:solidFill>
                  <a:schemeClr val="accent5"/>
                </a:solidFill>
              </a:rPr>
              <a:t>the </a:t>
            </a:r>
            <a:r>
              <a:rPr lang="en-GB" sz="2000" i="1" dirty="0">
                <a:solidFill>
                  <a:schemeClr val="accent5"/>
                </a:solidFill>
              </a:rPr>
              <a:t>cat</a:t>
            </a:r>
            <a:r>
              <a:rPr sz="2000" i="1" dirty="0">
                <a:solidFill>
                  <a:schemeClr val="accent5"/>
                </a:solidFill>
              </a:rPr>
              <a:t> </a:t>
            </a:r>
            <a:r>
              <a:rPr lang="en-GB" sz="2000" i="1" dirty="0">
                <a:solidFill>
                  <a:schemeClr val="accent5"/>
                </a:solidFill>
              </a:rPr>
              <a:t>sat</a:t>
            </a:r>
            <a:r>
              <a:rPr sz="2000" i="1" dirty="0">
                <a:solidFill>
                  <a:schemeClr val="accent5"/>
                </a:solidFill>
              </a:rPr>
              <a:t> </a:t>
            </a:r>
            <a:r>
              <a:rPr lang="en-GB" sz="2000" i="1" dirty="0">
                <a:solidFill>
                  <a:schemeClr val="accent5"/>
                </a:solidFill>
              </a:rPr>
              <a:t>on</a:t>
            </a:r>
            <a:r>
              <a:rPr sz="2000" i="1" dirty="0">
                <a:solidFill>
                  <a:schemeClr val="accent5"/>
                </a:solidFill>
              </a:rPr>
              <a:t> </a:t>
            </a:r>
            <a:r>
              <a:rPr lang="en-GB" sz="2000" i="1" dirty="0">
                <a:solidFill>
                  <a:schemeClr val="accent5"/>
                </a:solidFill>
              </a:rPr>
              <a:t>the</a:t>
            </a:r>
            <a:r>
              <a:rPr sz="2000" i="1" dirty="0"/>
              <a:t> </a:t>
            </a:r>
            <a:r>
              <a:rPr sz="2000" i="1" dirty="0">
                <a:solidFill>
                  <a:srgbClr val="C00000"/>
                </a:solidFill>
              </a:rPr>
              <a:t>[?]</a:t>
            </a:r>
            <a:r>
              <a:rPr sz="2000" i="1" dirty="0"/>
              <a:t>"</a:t>
            </a:r>
            <a:endParaRPr sz="2000" dirty="0"/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So, we need a distribution over tokens:</a:t>
            </a:r>
          </a:p>
          <a:p>
            <a:pPr marL="0" indent="0" algn="ctr">
              <a:buNone/>
            </a:pPr>
            <a:endParaRPr sz="2000" dirty="0">
              <a:solidFill>
                <a:schemeClr val="bg2">
                  <a:lumMod val="49000"/>
                </a:schemeClr>
              </a:solidFill>
              <a:latin typeface="Consolas"/>
              <a:ea typeface="Consolas"/>
              <a:cs typeface="Consolas"/>
            </a:endParaRPr>
          </a:p>
          <a:p>
            <a:pPr marL="0" indent="0" algn="ctr">
              <a:buNone/>
            </a:pPr>
            <a:r>
              <a:rPr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sequence_length</a:t>
            </a:r>
            <a:r>
              <a:rPr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2000" dirty="0" err="1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vocab_size</a:t>
            </a:r>
            <a:r>
              <a:rPr sz="2000" dirty="0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]</a:t>
            </a:r>
            <a:endParaRPr sz="2000" dirty="0">
              <a:solidFill>
                <a:schemeClr val="bg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722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49C54-B427-E511-2CBC-0738137C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final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42B9-B028-67A5-F7BC-4A665A4AD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algn="ctr">
              <a:buNone/>
            </a:pPr>
            <a:r>
              <a:rPr sz="2000">
                <a:solidFill>
                  <a:schemeClr val="bg2">
                    <a:lumMod val="49000"/>
                  </a:schemeClr>
                </a:solidFill>
                <a:latin typeface="Consolas"/>
                <a:ea typeface="Consolas"/>
                <a:cs typeface="Consolas"/>
              </a:rPr>
              <a:t>[seq_len, embed_dim] x [embed_dim, vocab_size] = [seq_len, vocab_size]</a:t>
            </a:r>
            <a:endParaRPr>
              <a:solidFill>
                <a:schemeClr val="bg2">
                  <a:lumMod val="49000"/>
                </a:schemeClr>
              </a:solidFill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848" y="2516282"/>
            <a:ext cx="3837340" cy="366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8BCD-B49A-1EBD-DFB0-A0A64B92C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Example Input: </a:t>
            </a:r>
            <a:r>
              <a:rPr dirty="0"/>
              <a:t>"The cat sat"</a:t>
            </a:r>
            <a:br>
              <a:rPr dirty="0"/>
            </a:br>
            <a:endParaRPr dirty="0"/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057" y="2470908"/>
            <a:ext cx="12133943" cy="280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14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44ED-A72E-B713-D915-8F24F914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16E9A-3953-DE83-CC64-4504205C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Here is an equation:</a:t>
            </a:r>
          </a:p>
          <a:p>
            <a:endParaRPr/>
          </a:p>
          <a:p>
            <a:pPr marL="0" indent="0">
              <a:buNone/>
            </a:pPr>
            <a:endParaRPr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060" y="3193528"/>
            <a:ext cx="4745880" cy="16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2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9917-AC9B-CAE4-0200-4E1F6570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4A80-E087-0017-79EE-F75EB1015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="1411489" y="2761610"/>
          <a:ext cx="2122992" cy="34191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goose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donkey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1.26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moose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-0.01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hippo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-0.98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A76D190A-E0A2-9FD6-9870-1E6F4230D141}"/>
              </a:ext>
            </a:extLst>
          </p:cNvPr>
          <p:cNvSpPr>
            <a:spLocks noGrp="1"/>
          </p:cNvSpPr>
          <p:nvPr/>
        </p:nvSpPr>
        <p:spPr>
          <a:xfrm>
            <a:off x="4272521" y="4127194"/>
            <a:ext cx="1574588" cy="683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146788"/>
            <a:ext cx="5744308" cy="430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3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CE8BF-1ABC-21F0-EE29-BE520E7AF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7DAB-1D0D-5B29-A674-855C1FAED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pic>
        <p:nvPicPr>
          <p:cNvPr id="10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667001"/>
            <a:ext cx="4967655" cy="3729404"/>
          </a:xfrm>
          <a:prstGeom prst="rect">
            <a:avLst/>
          </a:prstGeom>
        </p:spPr>
      </p:pic>
      <p:pic>
        <p:nvPicPr>
          <p:cNvPr id="11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290" y="2659672"/>
            <a:ext cx="5121519" cy="373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69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6348A-02D1-D20E-AD35-72EEBB57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6441D-96AC-1F85-D67C-71DD12911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What does T do?</a:t>
            </a:r>
          </a:p>
          <a:p>
            <a:endParaRPr/>
          </a:p>
          <a:p>
            <a:pPr marL="0" indent="0">
              <a:buNone/>
            </a:pPr>
            <a:endParaRPr/>
          </a:p>
        </p:txBody>
      </p:sp>
      <p:pic>
        <p:nvPicPr>
          <p:cNvPr id="3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060" y="3193528"/>
            <a:ext cx="4745880" cy="16165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6F0242C-EED7-FBC8-4861-D188803F1598}"/>
              </a:ext>
            </a:extLst>
          </p:cNvPr>
          <p:cNvSpPr>
            <a:spLocks noGrp="1"/>
          </p:cNvSpPr>
          <p:nvPr/>
        </p:nvSpPr>
        <p:spPr>
          <a:xfrm>
            <a:off x="7291546" y="3113369"/>
            <a:ext cx="476536" cy="476536"/>
          </a:xfrm>
          <a:custGeom>
            <a:avLst/>
            <a:gdLst>
              <a:gd name="csX0" fmla="*/ 0 w 476536"/>
              <a:gd name="csY0" fmla="*/ 238268 h 476536"/>
              <a:gd name="csX1" fmla="*/ 238268 w 476536"/>
              <a:gd name="csY1" fmla="*/ 0 h 476536"/>
              <a:gd name="csX2" fmla="*/ 476536 w 476536"/>
              <a:gd name="csY2" fmla="*/ 238268 h 476536"/>
              <a:gd name="csX3" fmla="*/ 238268 w 476536"/>
              <a:gd name="csY3" fmla="*/ 476536 h 476536"/>
              <a:gd name="csX4" fmla="*/ 0 w 476536"/>
              <a:gd name="csY4" fmla="*/ 238268 h 476536"/>
            </a:gdLst>
            <a:ahLst/>
            <a:cxnLst/>
            <a:rect l="l" t="t" r="r" b="b"/>
            <a:pathLst>
              <a:path w="476536" h="476536">
                <a:moveTo>
                  <a:pt x="0" y="238268"/>
                </a:moveTo>
                <a:cubicBezTo>
                  <a:pt x="-8743" y="125437"/>
                  <a:pt x="95864" y="2426"/>
                  <a:pt x="238268" y="0"/>
                </a:cubicBezTo>
                <a:cubicBezTo>
                  <a:pt x="349715" y="23303"/>
                  <a:pt x="457385" y="81665"/>
                  <a:pt x="476536" y="238268"/>
                </a:cubicBezTo>
                <a:cubicBezTo>
                  <a:pt x="462826" y="362228"/>
                  <a:pt x="374256" y="450828"/>
                  <a:pt x="238268" y="476536"/>
                </a:cubicBezTo>
                <a:cubicBezTo>
                  <a:pt x="123855" y="496781"/>
                  <a:pt x="1056" y="365623"/>
                  <a:pt x="0" y="238268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D988B0-45E5-8E77-5F76-0044896E0E50}"/>
              </a:ext>
            </a:extLst>
          </p:cNvPr>
          <p:cNvSpPr>
            <a:spLocks noGrp="1"/>
          </p:cNvSpPr>
          <p:nvPr/>
        </p:nvSpPr>
        <p:spPr>
          <a:xfrm>
            <a:off x="8053545" y="4018563"/>
            <a:ext cx="476536" cy="476536"/>
          </a:xfrm>
          <a:custGeom>
            <a:avLst/>
            <a:gdLst>
              <a:gd name="csX0" fmla="*/ 0 w 476536"/>
              <a:gd name="csY0" fmla="*/ 238268 h 476536"/>
              <a:gd name="csX1" fmla="*/ 238268 w 476536"/>
              <a:gd name="csY1" fmla="*/ 0 h 476536"/>
              <a:gd name="csX2" fmla="*/ 476536 w 476536"/>
              <a:gd name="csY2" fmla="*/ 238268 h 476536"/>
              <a:gd name="csX3" fmla="*/ 238268 w 476536"/>
              <a:gd name="csY3" fmla="*/ 476536 h 476536"/>
              <a:gd name="csX4" fmla="*/ 0 w 476536"/>
              <a:gd name="csY4" fmla="*/ 238268 h 476536"/>
            </a:gdLst>
            <a:ahLst/>
            <a:cxnLst/>
            <a:rect l="l" t="t" r="r" b="b"/>
            <a:pathLst>
              <a:path w="476536" h="476536">
                <a:moveTo>
                  <a:pt x="0" y="238268"/>
                </a:moveTo>
                <a:cubicBezTo>
                  <a:pt x="-3449" y="107284"/>
                  <a:pt x="124528" y="3919"/>
                  <a:pt x="238268" y="0"/>
                </a:cubicBezTo>
                <a:cubicBezTo>
                  <a:pt x="362074" y="-19679"/>
                  <a:pt x="479424" y="108474"/>
                  <a:pt x="476536" y="238268"/>
                </a:cubicBezTo>
                <a:cubicBezTo>
                  <a:pt x="475879" y="361395"/>
                  <a:pt x="365581" y="479611"/>
                  <a:pt x="238268" y="476536"/>
                </a:cubicBezTo>
                <a:cubicBezTo>
                  <a:pt x="95980" y="506567"/>
                  <a:pt x="24233" y="376309"/>
                  <a:pt x="0" y="238268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395EF8-2A77-A82E-8D64-B50A1ACA4B17}"/>
              </a:ext>
            </a:extLst>
          </p:cNvPr>
          <p:cNvSpPr>
            <a:spLocks noGrp="1"/>
          </p:cNvSpPr>
          <p:nvPr/>
        </p:nvSpPr>
        <p:spPr>
          <a:xfrm>
            <a:off x="8784150" y="2970409"/>
            <a:ext cx="1492829" cy="374446"/>
          </a:xfrm>
          <a:custGeom>
            <a:avLst/>
            <a:gdLst>
              <a:gd name="csX0" fmla="*/ 0 w 1492829"/>
              <a:gd name="csY0" fmla="*/ 0 h 374446"/>
              <a:gd name="csX1" fmla="*/ 467753 w 1492829"/>
              <a:gd name="csY1" fmla="*/ 0 h 374446"/>
              <a:gd name="csX2" fmla="*/ 980291 w 1492829"/>
              <a:gd name="csY2" fmla="*/ 0 h 374446"/>
              <a:gd name="csX3" fmla="*/ 1492829 w 1492829"/>
              <a:gd name="csY3" fmla="*/ 0 h 374446"/>
              <a:gd name="csX4" fmla="*/ 1492829 w 1492829"/>
              <a:gd name="csY4" fmla="*/ 374446 h 374446"/>
              <a:gd name="csX5" fmla="*/ 1010148 w 1492829"/>
              <a:gd name="csY5" fmla="*/ 374446 h 374446"/>
              <a:gd name="csX6" fmla="*/ 482681 w 1492829"/>
              <a:gd name="csY6" fmla="*/ 374446 h 374446"/>
              <a:gd name="csX7" fmla="*/ 0 w 1492829"/>
              <a:gd name="csY7" fmla="*/ 374446 h 374446"/>
              <a:gd name="csX8" fmla="*/ 0 w 1492829"/>
              <a:gd name="csY8" fmla="*/ 0 h 374446"/>
            </a:gdLst>
            <a:ahLst/>
            <a:cxnLst/>
            <a:rect l="l" t="t" r="r" b="b"/>
            <a:pathLst>
              <a:path w="1492829" h="374446">
                <a:moveTo>
                  <a:pt x="0" y="0"/>
                </a:moveTo>
                <a:cubicBezTo>
                  <a:pt x="145784" y="2528"/>
                  <a:pt x="271229" y="18773"/>
                  <a:pt x="467753" y="0"/>
                </a:cubicBezTo>
                <a:cubicBezTo>
                  <a:pt x="664277" y="-18773"/>
                  <a:pt x="818388" y="25577"/>
                  <a:pt x="980291" y="0"/>
                </a:cubicBezTo>
                <a:cubicBezTo>
                  <a:pt x="1142194" y="-25577"/>
                  <a:pt x="1274909" y="-3453"/>
                  <a:pt x="1492829" y="0"/>
                </a:cubicBezTo>
                <a:cubicBezTo>
                  <a:pt x="1482308" y="89559"/>
                  <a:pt x="1487810" y="206874"/>
                  <a:pt x="1492829" y="374446"/>
                </a:cubicBezTo>
                <a:cubicBezTo>
                  <a:pt x="1348032" y="398130"/>
                  <a:pt x="1236155" y="390317"/>
                  <a:pt x="1010148" y="374446"/>
                </a:cubicBezTo>
                <a:cubicBezTo>
                  <a:pt x="784141" y="358575"/>
                  <a:pt x="739497" y="385583"/>
                  <a:pt x="482681" y="374446"/>
                </a:cubicBezTo>
                <a:cubicBezTo>
                  <a:pt x="225865" y="363309"/>
                  <a:pt x="162003" y="397730"/>
                  <a:pt x="0" y="374446"/>
                </a:cubicBezTo>
                <a:cubicBezTo>
                  <a:pt x="18277" y="296883"/>
                  <a:pt x="2627" y="122005"/>
                  <a:pt x="0" y="0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b="1"/>
              <a:t>temperature</a:t>
            </a:r>
          </a:p>
        </p:txBody>
      </p:sp>
      <p:cxnSp>
        <p:nvCxnSpPr>
          <p:cNvPr id="36" name="Straight Arrow Connector 8"/>
          <p:cNvCxnSpPr/>
          <p:nvPr/>
        </p:nvCxnSpPr>
        <p:spPr>
          <a:xfrm flipH="1">
            <a:off x="7765901" y="3149169"/>
            <a:ext cx="1019885" cy="17875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9"/>
          <p:cNvCxnSpPr/>
          <p:nvPr/>
        </p:nvCxnSpPr>
        <p:spPr>
          <a:xfrm flipH="1">
            <a:off x="8517672" y="3348619"/>
            <a:ext cx="1030113" cy="91007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55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9CA3-6ED0-B5F8-E370-43F4DB3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02095-E99A-F985-1812-F3FF03A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9499F-C0D8-452B-ACE7-1C8BCFF077BC}"/>
              </a:ext>
            </a:extLst>
          </p:cNvPr>
          <p:cNvSpPr>
            <a:spLocks noGrp="1"/>
          </p:cNvSpPr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3200" i="1">
                <a:latin typeface="Palatino Linotype"/>
                <a:ea typeface="Palatino Linotype"/>
                <a:cs typeface="Palatino Linotype"/>
              </a:rPr>
              <a:t>T = 1.0</a:t>
            </a:r>
            <a:endParaRPr/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790" y="2674326"/>
            <a:ext cx="5128846" cy="3722078"/>
          </a:xfrm>
          <a:prstGeom prst="rect">
            <a:avLst/>
          </a:prstGeom>
        </p:spPr>
      </p:pic>
      <p:pic>
        <p:nvPicPr>
          <p:cNvPr id="12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667001"/>
            <a:ext cx="4967655" cy="3729404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3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F3FA-4C40-71C7-55F5-EDAE63BE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1010-62AF-AEA3-EE3C-6E8BA2F3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pic>
        <p:nvPicPr>
          <p:cNvPr id="10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DEB007-B440-E26B-838A-0FD6AD28B049}"/>
              </a:ext>
            </a:extLst>
          </p:cNvPr>
          <p:cNvSpPr>
            <a:spLocks noGrp="1"/>
          </p:cNvSpPr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3200" i="1">
                <a:latin typeface="Palatino Linotype"/>
                <a:ea typeface="Palatino Linotype"/>
                <a:cs typeface="Palatino Linotype"/>
              </a:rPr>
              <a:t>T = 0.5</a:t>
            </a:r>
            <a:endParaRPr/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667001"/>
            <a:ext cx="4967655" cy="3729404"/>
          </a:xfrm>
          <a:prstGeom prst="rect">
            <a:avLst/>
          </a:prstGeom>
        </p:spPr>
      </p:pic>
      <p:pic>
        <p:nvPicPr>
          <p:cNvPr id="13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038" y="2674327"/>
            <a:ext cx="4931020" cy="372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87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EDDC-4D80-3F32-945F-7DD89CAF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CB303-EFC4-50EC-86F9-04D404FFA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pic>
        <p:nvPicPr>
          <p:cNvPr id="10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2F4B36-6719-320E-F948-117C489B2C7E}"/>
              </a:ext>
            </a:extLst>
          </p:cNvPr>
          <p:cNvSpPr>
            <a:spLocks noGrp="1"/>
          </p:cNvSpPr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3200" i="1">
                <a:latin typeface="Palatino Linotype"/>
                <a:ea typeface="Palatino Linotype"/>
                <a:cs typeface="Palatino Linotype"/>
              </a:rPr>
              <a:t>T = 0.01</a:t>
            </a:r>
            <a:endParaRPr/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667001"/>
            <a:ext cx="4967655" cy="3729404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384" y="2667000"/>
            <a:ext cx="4967654" cy="37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01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B725-4910-14FC-C2FE-2DA19C55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721F7-82CC-2A09-5894-54378BBA8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07A64-A25B-FBED-5810-9C6BF895E323}"/>
              </a:ext>
            </a:extLst>
          </p:cNvPr>
          <p:cNvSpPr>
            <a:spLocks noGrp="1"/>
          </p:cNvSpPr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3200" i="1">
                <a:latin typeface="Palatino Linotype"/>
                <a:ea typeface="Palatino Linotype"/>
                <a:cs typeface="Palatino Linotype"/>
              </a:rPr>
              <a:t>T = 1.0</a:t>
            </a:r>
            <a:endParaRPr/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790" y="2674326"/>
            <a:ext cx="5128846" cy="3722078"/>
          </a:xfrm>
          <a:prstGeom prst="rect">
            <a:avLst/>
          </a:prstGeom>
        </p:spPr>
      </p:pic>
      <p:pic>
        <p:nvPicPr>
          <p:cNvPr id="12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667001"/>
            <a:ext cx="4967655" cy="3729404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34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2185-DBFA-4929-87E2-49E46085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163A6-50D0-6772-4928-96F0E521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42B2D-DC48-A030-92A5-E746B105530A}"/>
              </a:ext>
            </a:extLst>
          </p:cNvPr>
          <p:cNvSpPr>
            <a:spLocks noGrp="1"/>
          </p:cNvSpPr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3200" i="1">
                <a:latin typeface="Palatino Linotype"/>
                <a:ea typeface="Palatino Linotype"/>
                <a:cs typeface="Palatino Linotype"/>
              </a:rPr>
              <a:t>T = 2.0</a:t>
            </a:r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67001"/>
            <a:ext cx="4967655" cy="3729404"/>
          </a:xfrm>
          <a:prstGeom prst="rect">
            <a:avLst/>
          </a:prstGeom>
        </p:spPr>
      </p:pic>
      <p:pic>
        <p:nvPicPr>
          <p:cNvPr id="12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058" y="2674326"/>
            <a:ext cx="4974981" cy="372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9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FFC6-B775-CE44-8273-59858764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5B7B-9565-4B68-B5DE-9A3FDFCE4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"the cat sat on the _____"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5A287-DD3D-65D7-6EB7-832F6573BAFB}"/>
              </a:ext>
            </a:extLst>
          </p:cNvPr>
          <p:cNvSpPr>
            <a:spLocks noGrp="1"/>
          </p:cNvSpPr>
          <p:nvPr/>
        </p:nvSpPr>
        <p:spPr>
          <a:xfrm>
            <a:off x="8408735" y="1825417"/>
            <a:ext cx="1748582" cy="5847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3200" i="1">
                <a:latin typeface="Palatino Linotype"/>
                <a:ea typeface="Palatino Linotype"/>
                <a:cs typeface="Palatino Linotype"/>
              </a:rPr>
              <a:t>T = 99.0</a:t>
            </a:r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67001"/>
            <a:ext cx="4967655" cy="3729404"/>
          </a:xfrm>
          <a:prstGeom prst="rect">
            <a:avLst/>
          </a:prstGeom>
        </p:spPr>
      </p:pic>
      <p:pic>
        <p:nvPicPr>
          <p:cNvPr id="12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34" y="3999047"/>
            <a:ext cx="1731416" cy="637397"/>
          </a:xfrm>
          <a:prstGeom prst="rect">
            <a:avLst/>
          </a:prstGeom>
        </p:spPr>
      </p:pic>
      <p:pic>
        <p:nvPicPr>
          <p:cNvPr id="13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711" y="2674326"/>
            <a:ext cx="4953001" cy="372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39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968E-1A74-2906-EE37-CEB165AB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A9CE8-C849-F2F0-8A6C-FA9E5A6F5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Softmax converts raw logits to a probability distribution</a:t>
            </a:r>
          </a:p>
          <a:p>
            <a:r>
              <a:rPr>
                <a:latin typeface="CMU Serif Roman"/>
                <a:ea typeface="CMU Serif Roman"/>
                <a:cs typeface="CMU Serif Roman"/>
              </a:rPr>
              <a:t>Changing the temperature parameter alters the entropy of the distribution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060" y="3858546"/>
            <a:ext cx="4745880" cy="16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95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1D87-9865-8A8C-8F92-652DD737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18BD-36F0-04BC-AAC7-E105E1A21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Greedy sampling</a:t>
            </a:r>
            <a:r>
              <a:t> Pick the top score</a:t>
            </a:r>
          </a:p>
          <a:p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Top-p </a:t>
            </a:r>
            <a:r>
              <a:rPr>
                <a:solidFill>
                  <a:srgbClr val="000000"/>
                </a:solidFill>
              </a:rPr>
              <a:t>The cumulative probability cutoff for token selection. Lower values mean sampling from a smaller, more top-weighted nucleus.</a:t>
            </a:r>
          </a:p>
          <a:p>
            <a:pPr marL="0" indent="0">
              <a:buNone/>
            </a:pPr>
            <a:r>
              <a:rPr b="1">
                <a:solidFill>
                  <a:srgbClr val="7030A0"/>
                </a:solidFill>
              </a:rPr>
              <a:t>Top-k</a:t>
            </a:r>
            <a:r>
              <a:t> </a:t>
            </a:r>
            <a:r>
              <a:rPr>
                <a:solidFill>
                  <a:srgbClr val="000000"/>
                </a:solidFill>
              </a:rPr>
              <a:t>Sample from the k most likely next tokens at each step. Lower k focuses on higher probability tokens.</a:t>
            </a:r>
          </a:p>
          <a:p>
            <a:pPr marL="0" indent="0">
              <a:buNone/>
            </a:pPr>
            <a:endParaRPr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i="1">
                <a:solidFill>
                  <a:srgbClr val="000000"/>
                </a:solidFill>
              </a:rPr>
              <a:t>In OpenAI models, setting T = 0 essentially does greedy sampling, and top-k is not exposed</a:t>
            </a:r>
          </a:p>
        </p:txBody>
      </p:sp>
    </p:spTree>
    <p:extLst>
      <p:ext uri="{BB962C8B-B14F-4D97-AF65-F5344CB8AC3E}">
        <p14:creationId xmlns:p14="http://schemas.microsoft.com/office/powerpoint/2010/main" val="887649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0C37-E568-F188-BD32-F1099E31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laws</a:t>
            </a:r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038" y="1795463"/>
            <a:ext cx="7781925" cy="3267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AFC3ED-EE6C-A7A9-3005-CD0A82A292BA}"/>
              </a:ext>
            </a:extLst>
          </p:cNvPr>
          <p:cNvSpPr txBox="1"/>
          <p:nvPr/>
        </p:nvSpPr>
        <p:spPr>
          <a:xfrm>
            <a:off x="115454" y="5449381"/>
            <a:ext cx="10607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Kaplan, J., McCandlish, S., Henighan, T., Brown, T. B., Chess, B., Child, R., Gray, S., Radford, A., Wu, J., &amp; Amodei, D. (2020).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Scaling laws for neural language models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86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5AB807-6D3D-411C-A443-B50A2DE4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Choose a decoding strategy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547ABF-1648-458B-82B7-74AAAAF71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None/>
            </a:pPr>
            <a:r>
              <a:t>Work in small groups - 8 minutes</a:t>
            </a:r>
          </a:p>
          <a:p>
            <a:pPr lvl="1">
              <a:buNone/>
            </a:pPr>
            <a:endParaRPr/>
          </a:p>
          <a:p>
            <a:pPr lvl="2">
              <a:buNone/>
            </a:pPr>
            <a:r>
              <a:t>Next-token probabilities:</a:t>
            </a:r>
          </a:p>
          <a:p>
            <a:pPr lvl="3">
              <a:buNone/>
            </a:pPr>
            <a:r>
              <a:t>cat 0.42 | dog 0.28 | slept 0.16 | ran 0.09 | moon 0.05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Predict what changes with:</a:t>
            </a:r>
          </a:p>
          <a:p>
            <a:pPr lvl="4">
              <a:buNone/>
            </a:pPr>
            <a:r>
              <a:t>1. Greedy decoding</a:t>
            </a:r>
          </a:p>
          <a:p>
            <a:pPr lvl="4">
              <a:buNone/>
            </a:pPr>
            <a:r>
              <a:t>2. Low temperature</a:t>
            </a:r>
          </a:p>
          <a:p>
            <a:pPr lvl="4">
              <a:buNone/>
            </a:pPr>
            <a:r>
              <a:t>3. High temperature</a:t>
            </a:r>
          </a:p>
          <a:p>
            <a:pPr lvl="4">
              <a:buNone/>
            </a:pPr>
            <a:r>
              <a:t>4. Top-k = 2</a:t>
            </a:r>
          </a:p>
          <a:p>
            <a:pPr lvl="4">
              <a:buNone/>
            </a:pPr>
            <a:r>
              <a:t>5. Top-p = 0.75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Choose settings for a factual support bot and for a creative story generator. Explain the trade-off.</a:t>
            </a:r>
          </a:p>
        </p:txBody>
      </p:sp>
    </p:spTree>
    <p:extLst>
      <p:ext uri="{BB962C8B-B14F-4D97-AF65-F5344CB8AC3E}">
        <p14:creationId xmlns:p14="http://schemas.microsoft.com/office/powerpoint/2010/main" val="118865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5AB807-6D3D-411C-A443-B50A2DE4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answers: Decoding strategy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547ABF-1648-458B-82B7-74AAAAF71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dirty="0"/>
              <a:t>Expected effects</a:t>
            </a:r>
          </a:p>
          <a:p>
            <a:pPr lvl="1">
              <a:buNone/>
            </a:pPr>
            <a:r>
              <a:rPr dirty="0"/>
              <a:t>• Greedy decoding always chooses “cat.”</a:t>
            </a:r>
          </a:p>
          <a:p>
            <a:pPr lvl="2">
              <a:buNone/>
            </a:pPr>
            <a:r>
              <a:rPr dirty="0"/>
              <a:t>• Low temperature makes high-probability tokens more dominant.</a:t>
            </a:r>
            <a:endParaRPr lang="en-GB" dirty="0"/>
          </a:p>
          <a:p>
            <a:pPr lvl="2">
              <a:buNone/>
            </a:pPr>
            <a:r>
              <a:rPr dirty="0"/>
              <a:t>• High temperature increases diversity and risk.</a:t>
            </a:r>
            <a:endParaRPr lang="en-GB" dirty="0"/>
          </a:p>
          <a:p>
            <a:pPr lvl="2">
              <a:buNone/>
            </a:pPr>
            <a:r>
              <a:rPr dirty="0"/>
              <a:t>• Top-k = 2 permits only “cat” and “dog.”</a:t>
            </a:r>
            <a:endParaRPr lang="en-GB" dirty="0"/>
          </a:p>
          <a:p>
            <a:pPr lvl="2">
              <a:buNone/>
            </a:pPr>
            <a:r>
              <a:rPr dirty="0"/>
              <a:t>• Top-p = 0.75 includes “cat,” “dog,” and “slept” because their cumulative probability is 0.86.</a:t>
            </a:r>
            <a:endParaRPr lang="en-GB" dirty="0"/>
          </a:p>
          <a:p>
            <a:pPr lvl="2">
              <a:buNone/>
            </a:pPr>
            <a:r>
              <a:rPr lang="en-GB" dirty="0"/>
              <a:t>	</a:t>
            </a:r>
          </a:p>
          <a:p>
            <a:pPr lvl="2">
              <a:buNone/>
            </a:pPr>
            <a:r>
              <a:rPr lang="en-GB" dirty="0"/>
              <a:t>	</a:t>
            </a:r>
            <a:r>
              <a:rPr dirty="0"/>
              <a:t>Use lower randomness for factual support and moderate diversity for creative writing. Sampling settings do not add knowledge or guarantee accuracy.</a:t>
            </a:r>
          </a:p>
        </p:txBody>
      </p:sp>
    </p:spTree>
    <p:extLst>
      <p:ext uri="{BB962C8B-B14F-4D97-AF65-F5344CB8AC3E}">
        <p14:creationId xmlns:p14="http://schemas.microsoft.com/office/powerpoint/2010/main" val="46618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693</Words>
  <Application>Microsoft Macintosh PowerPoint</Application>
  <DocSecurity>0</DocSecurity>
  <PresentationFormat>Widescreen</PresentationFormat>
  <Paragraphs>206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CMU Serif Roman</vt:lpstr>
      <vt:lpstr>CMU Serif Roman</vt:lpstr>
      <vt:lpstr>Consolas</vt:lpstr>
      <vt:lpstr>Palatino Linotype</vt:lpstr>
      <vt:lpstr>office theme</vt:lpstr>
      <vt:lpstr>Output</vt:lpstr>
      <vt:lpstr>Overview</vt:lpstr>
      <vt:lpstr>From the Last Section</vt:lpstr>
      <vt:lpstr>The language model</vt:lpstr>
      <vt:lpstr>The language model</vt:lpstr>
      <vt:lpstr>The final prediction</vt:lpstr>
      <vt:lpstr>The final operation</vt:lpstr>
      <vt:lpstr>Example Input: "The cat sat" 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Softmax</vt:lpstr>
      <vt:lpstr>Sampling</vt:lpstr>
      <vt:lpstr>Scaling laws</vt:lpstr>
      <vt:lpstr>Activity: Choose a decoding strategy</vt:lpstr>
      <vt:lpstr>Activity answers: Decoding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Fariba Yousefi</cp:lastModifiedBy>
  <cp:revision>3</cp:revision>
  <dcterms:created xsi:type="dcterms:W3CDTF">2026-09-25T12:54:15Z</dcterms:created>
  <dcterms:modified xsi:type="dcterms:W3CDTF">2026-09-25T22:17:15Z</dcterms:modified>
</cp:coreProperties>
</file>