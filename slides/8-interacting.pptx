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4" r:id="rId9"/>
    <p:sldId id="266" r:id="rId10"/>
    <p:sldId id="267" r:id="rId11"/>
    <p:sldId id="265" r:id="rId12"/>
    <p:sldId id="270" r:id="rId13"/>
    <p:sldId id="271" r:id="rId14"/>
    <p:sldId id="272" r:id="rId15"/>
    <p:sldId id="268" r:id="rId16"/>
    <p:sldId id="269" r:id="rId17"/>
    <p:sldId id="273" r:id="rId1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596FD-F770-F225-87FC-3FA302DF3916}" v="381" dt="2026-09-23T13:07:27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Daniels" userId="S::rkd43@cam.ac.uk::aaa4fbe9-f474-4140-b10b-5257398ac308" providerId="AD" clId="Web-{BDA0D978-713E-F97A-4F3D-3076CEB25389}"/>
    <pc:docChg chg="modSld">
      <pc:chgData name="Ryan Daniels" userId="S::rkd43@cam.ac.uk::aaa4fbe9-f474-4140-b10b-5257398ac308" providerId="AD" clId="Web-{BDA0D978-713E-F97A-4F3D-3076CEB25389}" dt="2026-02-09T15:33:13.473" v="0"/>
      <pc:docMkLst>
        <pc:docMk/>
      </pc:docMkLst>
      <pc:sldChg chg="delSp">
        <pc:chgData name="Ryan Daniels" userId="S::rkd43@cam.ac.uk::aaa4fbe9-f474-4140-b10b-5257398ac308" providerId="AD" clId="Web-{BDA0D978-713E-F97A-4F3D-3076CEB25389}" dt="2026-02-09T15:33:13.473" v="0"/>
        <pc:sldMkLst>
          <pc:docMk/>
          <pc:sldMk cId="109857222" sldId="256"/>
        </pc:sldMkLst>
        <pc:spChg chg="del">
          <ac:chgData name="Ryan Daniels" userId="S::rkd43@cam.ac.uk::aaa4fbe9-f474-4140-b10b-5257398ac308" providerId="AD" clId="Web-{BDA0D978-713E-F97A-4F3D-3076CEB25389}" dt="2026-02-09T15:33:13.473" v="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Ryan Daniels" userId="S::rkd43@cam.ac.uk::aaa4fbe9-f474-4140-b10b-5257398ac308" providerId="AD" clId="Web-{9D856C1E-26A0-9FB6-DA29-0AB6D7546793}"/>
    <pc:docChg chg="modSld">
      <pc:chgData name="Ryan Daniels" userId="S::rkd43@cam.ac.uk::aaa4fbe9-f474-4140-b10b-5257398ac308" providerId="AD" clId="Web-{9D856C1E-26A0-9FB6-DA29-0AB6D7546793}" dt="2026-02-09T15:31:50.567" v="0" actId="20577"/>
      <pc:docMkLst>
        <pc:docMk/>
      </pc:docMkLst>
      <pc:sldChg chg="modSp">
        <pc:chgData name="Ryan Daniels" userId="S::rkd43@cam.ac.uk::aaa4fbe9-f474-4140-b10b-5257398ac308" providerId="AD" clId="Web-{9D856C1E-26A0-9FB6-DA29-0AB6D7546793}" dt="2026-02-09T15:31:50.567" v="0" actId="20577"/>
        <pc:sldMkLst>
          <pc:docMk/>
          <pc:sldMk cId="109857222" sldId="256"/>
        </pc:sldMkLst>
        <pc:spChg chg="mod">
          <ac:chgData name="Ryan Daniels" userId="S::rkd43@cam.ac.uk::aaa4fbe9-f474-4140-b10b-5257398ac308" providerId="AD" clId="Web-{9D856C1E-26A0-9FB6-DA29-0AB6D7546793}" dt="2026-02-09T15:31:50.567" v="0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Radzim Sendyka" userId="S::rs2071@cam.ac.uk::c34e45c7-8fd4-474d-b626-7b28853f9a0f" providerId="AD" clId="Web-{D29596FD-F770-F225-87FC-3FA302DF3916}"/>
    <pc:docChg chg="addSld modSld sldOrd">
      <pc:chgData name="Radzim Sendyka" userId="S::rs2071@cam.ac.uk::c34e45c7-8fd4-474d-b626-7b28853f9a0f" providerId="AD" clId="Web-{D29596FD-F770-F225-87FC-3FA302DF3916}" dt="2026-09-23T13:07:27.015" v="376" actId="20577"/>
      <pc:docMkLst>
        <pc:docMk/>
      </pc:docMkLst>
      <pc:sldChg chg="ord">
        <pc:chgData name="Radzim Sendyka" userId="S::rs2071@cam.ac.uk::c34e45c7-8fd4-474d-b626-7b28853f9a0f" providerId="AD" clId="Web-{D29596FD-F770-F225-87FC-3FA302DF3916}" dt="2026-09-23T13:02:27.182" v="149"/>
        <pc:sldMkLst>
          <pc:docMk/>
          <pc:sldMk cId="3997258095" sldId="269"/>
        </pc:sldMkLst>
      </pc:sldChg>
      <pc:sldChg chg="modSp new">
        <pc:chgData name="Radzim Sendyka" userId="S::rs2071@cam.ac.uk::c34e45c7-8fd4-474d-b626-7b28853f9a0f" providerId="AD" clId="Web-{D29596FD-F770-F225-87FC-3FA302DF3916}" dt="2026-09-23T13:02:20.760" v="148" actId="20577"/>
        <pc:sldMkLst>
          <pc:docMk/>
          <pc:sldMk cId="2210593182" sldId="273"/>
        </pc:sldMkLst>
        <pc:spChg chg="mod">
          <ac:chgData name="Radzim Sendyka" userId="S::rs2071@cam.ac.uk::c34e45c7-8fd4-474d-b626-7b28853f9a0f" providerId="AD" clId="Web-{D29596FD-F770-F225-87FC-3FA302DF3916}" dt="2026-09-23T13:00:59.180" v="10" actId="20577"/>
          <ac:spMkLst>
            <pc:docMk/>
            <pc:sldMk cId="2210593182" sldId="273"/>
            <ac:spMk id="2" creationId="{FB9288F3-BDF6-DBE9-533A-7E304767931F}"/>
          </ac:spMkLst>
        </pc:spChg>
        <pc:spChg chg="mod">
          <ac:chgData name="Radzim Sendyka" userId="S::rs2071@cam.ac.uk::c34e45c7-8fd4-474d-b626-7b28853f9a0f" providerId="AD" clId="Web-{D29596FD-F770-F225-87FC-3FA302DF3916}" dt="2026-09-23T13:02:20.760" v="148" actId="20577"/>
          <ac:spMkLst>
            <pc:docMk/>
            <pc:sldMk cId="2210593182" sldId="273"/>
            <ac:spMk id="3" creationId="{8DE1E9CB-5E70-5E71-3090-6D63369CA786}"/>
          </ac:spMkLst>
        </pc:spChg>
      </pc:sldChg>
      <pc:sldChg chg="addSp delSp modSp add replId">
        <pc:chgData name="Radzim Sendyka" userId="S::rs2071@cam.ac.uk::c34e45c7-8fd4-474d-b626-7b28853f9a0f" providerId="AD" clId="Web-{D29596FD-F770-F225-87FC-3FA302DF3916}" dt="2026-09-23T13:07:27.015" v="376" actId="20577"/>
        <pc:sldMkLst>
          <pc:docMk/>
          <pc:sldMk cId="2499628712" sldId="274"/>
        </pc:sldMkLst>
        <pc:spChg chg="mod">
          <ac:chgData name="Radzim Sendyka" userId="S::rs2071@cam.ac.uk::c34e45c7-8fd4-474d-b626-7b28853f9a0f" providerId="AD" clId="Web-{D29596FD-F770-F225-87FC-3FA302DF3916}" dt="2026-09-23T13:07:27.015" v="376" actId="20577"/>
          <ac:spMkLst>
            <pc:docMk/>
            <pc:sldMk cId="2499628712" sldId="274"/>
            <ac:spMk id="3" creationId="{9B69B2B3-16DE-C47F-6291-92B654548528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9"/>
          <ac:spMkLst>
            <pc:docMk/>
            <pc:sldMk cId="2499628712" sldId="274"/>
            <ac:spMk id="5" creationId="{40CE72FF-5DFE-3C8D-663B-A23E2E7C6D43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8"/>
          <ac:spMkLst>
            <pc:docMk/>
            <pc:sldMk cId="2499628712" sldId="274"/>
            <ac:spMk id="6" creationId="{A1E70D69-9F31-9301-FA7B-5C11A87769EA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7"/>
          <ac:spMkLst>
            <pc:docMk/>
            <pc:sldMk cId="2499628712" sldId="274"/>
            <ac:spMk id="7" creationId="{6F1D1797-6D93-203A-E168-57C7C7139C10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5:19.966" v="256"/>
          <ac:spMkLst>
            <pc:docMk/>
            <pc:sldMk cId="2499628712" sldId="274"/>
            <ac:spMk id="8" creationId="{D77A82CF-8F01-E1B8-689A-8776C5AE6895}"/>
          </ac:spMkLst>
        </pc:spChg>
        <pc:spChg chg="add del mod">
          <ac:chgData name="Radzim Sendyka" userId="S::rs2071@cam.ac.uk::c34e45c7-8fd4-474d-b626-7b28853f9a0f" providerId="AD" clId="Web-{D29596FD-F770-F225-87FC-3FA302DF3916}" dt="2026-09-23T13:04:10.996" v="215"/>
          <ac:spMkLst>
            <pc:docMk/>
            <pc:sldMk cId="2499628712" sldId="274"/>
            <ac:spMk id="9" creationId="{A95B7048-35F5-071A-0758-38300FA36529}"/>
          </ac:spMkLst>
        </pc:spChg>
        <pc:spChg chg="add del">
          <ac:chgData name="Radzim Sendyka" userId="S::rs2071@cam.ac.uk::c34e45c7-8fd4-474d-b626-7b28853f9a0f" providerId="AD" clId="Web-{D29596FD-F770-F225-87FC-3FA302DF3916}" dt="2026-09-23T13:04:29.496" v="220"/>
          <ac:spMkLst>
            <pc:docMk/>
            <pc:sldMk cId="2499628712" sldId="274"/>
            <ac:spMk id="10" creationId="{C65F7363-894A-F812-C499-13FAF85A3BD3}"/>
          </ac:spMkLst>
        </pc:spChg>
        <pc:graphicFrameChg chg="add del">
          <ac:chgData name="Radzim Sendyka" userId="S::rs2071@cam.ac.uk::c34e45c7-8fd4-474d-b626-7b28853f9a0f" providerId="AD" clId="Web-{D29596FD-F770-F225-87FC-3FA302DF3916}" dt="2026-09-23T13:03:19.901" v="200"/>
          <ac:graphicFrameMkLst>
            <pc:docMk/>
            <pc:sldMk cId="2499628712" sldId="274"/>
            <ac:graphicFrameMk id="4" creationId="{9FD34C8F-F345-9D8B-E1E8-F7A2511893E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F3AFC-D5DA-4E7D-AE6C-7200F48BDA6F}" type="datetimeFigureOut">
              <a:t>9/23/2026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1336A-4609-4672-A31B-074C4A1403DD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486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This is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1336A-4609-4672-A31B-074C4A1403DD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902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64FD-E208-F1C3-59EF-D1C6A28AF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470F2-8517-F476-CADD-B1FE26406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417E1-5FDC-6FA2-5B67-FA5BF3D42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This is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D8510-6ECF-7DAE-1EE2-92448DF66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1336A-4609-4672-A31B-074C4A1403DD}" type="slidenum"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031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GB"/>
              <a:t>Interaction</a:t>
            </a:r>
            <a:endParaRPr lang="en-US"/>
          </a:p>
        </p:txBody>
      </p:sp>
      <p:pic>
        <p:nvPicPr>
          <p:cNvPr id="4" name="Picture 3" descr="A cartoon of a llama wearing a cape and mask&#10;&#10;AI-generated content may be incorrect.">
            <a:extLst>
              <a:ext uri="{FF2B5EF4-FFF2-40B4-BE49-F238E27FC236}">
                <a16:creationId xmlns:a16="http://schemas.microsoft.com/office/drawing/2014/main" id="{9B11D030-1651-544D-2B8F-EAE75B543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708" y="3602470"/>
            <a:ext cx="23241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F179-70F4-E54B-DA2A-E8D7B057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Before we begin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7CCE0-B5E8-BB6E-E50B-1D1DE876D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88" y="1393825"/>
            <a:ext cx="98202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9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C7B0-00EC-EEAE-4A35-0F8F3629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GB"/>
          </a:p>
          <a:p>
            <a:pPr marL="0" indent="0" algn="ctr">
              <a:buNone/>
            </a:pPr>
            <a:endParaRPr lang="en-GB" i="1"/>
          </a:p>
          <a:p>
            <a:pPr marL="0" indent="0" algn="ctr">
              <a:buNone/>
            </a:pPr>
            <a:r>
              <a:rPr lang="en-GB" i="1"/>
              <a:t>How do we, as mere humans, who can only type in plain text, interact with these models?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1426398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A6ADA-DBCC-C77B-5CBC-51DD7242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107CC-2ED1-344E-4E26-97AB7A88C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/>
              <a:t>What is an API?</a:t>
            </a:r>
            <a:endParaRPr lang="en-US" b="1"/>
          </a:p>
          <a:p>
            <a:pPr marL="0" indent="0">
              <a:buNone/>
            </a:pPr>
            <a:r>
              <a:rPr lang="en-GB" i="1"/>
              <a:t>It is a way of defining how you interact with a piece of software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 b="1"/>
              <a:t>What is the </a:t>
            </a:r>
            <a:r>
              <a:rPr lang="en-GB" b="1" err="1"/>
              <a:t>OpenAPI</a:t>
            </a:r>
            <a:r>
              <a:rPr lang="en-GB" b="1"/>
              <a:t>?</a:t>
            </a:r>
          </a:p>
          <a:p>
            <a:pPr marL="0" indent="0">
              <a:buNone/>
            </a:pPr>
            <a:r>
              <a:rPr lang="en-GB" i="1"/>
              <a:t>It is just a specific type of API!</a:t>
            </a:r>
          </a:p>
          <a:p>
            <a:pPr marL="0" indent="0">
              <a:buNone/>
            </a:pPr>
            <a:endParaRPr lang="en-GB" i="1"/>
          </a:p>
          <a:p>
            <a:pPr marL="0" indent="0" algn="ctr">
              <a:buNone/>
            </a:pPr>
            <a:r>
              <a:rPr lang="en-GB" i="1"/>
              <a:t>Think about what happens when you order food at a restaurant...</a:t>
            </a:r>
          </a:p>
        </p:txBody>
      </p:sp>
    </p:spTree>
    <p:extLst>
      <p:ext uri="{BB962C8B-B14F-4D97-AF65-F5344CB8AC3E}">
        <p14:creationId xmlns:p14="http://schemas.microsoft.com/office/powerpoint/2010/main" val="154544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29F971-DC2F-528A-F770-DBD556830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19" y="0"/>
            <a:ext cx="4733534" cy="6858000"/>
          </a:xfrm>
          <a:prstGeom prst="rect">
            <a:avLst/>
          </a:prstGeom>
        </p:spPr>
      </p:pic>
      <p:pic>
        <p:nvPicPr>
          <p:cNvPr id="9" name="Picture 8" descr="A menu of a cocktail&#10;&#10;AI-generated content may be incorrect.">
            <a:extLst>
              <a:ext uri="{FF2B5EF4-FFF2-40B4-BE49-F238E27FC236}">
                <a16:creationId xmlns:a16="http://schemas.microsoft.com/office/drawing/2014/main" id="{041F554A-08F5-1391-A151-50E1C9534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08" y="0"/>
            <a:ext cx="4733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4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169DD87-3EBE-44CA-9654-8AE0466B2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 descr="Cartoon of a waiter and a person sitting at a table&#10;&#10;AI-generated content may be incorrect.">
            <a:extLst>
              <a:ext uri="{FF2B5EF4-FFF2-40B4-BE49-F238E27FC236}">
                <a16:creationId xmlns:a16="http://schemas.microsoft.com/office/drawing/2014/main" id="{8DE2DE79-86E9-E887-A249-696C2430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97" y="369453"/>
            <a:ext cx="4498880" cy="3040305"/>
          </a:xfrm>
          <a:prstGeom prst="rect">
            <a:avLst/>
          </a:prstGeom>
        </p:spPr>
      </p:pic>
      <p:pic>
        <p:nvPicPr>
          <p:cNvPr id="10" name="Picture 9" descr="Cartoon of a chef talking to a person&#10;&#10;AI-generated content may be incorrect.">
            <a:extLst>
              <a:ext uri="{FF2B5EF4-FFF2-40B4-BE49-F238E27FC236}">
                <a16:creationId xmlns:a16="http://schemas.microsoft.com/office/drawing/2014/main" id="{1A66DE09-5AD0-1C8D-92F9-4D4671E1C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27" y="354061"/>
            <a:ext cx="4591244" cy="3055698"/>
          </a:xfrm>
          <a:prstGeom prst="rect">
            <a:avLst/>
          </a:prstGeom>
        </p:spPr>
      </p:pic>
      <p:pic>
        <p:nvPicPr>
          <p:cNvPr id="13" name="Picture 12" descr="Cartoon chef cooking on a stove&#10;&#10;AI-generated content may be incorrect.">
            <a:extLst>
              <a:ext uri="{FF2B5EF4-FFF2-40B4-BE49-F238E27FC236}">
                <a16:creationId xmlns:a16="http://schemas.microsoft.com/office/drawing/2014/main" id="{F244B821-CC76-8B32-1A77-D41022516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3640666"/>
            <a:ext cx="4506578" cy="3032608"/>
          </a:xfrm>
          <a:prstGeom prst="rect">
            <a:avLst/>
          </a:prstGeom>
        </p:spPr>
      </p:pic>
      <p:pic>
        <p:nvPicPr>
          <p:cNvPr id="14" name="Picture 13" descr="Cartoon of a person serving a steak and fries&#10;&#10;AI-generated content may be incorrect.">
            <a:extLst>
              <a:ext uri="{FF2B5EF4-FFF2-40B4-BE49-F238E27FC236}">
                <a16:creationId xmlns:a16="http://schemas.microsoft.com/office/drawing/2014/main" id="{6BE027CE-D10F-6DED-43EA-2964F1410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227" y="3640666"/>
            <a:ext cx="4591243" cy="30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51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enerated image">
            <a:extLst>
              <a:ext uri="{FF2B5EF4-FFF2-40B4-BE49-F238E27FC236}">
                <a16:creationId xmlns:a16="http://schemas.microsoft.com/office/drawing/2014/main" id="{F7368DD8-B266-F042-9A82-977B39C65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182" y="3085143"/>
            <a:ext cx="1967228" cy="296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D89159-517F-AF58-89A0-2B878C75F87D}"/>
              </a:ext>
            </a:extLst>
          </p:cNvPr>
          <p:cNvSpPr txBox="1"/>
          <p:nvPr/>
        </p:nvSpPr>
        <p:spPr>
          <a:xfrm>
            <a:off x="163437" y="1099846"/>
            <a:ext cx="3545192" cy="9464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i="1"/>
              <a:t>"Give me a recipe for apple pie."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EF502-BB4C-EA01-C70E-15378EF095BD}"/>
              </a:ext>
            </a:extLst>
          </p:cNvPr>
          <p:cNvSpPr txBox="1"/>
          <p:nvPr/>
        </p:nvSpPr>
        <p:spPr>
          <a:xfrm>
            <a:off x="5648036" y="775855"/>
            <a:ext cx="635905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begin_of_text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US">
                <a:solidFill>
                  <a:srgbClr val="0B7743"/>
                </a:solidFill>
                <a:latin typeface="Source Code Pro"/>
                <a:ea typeface="Source Code Pro"/>
              </a:rPr>
              <a:t>system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br>
              <a:rPr lang="en-US"/>
            </a:br>
            <a:r>
              <a:rPr lang="en-US">
                <a:solidFill>
                  <a:srgbClr val="9325A5"/>
                </a:solidFill>
                <a:latin typeface="Source Code Pro"/>
                <a:ea typeface="Source Code Pro"/>
              </a:rPr>
              <a:t>You are a helpful assistant.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US">
                <a:solidFill>
                  <a:srgbClr val="0B7743"/>
                </a:solidFill>
                <a:latin typeface="Source Code Pro"/>
                <a:ea typeface="Source Code Pro"/>
              </a:rPr>
              <a:t>user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br>
              <a:rPr lang="en-US"/>
            </a:br>
            <a:r>
              <a:rPr lang="en-US">
                <a:solidFill>
                  <a:srgbClr val="9325A5"/>
                </a:solidFill>
                <a:latin typeface="Source Code Pro"/>
                <a:ea typeface="Source Code Pro"/>
              </a:rPr>
              <a:t>Give me a recipe for apple pie.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eot_id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start_header_id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r>
              <a:rPr lang="en-US">
                <a:solidFill>
                  <a:srgbClr val="0B7743"/>
                </a:solidFill>
                <a:latin typeface="Source Code Pro"/>
                <a:ea typeface="Source Code Pro"/>
              </a:rPr>
              <a:t>assistant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&lt;|</a:t>
            </a:r>
            <a:r>
              <a:rPr lang="en-US" err="1">
                <a:solidFill>
                  <a:srgbClr val="666666"/>
                </a:solidFill>
                <a:latin typeface="Source Code Pro"/>
                <a:ea typeface="Source Code Pro"/>
              </a:rPr>
              <a:t>end_header_id</a:t>
            </a:r>
            <a:r>
              <a:rPr lang="en-US">
                <a:solidFill>
                  <a:srgbClr val="666666"/>
                </a:solidFill>
                <a:latin typeface="Source Code Pro"/>
                <a:ea typeface="Source Code Pro"/>
              </a:rPr>
              <a:t>|&gt;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EEE7A-E805-CE4A-9F15-CE1CB2124B02}"/>
              </a:ext>
            </a:extLst>
          </p:cNvPr>
          <p:cNvSpPr txBox="1"/>
          <p:nvPr/>
        </p:nvSpPr>
        <p:spPr>
          <a:xfrm>
            <a:off x="5649577" y="4125575"/>
            <a:ext cx="631921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Source Code Pro"/>
                <a:ea typeface="Source Code Pro"/>
              </a:rPr>
              <a:t>[101, 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102, 5921, 103,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84011, 97432, 34587, 123, 712, 104,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102, 1246, 103,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1487, 34578, 8891, 67, 86, 12413, 1775, 104,</a:t>
            </a:r>
            <a:endParaRPr lang="en-US">
              <a:latin typeface="Aptos" panose="020B0004020202020204"/>
              <a:ea typeface="Source Code Pro"/>
            </a:endParaRPr>
          </a:p>
          <a:p>
            <a:r>
              <a:rPr lang="en-GB">
                <a:latin typeface="Source Code Pro"/>
                <a:ea typeface="Source Code Pro"/>
              </a:rPr>
              <a:t>102, 1346, 103]</a:t>
            </a:r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EBC0B9-7EDD-24A5-86CD-2C5B10B08E75}"/>
              </a:ext>
            </a:extLst>
          </p:cNvPr>
          <p:cNvSpPr/>
          <p:nvPr/>
        </p:nvSpPr>
        <p:spPr>
          <a:xfrm>
            <a:off x="4017817" y="1293091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13D18-C17A-9982-47B9-D07B1BF44A2B}"/>
              </a:ext>
            </a:extLst>
          </p:cNvPr>
          <p:cNvSpPr txBox="1"/>
          <p:nvPr/>
        </p:nvSpPr>
        <p:spPr>
          <a:xfrm>
            <a:off x="3910059" y="454121"/>
            <a:ext cx="14162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rgbClr val="7030A0"/>
                </a:solidFill>
              </a:rPr>
              <a:t>chat template</a:t>
            </a:r>
            <a:endParaRPr lang="en-US" b="1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91C6C-AF64-543F-2A7C-A6E4C49E4918}"/>
              </a:ext>
            </a:extLst>
          </p:cNvPr>
          <p:cNvSpPr txBox="1"/>
          <p:nvPr/>
        </p:nvSpPr>
        <p:spPr>
          <a:xfrm>
            <a:off x="9105513" y="3426663"/>
            <a:ext cx="14162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rgbClr val="7030A0"/>
                </a:solidFill>
              </a:rPr>
              <a:t>tokenizer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AC11ADF-B888-E40F-DC18-9DA3B32D08E7}"/>
              </a:ext>
            </a:extLst>
          </p:cNvPr>
          <p:cNvSpPr/>
          <p:nvPr/>
        </p:nvSpPr>
        <p:spPr>
          <a:xfrm rot="5400000">
            <a:off x="8090407" y="3396218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35BAC35-E36A-FD2D-D732-FDC0D7019A50}"/>
              </a:ext>
            </a:extLst>
          </p:cNvPr>
          <p:cNvSpPr/>
          <p:nvPr/>
        </p:nvSpPr>
        <p:spPr>
          <a:xfrm rot="10800000">
            <a:off x="4017817" y="4410363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BB98E-2C85-1895-9B36-57F6D4DD73EC}"/>
              </a:ext>
            </a:extLst>
          </p:cNvPr>
          <p:cNvSpPr txBox="1"/>
          <p:nvPr/>
        </p:nvSpPr>
        <p:spPr>
          <a:xfrm>
            <a:off x="461815" y="3271212"/>
            <a:ext cx="147781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b="1">
                <a:solidFill>
                  <a:srgbClr val="7030A0"/>
                </a:solidFill>
              </a:rPr>
              <a:t>Generate until we see special end token</a:t>
            </a:r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AD616D3-50DE-12EC-0121-855D3D9C7282}"/>
              </a:ext>
            </a:extLst>
          </p:cNvPr>
          <p:cNvSpPr/>
          <p:nvPr/>
        </p:nvSpPr>
        <p:spPr>
          <a:xfrm rot="10800000">
            <a:off x="392543" y="4410363"/>
            <a:ext cx="1431635" cy="592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56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2" grpId="0"/>
      <p:bldP spid="13" grpId="0"/>
      <p:bldP spid="14" grpId="0" animBg="1"/>
      <p:bldP spid="15" grpId="0" animBg="1"/>
      <p:bldP spid="16" grpId="0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067D-3030-C8EF-8FC9-6EA7C259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DA60-09DC-F72F-9A55-5D522C48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B2B3-16DE-C47F-6291-92B65454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What APIs do you use?</a:t>
            </a:r>
          </a:p>
          <a:p>
            <a:pPr marL="0" indent="0">
              <a:buNone/>
            </a:pPr>
            <a:endParaRPr lang="en-GB"/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Real APIs (computer science definition)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Figurative (abstraction service)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Directly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Indirectly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628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8E60-DB07-94AD-6A8D-ED8A668D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E47AC-46FF-CE15-98AE-E37CC999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/>
              <a:t>The OpenAI API makes it very convenient to "communicate" with LLMs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You can basically wrap any generative LLM in the OpenAI API...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8B5D5-7141-D5F4-694A-00C1E0272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49" y="4221479"/>
            <a:ext cx="4818303" cy="138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1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21EE-BD45-B9C8-9438-EB6ABB63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38B19-655C-E98C-5FD4-59D8BA75D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0" indent="0" algn="ctr">
              <a:buNone/>
            </a:pPr>
            <a:r>
              <a:rPr lang="en-GB" b="1" i="1"/>
              <a:t>LLMs, as a fundamental unit, are stateless...</a:t>
            </a:r>
          </a:p>
          <a:p>
            <a:pPr marL="0" indent="0" algn="ctr">
              <a:buNone/>
            </a:pPr>
            <a:endParaRPr lang="en-GB" b="1" i="1"/>
          </a:p>
          <a:p>
            <a:pPr marL="0" indent="0" algn="ctr">
              <a:buNone/>
            </a:pPr>
            <a:r>
              <a:rPr lang="en-GB" i="1"/>
              <a:t>...so a software engineer has to "manage" a conversation</a:t>
            </a:r>
          </a:p>
        </p:txBody>
      </p:sp>
    </p:spTree>
    <p:extLst>
      <p:ext uri="{BB962C8B-B14F-4D97-AF65-F5344CB8AC3E}">
        <p14:creationId xmlns:p14="http://schemas.microsoft.com/office/powerpoint/2010/main" val="142676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FE0B0-DDEB-931F-2E51-034B959C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D023-B5B6-27DD-08BD-E61DA1AD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Session state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A75CE-E93D-70DB-60B8-DE4297CFC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88" y="1393825"/>
            <a:ext cx="98202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7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87CC-8D98-60CA-992C-D4EB05C8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do we manage session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C4BA3-18BB-EA62-0586-F7BB49B1B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400">
                <a:latin typeface="Aptos"/>
                <a:ea typeface="Source Code Pro"/>
              </a:rPr>
              <a:t>LLMs have distinct input and output patterns...</a:t>
            </a:r>
            <a:endParaRPr lang="en-US" sz="2400">
              <a:latin typeface="Aptos"/>
            </a:endParaRPr>
          </a:p>
          <a:p>
            <a:pPr>
              <a:buNone/>
            </a:pPr>
            <a:endParaRPr lang="en-GB" sz="2200">
              <a:solidFill>
                <a:srgbClr val="666666"/>
              </a:solidFill>
              <a:latin typeface="Source Code Pro"/>
              <a:ea typeface="Source Code Pro"/>
            </a:endParaRPr>
          </a:p>
          <a:p>
            <a:pPr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‘system’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endParaRPr lang="en-GB" sz="2200"/>
          </a:p>
          <a:p>
            <a:pPr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endParaRPr lang="en-GB" sz="2200"/>
          </a:p>
          <a:p>
            <a:pPr marL="0" indent="0"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</a:p>
          <a:p>
            <a:pPr marL="0" indent="0">
              <a:buNone/>
            </a:pPr>
            <a:endParaRPr lang="en-GB" sz="2200">
              <a:solidFill>
                <a:srgbClr val="9325A5"/>
              </a:solidFill>
              <a:latin typeface="Source Code Pro"/>
              <a:ea typeface="Source Code Pro"/>
            </a:endParaRPr>
          </a:p>
          <a:p>
            <a:pPr marL="0" indent="0">
              <a:buNone/>
            </a:pPr>
            <a:r>
              <a:rPr lang="en-GB" sz="2200">
                <a:latin typeface="Aptos"/>
                <a:ea typeface="Source Code Pro"/>
              </a:rPr>
              <a:t>Almost all LLMs follow this pattern...</a:t>
            </a:r>
          </a:p>
          <a:p>
            <a:pPr marL="0" indent="0">
              <a:buNone/>
            </a:pPr>
            <a:endParaRPr lang="en-GB" sz="2200">
              <a:latin typeface="Aptos"/>
              <a:ea typeface="Source Code Pro"/>
            </a:endParaRPr>
          </a:p>
          <a:p>
            <a:pPr marL="0" indent="0">
              <a:buNone/>
            </a:pPr>
            <a:r>
              <a:rPr lang="en-GB" sz="2200">
                <a:latin typeface="Aptos"/>
                <a:ea typeface="Source Code Pro"/>
              </a:rPr>
              <a:t>...break this pattern, and you'll soon see the model produce nonsense.</a:t>
            </a:r>
          </a:p>
        </p:txBody>
      </p:sp>
    </p:spTree>
    <p:extLst>
      <p:ext uri="{BB962C8B-B14F-4D97-AF65-F5344CB8AC3E}">
        <p14:creationId xmlns:p14="http://schemas.microsoft.com/office/powerpoint/2010/main" val="85798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19E3-034D-F500-6020-38325B0C1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886DE-A696-26E9-8F73-BB433C15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do we manage session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F8407-92B1-F773-6229-53B817702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‘system’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endParaRPr lang="en-GB" sz="2200"/>
          </a:p>
          <a:p>
            <a:pPr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endParaRPr lang="en-GB" sz="2200"/>
          </a:p>
          <a:p>
            <a:pPr marL="0" indent="0"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</a:p>
          <a:p>
            <a:pPr marL="0" indent="0"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“Is this the only way to make them?”</a:t>
            </a:r>
            <a:endParaRPr lang="en-GB"/>
          </a:p>
          <a:p>
            <a:pPr marL="0" indent="0"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“Actually no! There are two common ways to …”</a:t>
            </a:r>
            <a:endParaRPr lang="en-GB"/>
          </a:p>
          <a:p>
            <a:pPr marL="0" indent="0"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“I think I'll try the Italian method first.”</a:t>
            </a:r>
            <a:endParaRPr lang="en-GB"/>
          </a:p>
          <a:p>
            <a:pPr marL="0" indent="0"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“What an insightful idea! Let's get started …”</a:t>
            </a:r>
            <a:endParaRPr lang="en-GB"/>
          </a:p>
          <a:p>
            <a:pPr marL="0" indent="0">
              <a:buNone/>
            </a:pPr>
            <a:endParaRPr lang="en-GB" sz="2200">
              <a:latin typeface="Aptos"/>
              <a:ea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63159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09EE-3E66-ECC6-710D-A5274B10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7E1-A814-DD8D-8E39-C4D1C9B5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do we manage session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B244A-48E9-7AA5-396D-00FBF7A14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000" err="1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session_state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 = [</a:t>
            </a:r>
          </a:p>
          <a:p>
            <a:pPr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‘system’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“Is this the only way to make them?”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“Actually no! There are two common ways to …”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/>
              <a:ea typeface="Source Code Pro"/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“I think I'll try the Italian method first.”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>
                <a:solidFill>
                  <a:srgbClr val="9325A5"/>
                </a:solidFill>
                <a:latin typeface="Source Code Pro"/>
                <a:ea typeface="Source Code Pro"/>
              </a:rPr>
              <a:t>“What an insightful idea! Let's get started …”</a:t>
            </a: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Source Code Pro"/>
              </a:rPr>
              <a:t>             …</a:t>
            </a:r>
            <a:endParaRPr lang="en-GB" sz="2000">
              <a:solidFill>
                <a:schemeClr val="tx1">
                  <a:lumMod val="65000"/>
                  <a:lumOff val="35000"/>
                </a:schemeClr>
              </a:solidFill>
              <a:latin typeface="Source Code Pro"/>
              <a:ea typeface="Source Code Pro"/>
            </a:endParaRPr>
          </a:p>
          <a:p>
            <a:pPr marL="0" indent="0">
              <a:buNone/>
            </a:pPr>
            <a:r>
              <a:rPr lang="en-GB" sz="200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Source Code Pro"/>
              </a:rPr>
              <a:t>]</a:t>
            </a:r>
          </a:p>
          <a:p>
            <a:pPr marL="0" indent="0">
              <a:buNone/>
            </a:pPr>
            <a:endParaRPr lang="en-GB" sz="2200">
              <a:latin typeface="Aptos"/>
              <a:ea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21925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eedle in a haystack&#10;&#10;AI-generated content may be incorrect.">
            <a:extLst>
              <a:ext uri="{FF2B5EF4-FFF2-40B4-BE49-F238E27FC236}">
                <a16:creationId xmlns:a16="http://schemas.microsoft.com/office/drawing/2014/main" id="{3C392944-B2A1-5078-9855-75C84A495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33350"/>
            <a:ext cx="11811000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52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/LocalLLaMA - NoLiMa: Long-Context Evaluation Beyond Literal Matching - Finally a good benchmark that shows just how bad LLM performance is at long context. Massive drop at just 32k context for all models.">
            <a:extLst>
              <a:ext uri="{FF2B5EF4-FFF2-40B4-BE49-F238E27FC236}">
                <a16:creationId xmlns:a16="http://schemas.microsoft.com/office/drawing/2014/main" id="{DDEBD7AF-8240-B39D-B623-FD0A8EA1E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339" y="3718"/>
            <a:ext cx="6499319" cy="6858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DDF3CE-1B4A-A5AA-798B-3CBF633D0BFD}"/>
              </a:ext>
            </a:extLst>
          </p:cNvPr>
          <p:cNvSpPr txBox="1"/>
          <p:nvPr/>
        </p:nvSpPr>
        <p:spPr>
          <a:xfrm>
            <a:off x="207380" y="6355913"/>
            <a:ext cx="233681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200">
                <a:ea typeface="+mn-lt"/>
                <a:cs typeface="+mn-lt"/>
              </a:rPr>
              <a:t>https://arxiv.org/abs/2502.05167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99725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88F3-BDF6-DBE9-533A-7E3047679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1E9CB-5E70-5E71-3090-6D63369CA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Estimate the size of *your* context window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Expressed in tokens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Is it measurable that way?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Short term vs long term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Training data vs context window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59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Interaction</vt:lpstr>
      <vt:lpstr>Before we begin</vt:lpstr>
      <vt:lpstr>PowerPoint Presentation</vt:lpstr>
      <vt:lpstr>The OpenAI API</vt:lpstr>
      <vt:lpstr>PowerPoint Presentation</vt:lpstr>
      <vt:lpstr>PowerPoint Presentation</vt:lpstr>
      <vt:lpstr>PowerPoint Presentation</vt:lpstr>
      <vt:lpstr>Activity</vt:lpstr>
      <vt:lpstr>The OpenAI API</vt:lpstr>
      <vt:lpstr>Session state</vt:lpstr>
      <vt:lpstr>Session state</vt:lpstr>
      <vt:lpstr>How do we manage session state?</vt:lpstr>
      <vt:lpstr>How do we manage session state?</vt:lpstr>
      <vt:lpstr>How do we manage session state?</vt:lpstr>
      <vt:lpstr>PowerPoint Presentation</vt:lpstr>
      <vt:lpstr>PowerPoint Presentation</vt:lpstr>
      <vt:lpstr>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2025-07-29T08:46:07Z</dcterms:created>
  <dcterms:modified xsi:type="dcterms:W3CDTF">2026-09-23T13:07:59Z</dcterms:modified>
</cp:coreProperties>
</file>