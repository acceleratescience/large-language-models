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1"/>
  </p:notesMasterIdLst>
  <p:sldIdLst>
    <p:sldId id="256" r:id="rId2"/>
    <p:sldId id="257" r:id="rId3"/>
    <p:sldId id="264" r:id="rId4"/>
    <p:sldId id="263" r:id="rId5"/>
    <p:sldId id="265" r:id="rId6"/>
    <p:sldId id="258" r:id="rId7"/>
    <p:sldId id="259" r:id="rId8"/>
    <p:sldId id="260" r:id="rId9"/>
    <p:sldId id="262" r:id="rId10"/>
    <p:sldId id="266" r:id="rId11"/>
    <p:sldId id="267" r:id="rId12"/>
    <p:sldId id="268" r:id="rId13"/>
    <p:sldId id="269" r:id="rId14"/>
    <p:sldId id="270" r:id="rId15"/>
    <p:sldId id="271" r:id="rId16"/>
    <p:sldId id="272" r:id="rId17"/>
    <p:sldId id="273" r:id="rId18"/>
    <p:sldId id="261"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6B6609-0461-3689-64DB-6E59DF0EFC74}" v="4" dt="2025-09-30T10:40:58.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58" autoAdjust="0"/>
    <p:restoredTop sz="94660"/>
  </p:normalViewPr>
  <p:slideViewPr>
    <p:cSldViewPr snapToGrid="0">
      <p:cViewPr varScale="1">
        <p:scale>
          <a:sx n="159" d="100"/>
          <a:sy n="159" d="100"/>
        </p:scale>
        <p:origin x="3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Daniels" userId="S::rkd43@cam.ac.uk::aaa4fbe9-f474-4140-b10b-5257398ac308" providerId="AD" clId="Web-{4E64C8C7-738B-4470-FDD7-57B834C01F0B}"/>
    <pc:docChg chg="modSld">
      <pc:chgData name="Ryan Daniels" userId="S::rkd43@cam.ac.uk::aaa4fbe9-f474-4140-b10b-5257398ac308" providerId="AD" clId="Web-{4E64C8C7-738B-4470-FDD7-57B834C01F0B}" dt="2025-09-04T15:58:01.178" v="7" actId="20577"/>
      <pc:docMkLst>
        <pc:docMk/>
      </pc:docMkLst>
      <pc:sldChg chg="modSp">
        <pc:chgData name="Ryan Daniels" userId="S::rkd43@cam.ac.uk::aaa4fbe9-f474-4140-b10b-5257398ac308" providerId="AD" clId="Web-{4E64C8C7-738B-4470-FDD7-57B834C01F0B}" dt="2025-09-04T15:58:01.178" v="7" actId="20577"/>
        <pc:sldMkLst>
          <pc:docMk/>
          <pc:sldMk cId="570589333" sldId="259"/>
        </pc:sldMkLst>
        <pc:spChg chg="mod">
          <ac:chgData name="Ryan Daniels" userId="S::rkd43@cam.ac.uk::aaa4fbe9-f474-4140-b10b-5257398ac308" providerId="AD" clId="Web-{4E64C8C7-738B-4470-FDD7-57B834C01F0B}" dt="2025-09-04T15:58:01.178" v="7" actId="20577"/>
          <ac:spMkLst>
            <pc:docMk/>
            <pc:sldMk cId="570589333" sldId="259"/>
            <ac:spMk id="3" creationId="{D83C43F5-34A7-8640-01DC-E67800E0C470}"/>
          </ac:spMkLst>
        </pc:spChg>
      </pc:sldChg>
    </pc:docChg>
  </pc:docChgLst>
  <pc:docChgLst>
    <pc:chgData name="Ryan Daniels" userId="S::rkd43@cam.ac.uk::aaa4fbe9-f474-4140-b10b-5257398ac308" providerId="AD" clId="Web-{E26B6609-0461-3689-64DB-6E59DF0EFC74}"/>
    <pc:docChg chg="modSld">
      <pc:chgData name="Ryan Daniels" userId="S::rkd43@cam.ac.uk::aaa4fbe9-f474-4140-b10b-5257398ac308" providerId="AD" clId="Web-{E26B6609-0461-3689-64DB-6E59DF0EFC74}" dt="2025-09-30T10:40:58.045" v="3" actId="20577"/>
      <pc:docMkLst>
        <pc:docMk/>
      </pc:docMkLst>
      <pc:sldChg chg="modSp">
        <pc:chgData name="Ryan Daniels" userId="S::rkd43@cam.ac.uk::aaa4fbe9-f474-4140-b10b-5257398ac308" providerId="AD" clId="Web-{E26B6609-0461-3689-64DB-6E59DF0EFC74}" dt="2025-09-30T10:40:58.045" v="3" actId="20577"/>
        <pc:sldMkLst>
          <pc:docMk/>
          <pc:sldMk cId="1719520842" sldId="273"/>
        </pc:sldMkLst>
        <pc:spChg chg="mod">
          <ac:chgData name="Ryan Daniels" userId="S::rkd43@cam.ac.uk::aaa4fbe9-f474-4140-b10b-5257398ac308" providerId="AD" clId="Web-{E26B6609-0461-3689-64DB-6E59DF0EFC74}" dt="2025-09-30T10:40:58.045" v="3" actId="20577"/>
          <ac:spMkLst>
            <pc:docMk/>
            <pc:sldMk cId="1719520842" sldId="273"/>
            <ac:spMk id="3" creationId="{8E3982A0-7BFF-76E6-00A2-2D4A08CAC85F}"/>
          </ac:spMkLst>
        </pc:spChg>
      </pc:sldChg>
    </pc:docChg>
  </pc:docChgLst>
  <pc:docChgLst>
    <pc:chgData name="Ryan Daniels" userId="S::rkd43@cam.ac.uk::aaa4fbe9-f474-4140-b10b-5257398ac308" providerId="AD" clId="Web-{61261352-28B5-F6B1-1A56-AB06BC1060C3}"/>
    <pc:docChg chg="addSld delSld modSld">
      <pc:chgData name="Ryan Daniels" userId="S::rkd43@cam.ac.uk::aaa4fbe9-f474-4140-b10b-5257398ac308" providerId="AD" clId="Web-{61261352-28B5-F6B1-1A56-AB06BC1060C3}" dt="2025-09-03T12:01:59.552" v="104" actId="20577"/>
      <pc:docMkLst>
        <pc:docMk/>
      </pc:docMkLst>
      <pc:sldChg chg="delSp delAnim">
        <pc:chgData name="Ryan Daniels" userId="S::rkd43@cam.ac.uk::aaa4fbe9-f474-4140-b10b-5257398ac308" providerId="AD" clId="Web-{61261352-28B5-F6B1-1A56-AB06BC1060C3}" dt="2025-09-03T11:25:20.204" v="2"/>
        <pc:sldMkLst>
          <pc:docMk/>
          <pc:sldMk cId="3802117303" sldId="258"/>
        </pc:sldMkLst>
      </pc:sldChg>
      <pc:sldChg chg="modSp">
        <pc:chgData name="Ryan Daniels" userId="S::rkd43@cam.ac.uk::aaa4fbe9-f474-4140-b10b-5257398ac308" providerId="AD" clId="Web-{61261352-28B5-F6B1-1A56-AB06BC1060C3}" dt="2025-09-03T12:01:59.552" v="104" actId="20577"/>
        <pc:sldMkLst>
          <pc:docMk/>
          <pc:sldMk cId="3011003677" sldId="261"/>
        </pc:sldMkLst>
        <pc:spChg chg="mod">
          <ac:chgData name="Ryan Daniels" userId="S::rkd43@cam.ac.uk::aaa4fbe9-f474-4140-b10b-5257398ac308" providerId="AD" clId="Web-{61261352-28B5-F6B1-1A56-AB06BC1060C3}" dt="2025-09-03T12:01:59.552" v="104" actId="20577"/>
          <ac:spMkLst>
            <pc:docMk/>
            <pc:sldMk cId="3011003677" sldId="261"/>
            <ac:spMk id="3" creationId="{00BDD31A-73BA-6424-5AC5-D11B0A152ACD}"/>
          </ac:spMkLst>
        </pc:spChg>
      </pc:sldChg>
    </pc:docChg>
  </pc:docChgLst>
  <pc:docChgLst>
    <pc:chgData name="Ryan Daniels" userId="S::rkd43@cam.ac.uk::aaa4fbe9-f474-4140-b10b-5257398ac308" providerId="AD" clId="Web-{319BC8FD-C455-96ED-2801-3920832F5F55}"/>
    <pc:docChg chg="addSld delSld modSld">
      <pc:chgData name="Ryan Daniels" userId="S::rkd43@cam.ac.uk::aaa4fbe9-f474-4140-b10b-5257398ac308" providerId="AD" clId="Web-{319BC8FD-C455-96ED-2801-3920832F5F55}" dt="2025-09-13T08:47:10.864" v="13"/>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E082D9-00CE-4FDC-82D3-FDE16CD37225}" type="datetimeFigureOut">
              <a:t>4/30/26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7E69D-609B-4983-96D1-38CC478AEB14}" type="slidenum">
              <a:t>‹#›</a:t>
            </a:fld>
            <a:endParaRPr lang="en-US"/>
          </a:p>
        </p:txBody>
      </p:sp>
    </p:spTree>
    <p:extLst>
      <p:ext uri="{BB962C8B-B14F-4D97-AF65-F5344CB8AC3E}">
        <p14:creationId xmlns:p14="http://schemas.microsoft.com/office/powerpoint/2010/main" val="1926875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debates have been clouded by a misleading inference pattern, which we term the “Redescription Fallacy.” This fallacy arises when critics argue that a system cannot model a particular cognitive capacity, simply because its operations can be explained in less abstract and more deflationary terms. In the present context, the fallacy manifests in claims that LLMs could not possibly be good models of some cognitive capacity 𝜙 because their operations merely consist in a collection of statistical calculations, or linear algebra operations, or next-token predictions. Such arguments are only valid if accompanied by evidence demonstrating that a system, defined in these terms, is inherently incapable of implementing 𝜙. To illustrate, consider the flawed logic in asserting that a piano could not possibly produce harmony because it can be described as a collection of hammers striking strings, or (more pointedly) that brain activity could not possibly implement cognition because it can be described as a collection of neural firings. The critical question is not whether the operations of an LLM can be simplistically described in non-mental terms, but whether these operations, when appropriately organized, can implement the same processes or algorithms as the mind, when described at an appropriate level of computational abstraction.</a:t>
            </a:r>
          </a:p>
          <a:p>
            <a:r>
              <a:rPr lang="en-US" dirty="0" err="1">
                <a:ea typeface="Calibri"/>
                <a:cs typeface="Calibri"/>
              </a:rPr>
              <a:t>Milliere</a:t>
            </a:r>
            <a:r>
              <a:rPr lang="en-US" dirty="0">
                <a:ea typeface="Calibri"/>
                <a:cs typeface="Calibri"/>
              </a:rPr>
              <a:t> and Buckner, 2024</a:t>
            </a:r>
          </a:p>
        </p:txBody>
      </p:sp>
      <p:sp>
        <p:nvSpPr>
          <p:cNvPr id="4" name="Slide Number Placeholder 3"/>
          <p:cNvSpPr>
            <a:spLocks noGrp="1"/>
          </p:cNvSpPr>
          <p:nvPr>
            <p:ph type="sldNum" sz="quarter" idx="5"/>
          </p:nvPr>
        </p:nvSpPr>
        <p:spPr/>
        <p:txBody>
          <a:bodyPr/>
          <a:lstStyle/>
          <a:p>
            <a:fld id="{C2D7E69D-609B-4983-96D1-38CC478AEB14}" type="slidenum">
              <a:t>8</a:t>
            </a:fld>
            <a:endParaRPr lang="en-US"/>
          </a:p>
        </p:txBody>
      </p:sp>
    </p:spTree>
    <p:extLst>
      <p:ext uri="{BB962C8B-B14F-4D97-AF65-F5344CB8AC3E}">
        <p14:creationId xmlns:p14="http://schemas.microsoft.com/office/powerpoint/2010/main" val="2758583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61217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21414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5500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4/30/26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0809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4/30/26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64180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4/30/26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7392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4/30/26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9030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4/30/26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8341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4/30/26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50196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36549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4/30/26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35061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4/30/26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56698698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ico.org.uk/for-organisations/advice-and-services/audits/data-protection-audit-framework/toolkits/artificial-intelligence/" TargetMode="External"/><Relationship Id="rId2" Type="http://schemas.openxmlformats.org/officeDocument/2006/relationships/hyperlink" Target="https://artificialintelligenceact.eu/ai-act-explorer/" TargetMode="External"/><Relationship Id="rId1" Type="http://schemas.openxmlformats.org/officeDocument/2006/relationships/slideLayout" Target="../slideLayouts/slideLayout2.xml"/><Relationship Id="rId5" Type="http://schemas.openxmlformats.org/officeDocument/2006/relationships/hyperlink" Target="https://ico.org.uk/for-organisations/uk-gdpr-guidance-and-resources/artificial-intelligence/explaining-decisions-made-with-artificial-intelligence/" TargetMode="External"/><Relationship Id="rId4" Type="http://schemas.openxmlformats.org/officeDocument/2006/relationships/hyperlink" Target="https://ico.org.uk/for-organisations/uk-gdpr-guidance-and-resources/artificial-intelligence/guidance-on-ai-and-data-protection/"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US" dirty="0"/>
              <a:t>Introduction to LLMs</a:t>
            </a:r>
            <a:endParaRPr lang="en-US"/>
          </a:p>
        </p:txBody>
      </p:sp>
      <p:sp>
        <p:nvSpPr>
          <p:cNvPr id="3" name="Subtitle 2"/>
          <p:cNvSpPr>
            <a:spLocks noGrp="1"/>
          </p:cNvSpPr>
          <p:nvPr>
            <p:ph type="subTitle" idx="1"/>
          </p:nvPr>
        </p:nvSpPr>
        <p:spPr/>
        <p:txBody>
          <a:bodyPr vert="horz" lIns="91440" tIns="45720" rIns="91440" bIns="45720" rtlCol="0" anchor="t">
            <a:normAutofit/>
          </a:bodyPr>
          <a:lstStyle/>
          <a:p>
            <a:pPr algn="l"/>
            <a:r>
              <a:rPr lang="en-US" dirty="0"/>
              <a:t>Accelerate Programme for Scientific Discovery</a:t>
            </a:r>
            <a:endParaRPr lang="en-US" dirty="0" err="1"/>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60AD0-4539-F7BD-07C7-86CA4C742BB0}"/>
              </a:ext>
            </a:extLst>
          </p:cNvPr>
          <p:cNvSpPr>
            <a:spLocks noGrp="1"/>
          </p:cNvSpPr>
          <p:nvPr>
            <p:ph type="title"/>
          </p:nvPr>
        </p:nvSpPr>
        <p:spPr/>
        <p:txBody>
          <a:bodyPr/>
          <a:lstStyle/>
          <a:p>
            <a:r>
              <a:rPr lang="en-US" dirty="0"/>
              <a:t>About Us</a:t>
            </a:r>
          </a:p>
        </p:txBody>
      </p:sp>
      <p:sp>
        <p:nvSpPr>
          <p:cNvPr id="3" name="Content Placeholder 2">
            <a:extLst>
              <a:ext uri="{FF2B5EF4-FFF2-40B4-BE49-F238E27FC236}">
                <a16:creationId xmlns:a16="http://schemas.microsoft.com/office/drawing/2014/main" id="{C23B4CFB-C5F1-DC47-AED8-80D7FE89AAB1}"/>
              </a:ext>
            </a:extLst>
          </p:cNvPr>
          <p:cNvSpPr>
            <a:spLocks noGrp="1"/>
          </p:cNvSpPr>
          <p:nvPr>
            <p:ph idx="1"/>
          </p:nvPr>
        </p:nvSpPr>
        <p:spPr/>
        <p:txBody>
          <a:bodyPr vert="horz" lIns="91440" tIns="45720" rIns="91440" bIns="45720" rtlCol="0" anchor="t">
            <a:normAutofit/>
          </a:bodyPr>
          <a:lstStyle/>
          <a:p>
            <a:pPr marL="0" indent="0" algn="ctr">
              <a:buNone/>
            </a:pPr>
            <a:r>
              <a:rPr lang="en-US" i="1" dirty="0">
                <a:ea typeface="+mn-lt"/>
                <a:cs typeface="+mn-lt"/>
              </a:rPr>
              <a:t>"</a:t>
            </a:r>
            <a:r>
              <a:rPr lang="en-US" i="1" dirty="0">
                <a:solidFill>
                  <a:srgbClr val="7030A0"/>
                </a:solidFill>
                <a:ea typeface="+mn-lt"/>
                <a:cs typeface="+mn-lt"/>
              </a:rPr>
              <a:t>Accelerate Science pursues research at the interface of AI and the sciences, generating new scientific insights and developing AI methods that can be deployed to advance scientific knowledge.</a:t>
            </a:r>
            <a:r>
              <a:rPr lang="en-US" i="1" dirty="0">
                <a:ea typeface="+mn-lt"/>
                <a:cs typeface="+mn-lt"/>
              </a:rPr>
              <a:t>"</a:t>
            </a:r>
            <a:endParaRPr lang="en-US" i="1" dirty="0"/>
          </a:p>
        </p:txBody>
      </p:sp>
    </p:spTree>
    <p:extLst>
      <p:ext uri="{BB962C8B-B14F-4D97-AF65-F5344CB8AC3E}">
        <p14:creationId xmlns:p14="http://schemas.microsoft.com/office/powerpoint/2010/main" val="2776984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8369-8553-1A55-B265-3F27C53A813B}"/>
              </a:ext>
            </a:extLst>
          </p:cNvPr>
          <p:cNvSpPr>
            <a:spLocks noGrp="1"/>
          </p:cNvSpPr>
          <p:nvPr>
            <p:ph type="title"/>
          </p:nvPr>
        </p:nvSpPr>
        <p:spPr/>
        <p:txBody>
          <a:bodyPr/>
          <a:lstStyle/>
          <a:p>
            <a:r>
              <a:rPr lang="en-US" dirty="0"/>
              <a:t>Our goals</a:t>
            </a:r>
          </a:p>
        </p:txBody>
      </p:sp>
      <p:sp>
        <p:nvSpPr>
          <p:cNvPr id="3" name="Content Placeholder 2">
            <a:extLst>
              <a:ext uri="{FF2B5EF4-FFF2-40B4-BE49-F238E27FC236}">
                <a16:creationId xmlns:a16="http://schemas.microsoft.com/office/drawing/2014/main" id="{B8D918F4-C557-96D2-9BF3-A1F98CF87E2F}"/>
              </a:ext>
            </a:extLst>
          </p:cNvPr>
          <p:cNvSpPr>
            <a:spLocks noGrp="1"/>
          </p:cNvSpPr>
          <p:nvPr>
            <p:ph idx="1"/>
          </p:nvPr>
        </p:nvSpPr>
        <p:spPr/>
        <p:txBody>
          <a:bodyPr vert="horz" lIns="91440" tIns="45720" rIns="91440" bIns="45720" rtlCol="0" anchor="t">
            <a:normAutofit/>
          </a:bodyPr>
          <a:lstStyle/>
          <a:p>
            <a:pPr marL="0" indent="0">
              <a:buNone/>
            </a:pPr>
            <a:r>
              <a:rPr lang="en-US" b="1" dirty="0">
                <a:ea typeface="+mn-lt"/>
                <a:cs typeface="+mn-lt"/>
              </a:rPr>
              <a:t>We want to:</a:t>
            </a:r>
          </a:p>
          <a:p>
            <a:r>
              <a:rPr lang="en-US" dirty="0">
                <a:ea typeface="+mn-lt"/>
                <a:cs typeface="+mn-lt"/>
              </a:rPr>
              <a:t>Support researchers across the university to use AI – that's LLMs in this group.</a:t>
            </a:r>
          </a:p>
          <a:p>
            <a:r>
              <a:rPr lang="en-US" dirty="0">
                <a:ea typeface="+mn-lt"/>
                <a:cs typeface="+mn-lt"/>
              </a:rPr>
              <a:t>Better understand the challenges that researchers </a:t>
            </a:r>
            <a:r>
              <a:rPr lang="en-US">
                <a:ea typeface="+mn-lt"/>
                <a:cs typeface="+mn-lt"/>
              </a:rPr>
              <a:t>face.</a:t>
            </a:r>
          </a:p>
          <a:p>
            <a:r>
              <a:rPr lang="en-US" dirty="0">
                <a:ea typeface="+mn-lt"/>
                <a:cs typeface="+mn-lt"/>
              </a:rPr>
              <a:t>Identify what training courses or software resources we might want the Accelerate Science </a:t>
            </a:r>
            <a:r>
              <a:rPr lang="en-US" dirty="0" err="1">
                <a:ea typeface="+mn-lt"/>
                <a:cs typeface="+mn-lt"/>
              </a:rPr>
              <a:t>Programme</a:t>
            </a:r>
            <a:r>
              <a:rPr lang="en-US" dirty="0">
                <a:ea typeface="+mn-lt"/>
                <a:cs typeface="+mn-lt"/>
              </a:rPr>
              <a:t> to create.</a:t>
            </a:r>
          </a:p>
          <a:p>
            <a:pPr lvl="1">
              <a:buFont typeface="Courier New" panose="020B0604020202020204" pitchFamily="34" charset="0"/>
              <a:buChar char="o"/>
            </a:pPr>
            <a:r>
              <a:rPr lang="en-US" dirty="0">
                <a:ea typeface="+mn-lt"/>
                <a:cs typeface="+mn-lt"/>
              </a:rPr>
              <a:t>Including </a:t>
            </a:r>
            <a:r>
              <a:rPr lang="en-US">
                <a:ea typeface="+mn-lt"/>
                <a:cs typeface="+mn-lt"/>
              </a:rPr>
              <a:t>shared code</a:t>
            </a:r>
          </a:p>
          <a:p>
            <a:r>
              <a:rPr lang="en-US" dirty="0">
                <a:ea typeface="+mn-lt"/>
                <a:cs typeface="+mn-lt"/>
              </a:rPr>
              <a:t>Start to build a community of like-minded researchers across the university.</a:t>
            </a:r>
            <a:endParaRPr lang="en-US"/>
          </a:p>
        </p:txBody>
      </p:sp>
    </p:spTree>
    <p:extLst>
      <p:ext uri="{BB962C8B-B14F-4D97-AF65-F5344CB8AC3E}">
        <p14:creationId xmlns:p14="http://schemas.microsoft.com/office/powerpoint/2010/main" val="140969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07A1A-BBA2-EE55-28CA-B2544E559B2A}"/>
              </a:ext>
            </a:extLst>
          </p:cNvPr>
          <p:cNvSpPr>
            <a:spLocks noGrp="1"/>
          </p:cNvSpPr>
          <p:nvPr>
            <p:ph type="title"/>
          </p:nvPr>
        </p:nvSpPr>
        <p:spPr/>
        <p:txBody>
          <a:bodyPr/>
          <a:lstStyle/>
          <a:p>
            <a:r>
              <a:rPr lang="en-US" dirty="0"/>
              <a:t>Schedule</a:t>
            </a:r>
          </a:p>
        </p:txBody>
      </p:sp>
      <p:graphicFrame>
        <p:nvGraphicFramePr>
          <p:cNvPr id="4" name="Content Placeholder 3">
            <a:extLst>
              <a:ext uri="{FF2B5EF4-FFF2-40B4-BE49-F238E27FC236}">
                <a16:creationId xmlns:a16="http://schemas.microsoft.com/office/drawing/2014/main" id="{37AC12F2-ECA6-1C35-9B77-1A11BE531B23}"/>
              </a:ext>
            </a:extLst>
          </p:cNvPr>
          <p:cNvGraphicFramePr>
            <a:graphicFrameLocks noGrp="1"/>
          </p:cNvGraphicFramePr>
          <p:nvPr>
            <p:ph idx="1"/>
            <p:extLst>
              <p:ext uri="{D42A27DB-BD31-4B8C-83A1-F6EECF244321}">
                <p14:modId xmlns:p14="http://schemas.microsoft.com/office/powerpoint/2010/main" val="566401051"/>
              </p:ext>
            </p:extLst>
          </p:nvPr>
        </p:nvGraphicFramePr>
        <p:xfrm>
          <a:off x="838200" y="1825625"/>
          <a:ext cx="10515600" cy="296671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16625105"/>
                    </a:ext>
                  </a:extLst>
                </a:gridCol>
                <a:gridCol w="5257800">
                  <a:extLst>
                    <a:ext uri="{9D8B030D-6E8A-4147-A177-3AD203B41FA5}">
                      <a16:colId xmlns:a16="http://schemas.microsoft.com/office/drawing/2014/main" val="3107896615"/>
                    </a:ext>
                  </a:extLst>
                </a:gridCol>
              </a:tblGrid>
              <a:tr h="370840">
                <a:tc>
                  <a:txBody>
                    <a:bodyPr/>
                    <a:lstStyle/>
                    <a:p>
                      <a:r>
                        <a:rPr lang="en-US" dirty="0"/>
                        <a:t>Session</a:t>
                      </a:r>
                    </a:p>
                  </a:txBody>
                  <a:tcPr/>
                </a:tc>
                <a:tc>
                  <a:txBody>
                    <a:bodyPr/>
                    <a:lstStyle/>
                    <a:p>
                      <a:r>
                        <a:rPr lang="en-US" dirty="0"/>
                        <a:t>Time</a:t>
                      </a:r>
                    </a:p>
                  </a:txBody>
                  <a:tcPr/>
                </a:tc>
                <a:extLst>
                  <a:ext uri="{0D108BD9-81ED-4DB2-BD59-A6C34878D82A}">
                    <a16:rowId xmlns:a16="http://schemas.microsoft.com/office/drawing/2014/main" val="913100559"/>
                  </a:ext>
                </a:extLst>
              </a:tr>
              <a:tr h="370840">
                <a:tc>
                  <a:txBody>
                    <a:bodyPr/>
                    <a:lstStyle/>
                    <a:p>
                      <a:r>
                        <a:rPr lang="en-US" dirty="0">
                          <a:solidFill>
                            <a:srgbClr val="7030A0"/>
                          </a:solidFill>
                        </a:rPr>
                        <a:t>9:30 – 10:30</a:t>
                      </a:r>
                    </a:p>
                  </a:txBody>
                  <a:tcPr/>
                </a:tc>
                <a:tc>
                  <a:txBody>
                    <a:bodyPr/>
                    <a:lstStyle/>
                    <a:p>
                      <a:r>
                        <a:rPr lang="en-US" dirty="0">
                          <a:solidFill>
                            <a:srgbClr val="7030A0"/>
                          </a:solidFill>
                        </a:rPr>
                        <a:t>Session 1</a:t>
                      </a:r>
                    </a:p>
                  </a:txBody>
                  <a:tcPr/>
                </a:tc>
                <a:extLst>
                  <a:ext uri="{0D108BD9-81ED-4DB2-BD59-A6C34878D82A}">
                    <a16:rowId xmlns:a16="http://schemas.microsoft.com/office/drawing/2014/main" val="1290499807"/>
                  </a:ext>
                </a:extLst>
              </a:tr>
              <a:tr h="370840">
                <a:tc>
                  <a:txBody>
                    <a:bodyPr/>
                    <a:lstStyle/>
                    <a:p>
                      <a:r>
                        <a:rPr lang="en-US" b="1" dirty="0"/>
                        <a:t>10:30 – 11:00</a:t>
                      </a:r>
                    </a:p>
                  </a:txBody>
                  <a:tcPr/>
                </a:tc>
                <a:tc>
                  <a:txBody>
                    <a:bodyPr/>
                    <a:lstStyle/>
                    <a:p>
                      <a:r>
                        <a:rPr lang="en-US" b="1" dirty="0"/>
                        <a:t>Break</a:t>
                      </a:r>
                    </a:p>
                  </a:txBody>
                  <a:tcPr/>
                </a:tc>
                <a:extLst>
                  <a:ext uri="{0D108BD9-81ED-4DB2-BD59-A6C34878D82A}">
                    <a16:rowId xmlns:a16="http://schemas.microsoft.com/office/drawing/2014/main" val="352690158"/>
                  </a:ext>
                </a:extLst>
              </a:tr>
              <a:tr h="370840">
                <a:tc>
                  <a:txBody>
                    <a:bodyPr/>
                    <a:lstStyle/>
                    <a:p>
                      <a:r>
                        <a:rPr lang="en-US" dirty="0">
                          <a:solidFill>
                            <a:srgbClr val="7030A0"/>
                          </a:solidFill>
                        </a:rPr>
                        <a:t>11:00 – 12:30</a:t>
                      </a:r>
                    </a:p>
                  </a:txBody>
                  <a:tcPr/>
                </a:tc>
                <a:tc>
                  <a:txBody>
                    <a:bodyPr/>
                    <a:lstStyle/>
                    <a:p>
                      <a:r>
                        <a:rPr lang="en-US" dirty="0">
                          <a:solidFill>
                            <a:srgbClr val="7030A0"/>
                          </a:solidFill>
                        </a:rPr>
                        <a:t>Session 2</a:t>
                      </a:r>
                    </a:p>
                  </a:txBody>
                  <a:tcPr/>
                </a:tc>
                <a:extLst>
                  <a:ext uri="{0D108BD9-81ED-4DB2-BD59-A6C34878D82A}">
                    <a16:rowId xmlns:a16="http://schemas.microsoft.com/office/drawing/2014/main" val="3723253093"/>
                  </a:ext>
                </a:extLst>
              </a:tr>
              <a:tr h="370839">
                <a:tc>
                  <a:txBody>
                    <a:bodyPr/>
                    <a:lstStyle/>
                    <a:p>
                      <a:r>
                        <a:rPr lang="en-US" b="1" dirty="0"/>
                        <a:t>12:30 – 13:30</a:t>
                      </a:r>
                    </a:p>
                  </a:txBody>
                  <a:tcPr/>
                </a:tc>
                <a:tc>
                  <a:txBody>
                    <a:bodyPr/>
                    <a:lstStyle/>
                    <a:p>
                      <a:r>
                        <a:rPr lang="en-US" b="1" dirty="0"/>
                        <a:t>Lunch</a:t>
                      </a:r>
                    </a:p>
                  </a:txBody>
                  <a:tcPr/>
                </a:tc>
                <a:extLst>
                  <a:ext uri="{0D108BD9-81ED-4DB2-BD59-A6C34878D82A}">
                    <a16:rowId xmlns:a16="http://schemas.microsoft.com/office/drawing/2014/main" val="2871907493"/>
                  </a:ext>
                </a:extLst>
              </a:tr>
              <a:tr h="370840">
                <a:tc>
                  <a:txBody>
                    <a:bodyPr/>
                    <a:lstStyle/>
                    <a:p>
                      <a:r>
                        <a:rPr lang="en-US" dirty="0">
                          <a:solidFill>
                            <a:srgbClr val="7030A0"/>
                          </a:solidFill>
                        </a:rPr>
                        <a:t>13:30 – 15:00</a:t>
                      </a:r>
                    </a:p>
                  </a:txBody>
                  <a:tcPr/>
                </a:tc>
                <a:tc>
                  <a:txBody>
                    <a:bodyPr/>
                    <a:lstStyle/>
                    <a:p>
                      <a:r>
                        <a:rPr lang="en-US" dirty="0">
                          <a:solidFill>
                            <a:srgbClr val="7030A0"/>
                          </a:solidFill>
                        </a:rPr>
                        <a:t>Session 3</a:t>
                      </a:r>
                    </a:p>
                  </a:txBody>
                  <a:tcPr/>
                </a:tc>
                <a:extLst>
                  <a:ext uri="{0D108BD9-81ED-4DB2-BD59-A6C34878D82A}">
                    <a16:rowId xmlns:a16="http://schemas.microsoft.com/office/drawing/2014/main" val="3804542395"/>
                  </a:ext>
                </a:extLst>
              </a:tr>
              <a:tr h="370839">
                <a:tc>
                  <a:txBody>
                    <a:bodyPr/>
                    <a:lstStyle/>
                    <a:p>
                      <a:pPr lvl="0">
                        <a:buNone/>
                      </a:pPr>
                      <a:r>
                        <a:rPr lang="en-US" b="1" dirty="0"/>
                        <a:t>15:00 – 15:30</a:t>
                      </a:r>
                    </a:p>
                  </a:txBody>
                  <a:tcPr/>
                </a:tc>
                <a:tc>
                  <a:txBody>
                    <a:bodyPr/>
                    <a:lstStyle/>
                    <a:p>
                      <a:pPr lvl="0">
                        <a:buNone/>
                      </a:pPr>
                      <a:r>
                        <a:rPr lang="en-US" b="1" dirty="0"/>
                        <a:t>Break</a:t>
                      </a:r>
                    </a:p>
                  </a:txBody>
                  <a:tcPr/>
                </a:tc>
                <a:extLst>
                  <a:ext uri="{0D108BD9-81ED-4DB2-BD59-A6C34878D82A}">
                    <a16:rowId xmlns:a16="http://schemas.microsoft.com/office/drawing/2014/main" val="1976928700"/>
                  </a:ext>
                </a:extLst>
              </a:tr>
              <a:tr h="370838">
                <a:tc>
                  <a:txBody>
                    <a:bodyPr/>
                    <a:lstStyle/>
                    <a:p>
                      <a:pPr lvl="0">
                        <a:buNone/>
                      </a:pPr>
                      <a:r>
                        <a:rPr lang="en-US" dirty="0">
                          <a:solidFill>
                            <a:srgbClr val="7030A0"/>
                          </a:solidFill>
                        </a:rPr>
                        <a:t>15:30 – 17:00</a:t>
                      </a:r>
                    </a:p>
                  </a:txBody>
                  <a:tcPr/>
                </a:tc>
                <a:tc>
                  <a:txBody>
                    <a:bodyPr/>
                    <a:lstStyle/>
                    <a:p>
                      <a:pPr marL="0" lvl="0" indent="0">
                        <a:buNone/>
                      </a:pPr>
                      <a:r>
                        <a:rPr lang="en-US" dirty="0">
                          <a:solidFill>
                            <a:srgbClr val="7030A0"/>
                          </a:solidFill>
                        </a:rPr>
                        <a:t>Session 4</a:t>
                      </a:r>
                    </a:p>
                  </a:txBody>
                  <a:tcPr/>
                </a:tc>
                <a:extLst>
                  <a:ext uri="{0D108BD9-81ED-4DB2-BD59-A6C34878D82A}">
                    <a16:rowId xmlns:a16="http://schemas.microsoft.com/office/drawing/2014/main" val="117434727"/>
                  </a:ext>
                </a:extLst>
              </a:tr>
            </a:tbl>
          </a:graphicData>
        </a:graphic>
      </p:graphicFrame>
    </p:spTree>
    <p:extLst>
      <p:ext uri="{BB962C8B-B14F-4D97-AF65-F5344CB8AC3E}">
        <p14:creationId xmlns:p14="http://schemas.microsoft.com/office/powerpoint/2010/main" val="455639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E374D-7A21-28E7-7122-63EDD7695383}"/>
              </a:ext>
            </a:extLst>
          </p:cNvPr>
          <p:cNvSpPr>
            <a:spLocks noGrp="1"/>
          </p:cNvSpPr>
          <p:nvPr>
            <p:ph type="title"/>
          </p:nvPr>
        </p:nvSpPr>
        <p:spPr/>
        <p:txBody>
          <a:bodyPr/>
          <a:lstStyle/>
          <a:p>
            <a:r>
              <a:rPr lang="en-US" dirty="0"/>
              <a:t>Before we begin...</a:t>
            </a:r>
          </a:p>
        </p:txBody>
      </p:sp>
      <p:sp>
        <p:nvSpPr>
          <p:cNvPr id="3" name="Content Placeholder 2">
            <a:extLst>
              <a:ext uri="{FF2B5EF4-FFF2-40B4-BE49-F238E27FC236}">
                <a16:creationId xmlns:a16="http://schemas.microsoft.com/office/drawing/2014/main" id="{92FFB990-1B10-587D-D853-7278325EB36D}"/>
              </a:ext>
            </a:extLst>
          </p:cNvPr>
          <p:cNvSpPr>
            <a:spLocks noGrp="1"/>
          </p:cNvSpPr>
          <p:nvPr>
            <p:ph idx="1"/>
          </p:nvPr>
        </p:nvSpPr>
        <p:spPr/>
        <p:txBody>
          <a:bodyPr vert="horz" lIns="91440" tIns="45720" rIns="91440" bIns="45720" rtlCol="0" anchor="t">
            <a:normAutofit/>
          </a:bodyPr>
          <a:lstStyle/>
          <a:p>
            <a:pPr marL="0" indent="0" algn="ctr">
              <a:buNone/>
            </a:pPr>
            <a:r>
              <a:rPr lang="en-US"/>
              <a:t>What do you know about LLMs...?</a:t>
            </a:r>
          </a:p>
          <a:p>
            <a:pPr marL="0" indent="0">
              <a:buNone/>
            </a:pPr>
            <a:endParaRPr lang="en-US" dirty="0"/>
          </a:p>
          <a:p>
            <a:pPr>
              <a:buFont typeface="Calibri" panose="020B0604020202020204" pitchFamily="34" charset="0"/>
              <a:buChar char="-"/>
            </a:pPr>
            <a:r>
              <a:rPr lang="en-US" i="1" dirty="0"/>
              <a:t>How do they work?</a:t>
            </a:r>
          </a:p>
          <a:p>
            <a:pPr>
              <a:buFont typeface="Calibri" panose="020B0604020202020204" pitchFamily="34" charset="0"/>
              <a:buChar char="-"/>
            </a:pPr>
            <a:r>
              <a:rPr lang="en-US" i="1" dirty="0"/>
              <a:t>Can you name any?</a:t>
            </a:r>
          </a:p>
          <a:p>
            <a:pPr>
              <a:buFont typeface="Calibri" panose="020B0604020202020204" pitchFamily="34" charset="0"/>
              <a:buChar char="-"/>
            </a:pPr>
            <a:r>
              <a:rPr lang="en-US" i="1" dirty="0"/>
              <a:t>What can you use them for?</a:t>
            </a:r>
          </a:p>
          <a:p>
            <a:pPr>
              <a:buFont typeface="Calibri" panose="020B0604020202020204" pitchFamily="34" charset="0"/>
              <a:buChar char="-"/>
            </a:pPr>
            <a:r>
              <a:rPr lang="en-US" i="1"/>
              <a:t>What are potential problems?</a:t>
            </a:r>
            <a:endParaRPr lang="en-US" i="1" dirty="0"/>
          </a:p>
          <a:p>
            <a:pPr>
              <a:buFont typeface="Calibri" panose="020B0604020202020204" pitchFamily="34" charset="0"/>
              <a:buChar char="-"/>
            </a:pPr>
            <a:r>
              <a:rPr lang="en-US" i="1" dirty="0"/>
              <a:t>What do </a:t>
            </a:r>
            <a:r>
              <a:rPr lang="en-US" b="1" i="1" dirty="0"/>
              <a:t>you </a:t>
            </a:r>
            <a:r>
              <a:rPr lang="en-US" i="1" dirty="0"/>
              <a:t>want to use them for?</a:t>
            </a:r>
          </a:p>
        </p:txBody>
      </p:sp>
    </p:spTree>
    <p:extLst>
      <p:ext uri="{BB962C8B-B14F-4D97-AF65-F5344CB8AC3E}">
        <p14:creationId xmlns:p14="http://schemas.microsoft.com/office/powerpoint/2010/main" val="183427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enerated image">
            <a:extLst>
              <a:ext uri="{FF2B5EF4-FFF2-40B4-BE49-F238E27FC236}">
                <a16:creationId xmlns:a16="http://schemas.microsoft.com/office/drawing/2014/main" id="{E1EEB66C-5440-6A6B-CA11-DBAEE711749E}"/>
              </a:ext>
            </a:extLst>
          </p:cNvPr>
          <p:cNvPicPr>
            <a:picLocks noChangeAspect="1"/>
          </p:cNvPicPr>
          <p:nvPr/>
        </p:nvPicPr>
        <p:blipFill>
          <a:blip r:embed="rId2"/>
          <a:stretch>
            <a:fillRect/>
          </a:stretch>
        </p:blipFill>
        <p:spPr>
          <a:xfrm>
            <a:off x="3653518" y="659947"/>
            <a:ext cx="4401911" cy="6613071"/>
          </a:xfrm>
          <a:prstGeom prst="rect">
            <a:avLst/>
          </a:prstGeom>
        </p:spPr>
      </p:pic>
      <p:sp>
        <p:nvSpPr>
          <p:cNvPr id="2" name="Title 1">
            <a:extLst>
              <a:ext uri="{FF2B5EF4-FFF2-40B4-BE49-F238E27FC236}">
                <a16:creationId xmlns:a16="http://schemas.microsoft.com/office/drawing/2014/main" id="{79428D2F-F725-B3EE-D39E-56A5B729FF65}"/>
              </a:ext>
            </a:extLst>
          </p:cNvPr>
          <p:cNvSpPr>
            <a:spLocks noGrp="1"/>
          </p:cNvSpPr>
          <p:nvPr>
            <p:ph type="title"/>
          </p:nvPr>
        </p:nvSpPr>
        <p:spPr/>
        <p:txBody>
          <a:bodyPr/>
          <a:lstStyle/>
          <a:p>
            <a:r>
              <a:rPr lang="en-US" dirty="0"/>
              <a:t>Here is a Llama...</a:t>
            </a:r>
          </a:p>
        </p:txBody>
      </p:sp>
      <p:sp>
        <p:nvSpPr>
          <p:cNvPr id="15" name="Flowchart: Connector 14">
            <a:extLst>
              <a:ext uri="{FF2B5EF4-FFF2-40B4-BE49-F238E27FC236}">
                <a16:creationId xmlns:a16="http://schemas.microsoft.com/office/drawing/2014/main" id="{C9BAAFC0-B1D0-6CC7-7910-C53F7B9D4D0C}"/>
              </a:ext>
            </a:extLst>
          </p:cNvPr>
          <p:cNvSpPr/>
          <p:nvPr/>
        </p:nvSpPr>
        <p:spPr>
          <a:xfrm>
            <a:off x="3913290" y="2504332"/>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cxnSp>
        <p:nvCxnSpPr>
          <p:cNvPr id="17" name="Connector: Curved 16">
            <a:extLst>
              <a:ext uri="{FF2B5EF4-FFF2-40B4-BE49-F238E27FC236}">
                <a16:creationId xmlns:a16="http://schemas.microsoft.com/office/drawing/2014/main" id="{CB6A7381-EA09-B208-799D-43C4ABED2E99}"/>
              </a:ext>
            </a:extLst>
          </p:cNvPr>
          <p:cNvCxnSpPr/>
          <p:nvPr/>
        </p:nvCxnSpPr>
        <p:spPr>
          <a:xfrm>
            <a:off x="4368511" y="2734417"/>
            <a:ext cx="620485" cy="920339"/>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0" name="Connector: Curved 19">
            <a:extLst>
              <a:ext uri="{FF2B5EF4-FFF2-40B4-BE49-F238E27FC236}">
                <a16:creationId xmlns:a16="http://schemas.microsoft.com/office/drawing/2014/main" id="{0465B321-BEF6-9BC9-E031-75A72C55C5DB}"/>
              </a:ext>
            </a:extLst>
          </p:cNvPr>
          <p:cNvCxnSpPr>
            <a:cxnSpLocks/>
          </p:cNvCxnSpPr>
          <p:nvPr/>
        </p:nvCxnSpPr>
        <p:spPr>
          <a:xfrm>
            <a:off x="5443475" y="3666506"/>
            <a:ext cx="409574" cy="838695"/>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1" name="Connector: Curved 20">
            <a:extLst>
              <a:ext uri="{FF2B5EF4-FFF2-40B4-BE49-F238E27FC236}">
                <a16:creationId xmlns:a16="http://schemas.microsoft.com/office/drawing/2014/main" id="{6A4F4912-68B4-38C5-A973-1536B11B50B2}"/>
              </a:ext>
            </a:extLst>
          </p:cNvPr>
          <p:cNvCxnSpPr>
            <a:cxnSpLocks/>
          </p:cNvCxnSpPr>
          <p:nvPr/>
        </p:nvCxnSpPr>
        <p:spPr>
          <a:xfrm>
            <a:off x="6307528" y="4496542"/>
            <a:ext cx="810985" cy="8660"/>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sp>
        <p:nvSpPr>
          <p:cNvPr id="22" name="Flowchart: Connector 21">
            <a:extLst>
              <a:ext uri="{FF2B5EF4-FFF2-40B4-BE49-F238E27FC236}">
                <a16:creationId xmlns:a16="http://schemas.microsoft.com/office/drawing/2014/main" id="{48EC56BF-C941-EF14-B6E9-042D0195FB01}"/>
              </a:ext>
            </a:extLst>
          </p:cNvPr>
          <p:cNvSpPr/>
          <p:nvPr/>
        </p:nvSpPr>
        <p:spPr>
          <a:xfrm>
            <a:off x="4988253" y="34296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23" name="Flowchart: Connector 22">
            <a:extLst>
              <a:ext uri="{FF2B5EF4-FFF2-40B4-BE49-F238E27FC236}">
                <a16:creationId xmlns:a16="http://schemas.microsoft.com/office/drawing/2014/main" id="{5CD1E691-ADB4-B39D-7B93-AFA9A2A1CFE4}"/>
              </a:ext>
            </a:extLst>
          </p:cNvPr>
          <p:cNvSpPr/>
          <p:nvPr/>
        </p:nvSpPr>
        <p:spPr>
          <a:xfrm>
            <a:off x="5852306"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24" name="Flowchart: Connector 23">
            <a:extLst>
              <a:ext uri="{FF2B5EF4-FFF2-40B4-BE49-F238E27FC236}">
                <a16:creationId xmlns:a16="http://schemas.microsoft.com/office/drawing/2014/main" id="{13162B3D-EBD1-BFAC-98F0-3E1B74B224C7}"/>
              </a:ext>
            </a:extLst>
          </p:cNvPr>
          <p:cNvSpPr/>
          <p:nvPr/>
        </p:nvSpPr>
        <p:spPr>
          <a:xfrm>
            <a:off x="7117770"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27" name="Flowchart: Connector 26">
            <a:extLst>
              <a:ext uri="{FF2B5EF4-FFF2-40B4-BE49-F238E27FC236}">
                <a16:creationId xmlns:a16="http://schemas.microsoft.com/office/drawing/2014/main" id="{D48EE0A8-2231-2314-5A63-6A74CEF6A696}"/>
              </a:ext>
            </a:extLst>
          </p:cNvPr>
          <p:cNvSpPr/>
          <p:nvPr/>
        </p:nvSpPr>
        <p:spPr>
          <a:xfrm>
            <a:off x="8596868" y="2098839"/>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sp>
        <p:nvSpPr>
          <p:cNvPr id="29" name="Flowchart: Connector 28">
            <a:extLst>
              <a:ext uri="{FF2B5EF4-FFF2-40B4-BE49-F238E27FC236}">
                <a16:creationId xmlns:a16="http://schemas.microsoft.com/office/drawing/2014/main" id="{C36047C0-85CB-BA7B-6BD7-F642638AEFF8}"/>
              </a:ext>
            </a:extLst>
          </p:cNvPr>
          <p:cNvSpPr/>
          <p:nvPr/>
        </p:nvSpPr>
        <p:spPr>
          <a:xfrm>
            <a:off x="8596867" y="291526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31" name="Flowchart: Connector 30">
            <a:extLst>
              <a:ext uri="{FF2B5EF4-FFF2-40B4-BE49-F238E27FC236}">
                <a16:creationId xmlns:a16="http://schemas.microsoft.com/office/drawing/2014/main" id="{DDEFADCE-B113-6739-3FC5-E14B02A84070}"/>
              </a:ext>
            </a:extLst>
          </p:cNvPr>
          <p:cNvSpPr/>
          <p:nvPr/>
        </p:nvSpPr>
        <p:spPr>
          <a:xfrm>
            <a:off x="8596866" y="3731695"/>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33" name="Flowchart: Connector 32">
            <a:extLst>
              <a:ext uri="{FF2B5EF4-FFF2-40B4-BE49-F238E27FC236}">
                <a16:creationId xmlns:a16="http://schemas.microsoft.com/office/drawing/2014/main" id="{FC159739-3DF5-1A3C-C129-3C2DFD8BCEEA}"/>
              </a:ext>
            </a:extLst>
          </p:cNvPr>
          <p:cNvSpPr/>
          <p:nvPr/>
        </p:nvSpPr>
        <p:spPr>
          <a:xfrm>
            <a:off x="8596866" y="45345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34" name="TextBox 33">
            <a:extLst>
              <a:ext uri="{FF2B5EF4-FFF2-40B4-BE49-F238E27FC236}">
                <a16:creationId xmlns:a16="http://schemas.microsoft.com/office/drawing/2014/main" id="{779DC3C3-FBE7-E9E9-0482-A68A5BA47091}"/>
              </a:ext>
            </a:extLst>
          </p:cNvPr>
          <p:cNvSpPr txBox="1"/>
          <p:nvPr/>
        </p:nvSpPr>
        <p:spPr>
          <a:xfrm>
            <a:off x="9198427" y="2139723"/>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Tokenization</a:t>
            </a:r>
          </a:p>
        </p:txBody>
      </p:sp>
      <p:sp>
        <p:nvSpPr>
          <p:cNvPr id="35" name="TextBox 34">
            <a:extLst>
              <a:ext uri="{FF2B5EF4-FFF2-40B4-BE49-F238E27FC236}">
                <a16:creationId xmlns:a16="http://schemas.microsoft.com/office/drawing/2014/main" id="{6716EF06-87BC-A8BB-B7A9-6BBF50CFE998}"/>
              </a:ext>
            </a:extLst>
          </p:cNvPr>
          <p:cNvSpPr txBox="1"/>
          <p:nvPr/>
        </p:nvSpPr>
        <p:spPr>
          <a:xfrm>
            <a:off x="9198426" y="2956151"/>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Embeddings</a:t>
            </a:r>
          </a:p>
        </p:txBody>
      </p:sp>
      <p:sp>
        <p:nvSpPr>
          <p:cNvPr id="36" name="TextBox 35">
            <a:extLst>
              <a:ext uri="{FF2B5EF4-FFF2-40B4-BE49-F238E27FC236}">
                <a16:creationId xmlns:a16="http://schemas.microsoft.com/office/drawing/2014/main" id="{A2CC3B54-57C0-1BE6-8F58-B03F2D0FBFC2}"/>
              </a:ext>
            </a:extLst>
          </p:cNvPr>
          <p:cNvSpPr txBox="1"/>
          <p:nvPr/>
        </p:nvSpPr>
        <p:spPr>
          <a:xfrm>
            <a:off x="9198426" y="3772580"/>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Attention</a:t>
            </a:r>
          </a:p>
        </p:txBody>
      </p:sp>
      <p:sp>
        <p:nvSpPr>
          <p:cNvPr id="37" name="TextBox 36">
            <a:extLst>
              <a:ext uri="{FF2B5EF4-FFF2-40B4-BE49-F238E27FC236}">
                <a16:creationId xmlns:a16="http://schemas.microsoft.com/office/drawing/2014/main" id="{0A83DA7D-9981-194C-5CD0-443FA0BD851B}"/>
              </a:ext>
            </a:extLst>
          </p:cNvPr>
          <p:cNvSpPr txBox="1"/>
          <p:nvPr/>
        </p:nvSpPr>
        <p:spPr>
          <a:xfrm>
            <a:off x="9198426" y="4568598"/>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Sampling</a:t>
            </a:r>
          </a:p>
        </p:txBody>
      </p:sp>
    </p:spTree>
    <p:extLst>
      <p:ext uri="{BB962C8B-B14F-4D97-AF65-F5344CB8AC3E}">
        <p14:creationId xmlns:p14="http://schemas.microsoft.com/office/powerpoint/2010/main" val="380211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P spid="23" grpId="0" animBg="1"/>
      <p:bldP spid="24" grpId="0" animBg="1"/>
      <p:bldP spid="27" grpId="0" animBg="1"/>
      <p:bldP spid="29" grpId="0" animBg="1"/>
      <p:bldP spid="31" grpId="0" animBg="1"/>
      <p:bldP spid="33" grpId="0" animBg="1"/>
      <p:bldP spid="34" grpId="0" animBg="1"/>
      <p:bldP spid="35" grpId="0" animBg="1"/>
      <p:bldP spid="36" grpId="0" animBg="1"/>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artoon of a llama wearing a cape and mask&#10;&#10;AI-generated content may be incorrect.">
            <a:extLst>
              <a:ext uri="{FF2B5EF4-FFF2-40B4-BE49-F238E27FC236}">
                <a16:creationId xmlns:a16="http://schemas.microsoft.com/office/drawing/2014/main" id="{757DC58F-0406-309A-D7C4-BEF5EE85814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903917" y="1396915"/>
            <a:ext cx="3797300" cy="5695950"/>
          </a:xfrm>
          <a:prstGeom prst="rect">
            <a:avLst/>
          </a:prstGeom>
        </p:spPr>
      </p:pic>
      <p:sp>
        <p:nvSpPr>
          <p:cNvPr id="2" name="Title 1">
            <a:extLst>
              <a:ext uri="{FF2B5EF4-FFF2-40B4-BE49-F238E27FC236}">
                <a16:creationId xmlns:a16="http://schemas.microsoft.com/office/drawing/2014/main" id="{30D6147D-3AF1-B627-DC49-BB083443A874}"/>
              </a:ext>
            </a:extLst>
          </p:cNvPr>
          <p:cNvSpPr>
            <a:spLocks noGrp="1"/>
          </p:cNvSpPr>
          <p:nvPr>
            <p:ph type="title"/>
          </p:nvPr>
        </p:nvSpPr>
        <p:spPr/>
        <p:txBody>
          <a:bodyPr/>
          <a:lstStyle/>
          <a:p>
            <a:r>
              <a:rPr lang="en-US" dirty="0"/>
              <a:t>How can we augment them?</a:t>
            </a:r>
          </a:p>
        </p:txBody>
      </p:sp>
      <p:sp>
        <p:nvSpPr>
          <p:cNvPr id="3" name="Content Placeholder 2">
            <a:extLst>
              <a:ext uri="{FF2B5EF4-FFF2-40B4-BE49-F238E27FC236}">
                <a16:creationId xmlns:a16="http://schemas.microsoft.com/office/drawing/2014/main" id="{D83C43F5-34A7-8640-01DC-E67800E0C470}"/>
              </a:ext>
            </a:extLst>
          </p:cNvPr>
          <p:cNvSpPr>
            <a:spLocks noGrp="1"/>
          </p:cNvSpPr>
          <p:nvPr>
            <p:ph idx="1"/>
          </p:nvPr>
        </p:nvSpPr>
        <p:spPr/>
        <p:txBody>
          <a:bodyPr vert="horz" lIns="91440" tIns="45720" rIns="91440" bIns="45720" rtlCol="0" anchor="t">
            <a:normAutofit/>
          </a:bodyPr>
          <a:lstStyle/>
          <a:p>
            <a:pPr marL="0" indent="0">
              <a:buNone/>
            </a:pPr>
            <a:r>
              <a:rPr lang="en-US"/>
              <a:t>Session states</a:t>
            </a:r>
          </a:p>
          <a:p>
            <a:pPr marL="0" indent="0">
              <a:buNone/>
            </a:pPr>
            <a:r>
              <a:rPr lang="en-US" dirty="0"/>
              <a:t>RAG</a:t>
            </a:r>
          </a:p>
          <a:p>
            <a:pPr marL="0" indent="0">
              <a:buNone/>
            </a:pPr>
            <a:r>
              <a:rPr lang="en-US"/>
              <a:t>Prompting</a:t>
            </a:r>
          </a:p>
          <a:p>
            <a:pPr marL="0" indent="0">
              <a:buNone/>
            </a:pPr>
            <a:r>
              <a:rPr lang="en-US"/>
              <a:t>Tools</a:t>
            </a:r>
          </a:p>
          <a:p>
            <a:pPr marL="0" indent="0">
              <a:buNone/>
            </a:pPr>
            <a:r>
              <a:rPr lang="en-US" dirty="0"/>
              <a:t>Finetuning</a:t>
            </a:r>
          </a:p>
        </p:txBody>
      </p:sp>
    </p:spTree>
    <p:extLst>
      <p:ext uri="{BB962C8B-B14F-4D97-AF65-F5344CB8AC3E}">
        <p14:creationId xmlns:p14="http://schemas.microsoft.com/office/powerpoint/2010/main" val="57058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2F7F8-D800-192B-AA88-485BF564DAB3}"/>
              </a:ext>
            </a:extLst>
          </p:cNvPr>
          <p:cNvSpPr>
            <a:spLocks noGrp="1"/>
          </p:cNvSpPr>
          <p:nvPr>
            <p:ph type="title"/>
          </p:nvPr>
        </p:nvSpPr>
        <p:spPr/>
        <p:txBody>
          <a:bodyPr/>
          <a:lstStyle/>
          <a:p>
            <a:r>
              <a:rPr lang="en-US" dirty="0"/>
              <a:t>A comparison with humans</a:t>
            </a:r>
          </a:p>
        </p:txBody>
      </p:sp>
      <p:sp>
        <p:nvSpPr>
          <p:cNvPr id="3" name="Content Placeholder 2">
            <a:extLst>
              <a:ext uri="{FF2B5EF4-FFF2-40B4-BE49-F238E27FC236}">
                <a16:creationId xmlns:a16="http://schemas.microsoft.com/office/drawing/2014/main" id="{39D4A751-4A71-6574-70A1-136794DB1F1C}"/>
              </a:ext>
            </a:extLst>
          </p:cNvPr>
          <p:cNvSpPr>
            <a:spLocks noGrp="1"/>
          </p:cNvSpPr>
          <p:nvPr>
            <p:ph idx="1"/>
          </p:nvPr>
        </p:nvSpPr>
        <p:spPr/>
        <p:txBody>
          <a:bodyPr vert="horz" lIns="91440" tIns="45720" rIns="91440" bIns="45720" rtlCol="0" anchor="t">
            <a:normAutofit/>
          </a:bodyPr>
          <a:lstStyle/>
          <a:p>
            <a:pPr marL="0" indent="0">
              <a:buNone/>
            </a:pPr>
            <a:r>
              <a:rPr lang="en-US" dirty="0"/>
              <a:t>Is it reasonable to say that a large language model cannot do some cognitive tasks?</a:t>
            </a:r>
          </a:p>
          <a:p>
            <a:pPr marL="0" indent="0">
              <a:buNone/>
            </a:pPr>
            <a:endParaRPr lang="en-US" dirty="0"/>
          </a:p>
          <a:p>
            <a:pPr marL="0" indent="0">
              <a:buNone/>
            </a:pPr>
            <a:r>
              <a:rPr lang="en-US" dirty="0"/>
              <a:t>What do you mean when you say </a:t>
            </a:r>
            <a:r>
              <a:rPr lang="en-US" b="1" i="1" dirty="0">
                <a:solidFill>
                  <a:srgbClr val="7030A0"/>
                </a:solidFill>
              </a:rPr>
              <a:t>AI</a:t>
            </a:r>
            <a:r>
              <a:rPr lang="en-US" i="1" dirty="0"/>
              <a:t>...</a:t>
            </a:r>
            <a:r>
              <a:rPr lang="en-US" dirty="0"/>
              <a:t>?</a:t>
            </a:r>
          </a:p>
        </p:txBody>
      </p:sp>
    </p:spTree>
    <p:extLst>
      <p:ext uri="{BB962C8B-B14F-4D97-AF65-F5344CB8AC3E}">
        <p14:creationId xmlns:p14="http://schemas.microsoft.com/office/powerpoint/2010/main" val="340882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41BF3-F107-F9B0-5EDB-4373BB4196B4}"/>
              </a:ext>
            </a:extLst>
          </p:cNvPr>
          <p:cNvSpPr>
            <a:spLocks noGrp="1"/>
          </p:cNvSpPr>
          <p:nvPr>
            <p:ph type="title"/>
          </p:nvPr>
        </p:nvSpPr>
        <p:spPr/>
        <p:txBody>
          <a:bodyPr/>
          <a:lstStyle/>
          <a:p>
            <a:r>
              <a:rPr lang="en-US" dirty="0"/>
              <a:t>Some definitions</a:t>
            </a:r>
          </a:p>
        </p:txBody>
      </p:sp>
      <p:sp>
        <p:nvSpPr>
          <p:cNvPr id="3" name="Content Placeholder 2">
            <a:extLst>
              <a:ext uri="{FF2B5EF4-FFF2-40B4-BE49-F238E27FC236}">
                <a16:creationId xmlns:a16="http://schemas.microsoft.com/office/drawing/2014/main" id="{BACC3A7C-33D4-2896-0AC9-9DA08F6ED357}"/>
              </a:ext>
            </a:extLst>
          </p:cNvPr>
          <p:cNvSpPr>
            <a:spLocks noGrp="1"/>
          </p:cNvSpPr>
          <p:nvPr>
            <p:ph idx="1"/>
          </p:nvPr>
        </p:nvSpPr>
        <p:spPr/>
        <p:txBody>
          <a:bodyPr vert="horz" lIns="91440" tIns="45720" rIns="91440" bIns="45720" rtlCol="0" anchor="t">
            <a:normAutofit fontScale="62500" lnSpcReduction="20000"/>
          </a:bodyPr>
          <a:lstStyle/>
          <a:p>
            <a:pPr marL="0" indent="0">
              <a:buNone/>
            </a:pPr>
            <a:r>
              <a:rPr lang="en-US" b="1">
                <a:solidFill>
                  <a:srgbClr val="7030A0"/>
                </a:solidFill>
                <a:ea typeface="+mn-lt"/>
                <a:cs typeface="+mn-lt"/>
              </a:rPr>
              <a:t>Model </a:t>
            </a:r>
            <a:r>
              <a:rPr lang="en-US">
                <a:ea typeface="+mn-lt"/>
                <a:cs typeface="+mn-lt"/>
              </a:rPr>
              <a:t>The thing you train and use to generate text.</a:t>
            </a:r>
            <a:endParaRPr lang="en-US" dirty="0">
              <a:ea typeface="+mn-lt"/>
              <a:cs typeface="+mn-lt"/>
            </a:endParaRPr>
          </a:p>
          <a:p>
            <a:pPr marL="0" indent="0">
              <a:buNone/>
            </a:pPr>
            <a:r>
              <a:rPr lang="en-US" b="1" dirty="0">
                <a:solidFill>
                  <a:srgbClr val="7030A0"/>
                </a:solidFill>
                <a:ea typeface="+mn-lt"/>
                <a:cs typeface="+mn-lt"/>
              </a:rPr>
              <a:t>Architecture </a:t>
            </a:r>
            <a:r>
              <a:rPr lang="en-US" dirty="0">
                <a:ea typeface="+mn-lt"/>
                <a:cs typeface="+mn-lt"/>
              </a:rPr>
              <a:t>The </a:t>
            </a:r>
            <a:r>
              <a:rPr lang="en-US">
                <a:ea typeface="+mn-lt"/>
                <a:cs typeface="+mn-lt"/>
              </a:rPr>
              <a:t>high-level structure of the model.</a:t>
            </a:r>
          </a:p>
          <a:p>
            <a:pPr marL="0" indent="0">
              <a:buNone/>
            </a:pPr>
            <a:r>
              <a:rPr lang="en-US" b="1" dirty="0">
                <a:solidFill>
                  <a:srgbClr val="7030A0"/>
                </a:solidFill>
                <a:ea typeface="+mn-lt"/>
                <a:cs typeface="+mn-lt"/>
              </a:rPr>
              <a:t>Parameters </a:t>
            </a:r>
            <a:r>
              <a:rPr lang="en-US" dirty="0">
                <a:ea typeface="+mn-lt"/>
                <a:cs typeface="+mn-lt"/>
              </a:rPr>
              <a:t>(or weights) The internal knobs and dials that get altered </a:t>
            </a:r>
            <a:r>
              <a:rPr lang="en-US">
                <a:ea typeface="+mn-lt"/>
                <a:cs typeface="+mn-lt"/>
              </a:rPr>
              <a:t>during the course of training.</a:t>
            </a:r>
          </a:p>
          <a:p>
            <a:pPr marL="0" indent="0">
              <a:buNone/>
            </a:pPr>
            <a:r>
              <a:rPr lang="en-US" b="1" dirty="0">
                <a:solidFill>
                  <a:srgbClr val="7030A0"/>
                </a:solidFill>
                <a:ea typeface="+mn-lt"/>
                <a:cs typeface="+mn-lt"/>
              </a:rPr>
              <a:t>Context </a:t>
            </a:r>
            <a:r>
              <a:rPr lang="en-US" dirty="0">
                <a:ea typeface="+mn-lt"/>
                <a:cs typeface="+mn-lt"/>
              </a:rPr>
              <a:t>The input to the LLM.</a:t>
            </a:r>
          </a:p>
          <a:p>
            <a:pPr marL="0" indent="0">
              <a:buNone/>
            </a:pPr>
            <a:r>
              <a:rPr lang="en-US" b="1" dirty="0">
                <a:solidFill>
                  <a:srgbClr val="7030A0"/>
                </a:solidFill>
                <a:ea typeface="+mn-lt"/>
                <a:cs typeface="+mn-lt"/>
              </a:rPr>
              <a:t>Embedding </a:t>
            </a:r>
            <a:r>
              <a:rPr lang="en-US" dirty="0">
                <a:ea typeface="+mn-lt"/>
                <a:cs typeface="+mn-lt"/>
              </a:rPr>
              <a:t>A high-dimensional representation of text.</a:t>
            </a:r>
          </a:p>
          <a:p>
            <a:pPr marL="0" indent="0">
              <a:buNone/>
            </a:pPr>
            <a:r>
              <a:rPr lang="en-US" b="1" dirty="0">
                <a:solidFill>
                  <a:srgbClr val="7030A0"/>
                </a:solidFill>
                <a:ea typeface="+mn-lt"/>
                <a:cs typeface="+mn-lt"/>
              </a:rPr>
              <a:t>Token </a:t>
            </a:r>
            <a:r>
              <a:rPr lang="en-US" dirty="0">
                <a:ea typeface="+mn-lt"/>
                <a:cs typeface="+mn-lt"/>
              </a:rPr>
              <a:t>The smallest unit of text fed into a model.</a:t>
            </a:r>
          </a:p>
          <a:p>
            <a:pPr marL="0" indent="0">
              <a:buNone/>
            </a:pPr>
            <a:r>
              <a:rPr lang="en-US" b="1" dirty="0">
                <a:solidFill>
                  <a:srgbClr val="7030A0"/>
                </a:solidFill>
                <a:ea typeface="+mn-lt"/>
                <a:cs typeface="+mn-lt"/>
              </a:rPr>
              <a:t>Pretraining </a:t>
            </a:r>
            <a:r>
              <a:rPr lang="en-US" dirty="0">
                <a:ea typeface="+mn-lt"/>
                <a:cs typeface="+mn-lt"/>
              </a:rPr>
              <a:t>The first stage of </a:t>
            </a:r>
            <a:r>
              <a:rPr lang="en-US">
                <a:ea typeface="+mn-lt"/>
                <a:cs typeface="+mn-lt"/>
              </a:rPr>
              <a:t>training the LLM, and usually the most expensive.</a:t>
            </a:r>
          </a:p>
          <a:p>
            <a:pPr marL="0" indent="0">
              <a:buNone/>
            </a:pPr>
            <a:r>
              <a:rPr lang="en-US" dirty="0">
                <a:ea typeface="+mn-lt"/>
                <a:cs typeface="+mn-lt"/>
              </a:rPr>
              <a:t> </a:t>
            </a:r>
            <a:r>
              <a:rPr lang="en-US" b="1">
                <a:solidFill>
                  <a:srgbClr val="7030A0"/>
                </a:solidFill>
                <a:ea typeface="+mn-lt"/>
                <a:cs typeface="+mn-lt"/>
              </a:rPr>
              <a:t>Finetuning </a:t>
            </a:r>
            <a:r>
              <a:rPr lang="en-US">
                <a:ea typeface="+mn-lt"/>
                <a:cs typeface="+mn-lt"/>
              </a:rPr>
              <a:t>Training the LLM to do a particular task.</a:t>
            </a:r>
          </a:p>
          <a:p>
            <a:pPr marL="0" indent="0">
              <a:buNone/>
            </a:pPr>
            <a:r>
              <a:rPr lang="en-US" b="1" dirty="0">
                <a:solidFill>
                  <a:srgbClr val="7030A0"/>
                </a:solidFill>
                <a:ea typeface="+mn-lt"/>
                <a:cs typeface="+mn-lt"/>
              </a:rPr>
              <a:t>Inference </a:t>
            </a:r>
            <a:r>
              <a:rPr lang="en-US" dirty="0">
                <a:ea typeface="+mn-lt"/>
                <a:cs typeface="+mn-lt"/>
              </a:rPr>
              <a:t>The act of calling the model for text generation.</a:t>
            </a:r>
          </a:p>
          <a:p>
            <a:pPr marL="0" indent="0">
              <a:buNone/>
            </a:pPr>
            <a:r>
              <a:rPr lang="en-US" b="1" dirty="0">
                <a:solidFill>
                  <a:srgbClr val="7030A0"/>
                </a:solidFill>
                <a:ea typeface="+mn-lt"/>
                <a:cs typeface="+mn-lt"/>
              </a:rPr>
              <a:t>Quantization </a:t>
            </a:r>
            <a:r>
              <a:rPr lang="en-US" dirty="0">
                <a:ea typeface="+mn-lt"/>
                <a:cs typeface="+mn-lt"/>
              </a:rPr>
              <a:t>Reducing the size of a model.</a:t>
            </a:r>
          </a:p>
          <a:p>
            <a:pPr marL="0" indent="0">
              <a:buNone/>
            </a:pPr>
            <a:r>
              <a:rPr lang="en-US" b="1" dirty="0">
                <a:solidFill>
                  <a:srgbClr val="7030A0"/>
                </a:solidFill>
                <a:ea typeface="+mn-lt"/>
                <a:cs typeface="+mn-lt"/>
              </a:rPr>
              <a:t>Source </a:t>
            </a:r>
            <a:r>
              <a:rPr lang="en-US" dirty="0">
                <a:ea typeface="+mn-lt"/>
                <a:cs typeface="+mn-lt"/>
              </a:rPr>
              <a:t>The availability of the model (can be open </a:t>
            </a:r>
            <a:r>
              <a:rPr lang="en-US">
                <a:ea typeface="+mn-lt"/>
                <a:cs typeface="+mn-lt"/>
              </a:rPr>
              <a:t>or closed).</a:t>
            </a:r>
          </a:p>
          <a:p>
            <a:pPr marL="0" indent="0">
              <a:buNone/>
            </a:pPr>
            <a:r>
              <a:rPr lang="en-US" b="1" dirty="0">
                <a:solidFill>
                  <a:srgbClr val="7030A0"/>
                </a:solidFill>
                <a:ea typeface="+mn-lt"/>
                <a:cs typeface="+mn-lt"/>
              </a:rPr>
              <a:t>Modality </a:t>
            </a:r>
            <a:r>
              <a:rPr lang="en-US" dirty="0">
                <a:ea typeface="+mn-lt"/>
                <a:cs typeface="+mn-lt"/>
              </a:rPr>
              <a:t>Defined by the type of data the model is trained on (e.g.</a:t>
            </a:r>
            <a:r>
              <a:rPr lang="en-US">
                <a:ea typeface="+mn-lt"/>
                <a:cs typeface="+mn-lt"/>
              </a:rPr>
              <a:t> text or images).</a:t>
            </a:r>
          </a:p>
          <a:p>
            <a:pPr marL="0" indent="0">
              <a:buNone/>
            </a:pPr>
            <a:r>
              <a:rPr lang="en-US" b="1" dirty="0">
                <a:solidFill>
                  <a:srgbClr val="7030A0"/>
                </a:solidFill>
                <a:ea typeface="+mn-lt"/>
                <a:cs typeface="+mn-lt"/>
              </a:rPr>
              <a:t>API </a:t>
            </a:r>
            <a:r>
              <a:rPr lang="en-US" dirty="0">
                <a:ea typeface="+mn-lt"/>
                <a:cs typeface="+mn-lt"/>
              </a:rPr>
              <a:t>(Application Programming Interface) The means by which you can interact with a model.</a:t>
            </a:r>
            <a:endParaRPr lang="en-US"/>
          </a:p>
        </p:txBody>
      </p:sp>
    </p:spTree>
    <p:extLst>
      <p:ext uri="{BB962C8B-B14F-4D97-AF65-F5344CB8AC3E}">
        <p14:creationId xmlns:p14="http://schemas.microsoft.com/office/powerpoint/2010/main" val="2828243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3511F-8565-6D41-02BF-6E9296DCF3B4}"/>
              </a:ext>
            </a:extLst>
          </p:cNvPr>
          <p:cNvSpPr>
            <a:spLocks noGrp="1"/>
          </p:cNvSpPr>
          <p:nvPr>
            <p:ph type="title"/>
          </p:nvPr>
        </p:nvSpPr>
        <p:spPr/>
        <p:txBody>
          <a:bodyPr/>
          <a:lstStyle/>
          <a:p>
            <a:r>
              <a:rPr lang="en-US" dirty="0"/>
              <a:t>EU AI Act</a:t>
            </a:r>
          </a:p>
        </p:txBody>
      </p:sp>
      <p:sp>
        <p:nvSpPr>
          <p:cNvPr id="3" name="Content Placeholder 2">
            <a:extLst>
              <a:ext uri="{FF2B5EF4-FFF2-40B4-BE49-F238E27FC236}">
                <a16:creationId xmlns:a16="http://schemas.microsoft.com/office/drawing/2014/main" id="{C10ABB8D-3273-0866-F725-70CD2E52915C}"/>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endParaRPr lang="en-US" dirty="0">
              <a:ea typeface="+mn-lt"/>
              <a:cs typeface="+mn-lt"/>
            </a:endParaRPr>
          </a:p>
        </p:txBody>
      </p:sp>
    </p:spTree>
    <p:extLst>
      <p:ext uri="{BB962C8B-B14F-4D97-AF65-F5344CB8AC3E}">
        <p14:creationId xmlns:p14="http://schemas.microsoft.com/office/powerpoint/2010/main" val="186572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FE21E-B1C7-BFB6-78F1-F228EFDED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3DCA2-5CF0-D9D9-D19D-5F184BF62F37}"/>
              </a:ext>
            </a:extLst>
          </p:cNvPr>
          <p:cNvSpPr>
            <a:spLocks noGrp="1"/>
          </p:cNvSpPr>
          <p:nvPr>
            <p:ph type="title"/>
          </p:nvPr>
        </p:nvSpPr>
        <p:spPr/>
        <p:txBody>
          <a:bodyPr/>
          <a:lstStyle/>
          <a:p>
            <a:r>
              <a:rPr lang="en-US" dirty="0"/>
              <a:t>EU AI Act</a:t>
            </a:r>
          </a:p>
        </p:txBody>
      </p:sp>
      <p:sp>
        <p:nvSpPr>
          <p:cNvPr id="3" name="Content Placeholder 2">
            <a:extLst>
              <a:ext uri="{FF2B5EF4-FFF2-40B4-BE49-F238E27FC236}">
                <a16:creationId xmlns:a16="http://schemas.microsoft.com/office/drawing/2014/main" id="{6ED0013B-05E0-42A6-4927-0EEBCFBECB85}"/>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AI model</a:t>
            </a:r>
            <a:endParaRPr lang="en-US" dirty="0"/>
          </a:p>
        </p:txBody>
      </p:sp>
    </p:spTree>
    <p:extLst>
      <p:ext uri="{BB962C8B-B14F-4D97-AF65-F5344CB8AC3E}">
        <p14:creationId xmlns:p14="http://schemas.microsoft.com/office/powerpoint/2010/main" val="288595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4D587-F051-7D62-0F42-9119016C1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6A392-618F-BD9C-5214-DB8B71621D5F}"/>
              </a:ext>
            </a:extLst>
          </p:cNvPr>
          <p:cNvSpPr>
            <a:spLocks noGrp="1"/>
          </p:cNvSpPr>
          <p:nvPr>
            <p:ph type="title"/>
          </p:nvPr>
        </p:nvSpPr>
        <p:spPr/>
        <p:txBody>
          <a:bodyPr/>
          <a:lstStyle/>
          <a:p>
            <a:r>
              <a:rPr lang="en-US" dirty="0"/>
              <a:t>EU AI Act</a:t>
            </a:r>
          </a:p>
        </p:txBody>
      </p:sp>
      <p:sp>
        <p:nvSpPr>
          <p:cNvPr id="3" name="Content Placeholder 2">
            <a:extLst>
              <a:ext uri="{FF2B5EF4-FFF2-40B4-BE49-F238E27FC236}">
                <a16:creationId xmlns:a16="http://schemas.microsoft.com/office/drawing/2014/main" id="{CD14D7EF-B0A7-7551-E481-D9816DC0D0E9}"/>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AI model … trained with a large amount of data using self-supervision at scale, that displays significant generality and is capable of competently performing a wide range of distinct tasks</a:t>
            </a:r>
            <a:endParaRPr lang="en-US" dirty="0"/>
          </a:p>
        </p:txBody>
      </p:sp>
    </p:spTree>
    <p:extLst>
      <p:ext uri="{BB962C8B-B14F-4D97-AF65-F5344CB8AC3E}">
        <p14:creationId xmlns:p14="http://schemas.microsoft.com/office/powerpoint/2010/main" val="459657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A47D2-6A35-8A15-1A0B-31708619F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2FFD7-9E08-B464-0286-6956E8B6E119}"/>
              </a:ext>
            </a:extLst>
          </p:cNvPr>
          <p:cNvSpPr>
            <a:spLocks noGrp="1"/>
          </p:cNvSpPr>
          <p:nvPr>
            <p:ph type="title"/>
          </p:nvPr>
        </p:nvSpPr>
        <p:spPr/>
        <p:txBody>
          <a:bodyPr/>
          <a:lstStyle/>
          <a:p>
            <a:r>
              <a:rPr lang="en-US" dirty="0"/>
              <a:t>EU AI Act</a:t>
            </a:r>
          </a:p>
        </p:txBody>
      </p:sp>
      <p:sp>
        <p:nvSpPr>
          <p:cNvPr id="3" name="Content Placeholder 2">
            <a:extLst>
              <a:ext uri="{FF2B5EF4-FFF2-40B4-BE49-F238E27FC236}">
                <a16:creationId xmlns:a16="http://schemas.microsoft.com/office/drawing/2014/main" id="{E2408F8A-1039-0F2C-D043-161693F55A34}"/>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AI model … trained with a large amount of data using self-supervision at scale, that displays significant generality and is capable of competently performing a wide range of distinct tasks ... that can be integrated into a variety of downstream systems or applications ...</a:t>
            </a:r>
            <a:endParaRPr lang="en-US" dirty="0"/>
          </a:p>
        </p:txBody>
      </p:sp>
    </p:spTree>
    <p:extLst>
      <p:ext uri="{BB962C8B-B14F-4D97-AF65-F5344CB8AC3E}">
        <p14:creationId xmlns:p14="http://schemas.microsoft.com/office/powerpoint/2010/main" val="490861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32E27-88D9-4FC9-1674-847609364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24151-50C3-889E-51EB-C0D04EFB03FF}"/>
              </a:ext>
            </a:extLst>
          </p:cNvPr>
          <p:cNvSpPr>
            <a:spLocks noGrp="1"/>
          </p:cNvSpPr>
          <p:nvPr>
            <p:ph type="title"/>
          </p:nvPr>
        </p:nvSpPr>
        <p:spPr/>
        <p:txBody>
          <a:bodyPr/>
          <a:lstStyle/>
          <a:p>
            <a:r>
              <a:rPr lang="en-US" dirty="0"/>
              <a:t>EU AI Act</a:t>
            </a:r>
          </a:p>
        </p:txBody>
      </p:sp>
      <p:sp>
        <p:nvSpPr>
          <p:cNvPr id="3" name="Content Placeholder 2">
            <a:extLst>
              <a:ext uri="{FF2B5EF4-FFF2-40B4-BE49-F238E27FC236}">
                <a16:creationId xmlns:a16="http://schemas.microsoft.com/office/drawing/2014/main" id="{E6923F68-DE8D-A21D-AD3D-642139153BC1}"/>
              </a:ext>
            </a:extLst>
          </p:cNvPr>
          <p:cNvSpPr>
            <a:spLocks noGrp="1"/>
          </p:cNvSpPr>
          <p:nvPr>
            <p:ph idx="1"/>
          </p:nvPr>
        </p:nvSpPr>
        <p:spPr/>
        <p:txBody>
          <a:bodyPr vert="horz" lIns="91440" tIns="45720" rIns="91440" bIns="45720" rtlCol="0" anchor="t">
            <a:normAutofit/>
          </a:bodyPr>
          <a:lstStyle/>
          <a:p>
            <a:pPr marL="0" indent="0">
              <a:buNone/>
            </a:pPr>
            <a:r>
              <a:rPr lang="en-US" dirty="0"/>
              <a:t>How does the AI Act define things...?</a:t>
            </a:r>
          </a:p>
          <a:p>
            <a:pPr marL="0" indent="0">
              <a:buNone/>
            </a:pPr>
            <a:endParaRPr lang="en-US" dirty="0"/>
          </a:p>
          <a:p>
            <a:pPr marL="0" indent="0">
              <a:buNone/>
            </a:pPr>
            <a:r>
              <a:rPr lang="en-US" b="1" dirty="0">
                <a:solidFill>
                  <a:srgbClr val="7030A0"/>
                </a:solidFill>
                <a:ea typeface="+mn-lt"/>
                <a:cs typeface="+mn-lt"/>
              </a:rPr>
              <a:t>general-purpose AI model</a:t>
            </a:r>
            <a:r>
              <a:rPr lang="en-US" dirty="0">
                <a:ea typeface="+mn-lt"/>
                <a:cs typeface="+mn-lt"/>
              </a:rPr>
              <a:t> ... an </a:t>
            </a:r>
            <a:r>
              <a:rPr lang="en-US" i="1" dirty="0">
                <a:solidFill>
                  <a:srgbClr val="7030A0"/>
                </a:solidFill>
                <a:ea typeface="+mn-lt"/>
                <a:cs typeface="+mn-lt"/>
              </a:rPr>
              <a:t>AI model</a:t>
            </a:r>
            <a:r>
              <a:rPr lang="en-US" dirty="0">
                <a:ea typeface="+mn-lt"/>
                <a:cs typeface="+mn-lt"/>
              </a:rPr>
              <a:t> … trained with a </a:t>
            </a:r>
            <a:r>
              <a:rPr lang="en-US" i="1" dirty="0">
                <a:solidFill>
                  <a:srgbClr val="7030A0"/>
                </a:solidFill>
                <a:ea typeface="+mn-lt"/>
                <a:cs typeface="+mn-lt"/>
              </a:rPr>
              <a:t>large amount of data</a:t>
            </a:r>
            <a:r>
              <a:rPr lang="en-US" dirty="0">
                <a:ea typeface="+mn-lt"/>
                <a:cs typeface="+mn-lt"/>
              </a:rPr>
              <a:t> using </a:t>
            </a:r>
            <a:r>
              <a:rPr lang="en-US" i="1" dirty="0">
                <a:solidFill>
                  <a:srgbClr val="7030A0"/>
                </a:solidFill>
                <a:ea typeface="+mn-lt"/>
                <a:cs typeface="+mn-lt"/>
              </a:rPr>
              <a:t>self-supervision</a:t>
            </a:r>
            <a:r>
              <a:rPr lang="en-US" dirty="0">
                <a:ea typeface="+mn-lt"/>
                <a:cs typeface="+mn-lt"/>
              </a:rPr>
              <a:t> at </a:t>
            </a:r>
            <a:r>
              <a:rPr lang="en-US" i="1" dirty="0">
                <a:solidFill>
                  <a:srgbClr val="7030A0"/>
                </a:solidFill>
                <a:ea typeface="+mn-lt"/>
                <a:cs typeface="+mn-lt"/>
              </a:rPr>
              <a:t>scale</a:t>
            </a:r>
            <a:r>
              <a:rPr lang="en-US" dirty="0">
                <a:ea typeface="+mn-lt"/>
                <a:cs typeface="+mn-lt"/>
              </a:rPr>
              <a:t>, that displays significant </a:t>
            </a:r>
            <a:r>
              <a:rPr lang="en-US" i="1" dirty="0">
                <a:solidFill>
                  <a:srgbClr val="7030A0"/>
                </a:solidFill>
                <a:ea typeface="+mn-lt"/>
                <a:cs typeface="+mn-lt"/>
              </a:rPr>
              <a:t>generality </a:t>
            </a:r>
            <a:r>
              <a:rPr lang="en-US" dirty="0">
                <a:ea typeface="+mn-lt"/>
                <a:cs typeface="+mn-lt"/>
              </a:rPr>
              <a:t>and is capable of competently performing a wide range of distinct tasks ... that can be integrated into a variety of </a:t>
            </a:r>
            <a:r>
              <a:rPr lang="en-US" i="1" dirty="0">
                <a:solidFill>
                  <a:srgbClr val="7030A0"/>
                </a:solidFill>
                <a:ea typeface="+mn-lt"/>
                <a:cs typeface="+mn-lt"/>
              </a:rPr>
              <a:t>downstream systems or applications</a:t>
            </a:r>
            <a:r>
              <a:rPr lang="en-US" dirty="0">
                <a:ea typeface="+mn-lt"/>
                <a:cs typeface="+mn-lt"/>
              </a:rPr>
              <a:t> ...</a:t>
            </a:r>
            <a:endParaRPr lang="en-US" dirty="0"/>
          </a:p>
        </p:txBody>
      </p:sp>
    </p:spTree>
    <p:extLst>
      <p:ext uri="{BB962C8B-B14F-4D97-AF65-F5344CB8AC3E}">
        <p14:creationId xmlns:p14="http://schemas.microsoft.com/office/powerpoint/2010/main" val="1534518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0A84B-CED9-D10B-9C53-03A051F7C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FFBF8-A696-6775-4F1A-763C5095ED50}"/>
              </a:ext>
            </a:extLst>
          </p:cNvPr>
          <p:cNvSpPr>
            <a:spLocks noGrp="1"/>
          </p:cNvSpPr>
          <p:nvPr>
            <p:ph type="title"/>
          </p:nvPr>
        </p:nvSpPr>
        <p:spPr/>
        <p:txBody>
          <a:bodyPr/>
          <a:lstStyle/>
          <a:p>
            <a:r>
              <a:rPr lang="en-US" dirty="0"/>
              <a:t>General Purpose AI Model</a:t>
            </a:r>
          </a:p>
        </p:txBody>
      </p:sp>
      <p:sp>
        <p:nvSpPr>
          <p:cNvPr id="3" name="Content Placeholder 2">
            <a:extLst>
              <a:ext uri="{FF2B5EF4-FFF2-40B4-BE49-F238E27FC236}">
                <a16:creationId xmlns:a16="http://schemas.microsoft.com/office/drawing/2014/main" id="{39593BBD-E291-3768-2FDE-E0BA2F410DFC}"/>
              </a:ext>
            </a:extLst>
          </p:cNvPr>
          <p:cNvSpPr>
            <a:spLocks noGrp="1"/>
          </p:cNvSpPr>
          <p:nvPr>
            <p:ph idx="1"/>
          </p:nvPr>
        </p:nvSpPr>
        <p:spPr/>
        <p:txBody>
          <a:bodyPr vert="horz" lIns="91440" tIns="45720" rIns="91440" bIns="45720" rtlCol="0" anchor="t">
            <a:noAutofit/>
          </a:bodyPr>
          <a:lstStyle/>
          <a:p>
            <a:pPr marL="514350" indent="-514350">
              <a:buAutoNum type="alphaLcPeriod"/>
            </a:pPr>
            <a:r>
              <a:rPr lang="en-US" dirty="0">
                <a:ea typeface="+mn-lt"/>
                <a:cs typeface="+mn-lt"/>
              </a:rPr>
              <a:t>The number of parameters of the model;</a:t>
            </a:r>
            <a:endParaRPr lang="en-US" dirty="0"/>
          </a:p>
          <a:p>
            <a:pPr marL="514350" indent="-514350">
              <a:buAutoNum type="alphaLcPeriod"/>
            </a:pPr>
            <a:r>
              <a:rPr lang="en-US" dirty="0">
                <a:ea typeface="+mn-lt"/>
                <a:cs typeface="+mn-lt"/>
              </a:rPr>
              <a:t>The quality or size of the data set, for example measured through tokens;</a:t>
            </a:r>
          </a:p>
          <a:p>
            <a:pPr marL="514350" indent="-514350">
              <a:buAutoNum type="alphaLcPeriod"/>
            </a:pPr>
            <a:r>
              <a:rPr lang="en-US" dirty="0">
                <a:ea typeface="+mn-lt"/>
                <a:cs typeface="+mn-lt"/>
              </a:rPr>
              <a:t>The amount of computation used for training the model, measured in:</a:t>
            </a:r>
          </a:p>
          <a:p>
            <a:pPr marL="971550" lvl="1" indent="-514350">
              <a:buFont typeface="Courier New" panose="020B0604020202020204" pitchFamily="34" charset="0"/>
              <a:buChar char="o"/>
            </a:pPr>
            <a:r>
              <a:rPr lang="en-US" dirty="0">
                <a:ea typeface="+mn-lt"/>
                <a:cs typeface="+mn-lt"/>
              </a:rPr>
              <a:t>Floating point ops</a:t>
            </a:r>
          </a:p>
          <a:p>
            <a:pPr marL="971550" lvl="1" indent="-514350">
              <a:buFont typeface="Courier New" panose="020B0604020202020204" pitchFamily="34" charset="0"/>
              <a:buChar char="o"/>
            </a:pPr>
            <a:r>
              <a:rPr lang="en-US" dirty="0">
                <a:ea typeface="+mn-lt"/>
                <a:cs typeface="+mn-lt"/>
              </a:rPr>
              <a:t>Cost of training</a:t>
            </a:r>
          </a:p>
          <a:p>
            <a:pPr marL="971550" lvl="1" indent="-514350">
              <a:buFont typeface="Courier New" panose="020B0604020202020204" pitchFamily="34" charset="0"/>
              <a:buChar char="o"/>
            </a:pPr>
            <a:r>
              <a:rPr lang="en-US" dirty="0">
                <a:ea typeface="+mn-lt"/>
                <a:cs typeface="+mn-lt"/>
              </a:rPr>
              <a:t>Training time</a:t>
            </a:r>
          </a:p>
          <a:p>
            <a:pPr marL="971550" lvl="1" indent="-514350">
              <a:buFont typeface="Courier New" panose="020B0604020202020204" pitchFamily="34" charset="0"/>
              <a:buChar char="o"/>
            </a:pPr>
            <a:r>
              <a:rPr lang="en-US" dirty="0">
                <a:ea typeface="+mn-lt"/>
                <a:cs typeface="+mn-lt"/>
              </a:rPr>
              <a:t>Energy consumption</a:t>
            </a:r>
          </a:p>
          <a:p>
            <a:pPr marL="0" indent="0">
              <a:buNone/>
            </a:pPr>
            <a:endParaRPr lang="en-US" dirty="0">
              <a:ea typeface="+mn-lt"/>
              <a:cs typeface="+mn-lt"/>
            </a:endParaRPr>
          </a:p>
        </p:txBody>
      </p:sp>
    </p:spTree>
    <p:extLst>
      <p:ext uri="{BB962C8B-B14F-4D97-AF65-F5344CB8AC3E}">
        <p14:creationId xmlns:p14="http://schemas.microsoft.com/office/powerpoint/2010/main" val="276038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799AC-F16A-9B10-8065-66046C433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C1BFA-C543-0795-068D-73F38A5EB0E3}"/>
              </a:ext>
            </a:extLst>
          </p:cNvPr>
          <p:cNvSpPr>
            <a:spLocks noGrp="1"/>
          </p:cNvSpPr>
          <p:nvPr>
            <p:ph type="title"/>
          </p:nvPr>
        </p:nvSpPr>
        <p:spPr/>
        <p:txBody>
          <a:bodyPr/>
          <a:lstStyle/>
          <a:p>
            <a:r>
              <a:rPr lang="en-US" dirty="0"/>
              <a:t>General Purpose AI Model</a:t>
            </a:r>
          </a:p>
        </p:txBody>
      </p:sp>
      <p:sp>
        <p:nvSpPr>
          <p:cNvPr id="3" name="Content Placeholder 2">
            <a:extLst>
              <a:ext uri="{FF2B5EF4-FFF2-40B4-BE49-F238E27FC236}">
                <a16:creationId xmlns:a16="http://schemas.microsoft.com/office/drawing/2014/main" id="{E7E0EA96-25AD-64DE-88A5-B407DAD77273}"/>
              </a:ext>
            </a:extLst>
          </p:cNvPr>
          <p:cNvSpPr>
            <a:spLocks noGrp="1"/>
          </p:cNvSpPr>
          <p:nvPr>
            <p:ph idx="1"/>
          </p:nvPr>
        </p:nvSpPr>
        <p:spPr/>
        <p:txBody>
          <a:bodyPr vert="horz" lIns="91440" tIns="45720" rIns="91440" bIns="45720" rtlCol="0" anchor="t">
            <a:noAutofit/>
          </a:bodyPr>
          <a:lstStyle/>
          <a:p>
            <a:pPr marL="514350" indent="-514350">
              <a:buAutoNum type="alphaLcPeriod"/>
            </a:pPr>
            <a:r>
              <a:rPr lang="en-US" dirty="0">
                <a:ea typeface="+mn-lt"/>
                <a:cs typeface="+mn-lt"/>
              </a:rPr>
              <a:t>The input and output modalities of the model, such as text to text(large language models)</a:t>
            </a:r>
          </a:p>
          <a:p>
            <a:pPr marL="514350" indent="-514350">
              <a:buAutoNum type="alphaLcPeriod"/>
            </a:pPr>
            <a:r>
              <a:rPr lang="en-US" dirty="0">
                <a:ea typeface="+mn-lt"/>
                <a:cs typeface="+mn-lt"/>
              </a:rPr>
              <a:t>Impact:</a:t>
            </a:r>
          </a:p>
          <a:p>
            <a:pPr marL="971550" lvl="1" indent="-514350">
              <a:buFont typeface="Courier New" panose="020B0604020202020204" pitchFamily="34" charset="0"/>
              <a:buChar char="o"/>
            </a:pPr>
            <a:r>
              <a:rPr lang="en-US" dirty="0">
                <a:ea typeface="+mn-lt"/>
                <a:cs typeface="+mn-lt"/>
              </a:rPr>
              <a:t>Business users</a:t>
            </a:r>
          </a:p>
          <a:p>
            <a:pPr marL="971550" lvl="1" indent="-514350">
              <a:buFont typeface="Courier New" panose="020B0604020202020204" pitchFamily="34" charset="0"/>
              <a:buChar char="o"/>
            </a:pPr>
            <a:r>
              <a:rPr lang="en-US" dirty="0">
                <a:ea typeface="+mn-lt"/>
                <a:cs typeface="+mn-lt"/>
              </a:rPr>
              <a:t>Registered end-users</a:t>
            </a:r>
          </a:p>
          <a:p>
            <a:pPr marL="514350" indent="-514350">
              <a:buAutoNum type="alphaLcPeriod"/>
            </a:pPr>
            <a:r>
              <a:rPr lang="en-US" dirty="0">
                <a:ea typeface="+mn-lt"/>
                <a:cs typeface="+mn-lt"/>
              </a:rPr>
              <a:t>The benchmarks and evaluations of capabilities of the model</a:t>
            </a:r>
          </a:p>
          <a:p>
            <a:pPr marL="971550" lvl="1" indent="-514350">
              <a:buFont typeface="Courier New" panose="020B0604020202020204" pitchFamily="34" charset="0"/>
              <a:buChar char="o"/>
            </a:pPr>
            <a:r>
              <a:rPr lang="en-US" dirty="0">
                <a:ea typeface="+mn-lt"/>
                <a:cs typeface="+mn-lt"/>
              </a:rPr>
              <a:t>Tasks without additional training</a:t>
            </a:r>
          </a:p>
          <a:p>
            <a:pPr marL="971550" lvl="1" indent="-514350">
              <a:buFont typeface="Courier New" panose="020B0604020202020204" pitchFamily="34" charset="0"/>
              <a:buChar char="o"/>
            </a:pPr>
            <a:r>
              <a:rPr lang="en-US" dirty="0">
                <a:ea typeface="+mn-lt"/>
                <a:cs typeface="+mn-lt"/>
              </a:rPr>
              <a:t>Adaptability to distinct tasks</a:t>
            </a:r>
          </a:p>
          <a:p>
            <a:pPr marL="971550" lvl="1" indent="-514350">
              <a:buFont typeface="Courier New" panose="020B0604020202020204" pitchFamily="34" charset="0"/>
              <a:buChar char="o"/>
            </a:pPr>
            <a:r>
              <a:rPr lang="en-US" dirty="0">
                <a:ea typeface="+mn-lt"/>
                <a:cs typeface="+mn-lt"/>
              </a:rPr>
              <a:t>Autonomy and scalability</a:t>
            </a:r>
          </a:p>
          <a:p>
            <a:pPr marL="971550" lvl="1" indent="-514350">
              <a:buFont typeface="Courier New" panose="020B0604020202020204" pitchFamily="34" charset="0"/>
              <a:buChar char="o"/>
            </a:pPr>
            <a:r>
              <a:rPr lang="en-US" dirty="0">
                <a:ea typeface="+mn-lt"/>
                <a:cs typeface="+mn-lt"/>
              </a:rPr>
              <a:t>Tool access</a:t>
            </a:r>
            <a:endParaRPr lang="en-US" sz="2800" dirty="0"/>
          </a:p>
          <a:p>
            <a:pPr marL="0" indent="0">
              <a:buNone/>
            </a:pPr>
            <a:endParaRPr lang="en-US" dirty="0">
              <a:ea typeface="+mn-lt"/>
              <a:cs typeface="+mn-lt"/>
            </a:endParaRPr>
          </a:p>
        </p:txBody>
      </p:sp>
    </p:spTree>
    <p:extLst>
      <p:ext uri="{BB962C8B-B14F-4D97-AF65-F5344CB8AC3E}">
        <p14:creationId xmlns:p14="http://schemas.microsoft.com/office/powerpoint/2010/main" val="3516369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E63CC-2009-9150-9883-7D6A5D765426}"/>
              </a:ext>
            </a:extLst>
          </p:cNvPr>
          <p:cNvSpPr>
            <a:spLocks noGrp="1"/>
          </p:cNvSpPr>
          <p:nvPr>
            <p:ph type="title"/>
          </p:nvPr>
        </p:nvSpPr>
        <p:spPr/>
        <p:txBody>
          <a:bodyPr/>
          <a:lstStyle/>
          <a:p>
            <a:r>
              <a:rPr lang="en-US" dirty="0"/>
              <a:t>AI Systems</a:t>
            </a:r>
          </a:p>
        </p:txBody>
      </p:sp>
      <p:sp>
        <p:nvSpPr>
          <p:cNvPr id="3" name="Content Placeholder 2">
            <a:extLst>
              <a:ext uri="{FF2B5EF4-FFF2-40B4-BE49-F238E27FC236}">
                <a16:creationId xmlns:a16="http://schemas.microsoft.com/office/drawing/2014/main" id="{8E3982A0-7BFF-76E6-00A2-2D4A08CAC85F}"/>
              </a:ext>
            </a:extLst>
          </p:cNvPr>
          <p:cNvSpPr>
            <a:spLocks noGrp="1"/>
          </p:cNvSpPr>
          <p:nvPr>
            <p:ph idx="1"/>
          </p:nvPr>
        </p:nvSpPr>
        <p:spPr/>
        <p:txBody>
          <a:bodyPr vert="horz" lIns="91440" tIns="45720" rIns="91440" bIns="45720" rtlCol="0" anchor="t">
            <a:normAutofit/>
          </a:bodyPr>
          <a:lstStyle/>
          <a:p>
            <a:pPr marL="0" indent="0">
              <a:buNone/>
            </a:pPr>
            <a:r>
              <a:rPr lang="en-US" dirty="0"/>
              <a:t>There is a clear distinction between AI </a:t>
            </a:r>
            <a:r>
              <a:rPr lang="en-US" i="1" dirty="0">
                <a:solidFill>
                  <a:srgbClr val="7030A0"/>
                </a:solidFill>
              </a:rPr>
              <a:t>models </a:t>
            </a:r>
            <a:r>
              <a:rPr lang="en-US" dirty="0"/>
              <a:t>and AI </a:t>
            </a:r>
            <a:r>
              <a:rPr lang="en-US" i="1" dirty="0">
                <a:solidFill>
                  <a:srgbClr val="7030A0"/>
                </a:solidFill>
              </a:rPr>
              <a:t>Systems</a:t>
            </a:r>
          </a:p>
          <a:p>
            <a:pPr marL="0" indent="0">
              <a:buNone/>
            </a:pPr>
            <a:endParaRPr lang="en-US" dirty="0"/>
          </a:p>
          <a:p>
            <a:pPr marL="0" indent="0">
              <a:buNone/>
            </a:pPr>
            <a:r>
              <a:rPr lang="en-US" i="1" dirty="0">
                <a:solidFill>
                  <a:srgbClr val="7030A0"/>
                </a:solidFill>
              </a:rPr>
              <a:t>"...</a:t>
            </a:r>
            <a:r>
              <a:rPr lang="en-US" i="1" dirty="0">
                <a:solidFill>
                  <a:srgbClr val="7030A0"/>
                </a:solidFill>
                <a:ea typeface="+mn-lt"/>
                <a:cs typeface="+mn-lt"/>
              </a:rPr>
              <a:t>AI models require the addition of further components, such as for example a user interface, to become AI systems..."</a:t>
            </a:r>
          </a:p>
          <a:p>
            <a:pPr marL="0" indent="0">
              <a:buNone/>
            </a:pPr>
            <a:endParaRPr lang="en-US" dirty="0"/>
          </a:p>
        </p:txBody>
      </p:sp>
    </p:spTree>
    <p:extLst>
      <p:ext uri="{BB962C8B-B14F-4D97-AF65-F5344CB8AC3E}">
        <p14:creationId xmlns:p14="http://schemas.microsoft.com/office/powerpoint/2010/main" val="171952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1F7C-A98A-5154-DCC0-C9556283009D}"/>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00BDD31A-73BA-6424-5AC5-D11B0A152ACD}"/>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n-US" dirty="0">
                <a:ea typeface="+mn-lt"/>
                <a:cs typeface="+mn-lt"/>
              </a:rPr>
              <a:t>Raphaël </a:t>
            </a:r>
            <a:r>
              <a:rPr lang="en-US" err="1">
                <a:ea typeface="+mn-lt"/>
                <a:cs typeface="+mn-lt"/>
              </a:rPr>
              <a:t>Millière</a:t>
            </a:r>
            <a:r>
              <a:rPr lang="en-US" dirty="0">
                <a:ea typeface="+mn-lt"/>
                <a:cs typeface="+mn-lt"/>
              </a:rPr>
              <a:t> and </a:t>
            </a:r>
            <a:r>
              <a:rPr lang="en-US" dirty="0"/>
              <a:t>Charles </a:t>
            </a:r>
            <a:r>
              <a:rPr lang="en-US" err="1"/>
              <a:t>Rathkopf</a:t>
            </a:r>
            <a:r>
              <a:rPr lang="en-US" dirty="0">
                <a:ea typeface="+mn-lt"/>
                <a:cs typeface="+mn-lt"/>
              </a:rPr>
              <a:t>, </a:t>
            </a:r>
            <a:r>
              <a:rPr lang="en-US" i="1" dirty="0">
                <a:ea typeface="+mn-lt"/>
                <a:cs typeface="+mn-lt"/>
              </a:rPr>
              <a:t>Anthropocentric bias and the possibility of artificial cognition</a:t>
            </a:r>
            <a:r>
              <a:rPr lang="en-US" dirty="0">
                <a:ea typeface="+mn-lt"/>
                <a:cs typeface="+mn-lt"/>
              </a:rPr>
              <a:t>, 2024</a:t>
            </a:r>
            <a:endParaRPr lang="en-US"/>
          </a:p>
          <a:p>
            <a:pPr marL="0" indent="0">
              <a:buNone/>
            </a:pPr>
            <a:endParaRPr lang="en-US" dirty="0"/>
          </a:p>
          <a:p>
            <a:pPr marL="0" indent="0">
              <a:buNone/>
            </a:pPr>
            <a:r>
              <a:rPr lang="en-US" dirty="0"/>
              <a:t>Raphaël </a:t>
            </a:r>
            <a:r>
              <a:rPr lang="en-US" err="1"/>
              <a:t>Millière</a:t>
            </a:r>
            <a:r>
              <a:rPr lang="en-US" dirty="0"/>
              <a:t> and </a:t>
            </a:r>
            <a:r>
              <a:rPr lang="en-US" dirty="0">
                <a:ea typeface="+mn-lt"/>
                <a:cs typeface="+mn-lt"/>
              </a:rPr>
              <a:t>Cameron Buckner</a:t>
            </a:r>
            <a:r>
              <a:rPr lang="en-US" dirty="0"/>
              <a:t>, </a:t>
            </a:r>
            <a:r>
              <a:rPr lang="en-US" i="1" dirty="0">
                <a:ea typeface="+mn-lt"/>
                <a:cs typeface="+mn-lt"/>
              </a:rPr>
              <a:t>A Philosophical Introduction to Language Models</a:t>
            </a:r>
            <a:r>
              <a:rPr lang="en-US" dirty="0"/>
              <a:t>, 2024</a:t>
            </a:r>
          </a:p>
          <a:p>
            <a:pPr marL="0" indent="0">
              <a:buNone/>
            </a:pPr>
            <a:endParaRPr lang="en-US" dirty="0"/>
          </a:p>
          <a:p>
            <a:pPr marL="0" indent="0">
              <a:buNone/>
            </a:pPr>
            <a:r>
              <a:rPr lang="en-US" dirty="0">
                <a:ea typeface="+mn-lt"/>
                <a:cs typeface="+mn-lt"/>
                <a:hlinkClick r:id="rId2"/>
              </a:rPr>
              <a:t>EU AI Act Explorer</a:t>
            </a:r>
          </a:p>
          <a:p>
            <a:pPr marL="0" indent="0">
              <a:buNone/>
            </a:pPr>
            <a:endParaRPr lang="en-US" dirty="0"/>
          </a:p>
          <a:p>
            <a:pPr marL="0" indent="0">
              <a:buNone/>
            </a:pPr>
            <a:r>
              <a:rPr lang="en-US" dirty="0"/>
              <a:t>ICO Information:</a:t>
            </a:r>
          </a:p>
          <a:p>
            <a:pPr marL="0" indent="0">
              <a:buNone/>
            </a:pPr>
            <a:r>
              <a:rPr lang="en-US"/>
              <a:t> </a:t>
            </a:r>
            <a:r>
              <a:rPr lang="en-US" dirty="0">
                <a:hlinkClick r:id="rId3"/>
              </a:rPr>
              <a:t>Artificial Intelligence</a:t>
            </a:r>
          </a:p>
          <a:p>
            <a:pPr marL="0" indent="0">
              <a:buNone/>
            </a:pPr>
            <a:r>
              <a:rPr lang="en-US"/>
              <a:t> </a:t>
            </a:r>
            <a:r>
              <a:rPr lang="en-US" dirty="0">
                <a:hlinkClick r:id="rId4"/>
              </a:rPr>
              <a:t>Data Protection</a:t>
            </a:r>
          </a:p>
          <a:p>
            <a:pPr marL="0" indent="0">
              <a:buNone/>
            </a:pPr>
            <a:r>
              <a:rPr lang="en-US"/>
              <a:t> </a:t>
            </a:r>
            <a:r>
              <a:rPr lang="en-US" dirty="0">
                <a:hlinkClick r:id="rId5"/>
              </a:rPr>
              <a:t>Explaining Decisions</a:t>
            </a:r>
          </a:p>
        </p:txBody>
      </p:sp>
    </p:spTree>
    <p:extLst>
      <p:ext uri="{BB962C8B-B14F-4D97-AF65-F5344CB8AC3E}">
        <p14:creationId xmlns:p14="http://schemas.microsoft.com/office/powerpoint/2010/main" val="3011003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87FD7-F408-4ADB-E02C-219317EC5E7B}"/>
            </a:ext>
          </a:extLst>
        </p:cNvPr>
        <p:cNvGrpSpPr/>
        <p:nvPr/>
      </p:nvGrpSpPr>
      <p:grpSpPr>
        <a:xfrm>
          <a:off x="0" y="0"/>
          <a:ext cx="0" cy="0"/>
          <a:chOff x="0" y="0"/>
          <a:chExt cx="0" cy="0"/>
        </a:xfrm>
      </p:grpSpPr>
      <p:pic>
        <p:nvPicPr>
          <p:cNvPr id="9" name="Picture 8" descr="Generated image">
            <a:extLst>
              <a:ext uri="{FF2B5EF4-FFF2-40B4-BE49-F238E27FC236}">
                <a16:creationId xmlns:a16="http://schemas.microsoft.com/office/drawing/2014/main" id="{1A9401A4-3E59-C24C-B465-A14D4AC0E9BA}"/>
              </a:ext>
            </a:extLst>
          </p:cNvPr>
          <p:cNvPicPr>
            <a:picLocks noChangeAspect="1"/>
          </p:cNvPicPr>
          <p:nvPr/>
        </p:nvPicPr>
        <p:blipFill>
          <a:blip r:embed="rId2"/>
          <a:stretch>
            <a:fillRect/>
          </a:stretch>
        </p:blipFill>
        <p:spPr>
          <a:xfrm>
            <a:off x="3653518" y="659947"/>
            <a:ext cx="4401911" cy="6613071"/>
          </a:xfrm>
          <a:prstGeom prst="rect">
            <a:avLst/>
          </a:prstGeom>
        </p:spPr>
      </p:pic>
      <p:sp>
        <p:nvSpPr>
          <p:cNvPr id="2" name="Title 1">
            <a:extLst>
              <a:ext uri="{FF2B5EF4-FFF2-40B4-BE49-F238E27FC236}">
                <a16:creationId xmlns:a16="http://schemas.microsoft.com/office/drawing/2014/main" id="{051FD524-6505-46E4-B48E-05443451B39B}"/>
              </a:ext>
            </a:extLst>
          </p:cNvPr>
          <p:cNvSpPr>
            <a:spLocks noGrp="1"/>
          </p:cNvSpPr>
          <p:nvPr>
            <p:ph type="title"/>
          </p:nvPr>
        </p:nvSpPr>
        <p:spPr/>
        <p:txBody>
          <a:bodyPr/>
          <a:lstStyle/>
          <a:p>
            <a:r>
              <a:rPr lang="en-US" dirty="0"/>
              <a:t>Back to the Llama...</a:t>
            </a:r>
          </a:p>
        </p:txBody>
      </p:sp>
      <p:sp>
        <p:nvSpPr>
          <p:cNvPr id="15" name="Flowchart: Connector 14">
            <a:extLst>
              <a:ext uri="{FF2B5EF4-FFF2-40B4-BE49-F238E27FC236}">
                <a16:creationId xmlns:a16="http://schemas.microsoft.com/office/drawing/2014/main" id="{44BA943E-F75D-70BC-66FA-FCEE37DB2F65}"/>
              </a:ext>
            </a:extLst>
          </p:cNvPr>
          <p:cNvSpPr/>
          <p:nvPr/>
        </p:nvSpPr>
        <p:spPr>
          <a:xfrm>
            <a:off x="3913290" y="2504332"/>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cxnSp>
        <p:nvCxnSpPr>
          <p:cNvPr id="17" name="Connector: Curved 16">
            <a:extLst>
              <a:ext uri="{FF2B5EF4-FFF2-40B4-BE49-F238E27FC236}">
                <a16:creationId xmlns:a16="http://schemas.microsoft.com/office/drawing/2014/main" id="{C6EFEDB1-32D6-5A09-1935-65D7243FAA38}"/>
              </a:ext>
            </a:extLst>
          </p:cNvPr>
          <p:cNvCxnSpPr/>
          <p:nvPr/>
        </p:nvCxnSpPr>
        <p:spPr>
          <a:xfrm>
            <a:off x="4368511" y="2734417"/>
            <a:ext cx="620485" cy="920339"/>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0" name="Connector: Curved 19">
            <a:extLst>
              <a:ext uri="{FF2B5EF4-FFF2-40B4-BE49-F238E27FC236}">
                <a16:creationId xmlns:a16="http://schemas.microsoft.com/office/drawing/2014/main" id="{DDE49F8E-F31C-9089-9F7C-658C7265B777}"/>
              </a:ext>
            </a:extLst>
          </p:cNvPr>
          <p:cNvCxnSpPr>
            <a:cxnSpLocks/>
          </p:cNvCxnSpPr>
          <p:nvPr/>
        </p:nvCxnSpPr>
        <p:spPr>
          <a:xfrm>
            <a:off x="5443475" y="3666506"/>
            <a:ext cx="409574" cy="838695"/>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cxnSp>
        <p:nvCxnSpPr>
          <p:cNvPr id="21" name="Connector: Curved 20">
            <a:extLst>
              <a:ext uri="{FF2B5EF4-FFF2-40B4-BE49-F238E27FC236}">
                <a16:creationId xmlns:a16="http://schemas.microsoft.com/office/drawing/2014/main" id="{EE6C85E4-75F1-3CA6-3137-CCDFFFD6B08A}"/>
              </a:ext>
            </a:extLst>
          </p:cNvPr>
          <p:cNvCxnSpPr>
            <a:cxnSpLocks/>
          </p:cNvCxnSpPr>
          <p:nvPr/>
        </p:nvCxnSpPr>
        <p:spPr>
          <a:xfrm>
            <a:off x="6307528" y="4496542"/>
            <a:ext cx="810985" cy="8660"/>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sp>
        <p:nvSpPr>
          <p:cNvPr id="22" name="Flowchart: Connector 21">
            <a:extLst>
              <a:ext uri="{FF2B5EF4-FFF2-40B4-BE49-F238E27FC236}">
                <a16:creationId xmlns:a16="http://schemas.microsoft.com/office/drawing/2014/main" id="{D5313209-D324-86BD-27B5-6032FA0D624B}"/>
              </a:ext>
            </a:extLst>
          </p:cNvPr>
          <p:cNvSpPr/>
          <p:nvPr/>
        </p:nvSpPr>
        <p:spPr>
          <a:xfrm>
            <a:off x="4988253" y="34296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23" name="Flowchart: Connector 22">
            <a:extLst>
              <a:ext uri="{FF2B5EF4-FFF2-40B4-BE49-F238E27FC236}">
                <a16:creationId xmlns:a16="http://schemas.microsoft.com/office/drawing/2014/main" id="{045B9FB8-EEA7-7105-C244-CB749B77A7C4}"/>
              </a:ext>
            </a:extLst>
          </p:cNvPr>
          <p:cNvSpPr/>
          <p:nvPr/>
        </p:nvSpPr>
        <p:spPr>
          <a:xfrm>
            <a:off x="5852306"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24" name="Flowchart: Connector 23">
            <a:extLst>
              <a:ext uri="{FF2B5EF4-FFF2-40B4-BE49-F238E27FC236}">
                <a16:creationId xmlns:a16="http://schemas.microsoft.com/office/drawing/2014/main" id="{E1E2630A-5F89-194B-F752-4C1757665205}"/>
              </a:ext>
            </a:extLst>
          </p:cNvPr>
          <p:cNvSpPr/>
          <p:nvPr/>
        </p:nvSpPr>
        <p:spPr>
          <a:xfrm>
            <a:off x="7117770" y="4266456"/>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27" name="Flowchart: Connector 26">
            <a:extLst>
              <a:ext uri="{FF2B5EF4-FFF2-40B4-BE49-F238E27FC236}">
                <a16:creationId xmlns:a16="http://schemas.microsoft.com/office/drawing/2014/main" id="{8D48BB32-0742-CC8D-0295-C3631F565183}"/>
              </a:ext>
            </a:extLst>
          </p:cNvPr>
          <p:cNvSpPr/>
          <p:nvPr/>
        </p:nvSpPr>
        <p:spPr>
          <a:xfrm>
            <a:off x="8596868" y="2098839"/>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t>1</a:t>
            </a:r>
          </a:p>
        </p:txBody>
      </p:sp>
      <p:sp>
        <p:nvSpPr>
          <p:cNvPr id="29" name="Flowchart: Connector 28">
            <a:extLst>
              <a:ext uri="{FF2B5EF4-FFF2-40B4-BE49-F238E27FC236}">
                <a16:creationId xmlns:a16="http://schemas.microsoft.com/office/drawing/2014/main" id="{A334D6B2-4575-4248-FDF6-5C5949D1E0B2}"/>
              </a:ext>
            </a:extLst>
          </p:cNvPr>
          <p:cNvSpPr/>
          <p:nvPr/>
        </p:nvSpPr>
        <p:spPr>
          <a:xfrm>
            <a:off x="8596867" y="291526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2</a:t>
            </a:r>
          </a:p>
        </p:txBody>
      </p:sp>
      <p:sp>
        <p:nvSpPr>
          <p:cNvPr id="31" name="Flowchart: Connector 30">
            <a:extLst>
              <a:ext uri="{FF2B5EF4-FFF2-40B4-BE49-F238E27FC236}">
                <a16:creationId xmlns:a16="http://schemas.microsoft.com/office/drawing/2014/main" id="{698B8E65-1B91-3B68-9EFE-B95DF2CF0380}"/>
              </a:ext>
            </a:extLst>
          </p:cNvPr>
          <p:cNvSpPr/>
          <p:nvPr/>
        </p:nvSpPr>
        <p:spPr>
          <a:xfrm>
            <a:off x="8596866" y="3731695"/>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3</a:t>
            </a:r>
          </a:p>
        </p:txBody>
      </p:sp>
      <p:sp>
        <p:nvSpPr>
          <p:cNvPr id="33" name="Flowchart: Connector 32">
            <a:extLst>
              <a:ext uri="{FF2B5EF4-FFF2-40B4-BE49-F238E27FC236}">
                <a16:creationId xmlns:a16="http://schemas.microsoft.com/office/drawing/2014/main" id="{A9E2DD96-8722-E5A8-DA69-8CD81C98109F}"/>
              </a:ext>
            </a:extLst>
          </p:cNvPr>
          <p:cNvSpPr/>
          <p:nvPr/>
        </p:nvSpPr>
        <p:spPr>
          <a:xfrm>
            <a:off x="8596866" y="453451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4</a:t>
            </a:r>
          </a:p>
        </p:txBody>
      </p:sp>
      <p:sp>
        <p:nvSpPr>
          <p:cNvPr id="34" name="TextBox 33">
            <a:extLst>
              <a:ext uri="{FF2B5EF4-FFF2-40B4-BE49-F238E27FC236}">
                <a16:creationId xmlns:a16="http://schemas.microsoft.com/office/drawing/2014/main" id="{0F27E98C-85A1-71D9-A20A-7EEEF969EAC4}"/>
              </a:ext>
            </a:extLst>
          </p:cNvPr>
          <p:cNvSpPr txBox="1"/>
          <p:nvPr/>
        </p:nvSpPr>
        <p:spPr>
          <a:xfrm>
            <a:off x="9198427" y="2139723"/>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Tokenization</a:t>
            </a:r>
          </a:p>
        </p:txBody>
      </p:sp>
      <p:sp>
        <p:nvSpPr>
          <p:cNvPr id="35" name="TextBox 34">
            <a:extLst>
              <a:ext uri="{FF2B5EF4-FFF2-40B4-BE49-F238E27FC236}">
                <a16:creationId xmlns:a16="http://schemas.microsoft.com/office/drawing/2014/main" id="{3668E21C-BDB8-282B-EB4A-0EEA5820EDAB}"/>
              </a:ext>
            </a:extLst>
          </p:cNvPr>
          <p:cNvSpPr txBox="1"/>
          <p:nvPr/>
        </p:nvSpPr>
        <p:spPr>
          <a:xfrm>
            <a:off x="9198426" y="2956151"/>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Embeddings</a:t>
            </a:r>
          </a:p>
        </p:txBody>
      </p:sp>
      <p:sp>
        <p:nvSpPr>
          <p:cNvPr id="36" name="TextBox 35">
            <a:extLst>
              <a:ext uri="{FF2B5EF4-FFF2-40B4-BE49-F238E27FC236}">
                <a16:creationId xmlns:a16="http://schemas.microsoft.com/office/drawing/2014/main" id="{A2A647F5-B4E3-66EC-BB4E-9EF6ABC78F01}"/>
              </a:ext>
            </a:extLst>
          </p:cNvPr>
          <p:cNvSpPr txBox="1"/>
          <p:nvPr/>
        </p:nvSpPr>
        <p:spPr>
          <a:xfrm>
            <a:off x="9198426" y="3772580"/>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Attention</a:t>
            </a:r>
          </a:p>
        </p:txBody>
      </p:sp>
      <p:sp>
        <p:nvSpPr>
          <p:cNvPr id="37" name="TextBox 36">
            <a:extLst>
              <a:ext uri="{FF2B5EF4-FFF2-40B4-BE49-F238E27FC236}">
                <a16:creationId xmlns:a16="http://schemas.microsoft.com/office/drawing/2014/main" id="{DC6D2BB9-FEB8-D63C-66BC-9EF14CA6BE7B}"/>
              </a:ext>
            </a:extLst>
          </p:cNvPr>
          <p:cNvSpPr txBox="1"/>
          <p:nvPr/>
        </p:nvSpPr>
        <p:spPr>
          <a:xfrm>
            <a:off x="9198426" y="4568598"/>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Sampling</a:t>
            </a:r>
          </a:p>
        </p:txBody>
      </p:sp>
      <p:sp>
        <p:nvSpPr>
          <p:cNvPr id="4" name="Flowchart: Connector 3">
            <a:extLst>
              <a:ext uri="{FF2B5EF4-FFF2-40B4-BE49-F238E27FC236}">
                <a16:creationId xmlns:a16="http://schemas.microsoft.com/office/drawing/2014/main" id="{2B81FEAB-B322-271F-3B23-B688BC735BEE}"/>
              </a:ext>
            </a:extLst>
          </p:cNvPr>
          <p:cNvSpPr/>
          <p:nvPr/>
        </p:nvSpPr>
        <p:spPr>
          <a:xfrm>
            <a:off x="3827565" y="613335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0</a:t>
            </a:r>
          </a:p>
        </p:txBody>
      </p:sp>
      <p:sp>
        <p:nvSpPr>
          <p:cNvPr id="6" name="Flowchart: Connector 5">
            <a:extLst>
              <a:ext uri="{FF2B5EF4-FFF2-40B4-BE49-F238E27FC236}">
                <a16:creationId xmlns:a16="http://schemas.microsoft.com/office/drawing/2014/main" id="{15B07714-AFC8-705F-A4E1-12559D5C7D8C}"/>
              </a:ext>
            </a:extLst>
          </p:cNvPr>
          <p:cNvSpPr/>
          <p:nvPr/>
        </p:nvSpPr>
        <p:spPr>
          <a:xfrm>
            <a:off x="8599590" y="1237507"/>
            <a:ext cx="457200" cy="457200"/>
          </a:xfrm>
          <a:custGeom>
            <a:avLst/>
            <a:gdLst>
              <a:gd name="csX0" fmla="*/ 0 w 457200"/>
              <a:gd name="csY0" fmla="*/ 228600 h 457200"/>
              <a:gd name="csX1" fmla="*/ 228600 w 457200"/>
              <a:gd name="csY1" fmla="*/ 0 h 457200"/>
              <a:gd name="csX2" fmla="*/ 457200 w 457200"/>
              <a:gd name="csY2" fmla="*/ 228600 h 457200"/>
              <a:gd name="csX3" fmla="*/ 228600 w 457200"/>
              <a:gd name="csY3" fmla="*/ 457200 h 457200"/>
              <a:gd name="csX4" fmla="*/ 0 w 457200"/>
              <a:gd name="csY4" fmla="*/ 228600 h 457200"/>
            </a:gdLst>
            <a:ahLst/>
            <a:cxnLst>
              <a:cxn ang="0">
                <a:pos x="csX0" y="csY0"/>
              </a:cxn>
              <a:cxn ang="0">
                <a:pos x="csX1" y="csY1"/>
              </a:cxn>
              <a:cxn ang="0">
                <a:pos x="csX2" y="csY2"/>
              </a:cxn>
              <a:cxn ang="0">
                <a:pos x="csX3" y="csY3"/>
              </a:cxn>
              <a:cxn ang="0">
                <a:pos x="csX4" y="csY4"/>
              </a:cxn>
            </a:cxnLst>
            <a:rect l="l" t="t" r="r" b="b"/>
            <a:pathLst>
              <a:path w="457200" h="457200" fill="none" extrusionOk="0">
                <a:moveTo>
                  <a:pt x="0" y="228600"/>
                </a:moveTo>
                <a:cubicBezTo>
                  <a:pt x="-6286" y="94269"/>
                  <a:pt x="85347" y="-15228"/>
                  <a:pt x="228600" y="0"/>
                </a:cubicBezTo>
                <a:cubicBezTo>
                  <a:pt x="356756" y="-2173"/>
                  <a:pt x="460728" y="106247"/>
                  <a:pt x="457200" y="228600"/>
                </a:cubicBezTo>
                <a:cubicBezTo>
                  <a:pt x="445791" y="359591"/>
                  <a:pt x="356223" y="454466"/>
                  <a:pt x="228600" y="457200"/>
                </a:cubicBezTo>
                <a:cubicBezTo>
                  <a:pt x="127866" y="459443"/>
                  <a:pt x="-3812" y="381036"/>
                  <a:pt x="0" y="228600"/>
                </a:cubicBezTo>
                <a:close/>
              </a:path>
              <a:path w="457200" h="457200" stroke="0" extrusionOk="0">
                <a:moveTo>
                  <a:pt x="0" y="228600"/>
                </a:moveTo>
                <a:cubicBezTo>
                  <a:pt x="-1737" y="96896"/>
                  <a:pt x="82315" y="1725"/>
                  <a:pt x="228600" y="0"/>
                </a:cubicBezTo>
                <a:cubicBezTo>
                  <a:pt x="351560" y="4587"/>
                  <a:pt x="451890" y="96767"/>
                  <a:pt x="457200" y="228600"/>
                </a:cubicBezTo>
                <a:cubicBezTo>
                  <a:pt x="464530" y="367244"/>
                  <a:pt x="372760" y="462027"/>
                  <a:pt x="228600" y="457200"/>
                </a:cubicBezTo>
                <a:cubicBezTo>
                  <a:pt x="93201" y="463549"/>
                  <a:pt x="-7249" y="348329"/>
                  <a:pt x="0" y="228600"/>
                </a:cubicBezTo>
                <a:close/>
              </a:path>
            </a:pathLst>
          </a:custGeom>
          <a:ln w="57150">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p>
            <a:pPr algn="ctr"/>
            <a:r>
              <a:rPr lang="en-US" dirty="0"/>
              <a:t>0</a:t>
            </a:r>
          </a:p>
        </p:txBody>
      </p:sp>
      <p:sp>
        <p:nvSpPr>
          <p:cNvPr id="8" name="TextBox 7">
            <a:extLst>
              <a:ext uri="{FF2B5EF4-FFF2-40B4-BE49-F238E27FC236}">
                <a16:creationId xmlns:a16="http://schemas.microsoft.com/office/drawing/2014/main" id="{F828A35B-682A-4751-5A92-071AD5043088}"/>
              </a:ext>
            </a:extLst>
          </p:cNvPr>
          <p:cNvSpPr txBox="1"/>
          <p:nvPr/>
        </p:nvSpPr>
        <p:spPr>
          <a:xfrm>
            <a:off x="9201148" y="1278391"/>
            <a:ext cx="2333625" cy="369332"/>
          </a:xfrm>
          <a:custGeom>
            <a:avLst/>
            <a:gdLst>
              <a:gd name="csX0" fmla="*/ 0 w 2333625"/>
              <a:gd name="csY0" fmla="*/ 0 h 369332"/>
              <a:gd name="csX1" fmla="*/ 583406 w 2333625"/>
              <a:gd name="csY1" fmla="*/ 0 h 369332"/>
              <a:gd name="csX2" fmla="*/ 1213485 w 2333625"/>
              <a:gd name="csY2" fmla="*/ 0 h 369332"/>
              <a:gd name="csX3" fmla="*/ 1773555 w 2333625"/>
              <a:gd name="csY3" fmla="*/ 0 h 369332"/>
              <a:gd name="csX4" fmla="*/ 2333625 w 2333625"/>
              <a:gd name="csY4" fmla="*/ 0 h 369332"/>
              <a:gd name="csX5" fmla="*/ 2333625 w 2333625"/>
              <a:gd name="csY5" fmla="*/ 369332 h 369332"/>
              <a:gd name="csX6" fmla="*/ 1703546 w 2333625"/>
              <a:gd name="csY6" fmla="*/ 369332 h 369332"/>
              <a:gd name="csX7" fmla="*/ 1143476 w 2333625"/>
              <a:gd name="csY7" fmla="*/ 369332 h 369332"/>
              <a:gd name="csX8" fmla="*/ 583406 w 2333625"/>
              <a:gd name="csY8" fmla="*/ 369332 h 369332"/>
              <a:gd name="csX9" fmla="*/ 0 w 2333625"/>
              <a:gd name="csY9" fmla="*/ 369332 h 369332"/>
              <a:gd name="csX10" fmla="*/ 0 w 2333625"/>
              <a:gd name="csY10" fmla="*/ 0 h 369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3625" h="369332" fill="none" extrusionOk="0">
                <a:moveTo>
                  <a:pt x="0" y="0"/>
                </a:moveTo>
                <a:cubicBezTo>
                  <a:pt x="245286" y="5736"/>
                  <a:pt x="297030" y="11623"/>
                  <a:pt x="583406" y="0"/>
                </a:cubicBezTo>
                <a:cubicBezTo>
                  <a:pt x="869782" y="-11623"/>
                  <a:pt x="937660" y="16695"/>
                  <a:pt x="1213485" y="0"/>
                </a:cubicBezTo>
                <a:cubicBezTo>
                  <a:pt x="1489310" y="-16695"/>
                  <a:pt x="1542847" y="20924"/>
                  <a:pt x="1773555" y="0"/>
                </a:cubicBezTo>
                <a:cubicBezTo>
                  <a:pt x="2004263" y="-20924"/>
                  <a:pt x="2182579" y="-21382"/>
                  <a:pt x="2333625" y="0"/>
                </a:cubicBezTo>
                <a:cubicBezTo>
                  <a:pt x="2337252" y="75109"/>
                  <a:pt x="2349962" y="234559"/>
                  <a:pt x="2333625" y="369332"/>
                </a:cubicBezTo>
                <a:cubicBezTo>
                  <a:pt x="2069355" y="359916"/>
                  <a:pt x="1935929" y="394132"/>
                  <a:pt x="1703546" y="369332"/>
                </a:cubicBezTo>
                <a:cubicBezTo>
                  <a:pt x="1471163" y="344532"/>
                  <a:pt x="1329274" y="365822"/>
                  <a:pt x="1143476" y="369332"/>
                </a:cubicBezTo>
                <a:cubicBezTo>
                  <a:pt x="957678" y="372843"/>
                  <a:pt x="831305" y="374022"/>
                  <a:pt x="583406" y="369332"/>
                </a:cubicBezTo>
                <a:cubicBezTo>
                  <a:pt x="335507" y="364643"/>
                  <a:pt x="272252" y="350793"/>
                  <a:pt x="0" y="369332"/>
                </a:cubicBezTo>
                <a:cubicBezTo>
                  <a:pt x="-10156" y="282015"/>
                  <a:pt x="15390" y="87716"/>
                  <a:pt x="0" y="0"/>
                </a:cubicBezTo>
                <a:close/>
              </a:path>
              <a:path w="2333625" h="369332" stroke="0" extrusionOk="0">
                <a:moveTo>
                  <a:pt x="0" y="0"/>
                </a:moveTo>
                <a:cubicBezTo>
                  <a:pt x="239755" y="-8249"/>
                  <a:pt x="342871" y="-19915"/>
                  <a:pt x="536734" y="0"/>
                </a:cubicBezTo>
                <a:cubicBezTo>
                  <a:pt x="730597" y="19915"/>
                  <a:pt x="840094" y="22340"/>
                  <a:pt x="1096804" y="0"/>
                </a:cubicBezTo>
                <a:cubicBezTo>
                  <a:pt x="1353514" y="-22340"/>
                  <a:pt x="1497339" y="11109"/>
                  <a:pt x="1633538" y="0"/>
                </a:cubicBezTo>
                <a:cubicBezTo>
                  <a:pt x="1769737" y="-11109"/>
                  <a:pt x="2174563" y="20709"/>
                  <a:pt x="2333625" y="0"/>
                </a:cubicBezTo>
                <a:cubicBezTo>
                  <a:pt x="2329907" y="138875"/>
                  <a:pt x="2321892" y="201024"/>
                  <a:pt x="2333625" y="369332"/>
                </a:cubicBezTo>
                <a:cubicBezTo>
                  <a:pt x="2156139" y="341013"/>
                  <a:pt x="2037090" y="345370"/>
                  <a:pt x="1750219" y="369332"/>
                </a:cubicBezTo>
                <a:cubicBezTo>
                  <a:pt x="1463348" y="393294"/>
                  <a:pt x="1400953" y="368246"/>
                  <a:pt x="1213485" y="369332"/>
                </a:cubicBezTo>
                <a:cubicBezTo>
                  <a:pt x="1026017" y="370418"/>
                  <a:pt x="909812" y="382789"/>
                  <a:pt x="676751" y="369332"/>
                </a:cubicBezTo>
                <a:cubicBezTo>
                  <a:pt x="443690" y="355875"/>
                  <a:pt x="279106" y="335772"/>
                  <a:pt x="0" y="369332"/>
                </a:cubicBezTo>
                <a:cubicBezTo>
                  <a:pt x="-6712" y="232751"/>
                  <a:pt x="-840" y="78663"/>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Hardware</a:t>
            </a:r>
          </a:p>
        </p:txBody>
      </p:sp>
    </p:spTree>
    <p:extLst>
      <p:ext uri="{BB962C8B-B14F-4D97-AF65-F5344CB8AC3E}">
        <p14:creationId xmlns:p14="http://schemas.microsoft.com/office/powerpoint/2010/main" val="360770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1031</Words>
  <Application>Microsoft Macintosh PowerPoint</Application>
  <PresentationFormat>Widescreen</PresentationFormat>
  <Paragraphs>143</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Arial</vt:lpstr>
      <vt:lpstr>Calibri</vt:lpstr>
      <vt:lpstr>Courier New</vt:lpstr>
      <vt:lpstr>Office Theme</vt:lpstr>
      <vt:lpstr>Introduction to LLMs</vt:lpstr>
      <vt:lpstr>About Us</vt:lpstr>
      <vt:lpstr>Our goals</vt:lpstr>
      <vt:lpstr>Schedule</vt:lpstr>
      <vt:lpstr>Before we begin...</vt:lpstr>
      <vt:lpstr>Here is a Llama...</vt:lpstr>
      <vt:lpstr>How can we augment them?</vt:lpstr>
      <vt:lpstr>A comparison with humans</vt:lpstr>
      <vt:lpstr>Some definitions</vt:lpstr>
      <vt:lpstr>EU AI Act</vt:lpstr>
      <vt:lpstr>EU AI Act</vt:lpstr>
      <vt:lpstr>EU AI Act</vt:lpstr>
      <vt:lpstr>EU AI Act</vt:lpstr>
      <vt:lpstr>EU AI Act</vt:lpstr>
      <vt:lpstr>General Purpose AI Model</vt:lpstr>
      <vt:lpstr>General Purpose AI Model</vt:lpstr>
      <vt:lpstr>AI Systems</vt:lpstr>
      <vt:lpstr>Further reading</vt:lpstr>
      <vt:lpstr>Back to the Llama...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Finley Griffin</cp:lastModifiedBy>
  <cp:revision>476</cp:revision>
  <dcterms:created xsi:type="dcterms:W3CDTF">2025-06-13T08:58:27Z</dcterms:created>
  <dcterms:modified xsi:type="dcterms:W3CDTF">2026-04-30T08:36:54Z</dcterms:modified>
</cp:coreProperties>
</file>