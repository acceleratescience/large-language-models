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21"/>
  </p:notesMasterIdLst>
  <p:sldIdLst>
    <p:sldId id="256" r:id="rId2"/>
    <p:sldId id="257" r:id="rId3"/>
    <p:sldId id="275" r:id="rId4"/>
    <p:sldId id="264" r:id="rId5"/>
    <p:sldId id="263" r:id="rId6"/>
    <p:sldId id="265" r:id="rId7"/>
    <p:sldId id="258" r:id="rId8"/>
    <p:sldId id="259" r:id="rId9"/>
    <p:sldId id="262" r:id="rId10"/>
    <p:sldId id="266" r:id="rId11"/>
    <p:sldId id="267" r:id="rId12"/>
    <p:sldId id="268" r:id="rId13"/>
    <p:sldId id="269" r:id="rId14"/>
    <p:sldId id="270" r:id="rId15"/>
    <p:sldId id="271" r:id="rId16"/>
    <p:sldId id="272" r:id="rId17"/>
    <p:sldId id="273" r:id="rId18"/>
    <p:sldId id="261" r:id="rId19"/>
    <p:sldId id="274"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B55E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26B6609-0461-3689-64DB-6E59DF0EFC74}" v="4" dt="2025-09-30T10:40:58.0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957" autoAdjust="0"/>
    <p:restoredTop sz="97007"/>
  </p:normalViewPr>
  <p:slideViewPr>
    <p:cSldViewPr snapToGrid="0">
      <p:cViewPr varScale="1">
        <p:scale>
          <a:sx n="159" d="100"/>
          <a:sy n="159" d="100"/>
        </p:scale>
        <p:origin x="58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yan Daniels" userId="S::rkd43@cam.ac.uk::aaa4fbe9-f474-4140-b10b-5257398ac308" providerId="AD" clId="Web-{4E64C8C7-738B-4470-FDD7-57B834C01F0B}"/>
    <pc:docChg chg="modSld">
      <pc:chgData name="Ryan Daniels" userId="S::rkd43@cam.ac.uk::aaa4fbe9-f474-4140-b10b-5257398ac308" providerId="AD" clId="Web-{4E64C8C7-738B-4470-FDD7-57B834C01F0B}" dt="2025-09-04T15:58:01.178" v="7" actId="20577"/>
      <pc:docMkLst>
        <pc:docMk/>
      </pc:docMkLst>
      <pc:sldChg chg="modSp">
        <pc:chgData name="Ryan Daniels" userId="S::rkd43@cam.ac.uk::aaa4fbe9-f474-4140-b10b-5257398ac308" providerId="AD" clId="Web-{4E64C8C7-738B-4470-FDD7-57B834C01F0B}" dt="2025-09-04T15:58:01.178" v="7" actId="20577"/>
        <pc:sldMkLst>
          <pc:docMk/>
          <pc:sldMk cId="570589333" sldId="259"/>
        </pc:sldMkLst>
        <pc:spChg chg="mod">
          <ac:chgData name="Ryan Daniels" userId="S::rkd43@cam.ac.uk::aaa4fbe9-f474-4140-b10b-5257398ac308" providerId="AD" clId="Web-{4E64C8C7-738B-4470-FDD7-57B834C01F0B}" dt="2025-09-04T15:58:01.178" v="7" actId="20577"/>
          <ac:spMkLst>
            <pc:docMk/>
            <pc:sldMk cId="570589333" sldId="259"/>
            <ac:spMk id="3" creationId="{D83C43F5-34A7-8640-01DC-E67800E0C470}"/>
          </ac:spMkLst>
        </pc:spChg>
      </pc:sldChg>
    </pc:docChg>
  </pc:docChgLst>
  <pc:docChgLst>
    <pc:chgData name="Ryan Daniels" userId="S::rkd43@cam.ac.uk::aaa4fbe9-f474-4140-b10b-5257398ac308" providerId="AD" clId="Web-{E26B6609-0461-3689-64DB-6E59DF0EFC74}"/>
    <pc:docChg chg="modSld">
      <pc:chgData name="Ryan Daniels" userId="S::rkd43@cam.ac.uk::aaa4fbe9-f474-4140-b10b-5257398ac308" providerId="AD" clId="Web-{E26B6609-0461-3689-64DB-6E59DF0EFC74}" dt="2025-09-30T10:40:58.045" v="3" actId="20577"/>
      <pc:docMkLst>
        <pc:docMk/>
      </pc:docMkLst>
      <pc:sldChg chg="modSp">
        <pc:chgData name="Ryan Daniels" userId="S::rkd43@cam.ac.uk::aaa4fbe9-f474-4140-b10b-5257398ac308" providerId="AD" clId="Web-{E26B6609-0461-3689-64DB-6E59DF0EFC74}" dt="2025-09-30T10:40:58.045" v="3" actId="20577"/>
        <pc:sldMkLst>
          <pc:docMk/>
          <pc:sldMk cId="1719520842" sldId="273"/>
        </pc:sldMkLst>
        <pc:spChg chg="mod">
          <ac:chgData name="Ryan Daniels" userId="S::rkd43@cam.ac.uk::aaa4fbe9-f474-4140-b10b-5257398ac308" providerId="AD" clId="Web-{E26B6609-0461-3689-64DB-6E59DF0EFC74}" dt="2025-09-30T10:40:58.045" v="3" actId="20577"/>
          <ac:spMkLst>
            <pc:docMk/>
            <pc:sldMk cId="1719520842" sldId="273"/>
            <ac:spMk id="3" creationId="{8E3982A0-7BFF-76E6-00A2-2D4A08CAC85F}"/>
          </ac:spMkLst>
        </pc:spChg>
      </pc:sldChg>
    </pc:docChg>
  </pc:docChgLst>
  <pc:docChgLst>
    <pc:chgData name="Ryan Daniels" userId="S::rkd43@cam.ac.uk::aaa4fbe9-f474-4140-b10b-5257398ac308" providerId="AD" clId="Web-{61261352-28B5-F6B1-1A56-AB06BC1060C3}"/>
    <pc:docChg chg="addSld delSld modSld">
      <pc:chgData name="Ryan Daniels" userId="S::rkd43@cam.ac.uk::aaa4fbe9-f474-4140-b10b-5257398ac308" providerId="AD" clId="Web-{61261352-28B5-F6B1-1A56-AB06BC1060C3}" dt="2025-09-03T12:01:59.552" v="104" actId="20577"/>
      <pc:docMkLst>
        <pc:docMk/>
      </pc:docMkLst>
      <pc:sldChg chg="delSp delAnim">
        <pc:chgData name="Ryan Daniels" userId="S::rkd43@cam.ac.uk::aaa4fbe9-f474-4140-b10b-5257398ac308" providerId="AD" clId="Web-{61261352-28B5-F6B1-1A56-AB06BC1060C3}" dt="2025-09-03T11:25:20.204" v="2"/>
        <pc:sldMkLst>
          <pc:docMk/>
          <pc:sldMk cId="3802117303" sldId="258"/>
        </pc:sldMkLst>
      </pc:sldChg>
      <pc:sldChg chg="modSp">
        <pc:chgData name="Ryan Daniels" userId="S::rkd43@cam.ac.uk::aaa4fbe9-f474-4140-b10b-5257398ac308" providerId="AD" clId="Web-{61261352-28B5-F6B1-1A56-AB06BC1060C3}" dt="2025-09-03T12:01:59.552" v="104" actId="20577"/>
        <pc:sldMkLst>
          <pc:docMk/>
          <pc:sldMk cId="3011003677" sldId="261"/>
        </pc:sldMkLst>
        <pc:spChg chg="mod">
          <ac:chgData name="Ryan Daniels" userId="S::rkd43@cam.ac.uk::aaa4fbe9-f474-4140-b10b-5257398ac308" providerId="AD" clId="Web-{61261352-28B5-F6B1-1A56-AB06BC1060C3}" dt="2025-09-03T12:01:59.552" v="104" actId="20577"/>
          <ac:spMkLst>
            <pc:docMk/>
            <pc:sldMk cId="3011003677" sldId="261"/>
            <ac:spMk id="3" creationId="{00BDD31A-73BA-6424-5AC5-D11B0A152ACD}"/>
          </ac:spMkLst>
        </pc:spChg>
      </pc:sldChg>
    </pc:docChg>
  </pc:docChgLst>
  <pc:docChgLst>
    <pc:chgData name="Ryan Daniels" userId="S::rkd43@cam.ac.uk::aaa4fbe9-f474-4140-b10b-5257398ac308" providerId="AD" clId="Web-{319BC8FD-C455-96ED-2801-3920832F5F55}"/>
    <pc:docChg chg="addSld delSld modSld">
      <pc:chgData name="Ryan Daniels" userId="S::rkd43@cam.ac.uk::aaa4fbe9-f474-4140-b10b-5257398ac308" providerId="AD" clId="Web-{319BC8FD-C455-96ED-2801-3920832F5F55}" dt="2025-09-13T08:47:10.864" v="13"/>
      <pc:docMkLst>
        <pc:docMk/>
      </pc:docMkLst>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E082D9-00CE-4FDC-82D3-FDE16CD37225}" type="datetimeFigureOut">
              <a:t>5/14/26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2D7E69D-609B-4983-96D1-38CC478AEB14}" type="slidenum">
              <a:t>‹#›</a:t>
            </a:fld>
            <a:endParaRPr lang="en-US"/>
          </a:p>
        </p:txBody>
      </p:sp>
    </p:spTree>
    <p:extLst>
      <p:ext uri="{BB962C8B-B14F-4D97-AF65-F5344CB8AC3E}">
        <p14:creationId xmlns:p14="http://schemas.microsoft.com/office/powerpoint/2010/main" val="19268754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[TIMINGS]</a:t>
            </a:r>
          </a:p>
          <a:p>
            <a:endParaRPr lang="en-US" dirty="0"/>
          </a:p>
          <a:p>
            <a:r>
              <a:rPr lang="en-US" dirty="0"/>
              <a:t>Practice: 40m</a:t>
            </a:r>
          </a:p>
          <a:p>
            <a:r>
              <a:rPr lang="en-US" dirty="0"/>
              <a:t>Target: 45m</a:t>
            </a:r>
          </a:p>
          <a:p>
            <a:endParaRPr lang="en-US" dirty="0"/>
          </a:p>
          <a:p>
            <a:r>
              <a:rPr lang="en-US" dirty="0"/>
              <a:t>Start time: 9:35</a:t>
            </a:r>
          </a:p>
          <a:p>
            <a:r>
              <a:rPr lang="en-US" dirty="0"/>
              <a:t>End time: 10:20</a:t>
            </a:r>
          </a:p>
          <a:p>
            <a:endParaRPr lang="en-US" dirty="0"/>
          </a:p>
          <a:p>
            <a:r>
              <a:rPr lang="en-US" dirty="0"/>
              <a:t>---</a:t>
            </a:r>
          </a:p>
          <a:p>
            <a:endParaRPr lang="en-US" dirty="0"/>
          </a:p>
          <a:p>
            <a:r>
              <a:rPr lang="en-US" dirty="0"/>
              <a:t>Welcome to introduction to large </a:t>
            </a:r>
            <a:r>
              <a:rPr lang="en-US" dirty="0" err="1"/>
              <a:t>langauge</a:t>
            </a:r>
            <a:r>
              <a:rPr lang="en-US" dirty="0"/>
              <a:t> models</a:t>
            </a:r>
          </a:p>
          <a:p>
            <a:endParaRPr lang="en-US" dirty="0"/>
          </a:p>
          <a:p>
            <a:r>
              <a:rPr lang="en-US" dirty="0"/>
              <a:t>I’m Fin – MLE and I will be running workshop today</a:t>
            </a:r>
          </a:p>
          <a:p>
            <a:endParaRPr lang="en-US" dirty="0"/>
          </a:p>
          <a:p>
            <a:r>
              <a:rPr lang="en-US" dirty="0"/>
              <a:t>Radzim and </a:t>
            </a:r>
            <a:r>
              <a:rPr lang="en-US" dirty="0" err="1"/>
              <a:t>Faibra</a:t>
            </a:r>
            <a:r>
              <a:rPr lang="en-US" dirty="0"/>
              <a:t> on hand to answer technical questions, who are engineers</a:t>
            </a:r>
          </a:p>
          <a:p>
            <a:endParaRPr lang="en-US" dirty="0"/>
          </a:p>
          <a:p>
            <a:r>
              <a:rPr lang="en-US" dirty="0"/>
              <a:t>Will give you more of an intro on our group:</a:t>
            </a:r>
          </a:p>
        </p:txBody>
      </p:sp>
      <p:sp>
        <p:nvSpPr>
          <p:cNvPr id="4" name="Slide Number Placeholder 3"/>
          <p:cNvSpPr>
            <a:spLocks noGrp="1"/>
          </p:cNvSpPr>
          <p:nvPr>
            <p:ph type="sldNum" sz="quarter" idx="5"/>
          </p:nvPr>
        </p:nvSpPr>
        <p:spPr/>
        <p:txBody>
          <a:bodyPr/>
          <a:lstStyle/>
          <a:p>
            <a:fld id="{C2D7E69D-609B-4983-96D1-38CC478AEB14}" type="slidenum">
              <a:rPr lang="en-GB" smtClean="0"/>
              <a:t>1</a:t>
            </a:fld>
            <a:endParaRPr lang="en-GB"/>
          </a:p>
        </p:txBody>
      </p:sp>
    </p:spTree>
    <p:extLst>
      <p:ext uri="{BB962C8B-B14F-4D97-AF65-F5344CB8AC3E}">
        <p14:creationId xmlns:p14="http://schemas.microsoft.com/office/powerpoint/2010/main" val="27444974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Just before we get started, I would just like to give a brief overview of the Accelerate program.</a:t>
            </a:r>
          </a:p>
          <a:p>
            <a:endParaRPr lang="en-US" dirty="0"/>
          </a:p>
          <a:p>
            <a:r>
              <a:rPr lang="en-US" dirty="0"/>
              <a:t>We are a group composed of researchers, machine learning engineers and </a:t>
            </a:r>
            <a:r>
              <a:rPr lang="en-US" dirty="0" err="1"/>
              <a:t>programme</a:t>
            </a:r>
            <a:r>
              <a:rPr lang="en-US" dirty="0"/>
              <a:t> staff.</a:t>
            </a:r>
          </a:p>
          <a:p>
            <a:endParaRPr lang="en-US" dirty="0"/>
          </a:p>
          <a:p>
            <a:r>
              <a:rPr lang="en-US" dirty="0"/>
              <a:t>Our overarching goal is to support the adoption of AI in research at the university. </a:t>
            </a:r>
          </a:p>
          <a:p>
            <a:endParaRPr lang="en-US" dirty="0"/>
          </a:p>
          <a:p>
            <a:r>
              <a:rPr lang="en-US" dirty="0"/>
              <a:t>We do this through activities such as</a:t>
            </a:r>
          </a:p>
          <a:p>
            <a:endParaRPr lang="en-US" dirty="0"/>
          </a:p>
          <a:p>
            <a:r>
              <a:rPr lang="en-US" dirty="0"/>
              <a:t>Workshops (see in a second) and  AI Clinic</a:t>
            </a:r>
          </a:p>
          <a:p>
            <a:endParaRPr lang="en-US" dirty="0"/>
          </a:p>
          <a:p>
            <a:r>
              <a:rPr lang="en-US" dirty="0"/>
              <a:t>But also longer-term involvement on research projects in a research engineering capacity.</a:t>
            </a:r>
          </a:p>
          <a:p>
            <a:endParaRPr lang="en-US" dirty="0"/>
          </a:p>
          <a:p>
            <a:r>
              <a:rPr lang="en-US" dirty="0"/>
              <a:t>Not just intersection of AI and Science!</a:t>
            </a:r>
          </a:p>
          <a:p>
            <a:endParaRPr lang="en-US" dirty="0"/>
          </a:p>
          <a:p>
            <a:r>
              <a:rPr lang="en-US" dirty="0"/>
              <a:t>We’re finding more and more that researchers from the Humanities want to utilize machine learning methods, and we’re having to reassess what we think of as traditional science.</a:t>
            </a:r>
          </a:p>
        </p:txBody>
      </p:sp>
      <p:sp>
        <p:nvSpPr>
          <p:cNvPr id="4" name="Slide Number Placeholder 3"/>
          <p:cNvSpPr>
            <a:spLocks noGrp="1"/>
          </p:cNvSpPr>
          <p:nvPr>
            <p:ph type="sldNum" sz="quarter" idx="5"/>
          </p:nvPr>
        </p:nvSpPr>
        <p:spPr/>
        <p:txBody>
          <a:bodyPr/>
          <a:lstStyle/>
          <a:p>
            <a:fld id="{C2D7E69D-609B-4983-96D1-38CC478AEB14}" type="slidenum">
              <a:rPr lang="en-GB" smtClean="0"/>
              <a:t>2</a:t>
            </a:fld>
            <a:endParaRPr lang="en-GB"/>
          </a:p>
        </p:txBody>
      </p:sp>
    </p:spTree>
    <p:extLst>
      <p:ext uri="{BB962C8B-B14F-4D97-AF65-F5344CB8AC3E}">
        <p14:creationId xmlns:p14="http://schemas.microsoft.com/office/powerpoint/2010/main" val="34502491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ultimately here to facilitate this process of integrating AI into research.</a:t>
            </a:r>
          </a:p>
          <a:p>
            <a:endParaRPr lang="en-US" dirty="0"/>
          </a:p>
          <a:p>
            <a:r>
              <a:rPr lang="en-US" dirty="0"/>
              <a:t>We run a couple of workshops at the moment: an introduction to large language models, a hands on LLMs, generative AI, diffusion models, docker, a packaging and publishing workshop.</a:t>
            </a:r>
          </a:p>
        </p:txBody>
      </p:sp>
      <p:sp>
        <p:nvSpPr>
          <p:cNvPr id="4" name="Slide Number Placeholder 3"/>
          <p:cNvSpPr>
            <a:spLocks noGrp="1"/>
          </p:cNvSpPr>
          <p:nvPr>
            <p:ph type="sldNum" sz="quarter" idx="5"/>
          </p:nvPr>
        </p:nvSpPr>
        <p:spPr/>
        <p:txBody>
          <a:bodyPr/>
          <a:lstStyle/>
          <a:p>
            <a:fld id="{C2D7E69D-609B-4983-96D1-38CC478AEB14}" type="slidenum">
              <a:rPr lang="en-GB" smtClean="0"/>
              <a:t>4</a:t>
            </a:fld>
            <a:endParaRPr lang="en-GB"/>
          </a:p>
        </p:txBody>
      </p:sp>
    </p:spTree>
    <p:extLst>
      <p:ext uri="{BB962C8B-B14F-4D97-AF65-F5344CB8AC3E}">
        <p14:creationId xmlns:p14="http://schemas.microsoft.com/office/powerpoint/2010/main" val="41449997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 minutes chat</a:t>
            </a:r>
          </a:p>
        </p:txBody>
      </p:sp>
      <p:sp>
        <p:nvSpPr>
          <p:cNvPr id="4" name="Slide Number Placeholder 3"/>
          <p:cNvSpPr>
            <a:spLocks noGrp="1"/>
          </p:cNvSpPr>
          <p:nvPr>
            <p:ph type="sldNum" sz="quarter" idx="5"/>
          </p:nvPr>
        </p:nvSpPr>
        <p:spPr/>
        <p:txBody>
          <a:bodyPr/>
          <a:lstStyle/>
          <a:p>
            <a:fld id="{C2D7E69D-609B-4983-96D1-38CC478AEB14}" type="slidenum">
              <a:rPr lang="en-GB" smtClean="0"/>
              <a:t>6</a:t>
            </a:fld>
            <a:endParaRPr lang="en-GB"/>
          </a:p>
        </p:txBody>
      </p:sp>
    </p:spTree>
    <p:extLst>
      <p:ext uri="{BB962C8B-B14F-4D97-AF65-F5344CB8AC3E}">
        <p14:creationId xmlns:p14="http://schemas.microsoft.com/office/powerpoint/2010/main" val="30753580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Going to think of our model as a Llama</a:t>
            </a:r>
          </a:p>
          <a:p>
            <a:endParaRPr lang="en-US" dirty="0"/>
          </a:p>
          <a:p>
            <a:r>
              <a:rPr lang="en-US" dirty="0"/>
              <a:t>Has a specific meaning in the history of AI</a:t>
            </a:r>
          </a:p>
          <a:p>
            <a:endParaRPr lang="en-US" dirty="0"/>
          </a:p>
          <a:p>
            <a:r>
              <a:rPr lang="en-US" dirty="0"/>
              <a:t>Llama is an acronym: Large Language Model Meta AI</a:t>
            </a:r>
          </a:p>
          <a:p>
            <a:endParaRPr lang="en-US" dirty="0"/>
          </a:p>
          <a:p>
            <a:r>
              <a:rPr lang="en-US" dirty="0"/>
              <a:t>Released for research-only purposes by Meta in February 2023 following success of GPT-3.5 (ChatGPT moment, i.e. finetuned version of GPT-3) to prove you didn't need closed APIs and huge inference budgets</a:t>
            </a:r>
          </a:p>
          <a:p>
            <a:endParaRPr lang="en-US" dirty="0"/>
          </a:p>
          <a:p>
            <a:r>
              <a:rPr lang="en-US" dirty="0"/>
              <a:t>Uses the same underlying architecture - it is an autoregressive decoder-only transformer. We will come back these words</a:t>
            </a:r>
          </a:p>
          <a:p>
            <a:endParaRPr lang="en-US" dirty="0"/>
          </a:p>
          <a:p>
            <a:r>
              <a:rPr lang="en-US" dirty="0"/>
              <a:t>Shortly leaked and spawned the community of open weights models. </a:t>
            </a:r>
          </a:p>
          <a:p>
            <a:endParaRPr lang="en-US" dirty="0"/>
          </a:p>
          <a:p>
            <a:r>
              <a:rPr lang="en-US" dirty="0"/>
              <a:t>As researchers, we tend to prefer open source models for various reasons so we will be using this as the source of our discussion on model architecture. Most differences between frontier models and Llama are too subtle or complex to discuss for the scope of this workshop</a:t>
            </a:r>
          </a:p>
          <a:p>
            <a:endParaRPr lang="en-US" dirty="0"/>
          </a:p>
          <a:p>
            <a:r>
              <a:rPr lang="en-US" dirty="0"/>
              <a:t>The basic pieces, which will ultimately inform the narrative today are [go through]</a:t>
            </a:r>
          </a:p>
          <a:p>
            <a:endParaRPr lang="en-US" dirty="0"/>
          </a:p>
          <a:p>
            <a:endParaRPr lang="en-US" dirty="0"/>
          </a:p>
        </p:txBody>
      </p:sp>
      <p:sp>
        <p:nvSpPr>
          <p:cNvPr id="4" name="Slide Number Placeholder 3"/>
          <p:cNvSpPr>
            <a:spLocks noGrp="1"/>
          </p:cNvSpPr>
          <p:nvPr>
            <p:ph type="sldNum" sz="quarter" idx="5"/>
          </p:nvPr>
        </p:nvSpPr>
        <p:spPr/>
        <p:txBody>
          <a:bodyPr/>
          <a:lstStyle/>
          <a:p>
            <a:fld id="{C2D7E69D-609B-4983-96D1-38CC478AEB14}" type="slidenum">
              <a:rPr lang="en-GB" smtClean="0"/>
              <a:t>7</a:t>
            </a:fld>
            <a:endParaRPr lang="en-GB"/>
          </a:p>
        </p:txBody>
      </p:sp>
    </p:spTree>
    <p:extLst>
      <p:ext uri="{BB962C8B-B14F-4D97-AF65-F5344CB8AC3E}">
        <p14:creationId xmlns:p14="http://schemas.microsoft.com/office/powerpoint/2010/main" val="2432103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LLMs are stateless, so conversation history stuffed in a context window helps create illusion of state and gives models working memory.</a:t>
            </a:r>
          </a:p>
          <a:p>
            <a:endParaRPr lang="en-US" dirty="0"/>
          </a:p>
          <a:p>
            <a:r>
              <a:rPr lang="en-US" dirty="0"/>
              <a:t>RAG; giving LLMs access to information that isn't baked inside its weights. Retrieve relevant information at inference time and stuff it into context window.</a:t>
            </a:r>
          </a:p>
          <a:p>
            <a:endParaRPr lang="en-US" dirty="0"/>
          </a:p>
          <a:p>
            <a:r>
              <a:rPr lang="en-US" dirty="0"/>
              <a:t>Prompting; so-called prompt engineering, a quite atheoretical practice. It works but evidence is mostly restricted to empirical evidence, a recurring theme we will deal with.</a:t>
            </a:r>
          </a:p>
          <a:p>
            <a:endParaRPr lang="en-US" dirty="0"/>
          </a:p>
          <a:p>
            <a:r>
              <a:rPr lang="en-US" dirty="0"/>
              <a:t>Tool-calling; especially relevant in the so-called agentic era</a:t>
            </a:r>
          </a:p>
          <a:p>
            <a:endParaRPr lang="en-US" dirty="0"/>
          </a:p>
          <a:p>
            <a:r>
              <a:rPr lang="en-US" dirty="0"/>
              <a:t>Fine-tuning; or equivalently any post-training methodology, further improving model performance on down-stream tasks by 'fine-tuning' weights </a:t>
            </a:r>
          </a:p>
        </p:txBody>
      </p:sp>
      <p:sp>
        <p:nvSpPr>
          <p:cNvPr id="4" name="Slide Number Placeholder 3"/>
          <p:cNvSpPr>
            <a:spLocks noGrp="1"/>
          </p:cNvSpPr>
          <p:nvPr>
            <p:ph type="sldNum" sz="quarter" idx="5"/>
          </p:nvPr>
        </p:nvSpPr>
        <p:spPr/>
        <p:txBody>
          <a:bodyPr/>
          <a:lstStyle/>
          <a:p>
            <a:fld id="{C2D7E69D-609B-4983-96D1-38CC478AEB14}" type="slidenum">
              <a:rPr lang="en-GB" smtClean="0"/>
              <a:t>8</a:t>
            </a:fld>
            <a:endParaRPr lang="en-GB"/>
          </a:p>
        </p:txBody>
      </p:sp>
    </p:spTree>
    <p:extLst>
      <p:ext uri="{BB962C8B-B14F-4D97-AF65-F5344CB8AC3E}">
        <p14:creationId xmlns:p14="http://schemas.microsoft.com/office/powerpoint/2010/main" val="24523590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actually defining AI</a:t>
            </a:r>
          </a:p>
        </p:txBody>
      </p:sp>
      <p:sp>
        <p:nvSpPr>
          <p:cNvPr id="4" name="Slide Number Placeholder 3"/>
          <p:cNvSpPr>
            <a:spLocks noGrp="1"/>
          </p:cNvSpPr>
          <p:nvPr>
            <p:ph type="sldNum" sz="quarter" idx="5"/>
          </p:nvPr>
        </p:nvSpPr>
        <p:spPr/>
        <p:txBody>
          <a:bodyPr/>
          <a:lstStyle/>
          <a:p>
            <a:fld id="{C2D7E69D-609B-4983-96D1-38CC478AEB14}" type="slidenum">
              <a:rPr lang="en-GB" smtClean="0"/>
              <a:t>10</a:t>
            </a:fld>
            <a:endParaRPr lang="en-GB"/>
          </a:p>
        </p:txBody>
      </p:sp>
    </p:spTree>
    <p:extLst>
      <p:ext uri="{BB962C8B-B14F-4D97-AF65-F5344CB8AC3E}">
        <p14:creationId xmlns:p14="http://schemas.microsoft.com/office/powerpoint/2010/main" val="25697986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 supervision is where the training data labels itself. I.e. for next token prediction, don't need human labelling as with conventional supervised learning. The structure of the text already encodes the ground truth.</a:t>
            </a:r>
          </a:p>
        </p:txBody>
      </p:sp>
      <p:sp>
        <p:nvSpPr>
          <p:cNvPr id="4" name="Slide Number Placeholder 3"/>
          <p:cNvSpPr>
            <a:spLocks noGrp="1"/>
          </p:cNvSpPr>
          <p:nvPr>
            <p:ph type="sldNum" sz="quarter" idx="5"/>
          </p:nvPr>
        </p:nvSpPr>
        <p:spPr/>
        <p:txBody>
          <a:bodyPr/>
          <a:lstStyle/>
          <a:p>
            <a:fld id="{C2D7E69D-609B-4983-96D1-38CC478AEB14}" type="slidenum">
              <a:rPr lang="en-GB" smtClean="0"/>
              <a:t>14</a:t>
            </a:fld>
            <a:endParaRPr lang="en-GB"/>
          </a:p>
        </p:txBody>
      </p:sp>
    </p:spTree>
    <p:extLst>
      <p:ext uri="{BB962C8B-B14F-4D97-AF65-F5344CB8AC3E}">
        <p14:creationId xmlns:p14="http://schemas.microsoft.com/office/powerpoint/2010/main" val="19119626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Act needs a practical, auditable way to classify and assess general purpose AI models without being able to directly test every possible capability. These indicators are its solution to that problem. </a:t>
            </a:r>
          </a:p>
          <a:p>
            <a:endParaRPr lang="en-GB" dirty="0"/>
          </a:p>
          <a:p>
            <a:r>
              <a:rPr lang="en-GB" dirty="0"/>
              <a:t>CONTINUES ON NEXT SLIDE</a:t>
            </a:r>
            <a:endParaRPr lang="en-US" dirty="0"/>
          </a:p>
        </p:txBody>
      </p:sp>
      <p:sp>
        <p:nvSpPr>
          <p:cNvPr id="4" name="Slide Number Placeholder 3"/>
          <p:cNvSpPr>
            <a:spLocks noGrp="1"/>
          </p:cNvSpPr>
          <p:nvPr>
            <p:ph type="sldNum" sz="quarter" idx="5"/>
          </p:nvPr>
        </p:nvSpPr>
        <p:spPr/>
        <p:txBody>
          <a:bodyPr/>
          <a:lstStyle/>
          <a:p>
            <a:fld id="{C2D7E69D-609B-4983-96D1-38CC478AEB14}" type="slidenum">
              <a:rPr lang="en-GB" smtClean="0"/>
              <a:t>15</a:t>
            </a:fld>
            <a:endParaRPr lang="en-GB"/>
          </a:p>
        </p:txBody>
      </p:sp>
    </p:spTree>
    <p:extLst>
      <p:ext uri="{BB962C8B-B14F-4D97-AF65-F5344CB8AC3E}">
        <p14:creationId xmlns:p14="http://schemas.microsoft.com/office/powerpoint/2010/main" val="9752386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2D7E69D-609B-4983-96D1-38CC478AEB14}" type="slidenum">
              <a:rPr lang="en-GB" smtClean="0"/>
              <a:t>16</a:t>
            </a:fld>
            <a:endParaRPr lang="en-GB"/>
          </a:p>
        </p:txBody>
      </p:sp>
    </p:spTree>
    <p:extLst>
      <p:ext uri="{BB962C8B-B14F-4D97-AF65-F5344CB8AC3E}">
        <p14:creationId xmlns:p14="http://schemas.microsoft.com/office/powerpoint/2010/main" val="10798680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3ABCE-18A3-AA75-919E-ABED881017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70E95-BAA1-70B9-9F1D-4B619F9FE3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AD6490-3F2B-1CDB-7418-180FF690C87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F861E1-843D-7C4B-81BB-BDA41388DCD5}"/>
              </a:ext>
            </a:extLst>
          </p:cNvPr>
          <p:cNvSpPr>
            <a:spLocks noGrp="1"/>
          </p:cNvSpPr>
          <p:nvPr>
            <p:ph type="sldNum" sz="quarter" idx="5"/>
          </p:nvPr>
        </p:nvSpPr>
        <p:spPr/>
        <p:txBody>
          <a:bodyPr/>
          <a:lstStyle/>
          <a:p>
            <a:fld id="{C2D7E69D-609B-4983-96D1-38CC478AEB14}" type="slidenum">
              <a:rPr lang="en-GB" smtClean="0"/>
              <a:t>19</a:t>
            </a:fld>
            <a:endParaRPr lang="en-GB"/>
          </a:p>
        </p:txBody>
      </p:sp>
    </p:spTree>
    <p:extLst>
      <p:ext uri="{BB962C8B-B14F-4D97-AF65-F5344CB8AC3E}">
        <p14:creationId xmlns:p14="http://schemas.microsoft.com/office/powerpoint/2010/main" val="25861852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C764DE79-268F-4C1A-8933-263129D2AF90}" type="datetimeFigureOut">
              <a:rPr lang="en-US" dirty="0"/>
              <a:t>5/14/26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661217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C764DE79-268F-4C1A-8933-263129D2AF90}" type="datetimeFigureOut">
              <a:rPr lang="en-US" dirty="0"/>
              <a:t>5/14/26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2214148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5/14/26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155006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C764DE79-268F-4C1A-8933-263129D2AF90}" type="datetimeFigureOut">
              <a:rPr lang="en-US" dirty="0"/>
              <a:t>5/14/26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108093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C764DE79-268F-4C1A-8933-263129D2AF90}" type="datetimeFigureOut">
              <a:rPr lang="en-US" dirty="0"/>
              <a:t>5/14/26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7641804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C764DE79-268F-4C1A-8933-263129D2AF90}" type="datetimeFigureOut">
              <a:rPr lang="en-US" dirty="0"/>
              <a:t>5/14/26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373923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5/14/26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990305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5/14/26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118341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5/14/26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501964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C764DE79-268F-4C1A-8933-263129D2AF90}" type="datetimeFigureOut">
              <a:rPr lang="en-US" dirty="0"/>
              <a:t>5/14/26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1365494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C764DE79-268F-4C1A-8933-263129D2AF90}" type="datetimeFigureOut">
              <a:rPr lang="en-US" dirty="0"/>
              <a:t>5/14/26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0350617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764DE79-268F-4C1A-8933-263129D2AF90}" type="datetimeFigureOut">
              <a:rPr lang="en-US" dirty="0"/>
              <a:t>5/14/26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8F63A3B-78C7-47BE-AE5E-E10140E04643}" type="slidenum">
              <a:rPr lang="en-US" dirty="0"/>
              <a:t>‹#›</a:t>
            </a:fld>
            <a:endParaRPr lang="en-US" dirty="0"/>
          </a:p>
        </p:txBody>
      </p:sp>
    </p:spTree>
    <p:extLst>
      <p:ext uri="{BB962C8B-B14F-4D97-AF65-F5344CB8AC3E}">
        <p14:creationId xmlns:p14="http://schemas.microsoft.com/office/powerpoint/2010/main" val="256698698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ico.org.uk/for-organisations/advice-and-services/audits/data-protection-audit-framework/toolkits/artificial-intelligence/" TargetMode="External"/><Relationship Id="rId2" Type="http://schemas.openxmlformats.org/officeDocument/2006/relationships/hyperlink" Target="https://artificialintelligenceact.eu/ai-act-explorer/" TargetMode="External"/><Relationship Id="rId1" Type="http://schemas.openxmlformats.org/officeDocument/2006/relationships/slideLayout" Target="../slideLayouts/slideLayout2.xml"/><Relationship Id="rId5" Type="http://schemas.openxmlformats.org/officeDocument/2006/relationships/hyperlink" Target="https://ico.org.uk/for-organisations/uk-gdpr-guidance-and-resources/artificial-intelligence/explaining-decisions-made-with-artificial-intelligence/" TargetMode="External"/><Relationship Id="rId4" Type="http://schemas.openxmlformats.org/officeDocument/2006/relationships/hyperlink" Target="https://ico.org.uk/for-organisations/uk-gdpr-guidance-and-resources/artificial-intelligence/guidance-on-ai-and-data-protection/"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algn="l"/>
            <a:r>
              <a:rPr lang="en-US" dirty="0">
                <a:latin typeface="CMU Serif Roman" panose="02000603000000000000" pitchFamily="2" charset="0"/>
                <a:ea typeface="CMU Serif Roman" panose="02000603000000000000" pitchFamily="2" charset="0"/>
                <a:cs typeface="CMU Serif Roman" panose="02000603000000000000" pitchFamily="2" charset="0"/>
              </a:rPr>
              <a:t>Introduction to LLMs</a:t>
            </a:r>
            <a:endParaRPr lang="en-US">
              <a:latin typeface="CMU Serif Roman" panose="02000603000000000000" pitchFamily="2" charset="0"/>
              <a:ea typeface="CMU Serif Roman" panose="02000603000000000000" pitchFamily="2" charset="0"/>
              <a:cs typeface="CMU Serif Roman" panose="02000603000000000000" pitchFamily="2" charset="0"/>
            </a:endParaRPr>
          </a:p>
        </p:txBody>
      </p:sp>
      <p:sp>
        <p:nvSpPr>
          <p:cNvPr id="3" name="Subtitle 2"/>
          <p:cNvSpPr>
            <a:spLocks noGrp="1"/>
          </p:cNvSpPr>
          <p:nvPr>
            <p:ph type="subTitle" idx="1"/>
          </p:nvPr>
        </p:nvSpPr>
        <p:spPr/>
        <p:txBody>
          <a:bodyPr vert="horz" lIns="91440" tIns="45720" rIns="91440" bIns="45720" rtlCol="0" anchor="t">
            <a:normAutofit/>
          </a:bodyPr>
          <a:lstStyle/>
          <a:p>
            <a:pPr algn="l"/>
            <a:r>
              <a:rPr lang="en-US" dirty="0">
                <a:latin typeface="CMU Serif Roman" panose="02000603000000000000" pitchFamily="2" charset="0"/>
                <a:ea typeface="CMU Serif Roman" panose="02000603000000000000" pitchFamily="2" charset="0"/>
                <a:cs typeface="CMU Serif Roman" panose="02000603000000000000" pitchFamily="2" charset="0"/>
              </a:rPr>
              <a:t>Accelerate Programme for Scientific Discovery</a:t>
            </a:r>
            <a:endParaRPr lang="en-US" dirty="0" err="1">
              <a:latin typeface="CMU Serif Roman" panose="02000603000000000000" pitchFamily="2" charset="0"/>
              <a:ea typeface="CMU Serif Roman" panose="02000603000000000000" pitchFamily="2" charset="0"/>
              <a:cs typeface="CMU Serif Roman" panose="02000603000000000000" pitchFamily="2" charset="0"/>
            </a:endParaRP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60AD0-4539-F7BD-07C7-86CA4C742BB0}"/>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About Us</a:t>
            </a:r>
          </a:p>
        </p:txBody>
      </p:sp>
      <p:sp>
        <p:nvSpPr>
          <p:cNvPr id="3" name="Content Placeholder 2">
            <a:extLst>
              <a:ext uri="{FF2B5EF4-FFF2-40B4-BE49-F238E27FC236}">
                <a16:creationId xmlns:a16="http://schemas.microsoft.com/office/drawing/2014/main" id="{C23B4CFB-C5F1-DC47-AED8-80D7FE89AAB1}"/>
              </a:ext>
            </a:extLst>
          </p:cNvPr>
          <p:cNvSpPr>
            <a:spLocks noGrp="1"/>
          </p:cNvSpPr>
          <p:nvPr>
            <p:ph idx="1"/>
          </p:nvPr>
        </p:nvSpPr>
        <p:spPr/>
        <p:txBody>
          <a:bodyPr vert="horz" lIns="91440" tIns="45720" rIns="91440" bIns="45720" rtlCol="0" anchor="t">
            <a:normAutofit/>
          </a:bodyPr>
          <a:lstStyle/>
          <a:p>
            <a:pPr marL="0" indent="0" algn="ctr">
              <a:buNone/>
            </a:pPr>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"Accelerate Science pursues research at the interface of AI and the sciences, generating new scientific insights and developing AI methods that can be deployed to advance scientific knowledge."</a:t>
            </a:r>
          </a:p>
        </p:txBody>
      </p:sp>
      <p:pic>
        <p:nvPicPr>
          <p:cNvPr id="4" name="Picture 3">
            <a:extLst>
              <a:ext uri="{FF2B5EF4-FFF2-40B4-BE49-F238E27FC236}">
                <a16:creationId xmlns:a16="http://schemas.microsoft.com/office/drawing/2014/main" id="{62F90085-2CFA-E241-70E3-58E8EC79428C}"/>
              </a:ext>
            </a:extLst>
          </p:cNvPr>
          <p:cNvPicPr>
            <a:picLocks noChangeAspect="1"/>
          </p:cNvPicPr>
          <p:nvPr/>
        </p:nvPicPr>
        <p:blipFill>
          <a:blip r:embed="rId3"/>
          <a:stretch>
            <a:fillRect/>
          </a:stretch>
        </p:blipFill>
        <p:spPr>
          <a:xfrm>
            <a:off x="4798195" y="3429000"/>
            <a:ext cx="2595609" cy="2609471"/>
          </a:xfrm>
          <a:prstGeom prst="rect">
            <a:avLst/>
          </a:prstGeom>
        </p:spPr>
      </p:pic>
    </p:spTree>
    <p:extLst>
      <p:ext uri="{BB962C8B-B14F-4D97-AF65-F5344CB8AC3E}">
        <p14:creationId xmlns:p14="http://schemas.microsoft.com/office/powerpoint/2010/main" val="27769847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75AC1-0CC0-EDDE-70D1-05C0CCB797C0}"/>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AI Clinic</a:t>
            </a:r>
          </a:p>
        </p:txBody>
      </p:sp>
      <p:sp>
        <p:nvSpPr>
          <p:cNvPr id="3" name="Content Placeholder 2">
            <a:extLst>
              <a:ext uri="{FF2B5EF4-FFF2-40B4-BE49-F238E27FC236}">
                <a16:creationId xmlns:a16="http://schemas.microsoft.com/office/drawing/2014/main" id="{C66C5BAA-06D6-1D2A-DB10-66C8E92D3CCC}"/>
              </a:ext>
            </a:extLst>
          </p:cNvPr>
          <p:cNvSpPr>
            <a:spLocks noGrp="1"/>
          </p:cNvSpPr>
          <p:nvPr>
            <p:ph idx="1"/>
          </p:nvPr>
        </p:nvSpPr>
        <p:spPr/>
        <p:txBody>
          <a:bodyPr/>
          <a:lstStyle/>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30-minute (free) consultations for researchers at the university working on applied AI/machine learning research</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Book via UTBS!</a:t>
            </a:r>
          </a:p>
        </p:txBody>
      </p:sp>
      <p:pic>
        <p:nvPicPr>
          <p:cNvPr id="4" name="Picture 3">
            <a:extLst>
              <a:ext uri="{FF2B5EF4-FFF2-40B4-BE49-F238E27FC236}">
                <a16:creationId xmlns:a16="http://schemas.microsoft.com/office/drawing/2014/main" id="{924D622B-9573-147C-A917-BDA5F627DDD6}"/>
              </a:ext>
            </a:extLst>
          </p:cNvPr>
          <p:cNvPicPr>
            <a:picLocks noChangeAspect="1"/>
          </p:cNvPicPr>
          <p:nvPr/>
        </p:nvPicPr>
        <p:blipFill>
          <a:blip r:embed="rId2"/>
          <a:stretch>
            <a:fillRect/>
          </a:stretch>
        </p:blipFill>
        <p:spPr>
          <a:xfrm>
            <a:off x="5047748" y="3741955"/>
            <a:ext cx="2096503" cy="2082241"/>
          </a:xfrm>
          <a:prstGeom prst="rect">
            <a:avLst/>
          </a:prstGeom>
        </p:spPr>
      </p:pic>
    </p:spTree>
    <p:extLst>
      <p:ext uri="{BB962C8B-B14F-4D97-AF65-F5344CB8AC3E}">
        <p14:creationId xmlns:p14="http://schemas.microsoft.com/office/powerpoint/2010/main" val="23899887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38369-8553-1A55-B265-3F27C53A813B}"/>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Workshop Goals</a:t>
            </a:r>
          </a:p>
        </p:txBody>
      </p:sp>
      <p:sp>
        <p:nvSpPr>
          <p:cNvPr id="3" name="Content Placeholder 2">
            <a:extLst>
              <a:ext uri="{FF2B5EF4-FFF2-40B4-BE49-F238E27FC236}">
                <a16:creationId xmlns:a16="http://schemas.microsoft.com/office/drawing/2014/main" id="{B8D918F4-C557-96D2-9BF3-A1F98CF87E2F}"/>
              </a:ext>
            </a:extLst>
          </p:cNvPr>
          <p:cNvSpPr>
            <a:spLocks noGrp="1"/>
          </p:cNvSpPr>
          <p:nvPr>
            <p:ph idx="1"/>
          </p:nvPr>
        </p:nvSpPr>
        <p:spPr/>
        <p:txBody>
          <a:bodyPr vert="horz" lIns="91440" tIns="45720" rIns="91440" bIns="45720" rtlCol="0" anchor="t">
            <a:normAutofit/>
          </a:bodyPr>
          <a:lstStyle/>
          <a:p>
            <a:pPr marL="0" indent="0">
              <a:buNone/>
            </a:pPr>
            <a:r>
              <a:rPr lang="en-US" b="1" dirty="0">
                <a:latin typeface="CMU SERIF ROMAN" panose="02000603000000000000" pitchFamily="2" charset="0"/>
                <a:ea typeface="CMU SERIF ROMAN" panose="02000603000000000000" pitchFamily="2" charset="0"/>
                <a:cs typeface="CMU SERIF ROMAN" panose="02000603000000000000" pitchFamily="2" charset="0"/>
              </a:rPr>
              <a:t>We want to:</a:t>
            </a:r>
          </a:p>
          <a:p>
            <a:r>
              <a:rPr lang="en-US" dirty="0">
                <a:latin typeface="CMU Serif Roman" panose="02000603000000000000" pitchFamily="2" charset="0"/>
                <a:ea typeface="CMU Serif Roman" panose="02000603000000000000" pitchFamily="2" charset="0"/>
                <a:cs typeface="CMU Serif Roman" panose="02000603000000000000" pitchFamily="2" charset="0"/>
              </a:rPr>
              <a:t>Support researchers across the university to use AI – that's LLMs in this group.</a:t>
            </a:r>
          </a:p>
          <a:p>
            <a:r>
              <a:rPr lang="en-US" dirty="0">
                <a:latin typeface="CMU Serif Roman" panose="02000603000000000000" pitchFamily="2" charset="0"/>
                <a:ea typeface="CMU Serif Roman" panose="02000603000000000000" pitchFamily="2" charset="0"/>
                <a:cs typeface="CMU Serif Roman" panose="02000603000000000000" pitchFamily="2" charset="0"/>
              </a:rPr>
              <a:t>Better understand the challenges that researchers face.</a:t>
            </a:r>
          </a:p>
          <a:p>
            <a:r>
              <a:rPr lang="en-US" dirty="0">
                <a:latin typeface="CMU Serif Roman" panose="02000603000000000000" pitchFamily="2" charset="0"/>
                <a:ea typeface="CMU Serif Roman" panose="02000603000000000000" pitchFamily="2" charset="0"/>
                <a:cs typeface="CMU Serif Roman" panose="02000603000000000000" pitchFamily="2" charset="0"/>
              </a:rPr>
              <a:t>Identify what training courses or software resources we might want the Accelerate Science </a:t>
            </a:r>
            <a:r>
              <a:rPr lang="en-US" dirty="0" err="1">
                <a:latin typeface="CMU Serif Roman" panose="02000603000000000000" pitchFamily="2" charset="0"/>
                <a:ea typeface="CMU Serif Roman" panose="02000603000000000000" pitchFamily="2" charset="0"/>
                <a:cs typeface="CMU Serif Roman" panose="02000603000000000000" pitchFamily="2" charset="0"/>
              </a:rPr>
              <a:t>Programme</a:t>
            </a:r>
            <a:r>
              <a:rPr lang="en-US" dirty="0">
                <a:latin typeface="CMU Serif Roman" panose="02000603000000000000" pitchFamily="2" charset="0"/>
                <a:ea typeface="CMU Serif Roman" panose="02000603000000000000" pitchFamily="2" charset="0"/>
                <a:cs typeface="CMU Serif Roman" panose="02000603000000000000" pitchFamily="2" charset="0"/>
              </a:rPr>
              <a:t> to create.</a:t>
            </a:r>
          </a:p>
          <a:p>
            <a:pPr lvl="1">
              <a:buFont typeface="Courier New" panose="020B0604020202020204" pitchFamily="34" charset="0"/>
              <a:buChar char="o"/>
            </a:pPr>
            <a:r>
              <a:rPr lang="en-US" dirty="0">
                <a:latin typeface="CMU Serif Roman" panose="02000603000000000000" pitchFamily="2" charset="0"/>
                <a:ea typeface="CMU Serif Roman" panose="02000603000000000000" pitchFamily="2" charset="0"/>
                <a:cs typeface="CMU Serif Roman" panose="02000603000000000000" pitchFamily="2" charset="0"/>
              </a:rPr>
              <a:t>Including shared code</a:t>
            </a:r>
          </a:p>
          <a:p>
            <a:r>
              <a:rPr lang="en-US" dirty="0">
                <a:latin typeface="CMU Serif Roman" panose="02000603000000000000" pitchFamily="2" charset="0"/>
                <a:ea typeface="CMU Serif Roman" panose="02000603000000000000" pitchFamily="2" charset="0"/>
                <a:cs typeface="CMU Serif Roman" panose="02000603000000000000" pitchFamily="2" charset="0"/>
              </a:rPr>
              <a:t>Start to build a community of like-minded researchers across the university.</a:t>
            </a:r>
          </a:p>
        </p:txBody>
      </p:sp>
    </p:spTree>
    <p:extLst>
      <p:ext uri="{BB962C8B-B14F-4D97-AF65-F5344CB8AC3E}">
        <p14:creationId xmlns:p14="http://schemas.microsoft.com/office/powerpoint/2010/main" val="14096918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07A1A-BBA2-EE55-28CA-B2544E559B2A}"/>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Schedule</a:t>
            </a:r>
          </a:p>
        </p:txBody>
      </p:sp>
      <p:graphicFrame>
        <p:nvGraphicFramePr>
          <p:cNvPr id="4" name="Content Placeholder 3">
            <a:extLst>
              <a:ext uri="{FF2B5EF4-FFF2-40B4-BE49-F238E27FC236}">
                <a16:creationId xmlns:a16="http://schemas.microsoft.com/office/drawing/2014/main" id="{37AC12F2-ECA6-1C35-9B77-1A11BE531B23}"/>
              </a:ext>
            </a:extLst>
          </p:cNvPr>
          <p:cNvGraphicFramePr>
            <a:graphicFrameLocks noGrp="1"/>
          </p:cNvGraphicFramePr>
          <p:nvPr>
            <p:ph idx="1"/>
            <p:extLst>
              <p:ext uri="{D42A27DB-BD31-4B8C-83A1-F6EECF244321}">
                <p14:modId xmlns:p14="http://schemas.microsoft.com/office/powerpoint/2010/main" val="3526604962"/>
              </p:ext>
            </p:extLst>
          </p:nvPr>
        </p:nvGraphicFramePr>
        <p:xfrm>
          <a:off x="838200" y="1825625"/>
          <a:ext cx="10515600" cy="2966716"/>
        </p:xfrm>
        <a:graphic>
          <a:graphicData uri="http://schemas.openxmlformats.org/drawingml/2006/table">
            <a:tbl>
              <a:tblPr firstRow="1" bandRow="1">
                <a:tableStyleId>{5940675A-B579-460E-94D1-54222C63F5DA}</a:tableStyleId>
              </a:tblPr>
              <a:tblGrid>
                <a:gridCol w="5257800">
                  <a:extLst>
                    <a:ext uri="{9D8B030D-6E8A-4147-A177-3AD203B41FA5}">
                      <a16:colId xmlns:a16="http://schemas.microsoft.com/office/drawing/2014/main" val="216625105"/>
                    </a:ext>
                  </a:extLst>
                </a:gridCol>
                <a:gridCol w="5257800">
                  <a:extLst>
                    <a:ext uri="{9D8B030D-6E8A-4147-A177-3AD203B41FA5}">
                      <a16:colId xmlns:a16="http://schemas.microsoft.com/office/drawing/2014/main" val="3107896615"/>
                    </a:ext>
                  </a:extLst>
                </a:gridCol>
              </a:tblGrid>
              <a:tr h="370840">
                <a:tc>
                  <a: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Session</a:t>
                      </a:r>
                    </a:p>
                  </a:txBody>
                  <a:tcPr>
                    <a:solidFill>
                      <a:schemeClr val="bg2">
                        <a:lumMod val="90000"/>
                      </a:schemeClr>
                    </a:solidFill>
                  </a:tcPr>
                </a:tc>
                <a:tc>
                  <a: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Time</a:t>
                      </a:r>
                    </a:p>
                  </a:txBody>
                  <a:tcPr>
                    <a:solidFill>
                      <a:schemeClr val="bg2">
                        <a:lumMod val="90000"/>
                      </a:schemeClr>
                    </a:solidFill>
                  </a:tcPr>
                </a:tc>
                <a:extLst>
                  <a:ext uri="{0D108BD9-81ED-4DB2-BD59-A6C34878D82A}">
                    <a16:rowId xmlns:a16="http://schemas.microsoft.com/office/drawing/2014/main" val="913100559"/>
                  </a:ext>
                </a:extLst>
              </a:tr>
              <a:tr h="370840">
                <a:tc>
                  <a:txBody>
                    <a:bodyPr/>
                    <a:lstStyle/>
                    <a:p>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9:30 – 10:30</a:t>
                      </a:r>
                    </a:p>
                  </a:txBody>
                  <a:tcPr/>
                </a:tc>
                <a:tc>
                  <a:txBody>
                    <a:bodyPr/>
                    <a:lstStyle/>
                    <a:p>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Session 1</a:t>
                      </a:r>
                    </a:p>
                  </a:txBody>
                  <a:tcPr/>
                </a:tc>
                <a:extLst>
                  <a:ext uri="{0D108BD9-81ED-4DB2-BD59-A6C34878D82A}">
                    <a16:rowId xmlns:a16="http://schemas.microsoft.com/office/drawing/2014/main" val="1290499807"/>
                  </a:ext>
                </a:extLst>
              </a:tr>
              <a:tr h="370840">
                <a:tc>
                  <a:txBody>
                    <a:bodyPr/>
                    <a:lstStyle/>
                    <a:p>
                      <a:r>
                        <a:rPr lang="en-US" b="1" dirty="0">
                          <a:latin typeface="CMU SERIF ROMAN" panose="02000603000000000000" pitchFamily="2" charset="0"/>
                          <a:ea typeface="CMU SERIF ROMAN" panose="02000603000000000000" pitchFamily="2" charset="0"/>
                          <a:cs typeface="CMU SERIF ROMAN" panose="02000603000000000000" pitchFamily="2" charset="0"/>
                        </a:rPr>
                        <a:t>10:30 – 11:00</a:t>
                      </a:r>
                    </a:p>
                  </a:txBody>
                  <a:tcPr/>
                </a:tc>
                <a:tc>
                  <a:txBody>
                    <a:bodyPr/>
                    <a:lstStyle/>
                    <a:p>
                      <a:r>
                        <a:rPr lang="en-US" b="1" dirty="0">
                          <a:latin typeface="CMU SERIF ROMAN" panose="02000603000000000000" pitchFamily="2" charset="0"/>
                          <a:ea typeface="CMU SERIF ROMAN" panose="02000603000000000000" pitchFamily="2" charset="0"/>
                          <a:cs typeface="CMU SERIF ROMAN" panose="02000603000000000000" pitchFamily="2" charset="0"/>
                        </a:rPr>
                        <a:t>Break</a:t>
                      </a:r>
                    </a:p>
                  </a:txBody>
                  <a:tcPr/>
                </a:tc>
                <a:extLst>
                  <a:ext uri="{0D108BD9-81ED-4DB2-BD59-A6C34878D82A}">
                    <a16:rowId xmlns:a16="http://schemas.microsoft.com/office/drawing/2014/main" val="352690158"/>
                  </a:ext>
                </a:extLst>
              </a:tr>
              <a:tr h="370840">
                <a:tc>
                  <a:txBody>
                    <a:bodyPr/>
                    <a:lstStyle/>
                    <a:p>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11:00 – 12:30</a:t>
                      </a:r>
                    </a:p>
                  </a:txBody>
                  <a:tcPr/>
                </a:tc>
                <a:tc>
                  <a:txBody>
                    <a:bodyPr/>
                    <a:lstStyle/>
                    <a:p>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Session 2</a:t>
                      </a:r>
                    </a:p>
                  </a:txBody>
                  <a:tcPr/>
                </a:tc>
                <a:extLst>
                  <a:ext uri="{0D108BD9-81ED-4DB2-BD59-A6C34878D82A}">
                    <a16:rowId xmlns:a16="http://schemas.microsoft.com/office/drawing/2014/main" val="3723253093"/>
                  </a:ext>
                </a:extLst>
              </a:tr>
              <a:tr h="370839">
                <a:tc>
                  <a:txBody>
                    <a:bodyPr/>
                    <a:lstStyle/>
                    <a:p>
                      <a:r>
                        <a:rPr lang="en-US" b="1" dirty="0">
                          <a:latin typeface="CMU SERIF ROMAN" panose="02000603000000000000" pitchFamily="2" charset="0"/>
                          <a:ea typeface="CMU SERIF ROMAN" panose="02000603000000000000" pitchFamily="2" charset="0"/>
                          <a:cs typeface="CMU SERIF ROMAN" panose="02000603000000000000" pitchFamily="2" charset="0"/>
                        </a:rPr>
                        <a:t>12:30 – 13:30</a:t>
                      </a:r>
                    </a:p>
                  </a:txBody>
                  <a:tcPr/>
                </a:tc>
                <a:tc>
                  <a:txBody>
                    <a:bodyPr/>
                    <a:lstStyle/>
                    <a:p>
                      <a:r>
                        <a:rPr lang="en-US" b="1" dirty="0">
                          <a:latin typeface="CMU SERIF ROMAN" panose="02000603000000000000" pitchFamily="2" charset="0"/>
                          <a:ea typeface="CMU SERIF ROMAN" panose="02000603000000000000" pitchFamily="2" charset="0"/>
                          <a:cs typeface="CMU SERIF ROMAN" panose="02000603000000000000" pitchFamily="2" charset="0"/>
                        </a:rPr>
                        <a:t>Lunch</a:t>
                      </a:r>
                    </a:p>
                  </a:txBody>
                  <a:tcPr/>
                </a:tc>
                <a:extLst>
                  <a:ext uri="{0D108BD9-81ED-4DB2-BD59-A6C34878D82A}">
                    <a16:rowId xmlns:a16="http://schemas.microsoft.com/office/drawing/2014/main" val="2871907493"/>
                  </a:ext>
                </a:extLst>
              </a:tr>
              <a:tr h="370840">
                <a:tc>
                  <a:txBody>
                    <a:bodyPr/>
                    <a:lstStyle/>
                    <a:p>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13:30 – 15:00</a:t>
                      </a:r>
                    </a:p>
                  </a:txBody>
                  <a:tcPr/>
                </a:tc>
                <a:tc>
                  <a:txBody>
                    <a:bodyPr/>
                    <a:lstStyle/>
                    <a:p>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Session 3</a:t>
                      </a:r>
                    </a:p>
                  </a:txBody>
                  <a:tcPr/>
                </a:tc>
                <a:extLst>
                  <a:ext uri="{0D108BD9-81ED-4DB2-BD59-A6C34878D82A}">
                    <a16:rowId xmlns:a16="http://schemas.microsoft.com/office/drawing/2014/main" val="3804542395"/>
                  </a:ext>
                </a:extLst>
              </a:tr>
              <a:tr h="370839">
                <a:tc>
                  <a:txBody>
                    <a:bodyPr/>
                    <a:lstStyle/>
                    <a:p>
                      <a:pPr lvl="0">
                        <a:buNone/>
                      </a:pPr>
                      <a:r>
                        <a:rPr lang="en-US" b="1" dirty="0">
                          <a:latin typeface="CMU SERIF ROMAN" panose="02000603000000000000" pitchFamily="2" charset="0"/>
                          <a:ea typeface="CMU SERIF ROMAN" panose="02000603000000000000" pitchFamily="2" charset="0"/>
                          <a:cs typeface="CMU SERIF ROMAN" panose="02000603000000000000" pitchFamily="2" charset="0"/>
                        </a:rPr>
                        <a:t>15:00 – 15:30</a:t>
                      </a:r>
                    </a:p>
                  </a:txBody>
                  <a:tcPr/>
                </a:tc>
                <a:tc>
                  <a:txBody>
                    <a:bodyPr/>
                    <a:lstStyle/>
                    <a:p>
                      <a:pPr lvl="0">
                        <a:buNone/>
                      </a:pPr>
                      <a:r>
                        <a:rPr lang="en-US" b="1" dirty="0">
                          <a:latin typeface="CMU SERIF ROMAN" panose="02000603000000000000" pitchFamily="2" charset="0"/>
                          <a:ea typeface="CMU SERIF ROMAN" panose="02000603000000000000" pitchFamily="2" charset="0"/>
                          <a:cs typeface="CMU SERIF ROMAN" panose="02000603000000000000" pitchFamily="2" charset="0"/>
                        </a:rPr>
                        <a:t>Break</a:t>
                      </a:r>
                    </a:p>
                  </a:txBody>
                  <a:tcPr/>
                </a:tc>
                <a:extLst>
                  <a:ext uri="{0D108BD9-81ED-4DB2-BD59-A6C34878D82A}">
                    <a16:rowId xmlns:a16="http://schemas.microsoft.com/office/drawing/2014/main" val="1976928700"/>
                  </a:ext>
                </a:extLst>
              </a:tr>
              <a:tr h="370838">
                <a:tc>
                  <a:txBody>
                    <a:bodyPr/>
                    <a:lstStyle/>
                    <a:p>
                      <a:pPr lvl="0">
                        <a:buNone/>
                      </a:pPr>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15:30 – 17:00</a:t>
                      </a:r>
                    </a:p>
                  </a:txBody>
                  <a:tcPr/>
                </a:tc>
                <a:tc>
                  <a:txBody>
                    <a:bodyPr/>
                    <a:lstStyle/>
                    <a:p>
                      <a:pPr marL="0" lvl="0" indent="0">
                        <a:buNone/>
                      </a:pPr>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Session 4</a:t>
                      </a:r>
                    </a:p>
                  </a:txBody>
                  <a:tcPr/>
                </a:tc>
                <a:extLst>
                  <a:ext uri="{0D108BD9-81ED-4DB2-BD59-A6C34878D82A}">
                    <a16:rowId xmlns:a16="http://schemas.microsoft.com/office/drawing/2014/main" val="117434727"/>
                  </a:ext>
                </a:extLst>
              </a:tr>
            </a:tbl>
          </a:graphicData>
        </a:graphic>
      </p:graphicFrame>
      <p:sp>
        <p:nvSpPr>
          <p:cNvPr id="6" name="Content Placeholder 2">
            <a:extLst>
              <a:ext uri="{FF2B5EF4-FFF2-40B4-BE49-F238E27FC236}">
                <a16:creationId xmlns:a16="http://schemas.microsoft.com/office/drawing/2014/main" id="{13040332-75D0-405E-6D35-DCBEE6D0BE3E}"/>
              </a:ext>
            </a:extLst>
          </p:cNvPr>
          <p:cNvSpPr txBox="1">
            <a:spLocks/>
          </p:cNvSpPr>
          <p:nvPr/>
        </p:nvSpPr>
        <p:spPr>
          <a:xfrm>
            <a:off x="838200" y="5013642"/>
            <a:ext cx="10515600" cy="1661477"/>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Slides available at:</a:t>
            </a:r>
          </a:p>
          <a:p>
            <a:pPr marL="0" indent="0">
              <a:buNone/>
            </a:pPr>
            <a:r>
              <a:rPr lang="en-US" b="1" dirty="0" err="1">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docs.science.ai.cam.ac.uk</a:t>
            </a:r>
            <a:r>
              <a:rPr lang="en-US" b="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/large-language-models/</a:t>
            </a:r>
          </a:p>
        </p:txBody>
      </p:sp>
    </p:spTree>
    <p:extLst>
      <p:ext uri="{BB962C8B-B14F-4D97-AF65-F5344CB8AC3E}">
        <p14:creationId xmlns:p14="http://schemas.microsoft.com/office/powerpoint/2010/main" val="4556394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E374D-7A21-28E7-7122-63EDD7695383}"/>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Before we begin...</a:t>
            </a:r>
          </a:p>
        </p:txBody>
      </p:sp>
      <p:sp>
        <p:nvSpPr>
          <p:cNvPr id="3" name="Content Placeholder 2">
            <a:extLst>
              <a:ext uri="{FF2B5EF4-FFF2-40B4-BE49-F238E27FC236}">
                <a16:creationId xmlns:a16="http://schemas.microsoft.com/office/drawing/2014/main" id="{92FFB990-1B10-587D-D853-7278325EB36D}"/>
              </a:ext>
            </a:extLst>
          </p:cNvPr>
          <p:cNvSpPr>
            <a:spLocks noGrp="1"/>
          </p:cNvSpPr>
          <p:nvPr>
            <p:ph idx="1"/>
          </p:nvPr>
        </p:nvSpPr>
        <p:spPr/>
        <p:txBody>
          <a:bodyPr vert="horz" lIns="91440" tIns="45720" rIns="91440" bIns="45720" rtlCol="0" anchor="t">
            <a:normAutofit/>
          </a:bodyPr>
          <a:lstStyle/>
          <a:p>
            <a:pPr marL="0" indent="0" algn="ctr">
              <a:buNone/>
            </a:pPr>
            <a:r>
              <a:rPr lang="en-US" dirty="0">
                <a:latin typeface="CMU Serif Roman" panose="02000603000000000000" pitchFamily="2" charset="0"/>
                <a:ea typeface="CMU Serif Roman" panose="02000603000000000000" pitchFamily="2" charset="0"/>
                <a:cs typeface="CMU Serif Roman" panose="02000603000000000000" pitchFamily="2" charset="0"/>
              </a:rPr>
              <a:t>What do you know about LLMs...?</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a:buFont typeface="Calibri" panose="020B0604020202020204" pitchFamily="34" charset="0"/>
              <a:buChar char="-"/>
            </a:pPr>
            <a:r>
              <a:rPr lang="en-US" dirty="0">
                <a:latin typeface="CMU Serif Roman" panose="02000603000000000000" pitchFamily="2" charset="0"/>
                <a:ea typeface="CMU Serif Roman" panose="02000603000000000000" pitchFamily="2" charset="0"/>
                <a:cs typeface="CMU Serif Roman" panose="02000603000000000000" pitchFamily="2" charset="0"/>
              </a:rPr>
              <a:t>How do they work?</a:t>
            </a:r>
          </a:p>
          <a:p>
            <a:pPr>
              <a:buFont typeface="Calibri" panose="020B0604020202020204" pitchFamily="34" charset="0"/>
              <a:buChar char="-"/>
            </a:pPr>
            <a:r>
              <a:rPr lang="en-US" dirty="0">
                <a:latin typeface="CMU Serif Roman" panose="02000603000000000000" pitchFamily="2" charset="0"/>
                <a:ea typeface="CMU Serif Roman" panose="02000603000000000000" pitchFamily="2" charset="0"/>
                <a:cs typeface="CMU Serif Roman" panose="02000603000000000000" pitchFamily="2" charset="0"/>
              </a:rPr>
              <a:t>Can you name any?</a:t>
            </a:r>
          </a:p>
          <a:p>
            <a:pPr>
              <a:buFont typeface="Calibri" panose="020B0604020202020204" pitchFamily="34" charset="0"/>
              <a:buChar char="-"/>
            </a:pPr>
            <a:r>
              <a:rPr lang="en-US" dirty="0">
                <a:latin typeface="CMU Serif Roman" panose="02000603000000000000" pitchFamily="2" charset="0"/>
                <a:ea typeface="CMU Serif Roman" panose="02000603000000000000" pitchFamily="2" charset="0"/>
                <a:cs typeface="CMU Serif Roman" panose="02000603000000000000" pitchFamily="2" charset="0"/>
              </a:rPr>
              <a:t>What can you use them for?</a:t>
            </a:r>
          </a:p>
          <a:p>
            <a:pPr>
              <a:buFont typeface="Calibri" panose="020B0604020202020204" pitchFamily="34" charset="0"/>
              <a:buChar char="-"/>
            </a:pPr>
            <a:r>
              <a:rPr lang="en-US" dirty="0">
                <a:latin typeface="CMU Serif Roman" panose="02000603000000000000" pitchFamily="2" charset="0"/>
                <a:ea typeface="CMU Serif Roman" panose="02000603000000000000" pitchFamily="2" charset="0"/>
                <a:cs typeface="CMU Serif Roman" panose="02000603000000000000" pitchFamily="2" charset="0"/>
              </a:rPr>
              <a:t>What are potential problems?</a:t>
            </a:r>
          </a:p>
          <a:p>
            <a:pPr>
              <a:buFont typeface="Calibri" panose="020B0604020202020204" pitchFamily="34" charset="0"/>
              <a:buChar char="-"/>
            </a:pPr>
            <a:r>
              <a:rPr lang="en-US" dirty="0">
                <a:latin typeface="CMU Serif Roman" panose="02000603000000000000" pitchFamily="2" charset="0"/>
                <a:ea typeface="CMU Serif Roman" panose="02000603000000000000" pitchFamily="2" charset="0"/>
                <a:cs typeface="CMU Serif Roman" panose="02000603000000000000" pitchFamily="2" charset="0"/>
              </a:rPr>
              <a:t>What do </a:t>
            </a:r>
            <a:r>
              <a:rPr lang="en-US" b="1" dirty="0">
                <a:latin typeface="CMU SERIF ROMAN" panose="02000603000000000000" pitchFamily="2" charset="0"/>
                <a:ea typeface="CMU SERIF ROMAN" panose="02000603000000000000" pitchFamily="2" charset="0"/>
                <a:cs typeface="CMU SERIF ROMAN" panose="02000603000000000000" pitchFamily="2" charset="0"/>
              </a:rPr>
              <a:t>you </a:t>
            </a:r>
            <a:r>
              <a:rPr lang="en-US" dirty="0">
                <a:latin typeface="CMU Serif Roman" panose="02000603000000000000" pitchFamily="2" charset="0"/>
                <a:ea typeface="CMU Serif Roman" panose="02000603000000000000" pitchFamily="2" charset="0"/>
                <a:cs typeface="CMU Serif Roman" panose="02000603000000000000" pitchFamily="2" charset="0"/>
              </a:rPr>
              <a:t>want to use them for?</a:t>
            </a:r>
          </a:p>
        </p:txBody>
      </p:sp>
    </p:spTree>
    <p:extLst>
      <p:ext uri="{BB962C8B-B14F-4D97-AF65-F5344CB8AC3E}">
        <p14:creationId xmlns:p14="http://schemas.microsoft.com/office/powerpoint/2010/main" val="1834275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Generated image">
            <a:extLst>
              <a:ext uri="{FF2B5EF4-FFF2-40B4-BE49-F238E27FC236}">
                <a16:creationId xmlns:a16="http://schemas.microsoft.com/office/drawing/2014/main" id="{E1EEB66C-5440-6A6B-CA11-DBAEE711749E}"/>
              </a:ext>
            </a:extLst>
          </p:cNvPr>
          <p:cNvPicPr>
            <a:picLocks noChangeAspect="1"/>
          </p:cNvPicPr>
          <p:nvPr/>
        </p:nvPicPr>
        <p:blipFill>
          <a:blip r:embed="rId3"/>
          <a:srcRect b="10767"/>
          <a:stretch>
            <a:fillRect/>
          </a:stretch>
        </p:blipFill>
        <p:spPr>
          <a:xfrm>
            <a:off x="3575146" y="244930"/>
            <a:ext cx="4401911" cy="5901038"/>
          </a:xfrm>
          <a:prstGeom prst="rect">
            <a:avLst/>
          </a:prstGeom>
        </p:spPr>
      </p:pic>
      <p:sp>
        <p:nvSpPr>
          <p:cNvPr id="2" name="Title 1">
            <a:extLst>
              <a:ext uri="{FF2B5EF4-FFF2-40B4-BE49-F238E27FC236}">
                <a16:creationId xmlns:a16="http://schemas.microsoft.com/office/drawing/2014/main" id="{79428D2F-F725-B3EE-D39E-56A5B729FF65}"/>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The Llama...</a:t>
            </a:r>
          </a:p>
        </p:txBody>
      </p:sp>
      <p:sp>
        <p:nvSpPr>
          <p:cNvPr id="15" name="Flowchart: Connector 14">
            <a:extLst>
              <a:ext uri="{FF2B5EF4-FFF2-40B4-BE49-F238E27FC236}">
                <a16:creationId xmlns:a16="http://schemas.microsoft.com/office/drawing/2014/main" id="{C9BAAFC0-B1D0-6CC7-7910-C53F7B9D4D0C}"/>
              </a:ext>
            </a:extLst>
          </p:cNvPr>
          <p:cNvSpPr/>
          <p:nvPr/>
        </p:nvSpPr>
        <p:spPr>
          <a:xfrm>
            <a:off x="3834918" y="2089314"/>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1</a:t>
            </a:r>
          </a:p>
        </p:txBody>
      </p:sp>
      <p:cxnSp>
        <p:nvCxnSpPr>
          <p:cNvPr id="17" name="Connector: Curved 16">
            <a:extLst>
              <a:ext uri="{FF2B5EF4-FFF2-40B4-BE49-F238E27FC236}">
                <a16:creationId xmlns:a16="http://schemas.microsoft.com/office/drawing/2014/main" id="{CB6A7381-EA09-B208-799D-43C4ABED2E99}"/>
              </a:ext>
            </a:extLst>
          </p:cNvPr>
          <p:cNvCxnSpPr/>
          <p:nvPr/>
        </p:nvCxnSpPr>
        <p:spPr>
          <a:xfrm>
            <a:off x="4290139" y="2319399"/>
            <a:ext cx="620485" cy="920339"/>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0" name="Connector: Curved 19">
            <a:extLst>
              <a:ext uri="{FF2B5EF4-FFF2-40B4-BE49-F238E27FC236}">
                <a16:creationId xmlns:a16="http://schemas.microsoft.com/office/drawing/2014/main" id="{0465B321-BEF6-9BC9-E031-75A72C55C5DB}"/>
              </a:ext>
            </a:extLst>
          </p:cNvPr>
          <p:cNvCxnSpPr>
            <a:cxnSpLocks/>
          </p:cNvCxnSpPr>
          <p:nvPr/>
        </p:nvCxnSpPr>
        <p:spPr>
          <a:xfrm>
            <a:off x="5365103" y="3251488"/>
            <a:ext cx="409574" cy="838695"/>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1" name="Connector: Curved 20">
            <a:extLst>
              <a:ext uri="{FF2B5EF4-FFF2-40B4-BE49-F238E27FC236}">
                <a16:creationId xmlns:a16="http://schemas.microsoft.com/office/drawing/2014/main" id="{6A4F4912-68B4-38C5-A973-1536B11B50B2}"/>
              </a:ext>
            </a:extLst>
          </p:cNvPr>
          <p:cNvCxnSpPr>
            <a:cxnSpLocks/>
          </p:cNvCxnSpPr>
          <p:nvPr/>
        </p:nvCxnSpPr>
        <p:spPr>
          <a:xfrm>
            <a:off x="6229156" y="4081524"/>
            <a:ext cx="810985" cy="8660"/>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sp>
        <p:nvSpPr>
          <p:cNvPr id="22" name="Flowchart: Connector 21">
            <a:extLst>
              <a:ext uri="{FF2B5EF4-FFF2-40B4-BE49-F238E27FC236}">
                <a16:creationId xmlns:a16="http://schemas.microsoft.com/office/drawing/2014/main" id="{48EC56BF-C941-EF14-B6E9-042D0195FB01}"/>
              </a:ext>
            </a:extLst>
          </p:cNvPr>
          <p:cNvSpPr/>
          <p:nvPr/>
        </p:nvSpPr>
        <p:spPr>
          <a:xfrm>
            <a:off x="4909881" y="3014599"/>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2</a:t>
            </a:r>
          </a:p>
        </p:txBody>
      </p:sp>
      <p:sp>
        <p:nvSpPr>
          <p:cNvPr id="23" name="Flowchart: Connector 22">
            <a:extLst>
              <a:ext uri="{FF2B5EF4-FFF2-40B4-BE49-F238E27FC236}">
                <a16:creationId xmlns:a16="http://schemas.microsoft.com/office/drawing/2014/main" id="{5CD1E691-ADB4-B39D-7B93-AFA9A2A1CFE4}"/>
              </a:ext>
            </a:extLst>
          </p:cNvPr>
          <p:cNvSpPr/>
          <p:nvPr/>
        </p:nvSpPr>
        <p:spPr>
          <a:xfrm>
            <a:off x="5773934" y="3851438"/>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3</a:t>
            </a:r>
          </a:p>
        </p:txBody>
      </p:sp>
      <p:sp>
        <p:nvSpPr>
          <p:cNvPr id="24" name="Flowchart: Connector 23">
            <a:extLst>
              <a:ext uri="{FF2B5EF4-FFF2-40B4-BE49-F238E27FC236}">
                <a16:creationId xmlns:a16="http://schemas.microsoft.com/office/drawing/2014/main" id="{13162B3D-EBD1-BFAC-98F0-3E1B74B224C7}"/>
              </a:ext>
            </a:extLst>
          </p:cNvPr>
          <p:cNvSpPr/>
          <p:nvPr/>
        </p:nvSpPr>
        <p:spPr>
          <a:xfrm>
            <a:off x="7039398" y="3851438"/>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4</a:t>
            </a:r>
          </a:p>
        </p:txBody>
      </p:sp>
      <p:sp>
        <p:nvSpPr>
          <p:cNvPr id="27" name="Flowchart: Connector 26">
            <a:extLst>
              <a:ext uri="{FF2B5EF4-FFF2-40B4-BE49-F238E27FC236}">
                <a16:creationId xmlns:a16="http://schemas.microsoft.com/office/drawing/2014/main" id="{D48EE0A8-2231-2314-5A63-6A74CEF6A696}"/>
              </a:ext>
            </a:extLst>
          </p:cNvPr>
          <p:cNvSpPr/>
          <p:nvPr/>
        </p:nvSpPr>
        <p:spPr>
          <a:xfrm>
            <a:off x="8596868" y="2098839"/>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1</a:t>
            </a:r>
          </a:p>
        </p:txBody>
      </p:sp>
      <p:sp>
        <p:nvSpPr>
          <p:cNvPr id="29" name="Flowchart: Connector 28">
            <a:extLst>
              <a:ext uri="{FF2B5EF4-FFF2-40B4-BE49-F238E27FC236}">
                <a16:creationId xmlns:a16="http://schemas.microsoft.com/office/drawing/2014/main" id="{C36047C0-85CB-BA7B-6BD7-F642638AEFF8}"/>
              </a:ext>
            </a:extLst>
          </p:cNvPr>
          <p:cNvSpPr/>
          <p:nvPr/>
        </p:nvSpPr>
        <p:spPr>
          <a:xfrm>
            <a:off x="8596867" y="291526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2</a:t>
            </a:r>
          </a:p>
        </p:txBody>
      </p:sp>
      <p:sp>
        <p:nvSpPr>
          <p:cNvPr id="31" name="Flowchart: Connector 30">
            <a:extLst>
              <a:ext uri="{FF2B5EF4-FFF2-40B4-BE49-F238E27FC236}">
                <a16:creationId xmlns:a16="http://schemas.microsoft.com/office/drawing/2014/main" id="{DDEFADCE-B113-6739-3FC5-E14B02A84070}"/>
              </a:ext>
            </a:extLst>
          </p:cNvPr>
          <p:cNvSpPr/>
          <p:nvPr/>
        </p:nvSpPr>
        <p:spPr>
          <a:xfrm>
            <a:off x="8596866" y="3731695"/>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3</a:t>
            </a:r>
          </a:p>
        </p:txBody>
      </p:sp>
      <p:sp>
        <p:nvSpPr>
          <p:cNvPr id="33" name="Flowchart: Connector 32">
            <a:extLst>
              <a:ext uri="{FF2B5EF4-FFF2-40B4-BE49-F238E27FC236}">
                <a16:creationId xmlns:a16="http://schemas.microsoft.com/office/drawing/2014/main" id="{FC159739-3DF5-1A3C-C129-3C2DFD8BCEEA}"/>
              </a:ext>
            </a:extLst>
          </p:cNvPr>
          <p:cNvSpPr/>
          <p:nvPr/>
        </p:nvSpPr>
        <p:spPr>
          <a:xfrm>
            <a:off x="8596866" y="453451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4</a:t>
            </a:r>
          </a:p>
        </p:txBody>
      </p:sp>
      <p:sp>
        <p:nvSpPr>
          <p:cNvPr id="34" name="TextBox 33">
            <a:extLst>
              <a:ext uri="{FF2B5EF4-FFF2-40B4-BE49-F238E27FC236}">
                <a16:creationId xmlns:a16="http://schemas.microsoft.com/office/drawing/2014/main" id="{779DC3C3-FBE7-E9E9-0482-A68A5BA47091}"/>
              </a:ext>
            </a:extLst>
          </p:cNvPr>
          <p:cNvSpPr txBox="1"/>
          <p:nvPr/>
        </p:nvSpPr>
        <p:spPr>
          <a:xfrm>
            <a:off x="9198427" y="2139723"/>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solidFill>
              <a:srgbClr val="1B55EB"/>
            </a:solidFill>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latin typeface="CMU Serif Roman" panose="02000603000000000000" pitchFamily="2" charset="0"/>
                <a:ea typeface="CMU Serif Roman" panose="02000603000000000000" pitchFamily="2" charset="0"/>
                <a:cs typeface="CMU Serif Roman" panose="02000603000000000000" pitchFamily="2" charset="0"/>
              </a:rPr>
              <a:t>Tokenization</a:t>
            </a:r>
          </a:p>
        </p:txBody>
      </p:sp>
      <p:sp>
        <p:nvSpPr>
          <p:cNvPr id="35" name="TextBox 34">
            <a:extLst>
              <a:ext uri="{FF2B5EF4-FFF2-40B4-BE49-F238E27FC236}">
                <a16:creationId xmlns:a16="http://schemas.microsoft.com/office/drawing/2014/main" id="{6716EF06-87BC-A8BB-B7A9-6BBF50CFE998}"/>
              </a:ext>
            </a:extLst>
          </p:cNvPr>
          <p:cNvSpPr txBox="1"/>
          <p:nvPr/>
        </p:nvSpPr>
        <p:spPr>
          <a:xfrm>
            <a:off x="9198426" y="2956151"/>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solidFill>
              <a:srgbClr val="1B55EB"/>
            </a:solidFill>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latin typeface="CMU Serif Roman" panose="02000603000000000000" pitchFamily="2" charset="0"/>
                <a:ea typeface="CMU Serif Roman" panose="02000603000000000000" pitchFamily="2" charset="0"/>
                <a:cs typeface="CMU Serif Roman" panose="02000603000000000000" pitchFamily="2" charset="0"/>
              </a:rPr>
              <a:t>Embeddings</a:t>
            </a:r>
          </a:p>
        </p:txBody>
      </p:sp>
      <p:sp>
        <p:nvSpPr>
          <p:cNvPr id="36" name="TextBox 35">
            <a:extLst>
              <a:ext uri="{FF2B5EF4-FFF2-40B4-BE49-F238E27FC236}">
                <a16:creationId xmlns:a16="http://schemas.microsoft.com/office/drawing/2014/main" id="{A2CC3B54-57C0-1BE6-8F58-B03F2D0FBFC2}"/>
              </a:ext>
            </a:extLst>
          </p:cNvPr>
          <p:cNvSpPr txBox="1"/>
          <p:nvPr/>
        </p:nvSpPr>
        <p:spPr>
          <a:xfrm>
            <a:off x="9198426" y="3772580"/>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solidFill>
              <a:srgbClr val="1B55EB"/>
            </a:solidFill>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latin typeface="CMU Serif Roman" panose="02000603000000000000" pitchFamily="2" charset="0"/>
                <a:ea typeface="CMU Serif Roman" panose="02000603000000000000" pitchFamily="2" charset="0"/>
                <a:cs typeface="CMU Serif Roman" panose="02000603000000000000" pitchFamily="2" charset="0"/>
              </a:rPr>
              <a:t>Attention</a:t>
            </a:r>
          </a:p>
        </p:txBody>
      </p:sp>
      <p:sp>
        <p:nvSpPr>
          <p:cNvPr id="37" name="TextBox 36">
            <a:extLst>
              <a:ext uri="{FF2B5EF4-FFF2-40B4-BE49-F238E27FC236}">
                <a16:creationId xmlns:a16="http://schemas.microsoft.com/office/drawing/2014/main" id="{0A83DA7D-9981-194C-5CD0-443FA0BD851B}"/>
              </a:ext>
            </a:extLst>
          </p:cNvPr>
          <p:cNvSpPr txBox="1"/>
          <p:nvPr/>
        </p:nvSpPr>
        <p:spPr>
          <a:xfrm>
            <a:off x="9198426" y="4568598"/>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solidFill>
              <a:srgbClr val="1B55EB"/>
            </a:solidFill>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latin typeface="CMU Serif Roman" panose="02000603000000000000" pitchFamily="2" charset="0"/>
                <a:ea typeface="CMU Serif Roman" panose="02000603000000000000" pitchFamily="2" charset="0"/>
                <a:cs typeface="CMU Serif Roman" panose="02000603000000000000" pitchFamily="2" charset="0"/>
              </a:rPr>
              <a:t>Sampling</a:t>
            </a:r>
          </a:p>
        </p:txBody>
      </p:sp>
    </p:spTree>
    <p:extLst>
      <p:ext uri="{BB962C8B-B14F-4D97-AF65-F5344CB8AC3E}">
        <p14:creationId xmlns:p14="http://schemas.microsoft.com/office/powerpoint/2010/main" val="3802117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22" grpId="0" animBg="1"/>
      <p:bldP spid="23" grpId="0" animBg="1"/>
      <p:bldP spid="24" grpId="0" animBg="1"/>
      <p:bldP spid="27" grpId="0" animBg="1"/>
      <p:bldP spid="29" grpId="0" animBg="1"/>
      <p:bldP spid="31" grpId="0" animBg="1"/>
      <p:bldP spid="33" grpId="0" animBg="1"/>
      <p:bldP spid="34" grpId="0" animBg="1"/>
      <p:bldP spid="35" grpId="0" animBg="1"/>
      <p:bldP spid="36" grpId="0" animBg="1"/>
      <p:bldP spid="3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cartoon of a llama wearing a cape and mask&#10;&#10;AI-generated content may be incorrect.">
            <a:extLst>
              <a:ext uri="{FF2B5EF4-FFF2-40B4-BE49-F238E27FC236}">
                <a16:creationId xmlns:a16="http://schemas.microsoft.com/office/drawing/2014/main" id="{757DC58F-0406-309A-D7C4-BEF5EE85814D}"/>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Lst>
          </a:blip>
          <a:stretch>
            <a:fillRect/>
          </a:stretch>
        </p:blipFill>
        <p:spPr>
          <a:xfrm>
            <a:off x="7918907" y="796925"/>
            <a:ext cx="3797300" cy="5695950"/>
          </a:xfrm>
          <a:prstGeom prst="rect">
            <a:avLst/>
          </a:prstGeom>
        </p:spPr>
      </p:pic>
      <p:sp>
        <p:nvSpPr>
          <p:cNvPr id="2" name="Title 1">
            <a:extLst>
              <a:ext uri="{FF2B5EF4-FFF2-40B4-BE49-F238E27FC236}">
                <a16:creationId xmlns:a16="http://schemas.microsoft.com/office/drawing/2014/main" id="{30D6147D-3AF1-B627-DC49-BB083443A874}"/>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How can we augment them?</a:t>
            </a:r>
          </a:p>
        </p:txBody>
      </p:sp>
      <p:sp>
        <p:nvSpPr>
          <p:cNvPr id="3" name="Content Placeholder 2">
            <a:extLst>
              <a:ext uri="{FF2B5EF4-FFF2-40B4-BE49-F238E27FC236}">
                <a16:creationId xmlns:a16="http://schemas.microsoft.com/office/drawing/2014/main" id="{D83C43F5-34A7-8640-01DC-E67800E0C470}"/>
              </a:ext>
            </a:extLst>
          </p:cNvPr>
          <p:cNvSpPr>
            <a:spLocks noGrp="1"/>
          </p:cNvSpPr>
          <p:nvPr>
            <p:ph idx="1"/>
          </p:nvPr>
        </p:nvSpPr>
        <p:spPr/>
        <p:txBody>
          <a:bodyPr vert="horz" lIns="91440" tIns="45720" rIns="91440" bIns="45720" rtlCol="0" anchor="t">
            <a:normAutofit/>
          </a:bodyPr>
          <a:lstStyle/>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Session states</a:t>
            </a:r>
          </a:p>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RAG</a:t>
            </a:r>
          </a:p>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Prompting</a:t>
            </a:r>
          </a:p>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Tools</a:t>
            </a:r>
          </a:p>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Finetuning</a:t>
            </a:r>
          </a:p>
        </p:txBody>
      </p:sp>
    </p:spTree>
    <p:extLst>
      <p:ext uri="{BB962C8B-B14F-4D97-AF65-F5344CB8AC3E}">
        <p14:creationId xmlns:p14="http://schemas.microsoft.com/office/powerpoint/2010/main" val="5705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41BF3-F107-F9B0-5EDB-4373BB4196B4}"/>
              </a:ext>
            </a:extLst>
          </p:cNvPr>
          <p:cNvSpPr>
            <a:spLocks noGrp="1"/>
          </p:cNvSpPr>
          <p:nvPr>
            <p:ph type="title"/>
          </p:nvPr>
        </p:nvSpPr>
        <p:spPr>
          <a:xfrm>
            <a:off x="838200" y="0"/>
            <a:ext cx="10515600" cy="1325563"/>
          </a:xfrm>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Some definitions</a:t>
            </a:r>
          </a:p>
        </p:txBody>
      </p:sp>
      <p:sp>
        <p:nvSpPr>
          <p:cNvPr id="3" name="Content Placeholder 2">
            <a:extLst>
              <a:ext uri="{FF2B5EF4-FFF2-40B4-BE49-F238E27FC236}">
                <a16:creationId xmlns:a16="http://schemas.microsoft.com/office/drawing/2014/main" id="{BACC3A7C-33D4-2896-0AC9-9DA08F6ED357}"/>
              </a:ext>
            </a:extLst>
          </p:cNvPr>
          <p:cNvSpPr>
            <a:spLocks noGrp="1"/>
          </p:cNvSpPr>
          <p:nvPr>
            <p:ph idx="1"/>
          </p:nvPr>
        </p:nvSpPr>
        <p:spPr>
          <a:xfrm>
            <a:off x="838200" y="1031145"/>
            <a:ext cx="10900410" cy="5032375"/>
          </a:xfrm>
        </p:spPr>
        <p:txBody>
          <a:bodyPr vert="horz" lIns="91440" tIns="45720" rIns="91440" bIns="45720" rtlCol="0" anchor="t">
            <a:normAutofit fontScale="70000" lnSpcReduction="20000"/>
          </a:bodyPr>
          <a:lstStyle/>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Model </a:t>
            </a:r>
            <a:r>
              <a:rPr lang="en-US" dirty="0">
                <a:latin typeface="CMU Serif Roman" panose="02000603000000000000" pitchFamily="2" charset="0"/>
                <a:ea typeface="CMU Serif Roman" panose="02000603000000000000" pitchFamily="2" charset="0"/>
                <a:cs typeface="CMU Serif Roman" panose="02000603000000000000" pitchFamily="2" charset="0"/>
              </a:rPr>
              <a:t>The thing you train and use to generate text.</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Architecture</a:t>
            </a:r>
            <a:r>
              <a:rPr lang="en-US" b="1" dirty="0">
                <a:solidFill>
                  <a:srgbClr val="7030A0"/>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The high-level structure of the model.</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Parameters </a:t>
            </a:r>
            <a:r>
              <a:rPr lang="en-US" dirty="0">
                <a:latin typeface="CMU Serif Roman" panose="02000603000000000000" pitchFamily="2" charset="0"/>
                <a:ea typeface="CMU Serif Roman" panose="02000603000000000000" pitchFamily="2" charset="0"/>
                <a:cs typeface="CMU Serif Roman" panose="02000603000000000000" pitchFamily="2" charset="0"/>
              </a:rPr>
              <a:t>(or weights) The internal knobs and dials that get altered during the course of training.</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Context</a:t>
            </a:r>
            <a:r>
              <a:rPr lang="en-US" b="1" dirty="0">
                <a:solidFill>
                  <a:srgbClr val="7030A0"/>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The input to the LLM.</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Embedding </a:t>
            </a:r>
            <a:r>
              <a:rPr lang="en-US" dirty="0">
                <a:latin typeface="CMU Serif Roman" panose="02000603000000000000" pitchFamily="2" charset="0"/>
                <a:ea typeface="CMU Serif Roman" panose="02000603000000000000" pitchFamily="2" charset="0"/>
                <a:cs typeface="CMU Serif Roman" panose="02000603000000000000" pitchFamily="2" charset="0"/>
              </a:rPr>
              <a:t>A high-dimensional representation of text.</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Token</a:t>
            </a:r>
            <a:r>
              <a:rPr lang="en-US" b="1" dirty="0">
                <a:solidFill>
                  <a:srgbClr val="7030A0"/>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The smallest unit of text fed into a model.</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Pre-training</a:t>
            </a:r>
            <a:r>
              <a:rPr lang="en-US" b="1" dirty="0">
                <a:solidFill>
                  <a:srgbClr val="7030A0"/>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The first stage of training the LLM, and usually the most expensive.</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Post-training</a:t>
            </a:r>
            <a:r>
              <a:rPr lang="en-US" b="1" dirty="0">
                <a:solidFill>
                  <a:srgbClr val="7030A0"/>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The second stage of training for working beyond general language understanding</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Fine-tuning</a:t>
            </a:r>
            <a:r>
              <a:rPr lang="en-US" b="1" dirty="0">
                <a:solidFill>
                  <a:srgbClr val="7030A0"/>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Training the LLM to do a particular task.</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Inference</a:t>
            </a:r>
            <a:r>
              <a:rPr lang="en-US" b="1" dirty="0">
                <a:solidFill>
                  <a:srgbClr val="7030A0"/>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The act of calling the model for text generation.</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Quantization</a:t>
            </a:r>
            <a:r>
              <a:rPr lang="en-US" b="1" dirty="0">
                <a:solidFill>
                  <a:srgbClr val="7030A0"/>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Reducing the size of a model.</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Source </a:t>
            </a:r>
            <a:r>
              <a:rPr lang="en-US" dirty="0">
                <a:latin typeface="CMU Serif Roman" panose="02000603000000000000" pitchFamily="2" charset="0"/>
                <a:ea typeface="CMU Serif Roman" panose="02000603000000000000" pitchFamily="2" charset="0"/>
                <a:cs typeface="CMU Serif Roman" panose="02000603000000000000" pitchFamily="2" charset="0"/>
              </a:rPr>
              <a:t>The availability of the model (can be open or closed).</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Modality </a:t>
            </a:r>
            <a:r>
              <a:rPr lang="en-US" dirty="0">
                <a:latin typeface="CMU Serif Roman" panose="02000603000000000000" pitchFamily="2" charset="0"/>
                <a:ea typeface="CMU Serif Roman" panose="02000603000000000000" pitchFamily="2" charset="0"/>
                <a:cs typeface="CMU Serif Roman" panose="02000603000000000000" pitchFamily="2" charset="0"/>
              </a:rPr>
              <a:t>Defined by the type of data the model is trained on (e.g. text or images).</a:t>
            </a: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API </a:t>
            </a:r>
            <a:r>
              <a:rPr lang="en-US" dirty="0">
                <a:latin typeface="CMU Serif Roman" panose="02000603000000000000" pitchFamily="2" charset="0"/>
                <a:ea typeface="CMU Serif Roman" panose="02000603000000000000" pitchFamily="2" charset="0"/>
                <a:cs typeface="CMU Serif Roman" panose="02000603000000000000" pitchFamily="2" charset="0"/>
              </a:rPr>
              <a:t>(Application Programming Interface) The means by which you can interact with a model.</a:t>
            </a:r>
          </a:p>
        </p:txBody>
      </p:sp>
    </p:spTree>
    <p:extLst>
      <p:ext uri="{BB962C8B-B14F-4D97-AF65-F5344CB8AC3E}">
        <p14:creationId xmlns:p14="http://schemas.microsoft.com/office/powerpoint/2010/main" val="28282434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3511F-8565-6D41-02BF-6E9296DCF3B4}"/>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EU AI Act </a:t>
            </a:r>
            <a:r>
              <a:rPr lang="en-US"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t>
            </a:r>
            <a:r>
              <a:rPr lang="en-GB"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August 2024</a:t>
            </a:r>
            <a:r>
              <a:rPr lang="en-US"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t>
            </a:r>
          </a:p>
        </p:txBody>
      </p:sp>
      <p:sp>
        <p:nvSpPr>
          <p:cNvPr id="3" name="Content Placeholder 2">
            <a:extLst>
              <a:ext uri="{FF2B5EF4-FFF2-40B4-BE49-F238E27FC236}">
                <a16:creationId xmlns:a16="http://schemas.microsoft.com/office/drawing/2014/main" id="{C10ABB8D-3273-0866-F725-70CD2E52915C}"/>
              </a:ext>
            </a:extLst>
          </p:cNvPr>
          <p:cNvSpPr>
            <a:spLocks noGrp="1"/>
          </p:cNvSpPr>
          <p:nvPr>
            <p:ph idx="1"/>
          </p:nvPr>
        </p:nvSpPr>
        <p:spPr/>
        <p:txBody>
          <a:bodyPr vert="horz" lIns="91440" tIns="45720" rIns="91440" bIns="45720" rtlCol="0" anchor="t">
            <a:normAutofit/>
          </a:bodyPr>
          <a:lstStyle/>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How does the AI Act define things...?</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p:txBody>
      </p:sp>
    </p:spTree>
    <p:extLst>
      <p:ext uri="{BB962C8B-B14F-4D97-AF65-F5344CB8AC3E}">
        <p14:creationId xmlns:p14="http://schemas.microsoft.com/office/powerpoint/2010/main" val="18657291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FE21E-B1C7-BFB6-78F1-F228EFDED00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ED0013B-05E0-42A6-4927-0EEBCFBECB85}"/>
              </a:ext>
            </a:extLst>
          </p:cNvPr>
          <p:cNvSpPr>
            <a:spLocks noGrp="1"/>
          </p:cNvSpPr>
          <p:nvPr>
            <p:ph idx="1"/>
          </p:nvPr>
        </p:nvSpPr>
        <p:spPr/>
        <p:txBody>
          <a:bodyPr vert="horz" lIns="91440" tIns="45720" rIns="91440" bIns="45720" rtlCol="0" anchor="t">
            <a:normAutofit/>
          </a:bodyPr>
          <a:lstStyle/>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How does the AI Act define things...?</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general-purpose AI model</a:t>
            </a:r>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 an AI model</a:t>
            </a:r>
          </a:p>
        </p:txBody>
      </p:sp>
      <p:sp>
        <p:nvSpPr>
          <p:cNvPr id="5" name="Title 4">
            <a:extLst>
              <a:ext uri="{FF2B5EF4-FFF2-40B4-BE49-F238E27FC236}">
                <a16:creationId xmlns:a16="http://schemas.microsoft.com/office/drawing/2014/main" id="{1700A706-5A9A-B94A-5E5E-F6185319F000}"/>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EU AI Act </a:t>
            </a:r>
            <a:r>
              <a:rPr lang="en-US"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t>
            </a:r>
            <a:r>
              <a:rPr lang="en-GB"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August 2024</a:t>
            </a:r>
            <a:r>
              <a:rPr lang="en-US"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t>
            </a:r>
            <a:endParaRPr lang="en-US" dirty="0">
              <a:latin typeface="CMU Serif Roman" panose="02000603000000000000" pitchFamily="2" charset="0"/>
              <a:ea typeface="CMU Serif Roman" panose="02000603000000000000" pitchFamily="2" charset="0"/>
              <a:cs typeface="CMU Serif Roman" panose="02000603000000000000" pitchFamily="2" charset="0"/>
            </a:endParaRPr>
          </a:p>
        </p:txBody>
      </p:sp>
    </p:spTree>
    <p:extLst>
      <p:ext uri="{BB962C8B-B14F-4D97-AF65-F5344CB8AC3E}">
        <p14:creationId xmlns:p14="http://schemas.microsoft.com/office/powerpoint/2010/main" val="2885952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04D587-F051-7D62-0F42-9119016C15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D6A392-618F-BD9C-5214-DB8B71621D5F}"/>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EU AI Act </a:t>
            </a:r>
            <a:r>
              <a:rPr lang="en-US"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t>
            </a:r>
            <a:r>
              <a:rPr lang="en-GB"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August 2024</a:t>
            </a:r>
            <a:r>
              <a:rPr lang="en-US"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t>
            </a:r>
            <a:endParaRPr lang="en-US" dirty="0">
              <a:latin typeface="CMU Serif Roman" panose="02000603000000000000" pitchFamily="2" charset="0"/>
              <a:ea typeface="CMU Serif Roman" panose="02000603000000000000" pitchFamily="2" charset="0"/>
              <a:cs typeface="CMU Serif Roman" panose="02000603000000000000" pitchFamily="2" charset="0"/>
            </a:endParaRPr>
          </a:p>
        </p:txBody>
      </p:sp>
      <p:sp>
        <p:nvSpPr>
          <p:cNvPr id="3" name="Content Placeholder 2">
            <a:extLst>
              <a:ext uri="{FF2B5EF4-FFF2-40B4-BE49-F238E27FC236}">
                <a16:creationId xmlns:a16="http://schemas.microsoft.com/office/drawing/2014/main" id="{CD14D7EF-B0A7-7551-E481-D9816DC0D0E9}"/>
              </a:ext>
            </a:extLst>
          </p:cNvPr>
          <p:cNvSpPr>
            <a:spLocks noGrp="1"/>
          </p:cNvSpPr>
          <p:nvPr>
            <p:ph idx="1"/>
          </p:nvPr>
        </p:nvSpPr>
        <p:spPr/>
        <p:txBody>
          <a:bodyPr vert="horz" lIns="91440" tIns="45720" rIns="91440" bIns="45720" rtlCol="0" anchor="t">
            <a:normAutofit/>
          </a:bodyPr>
          <a:lstStyle/>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How does the AI Act define things...?</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general-purpose AI model</a:t>
            </a:r>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 an AI model … trained with a large amount of data using self-supervision at scale, that displays significant generality and is capable of competently performing a wide range of distinct tasks</a:t>
            </a:r>
          </a:p>
        </p:txBody>
      </p:sp>
    </p:spTree>
    <p:extLst>
      <p:ext uri="{BB962C8B-B14F-4D97-AF65-F5344CB8AC3E}">
        <p14:creationId xmlns:p14="http://schemas.microsoft.com/office/powerpoint/2010/main" val="4596576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A47D2-6A35-8A15-1A0B-31708619FA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42FFD7-9E08-B464-0286-6956E8B6E119}"/>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EU AI Act </a:t>
            </a:r>
            <a:r>
              <a:rPr lang="en-US"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t>
            </a:r>
            <a:r>
              <a:rPr lang="en-GB"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August 2024</a:t>
            </a:r>
            <a:r>
              <a:rPr lang="en-US"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t>
            </a:r>
            <a:endParaRPr lang="en-US" dirty="0">
              <a:latin typeface="CMU Serif Roman" panose="02000603000000000000" pitchFamily="2" charset="0"/>
              <a:ea typeface="CMU Serif Roman" panose="02000603000000000000" pitchFamily="2" charset="0"/>
              <a:cs typeface="CMU Serif Roman" panose="02000603000000000000" pitchFamily="2" charset="0"/>
            </a:endParaRPr>
          </a:p>
        </p:txBody>
      </p:sp>
      <p:sp>
        <p:nvSpPr>
          <p:cNvPr id="3" name="Content Placeholder 2">
            <a:extLst>
              <a:ext uri="{FF2B5EF4-FFF2-40B4-BE49-F238E27FC236}">
                <a16:creationId xmlns:a16="http://schemas.microsoft.com/office/drawing/2014/main" id="{E2408F8A-1039-0F2C-D043-161693F55A34}"/>
              </a:ext>
            </a:extLst>
          </p:cNvPr>
          <p:cNvSpPr>
            <a:spLocks noGrp="1"/>
          </p:cNvSpPr>
          <p:nvPr>
            <p:ph idx="1"/>
          </p:nvPr>
        </p:nvSpPr>
        <p:spPr/>
        <p:txBody>
          <a:bodyPr vert="horz" lIns="91440" tIns="45720" rIns="91440" bIns="45720" rtlCol="0" anchor="t">
            <a:normAutofit/>
          </a:bodyPr>
          <a:lstStyle/>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How does the AI Act define things...?</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general-purpose AI model</a:t>
            </a:r>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 an AI model … trained with a large amount of data using self-supervision at scale, that displays significant generality and is capable of competently performing a wide range of distinct tasks ... that can be integrated into a variety of downstream systems or applications ...</a:t>
            </a:r>
          </a:p>
        </p:txBody>
      </p:sp>
    </p:spTree>
    <p:extLst>
      <p:ext uri="{BB962C8B-B14F-4D97-AF65-F5344CB8AC3E}">
        <p14:creationId xmlns:p14="http://schemas.microsoft.com/office/powerpoint/2010/main" val="4908610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32E27-88D9-4FC9-1674-8476093646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624151-50C3-889E-51EB-C0D04EFB03FF}"/>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EU AI Act </a:t>
            </a:r>
            <a:r>
              <a:rPr lang="en-US"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t>
            </a:r>
            <a:r>
              <a:rPr lang="en-GB"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August 2024</a:t>
            </a:r>
            <a:r>
              <a:rPr lang="en-US" i="1" dirty="0">
                <a:solidFill>
                  <a:schemeClr val="bg2">
                    <a:lumMod val="50000"/>
                  </a:schemeClr>
                </a:solidFill>
                <a:latin typeface="CMU SERIF ROMAN" panose="02000603000000000000" pitchFamily="2" charset="0"/>
                <a:ea typeface="CMU SERIF ROMAN" panose="02000603000000000000" pitchFamily="2" charset="0"/>
                <a:cs typeface="CMU SERIF ROMAN" panose="02000603000000000000" pitchFamily="2" charset="0"/>
              </a:rPr>
              <a:t>)</a:t>
            </a:r>
            <a:endParaRPr lang="en-US" dirty="0">
              <a:latin typeface="CMU Serif Roman" panose="02000603000000000000" pitchFamily="2" charset="0"/>
              <a:ea typeface="CMU Serif Roman" panose="02000603000000000000" pitchFamily="2" charset="0"/>
              <a:cs typeface="CMU Serif Roman" panose="02000603000000000000" pitchFamily="2" charset="0"/>
            </a:endParaRPr>
          </a:p>
        </p:txBody>
      </p:sp>
      <p:sp>
        <p:nvSpPr>
          <p:cNvPr id="3" name="Content Placeholder 2">
            <a:extLst>
              <a:ext uri="{FF2B5EF4-FFF2-40B4-BE49-F238E27FC236}">
                <a16:creationId xmlns:a16="http://schemas.microsoft.com/office/drawing/2014/main" id="{E6923F68-DE8D-A21D-AD3D-642139153BC1}"/>
              </a:ext>
            </a:extLst>
          </p:cNvPr>
          <p:cNvSpPr>
            <a:spLocks noGrp="1"/>
          </p:cNvSpPr>
          <p:nvPr>
            <p:ph idx="1"/>
          </p:nvPr>
        </p:nvSpPr>
        <p:spPr/>
        <p:txBody>
          <a:bodyPr vert="horz" lIns="91440" tIns="45720" rIns="91440" bIns="45720" rtlCol="0" anchor="t">
            <a:normAutofit/>
          </a:bodyPr>
          <a:lstStyle/>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How does the AI Act define things...?</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r>
              <a:rPr lang="en-US" b="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general-purpose AI model</a:t>
            </a:r>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 an </a:t>
            </a:r>
            <a:r>
              <a:rPr lang="en-US" i="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AI model</a:t>
            </a:r>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 trained with a </a:t>
            </a:r>
            <a:r>
              <a:rPr lang="en-US" i="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large amount of data</a:t>
            </a:r>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using </a:t>
            </a:r>
            <a:r>
              <a:rPr lang="en-US" i="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self-supervision</a:t>
            </a:r>
            <a:r>
              <a:rPr lang="en-US"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rPr>
              <a:t>at </a:t>
            </a:r>
            <a:r>
              <a:rPr lang="en-US" i="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scale</a:t>
            </a:r>
            <a:r>
              <a:rPr lang="en-US" dirty="0">
                <a:latin typeface="CMU Serif Roman" panose="02000603000000000000" pitchFamily="2" charset="0"/>
                <a:ea typeface="CMU Serif Roman" panose="02000603000000000000" pitchFamily="2" charset="0"/>
                <a:cs typeface="CMU Serif Roman" panose="02000603000000000000" pitchFamily="2" charset="0"/>
              </a:rPr>
              <a:t>, that displays significant </a:t>
            </a:r>
            <a:r>
              <a:rPr lang="en-US" i="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generality </a:t>
            </a:r>
            <a:r>
              <a:rPr lang="en-US" dirty="0">
                <a:latin typeface="CMU Serif Roman" panose="02000603000000000000" pitchFamily="2" charset="0"/>
                <a:ea typeface="CMU Serif Roman" panose="02000603000000000000" pitchFamily="2" charset="0"/>
                <a:cs typeface="CMU Serif Roman" panose="02000603000000000000" pitchFamily="2" charset="0"/>
              </a:rPr>
              <a:t>and is capable of competently performing a wide range of distinct tasks ... that can be integrated into a variety of </a:t>
            </a:r>
            <a:r>
              <a:rPr lang="en-US" i="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downstream systems or applications</a:t>
            </a:r>
            <a:r>
              <a:rPr lang="en-US" dirty="0">
                <a:latin typeface="CMU Serif Roman" panose="02000603000000000000" pitchFamily="2" charset="0"/>
                <a:ea typeface="CMU Serif Roman" panose="02000603000000000000" pitchFamily="2" charset="0"/>
                <a:cs typeface="CMU Serif Roman" panose="02000603000000000000" pitchFamily="2" charset="0"/>
              </a:rPr>
              <a:t> ...</a:t>
            </a:r>
          </a:p>
        </p:txBody>
      </p:sp>
    </p:spTree>
    <p:extLst>
      <p:ext uri="{BB962C8B-B14F-4D97-AF65-F5344CB8AC3E}">
        <p14:creationId xmlns:p14="http://schemas.microsoft.com/office/powerpoint/2010/main" val="15345181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0A84B-CED9-D10B-9C53-03A051F7C5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8FFBF8-A696-6775-4F1A-763C5095ED50}"/>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General Purpose AI Model</a:t>
            </a:r>
          </a:p>
        </p:txBody>
      </p:sp>
      <p:sp>
        <p:nvSpPr>
          <p:cNvPr id="3" name="Content Placeholder 2">
            <a:extLst>
              <a:ext uri="{FF2B5EF4-FFF2-40B4-BE49-F238E27FC236}">
                <a16:creationId xmlns:a16="http://schemas.microsoft.com/office/drawing/2014/main" id="{39593BBD-E291-3768-2FDE-E0BA2F410DFC}"/>
              </a:ext>
            </a:extLst>
          </p:cNvPr>
          <p:cNvSpPr>
            <a:spLocks noGrp="1"/>
          </p:cNvSpPr>
          <p:nvPr>
            <p:ph idx="1"/>
          </p:nvPr>
        </p:nvSpPr>
        <p:spPr/>
        <p:txBody>
          <a:bodyPr vert="horz" lIns="91440" tIns="45720" rIns="91440" bIns="45720" rtlCol="0" anchor="t">
            <a:noAutofit/>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The number of parameters of the model;</a:t>
            </a:r>
          </a:p>
          <a:p>
            <a:r>
              <a:rPr lang="en-US" dirty="0">
                <a:latin typeface="CMU Serif Roman" panose="02000603000000000000" pitchFamily="2" charset="0"/>
                <a:ea typeface="CMU Serif Roman" panose="02000603000000000000" pitchFamily="2" charset="0"/>
                <a:cs typeface="CMU Serif Roman" panose="02000603000000000000" pitchFamily="2" charset="0"/>
              </a:rPr>
              <a:t>The quality or size of the data set, for example measured through tokens;</a:t>
            </a:r>
          </a:p>
          <a:p>
            <a:r>
              <a:rPr lang="en-US" dirty="0">
                <a:latin typeface="CMU Serif Roman" panose="02000603000000000000" pitchFamily="2" charset="0"/>
                <a:ea typeface="CMU Serif Roman" panose="02000603000000000000" pitchFamily="2" charset="0"/>
                <a:cs typeface="CMU Serif Roman" panose="02000603000000000000" pitchFamily="2" charset="0"/>
              </a:rPr>
              <a:t>The amount of computation used for training the model, measured in:</a:t>
            </a:r>
          </a:p>
          <a:p>
            <a:pPr marL="971550" lvl="1" indent="-514350">
              <a:buFont typeface="Courier New" panose="020B0604020202020204" pitchFamily="34" charset="0"/>
              <a:buChar char="o"/>
            </a:pPr>
            <a:r>
              <a:rPr lang="en-US" dirty="0">
                <a:latin typeface="CMU Serif Roman" panose="02000603000000000000" pitchFamily="2" charset="0"/>
                <a:ea typeface="CMU Serif Roman" panose="02000603000000000000" pitchFamily="2" charset="0"/>
                <a:cs typeface="CMU Serif Roman" panose="02000603000000000000" pitchFamily="2" charset="0"/>
              </a:rPr>
              <a:t>Floating point ops</a:t>
            </a:r>
          </a:p>
          <a:p>
            <a:pPr marL="971550" lvl="1" indent="-514350">
              <a:buFont typeface="Courier New" panose="020B0604020202020204" pitchFamily="34" charset="0"/>
              <a:buChar char="o"/>
            </a:pPr>
            <a:r>
              <a:rPr lang="en-US" dirty="0">
                <a:latin typeface="CMU Serif Roman" panose="02000603000000000000" pitchFamily="2" charset="0"/>
                <a:ea typeface="CMU Serif Roman" panose="02000603000000000000" pitchFamily="2" charset="0"/>
                <a:cs typeface="CMU Serif Roman" panose="02000603000000000000" pitchFamily="2" charset="0"/>
              </a:rPr>
              <a:t>Cost of training</a:t>
            </a:r>
          </a:p>
          <a:p>
            <a:pPr marL="971550" lvl="1" indent="-514350">
              <a:buFont typeface="Courier New" panose="020B0604020202020204" pitchFamily="34" charset="0"/>
              <a:buChar char="o"/>
            </a:pPr>
            <a:r>
              <a:rPr lang="en-US" dirty="0">
                <a:latin typeface="CMU Serif Roman" panose="02000603000000000000" pitchFamily="2" charset="0"/>
                <a:ea typeface="CMU Serif Roman" panose="02000603000000000000" pitchFamily="2" charset="0"/>
                <a:cs typeface="CMU Serif Roman" panose="02000603000000000000" pitchFamily="2" charset="0"/>
              </a:rPr>
              <a:t>Training time</a:t>
            </a:r>
          </a:p>
          <a:p>
            <a:pPr marL="971550" lvl="1" indent="-514350">
              <a:buFont typeface="Courier New" panose="020B0604020202020204" pitchFamily="34" charset="0"/>
              <a:buChar char="o"/>
            </a:pPr>
            <a:r>
              <a:rPr lang="en-US" dirty="0">
                <a:latin typeface="CMU Serif Roman" panose="02000603000000000000" pitchFamily="2" charset="0"/>
                <a:ea typeface="CMU Serif Roman" panose="02000603000000000000" pitchFamily="2" charset="0"/>
                <a:cs typeface="CMU Serif Roman" panose="02000603000000000000" pitchFamily="2" charset="0"/>
              </a:rPr>
              <a:t>Energy consumption</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p:txBody>
      </p:sp>
    </p:spTree>
    <p:extLst>
      <p:ext uri="{BB962C8B-B14F-4D97-AF65-F5344CB8AC3E}">
        <p14:creationId xmlns:p14="http://schemas.microsoft.com/office/powerpoint/2010/main" val="2760384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C799AC-F16A-9B10-8065-66046C4334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1C1BFA-C543-0795-068D-73F38A5EB0E3}"/>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General Purpose AI Model</a:t>
            </a:r>
          </a:p>
        </p:txBody>
      </p:sp>
      <p:sp>
        <p:nvSpPr>
          <p:cNvPr id="3" name="Content Placeholder 2">
            <a:extLst>
              <a:ext uri="{FF2B5EF4-FFF2-40B4-BE49-F238E27FC236}">
                <a16:creationId xmlns:a16="http://schemas.microsoft.com/office/drawing/2014/main" id="{E7E0EA96-25AD-64DE-88A5-B407DAD77273}"/>
              </a:ext>
            </a:extLst>
          </p:cNvPr>
          <p:cNvSpPr>
            <a:spLocks noGrp="1"/>
          </p:cNvSpPr>
          <p:nvPr>
            <p:ph idx="1"/>
          </p:nvPr>
        </p:nvSpPr>
        <p:spPr/>
        <p:txBody>
          <a:bodyPr vert="horz" lIns="91440" tIns="45720" rIns="91440" bIns="45720" rtlCol="0" anchor="t">
            <a:noAutofit/>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The input and output modalities of the model, such as text to text (large language models)</a:t>
            </a:r>
          </a:p>
          <a:p>
            <a:r>
              <a:rPr lang="en-US" dirty="0">
                <a:latin typeface="CMU Serif Roman" panose="02000603000000000000" pitchFamily="2" charset="0"/>
                <a:ea typeface="CMU Serif Roman" panose="02000603000000000000" pitchFamily="2" charset="0"/>
                <a:cs typeface="CMU Serif Roman" panose="02000603000000000000" pitchFamily="2" charset="0"/>
              </a:rPr>
              <a:t>Impact:</a:t>
            </a:r>
          </a:p>
          <a:p>
            <a:pPr marL="971550" lvl="1" indent="-514350">
              <a:buFont typeface="Courier New" panose="020B0604020202020204" pitchFamily="34" charset="0"/>
              <a:buChar char="o"/>
            </a:pPr>
            <a:r>
              <a:rPr lang="en-US" dirty="0">
                <a:latin typeface="CMU Serif Roman" panose="02000603000000000000" pitchFamily="2" charset="0"/>
                <a:ea typeface="CMU Serif Roman" panose="02000603000000000000" pitchFamily="2" charset="0"/>
                <a:cs typeface="CMU Serif Roman" panose="02000603000000000000" pitchFamily="2" charset="0"/>
              </a:rPr>
              <a:t>Business users</a:t>
            </a:r>
          </a:p>
          <a:p>
            <a:pPr marL="971550" lvl="1" indent="-514350">
              <a:buFont typeface="Courier New" panose="020B0604020202020204" pitchFamily="34" charset="0"/>
              <a:buChar char="o"/>
            </a:pPr>
            <a:r>
              <a:rPr lang="en-US" dirty="0">
                <a:latin typeface="CMU Serif Roman" panose="02000603000000000000" pitchFamily="2" charset="0"/>
                <a:ea typeface="CMU Serif Roman" panose="02000603000000000000" pitchFamily="2" charset="0"/>
                <a:cs typeface="CMU Serif Roman" panose="02000603000000000000" pitchFamily="2" charset="0"/>
              </a:rPr>
              <a:t>Registered end-users</a:t>
            </a:r>
          </a:p>
          <a:p>
            <a:r>
              <a:rPr lang="en-US" dirty="0">
                <a:latin typeface="CMU Serif Roman" panose="02000603000000000000" pitchFamily="2" charset="0"/>
                <a:ea typeface="CMU Serif Roman" panose="02000603000000000000" pitchFamily="2" charset="0"/>
                <a:cs typeface="CMU Serif Roman" panose="02000603000000000000" pitchFamily="2" charset="0"/>
              </a:rPr>
              <a:t>The benchmarks and evaluations of capabilities of the model</a:t>
            </a:r>
          </a:p>
          <a:p>
            <a:pPr marL="971550" lvl="1" indent="-514350">
              <a:buFont typeface="Courier New" panose="020B0604020202020204" pitchFamily="34" charset="0"/>
              <a:buChar char="o"/>
            </a:pPr>
            <a:r>
              <a:rPr lang="en-US" dirty="0">
                <a:latin typeface="CMU Serif Roman" panose="02000603000000000000" pitchFamily="2" charset="0"/>
                <a:ea typeface="CMU Serif Roman" panose="02000603000000000000" pitchFamily="2" charset="0"/>
                <a:cs typeface="CMU Serif Roman" panose="02000603000000000000" pitchFamily="2" charset="0"/>
              </a:rPr>
              <a:t>Tasks without additional training</a:t>
            </a:r>
          </a:p>
          <a:p>
            <a:pPr marL="971550" lvl="1" indent="-514350">
              <a:buFont typeface="Courier New" panose="020B0604020202020204" pitchFamily="34" charset="0"/>
              <a:buChar char="o"/>
            </a:pPr>
            <a:r>
              <a:rPr lang="en-US" dirty="0">
                <a:latin typeface="CMU Serif Roman" panose="02000603000000000000" pitchFamily="2" charset="0"/>
                <a:ea typeface="CMU Serif Roman" panose="02000603000000000000" pitchFamily="2" charset="0"/>
                <a:cs typeface="CMU Serif Roman" panose="02000603000000000000" pitchFamily="2" charset="0"/>
              </a:rPr>
              <a:t>Adaptability to distinct tasks</a:t>
            </a:r>
          </a:p>
          <a:p>
            <a:pPr marL="971550" lvl="1" indent="-514350">
              <a:buFont typeface="Courier New" panose="020B0604020202020204" pitchFamily="34" charset="0"/>
              <a:buChar char="o"/>
            </a:pPr>
            <a:r>
              <a:rPr lang="en-US" dirty="0">
                <a:latin typeface="CMU Serif Roman" panose="02000603000000000000" pitchFamily="2" charset="0"/>
                <a:ea typeface="CMU Serif Roman" panose="02000603000000000000" pitchFamily="2" charset="0"/>
                <a:cs typeface="CMU Serif Roman" panose="02000603000000000000" pitchFamily="2" charset="0"/>
              </a:rPr>
              <a:t>Autonomy and scalability</a:t>
            </a:r>
          </a:p>
          <a:p>
            <a:pPr marL="971550" lvl="1" indent="-514350">
              <a:buFont typeface="Courier New" panose="020B0604020202020204" pitchFamily="34" charset="0"/>
              <a:buChar char="o"/>
            </a:pPr>
            <a:r>
              <a:rPr lang="en-US" dirty="0">
                <a:latin typeface="CMU Serif Roman" panose="02000603000000000000" pitchFamily="2" charset="0"/>
                <a:ea typeface="CMU Serif Roman" panose="02000603000000000000" pitchFamily="2" charset="0"/>
                <a:cs typeface="CMU Serif Roman" panose="02000603000000000000" pitchFamily="2" charset="0"/>
              </a:rPr>
              <a:t>Tool access</a:t>
            </a:r>
            <a:endParaRPr lang="en-US" sz="2800"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p:txBody>
      </p:sp>
    </p:spTree>
    <p:extLst>
      <p:ext uri="{BB962C8B-B14F-4D97-AF65-F5344CB8AC3E}">
        <p14:creationId xmlns:p14="http://schemas.microsoft.com/office/powerpoint/2010/main" val="3516369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E63CC-2009-9150-9883-7D6A5D765426}"/>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AI Systems</a:t>
            </a:r>
          </a:p>
        </p:txBody>
      </p:sp>
      <p:sp>
        <p:nvSpPr>
          <p:cNvPr id="3" name="Content Placeholder 2">
            <a:extLst>
              <a:ext uri="{FF2B5EF4-FFF2-40B4-BE49-F238E27FC236}">
                <a16:creationId xmlns:a16="http://schemas.microsoft.com/office/drawing/2014/main" id="{8E3982A0-7BFF-76E6-00A2-2D4A08CAC85F}"/>
              </a:ext>
            </a:extLst>
          </p:cNvPr>
          <p:cNvSpPr>
            <a:spLocks noGrp="1"/>
          </p:cNvSpPr>
          <p:nvPr>
            <p:ph idx="1"/>
          </p:nvPr>
        </p:nvSpPr>
        <p:spPr/>
        <p:txBody>
          <a:bodyPr vert="horz" lIns="91440" tIns="45720" rIns="91440" bIns="45720" rtlCol="0" anchor="t">
            <a:normAutofit/>
          </a:bodyPr>
          <a:lstStyle/>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There is a clear distinction between AI </a:t>
            </a:r>
            <a:r>
              <a:rPr lang="en-US" i="1" dirty="0">
                <a:solidFill>
                  <a:srgbClr val="7030A0"/>
                </a:solidFill>
                <a:latin typeface="CMU SERIF ROMAN" panose="02000603000000000000" pitchFamily="2" charset="0"/>
                <a:ea typeface="CMU SERIF ROMAN" panose="02000603000000000000" pitchFamily="2" charset="0"/>
                <a:cs typeface="CMU SERIF ROMAN" panose="02000603000000000000" pitchFamily="2" charset="0"/>
              </a:rPr>
              <a:t>models </a:t>
            </a:r>
            <a:r>
              <a:rPr lang="en-US" dirty="0">
                <a:latin typeface="CMU Serif Roman" panose="02000603000000000000" pitchFamily="2" charset="0"/>
                <a:ea typeface="CMU Serif Roman" panose="02000603000000000000" pitchFamily="2" charset="0"/>
                <a:cs typeface="CMU Serif Roman" panose="02000603000000000000" pitchFamily="2" charset="0"/>
              </a:rPr>
              <a:t>and AI </a:t>
            </a:r>
            <a:r>
              <a:rPr lang="en-US" i="1" dirty="0">
                <a:solidFill>
                  <a:srgbClr val="7030A0"/>
                </a:solidFill>
                <a:latin typeface="CMU SERIF ROMAN" panose="02000603000000000000" pitchFamily="2" charset="0"/>
                <a:ea typeface="CMU SERIF ROMAN" panose="02000603000000000000" pitchFamily="2" charset="0"/>
                <a:cs typeface="CMU SERIF ROMAN" panose="02000603000000000000" pitchFamily="2" charset="0"/>
              </a:rPr>
              <a:t>Systems</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r>
              <a:rPr lang="en-US" i="1" dirty="0">
                <a:solidFill>
                  <a:srgbClr val="1B55EB"/>
                </a:solidFill>
                <a:latin typeface="CMU SERIF ROMAN" panose="02000603000000000000" pitchFamily="2" charset="0"/>
                <a:ea typeface="CMU SERIF ROMAN" panose="02000603000000000000" pitchFamily="2" charset="0"/>
                <a:cs typeface="CMU SERIF ROMAN" panose="02000603000000000000" pitchFamily="2" charset="0"/>
              </a:rPr>
              <a:t>"...AI models require the addition of further components, for example a user interface, to become AI systems..."</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p:txBody>
      </p:sp>
    </p:spTree>
    <p:extLst>
      <p:ext uri="{BB962C8B-B14F-4D97-AF65-F5344CB8AC3E}">
        <p14:creationId xmlns:p14="http://schemas.microsoft.com/office/powerpoint/2010/main" val="1719520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11F7C-A98A-5154-DCC0-C9556283009D}"/>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Further reading</a:t>
            </a:r>
          </a:p>
        </p:txBody>
      </p:sp>
      <p:sp>
        <p:nvSpPr>
          <p:cNvPr id="3" name="Content Placeholder 2">
            <a:extLst>
              <a:ext uri="{FF2B5EF4-FFF2-40B4-BE49-F238E27FC236}">
                <a16:creationId xmlns:a16="http://schemas.microsoft.com/office/drawing/2014/main" id="{00BDD31A-73BA-6424-5AC5-D11B0A152ACD}"/>
              </a:ext>
            </a:extLst>
          </p:cNvPr>
          <p:cNvSpPr>
            <a:spLocks noGrp="1"/>
          </p:cNvSpPr>
          <p:nvPr>
            <p:ph idx="1"/>
          </p:nvPr>
        </p:nvSpPr>
        <p:spPr>
          <a:xfrm>
            <a:off x="838200" y="1617078"/>
            <a:ext cx="10515600" cy="4351338"/>
          </a:xfrm>
        </p:spPr>
        <p:txBody>
          <a:bodyPr vert="horz" lIns="91440" tIns="45720" rIns="91440" bIns="45720" rtlCol="0" anchor="t">
            <a:normAutofit fontScale="85000" lnSpcReduction="20000"/>
          </a:bodyPr>
          <a:lstStyle/>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Raphaël </a:t>
            </a:r>
            <a:r>
              <a:rPr lang="en-US" dirty="0" err="1">
                <a:latin typeface="CMU Serif Roman" panose="02000603000000000000" pitchFamily="2" charset="0"/>
                <a:ea typeface="CMU Serif Roman" panose="02000603000000000000" pitchFamily="2" charset="0"/>
                <a:cs typeface="CMU Serif Roman" panose="02000603000000000000" pitchFamily="2" charset="0"/>
              </a:rPr>
              <a:t>Millière</a:t>
            </a:r>
            <a:r>
              <a:rPr lang="en-US" dirty="0">
                <a:latin typeface="CMU Serif Roman" panose="02000603000000000000" pitchFamily="2" charset="0"/>
                <a:ea typeface="CMU Serif Roman" panose="02000603000000000000" pitchFamily="2" charset="0"/>
                <a:cs typeface="CMU Serif Roman" panose="02000603000000000000" pitchFamily="2" charset="0"/>
              </a:rPr>
              <a:t> and Charles </a:t>
            </a:r>
            <a:r>
              <a:rPr lang="en-US" dirty="0" err="1">
                <a:latin typeface="CMU Serif Roman" panose="02000603000000000000" pitchFamily="2" charset="0"/>
                <a:ea typeface="CMU Serif Roman" panose="02000603000000000000" pitchFamily="2" charset="0"/>
                <a:cs typeface="CMU Serif Roman" panose="02000603000000000000" pitchFamily="2" charset="0"/>
              </a:rPr>
              <a:t>Rathkopf</a:t>
            </a:r>
            <a:r>
              <a:rPr lang="en-US" dirty="0">
                <a:latin typeface="CMU Serif Roman" panose="02000603000000000000" pitchFamily="2" charset="0"/>
                <a:ea typeface="CMU Serif Roman" panose="02000603000000000000" pitchFamily="2" charset="0"/>
                <a:cs typeface="CMU Serif Roman" panose="02000603000000000000" pitchFamily="2" charset="0"/>
              </a:rPr>
              <a:t>, </a:t>
            </a:r>
            <a:r>
              <a:rPr lang="en-US" i="1" dirty="0">
                <a:latin typeface="CMU SERIF ROMAN" panose="02000603000000000000" pitchFamily="2" charset="0"/>
                <a:ea typeface="CMU SERIF ROMAN" panose="02000603000000000000" pitchFamily="2" charset="0"/>
                <a:cs typeface="CMU SERIF ROMAN" panose="02000603000000000000" pitchFamily="2" charset="0"/>
              </a:rPr>
              <a:t>Anthropocentric bias and the possibility of artificial cognition</a:t>
            </a:r>
            <a:r>
              <a:rPr lang="en-US" dirty="0">
                <a:latin typeface="CMU Serif Roman" panose="02000603000000000000" pitchFamily="2" charset="0"/>
                <a:ea typeface="CMU Serif Roman" panose="02000603000000000000" pitchFamily="2" charset="0"/>
                <a:cs typeface="CMU Serif Roman" panose="02000603000000000000" pitchFamily="2" charset="0"/>
              </a:rPr>
              <a:t>, 2024</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Raphaël </a:t>
            </a:r>
            <a:r>
              <a:rPr lang="en-US" dirty="0" err="1">
                <a:latin typeface="CMU Serif Roman" panose="02000603000000000000" pitchFamily="2" charset="0"/>
                <a:ea typeface="CMU Serif Roman" panose="02000603000000000000" pitchFamily="2" charset="0"/>
                <a:cs typeface="CMU Serif Roman" panose="02000603000000000000" pitchFamily="2" charset="0"/>
              </a:rPr>
              <a:t>Millière</a:t>
            </a:r>
            <a:r>
              <a:rPr lang="en-US" dirty="0">
                <a:latin typeface="CMU Serif Roman" panose="02000603000000000000" pitchFamily="2" charset="0"/>
                <a:ea typeface="CMU Serif Roman" panose="02000603000000000000" pitchFamily="2" charset="0"/>
                <a:cs typeface="CMU Serif Roman" panose="02000603000000000000" pitchFamily="2" charset="0"/>
              </a:rPr>
              <a:t> and Cameron Buckner, </a:t>
            </a:r>
            <a:r>
              <a:rPr lang="en-US" i="1" dirty="0">
                <a:latin typeface="CMU SERIF ROMAN" panose="02000603000000000000" pitchFamily="2" charset="0"/>
                <a:ea typeface="CMU SERIF ROMAN" panose="02000603000000000000" pitchFamily="2" charset="0"/>
                <a:cs typeface="CMU SERIF ROMAN" panose="02000603000000000000" pitchFamily="2" charset="0"/>
              </a:rPr>
              <a:t>A Philosophical Introduction to Language Models</a:t>
            </a:r>
            <a:r>
              <a:rPr lang="en-US" dirty="0">
                <a:latin typeface="CMU Serif Roman" panose="02000603000000000000" pitchFamily="2" charset="0"/>
                <a:ea typeface="CMU Serif Roman" panose="02000603000000000000" pitchFamily="2" charset="0"/>
                <a:cs typeface="CMU Serif Roman" panose="02000603000000000000" pitchFamily="2" charset="0"/>
              </a:rPr>
              <a:t>, 2024</a:t>
            </a: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hlinkClick r:id="rId2"/>
              </a:rPr>
              <a:t>EU AI Act Explorer</a:t>
            </a: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endParaRPr lang="en-US" dirty="0">
              <a:latin typeface="CMU Serif Roman" panose="02000603000000000000" pitchFamily="2" charset="0"/>
              <a:ea typeface="CMU Serif Roman" panose="02000603000000000000" pitchFamily="2" charset="0"/>
              <a:cs typeface="CMU Serif Roman" panose="02000603000000000000" pitchFamily="2" charset="0"/>
            </a:endParaRPr>
          </a:p>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ICO Information:</a:t>
            </a:r>
          </a:p>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hlinkClick r:id="rId3"/>
              </a:rPr>
              <a:t>Artificial Intelligence</a:t>
            </a:r>
          </a:p>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hlinkClick r:id="rId4"/>
              </a:rPr>
              <a:t>Data Protection</a:t>
            </a:r>
          </a:p>
          <a:p>
            <a:pPr marL="0" indent="0">
              <a:buNone/>
            </a:pPr>
            <a:r>
              <a:rPr lang="en-US" dirty="0">
                <a:latin typeface="CMU Serif Roman" panose="02000603000000000000" pitchFamily="2" charset="0"/>
                <a:ea typeface="CMU Serif Roman" panose="02000603000000000000" pitchFamily="2" charset="0"/>
                <a:cs typeface="CMU Serif Roman" panose="02000603000000000000" pitchFamily="2" charset="0"/>
              </a:rPr>
              <a:t> </a:t>
            </a:r>
            <a:r>
              <a:rPr lang="en-US" dirty="0">
                <a:latin typeface="CMU Serif Roman" panose="02000603000000000000" pitchFamily="2" charset="0"/>
                <a:ea typeface="CMU Serif Roman" panose="02000603000000000000" pitchFamily="2" charset="0"/>
                <a:cs typeface="CMU Serif Roman" panose="02000603000000000000" pitchFamily="2" charset="0"/>
                <a:hlinkClick r:id="rId5"/>
              </a:rPr>
              <a:t>Explaining Decisions</a:t>
            </a:r>
          </a:p>
        </p:txBody>
      </p:sp>
    </p:spTree>
    <p:extLst>
      <p:ext uri="{BB962C8B-B14F-4D97-AF65-F5344CB8AC3E}">
        <p14:creationId xmlns:p14="http://schemas.microsoft.com/office/powerpoint/2010/main" val="30110036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D1FB5-ABC3-780A-61EE-446200B352B4}"/>
            </a:ext>
          </a:extLst>
        </p:cNvPr>
        <p:cNvGrpSpPr/>
        <p:nvPr/>
      </p:nvGrpSpPr>
      <p:grpSpPr>
        <a:xfrm>
          <a:off x="0" y="0"/>
          <a:ext cx="0" cy="0"/>
          <a:chOff x="0" y="0"/>
          <a:chExt cx="0" cy="0"/>
        </a:xfrm>
      </p:grpSpPr>
      <p:pic>
        <p:nvPicPr>
          <p:cNvPr id="9" name="Picture 8" descr="Generated image">
            <a:extLst>
              <a:ext uri="{FF2B5EF4-FFF2-40B4-BE49-F238E27FC236}">
                <a16:creationId xmlns:a16="http://schemas.microsoft.com/office/drawing/2014/main" id="{0CB9B50D-79FA-5006-D2F4-949C92358E23}"/>
              </a:ext>
            </a:extLst>
          </p:cNvPr>
          <p:cNvPicPr>
            <a:picLocks noChangeAspect="1"/>
          </p:cNvPicPr>
          <p:nvPr/>
        </p:nvPicPr>
        <p:blipFill>
          <a:blip r:embed="rId3"/>
          <a:srcRect b="10767"/>
          <a:stretch>
            <a:fillRect/>
          </a:stretch>
        </p:blipFill>
        <p:spPr>
          <a:xfrm>
            <a:off x="3575146" y="244930"/>
            <a:ext cx="4401911" cy="5901038"/>
          </a:xfrm>
          <a:prstGeom prst="rect">
            <a:avLst/>
          </a:prstGeom>
        </p:spPr>
      </p:pic>
      <p:sp>
        <p:nvSpPr>
          <p:cNvPr id="2" name="Title 1">
            <a:extLst>
              <a:ext uri="{FF2B5EF4-FFF2-40B4-BE49-F238E27FC236}">
                <a16:creationId xmlns:a16="http://schemas.microsoft.com/office/drawing/2014/main" id="{40DE041F-0CBF-88DF-92CF-25A2CE73CE9F}"/>
              </a:ext>
            </a:extLst>
          </p:cNvPr>
          <p:cNvSpPr>
            <a:spLocks noGrp="1"/>
          </p:cNvSpPr>
          <p:nvPr>
            <p:ph type="title"/>
          </p:nvPr>
        </p:nvSpPr>
        <p:spPr/>
        <p:txBody>
          <a:bodyPr/>
          <a:lstStyle/>
          <a:p>
            <a:r>
              <a:rPr lang="en-US" dirty="0">
                <a:latin typeface="CMU Serif Roman" panose="02000603000000000000" pitchFamily="2" charset="0"/>
                <a:ea typeface="CMU Serif Roman" panose="02000603000000000000" pitchFamily="2" charset="0"/>
                <a:cs typeface="CMU Serif Roman" panose="02000603000000000000" pitchFamily="2" charset="0"/>
              </a:rPr>
              <a:t>The Llama...</a:t>
            </a:r>
          </a:p>
        </p:txBody>
      </p:sp>
      <p:sp>
        <p:nvSpPr>
          <p:cNvPr id="15" name="Flowchart: Connector 14">
            <a:extLst>
              <a:ext uri="{FF2B5EF4-FFF2-40B4-BE49-F238E27FC236}">
                <a16:creationId xmlns:a16="http://schemas.microsoft.com/office/drawing/2014/main" id="{8DE49AE0-4CA4-40A9-0A9B-16088430B718}"/>
              </a:ext>
            </a:extLst>
          </p:cNvPr>
          <p:cNvSpPr/>
          <p:nvPr/>
        </p:nvSpPr>
        <p:spPr>
          <a:xfrm>
            <a:off x="3834918" y="2089314"/>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1</a:t>
            </a:r>
          </a:p>
        </p:txBody>
      </p:sp>
      <p:cxnSp>
        <p:nvCxnSpPr>
          <p:cNvPr id="17" name="Connector: Curved 16">
            <a:extLst>
              <a:ext uri="{FF2B5EF4-FFF2-40B4-BE49-F238E27FC236}">
                <a16:creationId xmlns:a16="http://schemas.microsoft.com/office/drawing/2014/main" id="{32B468D2-E305-F28B-7685-FCBF686A632B}"/>
              </a:ext>
            </a:extLst>
          </p:cNvPr>
          <p:cNvCxnSpPr/>
          <p:nvPr/>
        </p:nvCxnSpPr>
        <p:spPr>
          <a:xfrm>
            <a:off x="4290139" y="2319399"/>
            <a:ext cx="620485" cy="920339"/>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0" name="Connector: Curved 19">
            <a:extLst>
              <a:ext uri="{FF2B5EF4-FFF2-40B4-BE49-F238E27FC236}">
                <a16:creationId xmlns:a16="http://schemas.microsoft.com/office/drawing/2014/main" id="{76BC7FC7-AD08-90A8-49D1-0575D2B3F8AB}"/>
              </a:ext>
            </a:extLst>
          </p:cNvPr>
          <p:cNvCxnSpPr>
            <a:cxnSpLocks/>
          </p:cNvCxnSpPr>
          <p:nvPr/>
        </p:nvCxnSpPr>
        <p:spPr>
          <a:xfrm>
            <a:off x="5365103" y="3251488"/>
            <a:ext cx="409574" cy="838695"/>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1" name="Connector: Curved 20">
            <a:extLst>
              <a:ext uri="{FF2B5EF4-FFF2-40B4-BE49-F238E27FC236}">
                <a16:creationId xmlns:a16="http://schemas.microsoft.com/office/drawing/2014/main" id="{A335E7AA-1D8B-2E55-A29E-EED24D1B639A}"/>
              </a:ext>
            </a:extLst>
          </p:cNvPr>
          <p:cNvCxnSpPr>
            <a:cxnSpLocks/>
          </p:cNvCxnSpPr>
          <p:nvPr/>
        </p:nvCxnSpPr>
        <p:spPr>
          <a:xfrm>
            <a:off x="6229156" y="4081524"/>
            <a:ext cx="810985" cy="8660"/>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sp>
        <p:nvSpPr>
          <p:cNvPr id="22" name="Flowchart: Connector 21">
            <a:extLst>
              <a:ext uri="{FF2B5EF4-FFF2-40B4-BE49-F238E27FC236}">
                <a16:creationId xmlns:a16="http://schemas.microsoft.com/office/drawing/2014/main" id="{8712FCDF-7D9A-7B99-F5CA-BE97C761A042}"/>
              </a:ext>
            </a:extLst>
          </p:cNvPr>
          <p:cNvSpPr/>
          <p:nvPr/>
        </p:nvSpPr>
        <p:spPr>
          <a:xfrm>
            <a:off x="4909881" y="3014599"/>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2</a:t>
            </a:r>
          </a:p>
        </p:txBody>
      </p:sp>
      <p:sp>
        <p:nvSpPr>
          <p:cNvPr id="23" name="Flowchart: Connector 22">
            <a:extLst>
              <a:ext uri="{FF2B5EF4-FFF2-40B4-BE49-F238E27FC236}">
                <a16:creationId xmlns:a16="http://schemas.microsoft.com/office/drawing/2014/main" id="{61F1CF64-0E1B-743E-5CD3-26A9AC682EEF}"/>
              </a:ext>
            </a:extLst>
          </p:cNvPr>
          <p:cNvSpPr/>
          <p:nvPr/>
        </p:nvSpPr>
        <p:spPr>
          <a:xfrm>
            <a:off x="5773934" y="3851438"/>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3</a:t>
            </a:r>
          </a:p>
        </p:txBody>
      </p:sp>
      <p:sp>
        <p:nvSpPr>
          <p:cNvPr id="24" name="Flowchart: Connector 23">
            <a:extLst>
              <a:ext uri="{FF2B5EF4-FFF2-40B4-BE49-F238E27FC236}">
                <a16:creationId xmlns:a16="http://schemas.microsoft.com/office/drawing/2014/main" id="{5238F64C-890C-0625-CEFC-DC60C3C1630E}"/>
              </a:ext>
            </a:extLst>
          </p:cNvPr>
          <p:cNvSpPr/>
          <p:nvPr/>
        </p:nvSpPr>
        <p:spPr>
          <a:xfrm>
            <a:off x="7039398" y="3851438"/>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4</a:t>
            </a:r>
          </a:p>
        </p:txBody>
      </p:sp>
      <p:sp>
        <p:nvSpPr>
          <p:cNvPr id="27" name="Flowchart: Connector 26">
            <a:extLst>
              <a:ext uri="{FF2B5EF4-FFF2-40B4-BE49-F238E27FC236}">
                <a16:creationId xmlns:a16="http://schemas.microsoft.com/office/drawing/2014/main" id="{72A8BCF0-F440-F18F-06EA-2709354729E7}"/>
              </a:ext>
            </a:extLst>
          </p:cNvPr>
          <p:cNvSpPr/>
          <p:nvPr/>
        </p:nvSpPr>
        <p:spPr>
          <a:xfrm>
            <a:off x="8596868" y="2098839"/>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1</a:t>
            </a:r>
          </a:p>
        </p:txBody>
      </p:sp>
      <p:sp>
        <p:nvSpPr>
          <p:cNvPr id="29" name="Flowchart: Connector 28">
            <a:extLst>
              <a:ext uri="{FF2B5EF4-FFF2-40B4-BE49-F238E27FC236}">
                <a16:creationId xmlns:a16="http://schemas.microsoft.com/office/drawing/2014/main" id="{E0DDEB15-2D3A-41A4-5E5F-A92FC7CB7F59}"/>
              </a:ext>
            </a:extLst>
          </p:cNvPr>
          <p:cNvSpPr/>
          <p:nvPr/>
        </p:nvSpPr>
        <p:spPr>
          <a:xfrm>
            <a:off x="8596867" y="291526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2</a:t>
            </a:r>
          </a:p>
        </p:txBody>
      </p:sp>
      <p:sp>
        <p:nvSpPr>
          <p:cNvPr id="31" name="Flowchart: Connector 30">
            <a:extLst>
              <a:ext uri="{FF2B5EF4-FFF2-40B4-BE49-F238E27FC236}">
                <a16:creationId xmlns:a16="http://schemas.microsoft.com/office/drawing/2014/main" id="{C9E108AF-3E91-D9A2-C5C0-49D9AD0B066F}"/>
              </a:ext>
            </a:extLst>
          </p:cNvPr>
          <p:cNvSpPr/>
          <p:nvPr/>
        </p:nvSpPr>
        <p:spPr>
          <a:xfrm>
            <a:off x="8596866" y="3731695"/>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3</a:t>
            </a:r>
          </a:p>
        </p:txBody>
      </p:sp>
      <p:sp>
        <p:nvSpPr>
          <p:cNvPr id="33" name="Flowchart: Connector 32">
            <a:extLst>
              <a:ext uri="{FF2B5EF4-FFF2-40B4-BE49-F238E27FC236}">
                <a16:creationId xmlns:a16="http://schemas.microsoft.com/office/drawing/2014/main" id="{68D2B949-9B18-797E-E044-E9411FAFDF9E}"/>
              </a:ext>
            </a:extLst>
          </p:cNvPr>
          <p:cNvSpPr/>
          <p:nvPr/>
        </p:nvSpPr>
        <p:spPr>
          <a:xfrm>
            <a:off x="8596866" y="4534517"/>
            <a:ext cx="457200" cy="457200"/>
          </a:xfrm>
          <a:custGeom>
            <a:avLst/>
            <a:gdLst>
              <a:gd name="csX0" fmla="*/ 0 w 457200"/>
              <a:gd name="csY0" fmla="*/ 228600 h 457200"/>
              <a:gd name="csX1" fmla="*/ 228600 w 457200"/>
              <a:gd name="csY1" fmla="*/ 0 h 457200"/>
              <a:gd name="csX2" fmla="*/ 457200 w 457200"/>
              <a:gd name="csY2" fmla="*/ 228600 h 457200"/>
              <a:gd name="csX3" fmla="*/ 228600 w 457200"/>
              <a:gd name="csY3" fmla="*/ 457200 h 457200"/>
              <a:gd name="csX4" fmla="*/ 0 w 457200"/>
              <a:gd name="csY4" fmla="*/ 228600 h 457200"/>
            </a:gdLst>
            <a:ahLst/>
            <a:cxnLst>
              <a:cxn ang="0">
                <a:pos x="csX0" y="csY0"/>
              </a:cxn>
              <a:cxn ang="0">
                <a:pos x="csX1" y="csY1"/>
              </a:cxn>
              <a:cxn ang="0">
                <a:pos x="csX2" y="csY2"/>
              </a:cxn>
              <a:cxn ang="0">
                <a:pos x="csX3" y="csY3"/>
              </a:cxn>
              <a:cxn ang="0">
                <a:pos x="csX4" y="cs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solidFill>
              <a:srgbClr val="1B55EB"/>
            </a:solidFill>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latin typeface="CMU Serif Roman" panose="02000603000000000000" pitchFamily="2" charset="0"/>
                <a:ea typeface="CMU Serif Roman" panose="02000603000000000000" pitchFamily="2" charset="0"/>
                <a:cs typeface="CMU Serif Roman" panose="02000603000000000000" pitchFamily="2" charset="0"/>
              </a:rPr>
              <a:t>4</a:t>
            </a:r>
          </a:p>
        </p:txBody>
      </p:sp>
      <p:sp>
        <p:nvSpPr>
          <p:cNvPr id="34" name="TextBox 33">
            <a:extLst>
              <a:ext uri="{FF2B5EF4-FFF2-40B4-BE49-F238E27FC236}">
                <a16:creationId xmlns:a16="http://schemas.microsoft.com/office/drawing/2014/main" id="{2707287F-9A80-2F13-469B-56A11861478E}"/>
              </a:ext>
            </a:extLst>
          </p:cNvPr>
          <p:cNvSpPr txBox="1"/>
          <p:nvPr/>
        </p:nvSpPr>
        <p:spPr>
          <a:xfrm>
            <a:off x="9198427" y="2139723"/>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solidFill>
              <a:srgbClr val="1B55EB"/>
            </a:solidFill>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latin typeface="CMU Serif Roman" panose="02000603000000000000" pitchFamily="2" charset="0"/>
                <a:ea typeface="CMU Serif Roman" panose="02000603000000000000" pitchFamily="2" charset="0"/>
                <a:cs typeface="CMU Serif Roman" panose="02000603000000000000" pitchFamily="2" charset="0"/>
              </a:rPr>
              <a:t>Tokenization</a:t>
            </a:r>
          </a:p>
        </p:txBody>
      </p:sp>
      <p:sp>
        <p:nvSpPr>
          <p:cNvPr id="35" name="TextBox 34">
            <a:extLst>
              <a:ext uri="{FF2B5EF4-FFF2-40B4-BE49-F238E27FC236}">
                <a16:creationId xmlns:a16="http://schemas.microsoft.com/office/drawing/2014/main" id="{3A25FC60-747B-0C4E-9D19-105FD1005680}"/>
              </a:ext>
            </a:extLst>
          </p:cNvPr>
          <p:cNvSpPr txBox="1"/>
          <p:nvPr/>
        </p:nvSpPr>
        <p:spPr>
          <a:xfrm>
            <a:off x="9198426" y="2956151"/>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solidFill>
              <a:srgbClr val="1B55EB"/>
            </a:solidFill>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latin typeface="CMU Serif Roman" panose="02000603000000000000" pitchFamily="2" charset="0"/>
                <a:ea typeface="CMU Serif Roman" panose="02000603000000000000" pitchFamily="2" charset="0"/>
                <a:cs typeface="CMU Serif Roman" panose="02000603000000000000" pitchFamily="2" charset="0"/>
              </a:rPr>
              <a:t>Embeddings</a:t>
            </a:r>
          </a:p>
        </p:txBody>
      </p:sp>
      <p:sp>
        <p:nvSpPr>
          <p:cNvPr id="36" name="TextBox 35">
            <a:extLst>
              <a:ext uri="{FF2B5EF4-FFF2-40B4-BE49-F238E27FC236}">
                <a16:creationId xmlns:a16="http://schemas.microsoft.com/office/drawing/2014/main" id="{4FC6EA0E-233B-4304-00AD-284BD8A5F121}"/>
              </a:ext>
            </a:extLst>
          </p:cNvPr>
          <p:cNvSpPr txBox="1"/>
          <p:nvPr/>
        </p:nvSpPr>
        <p:spPr>
          <a:xfrm>
            <a:off x="9198426" y="3772580"/>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solidFill>
              <a:srgbClr val="1B55EB"/>
            </a:solidFill>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latin typeface="CMU Serif Roman" panose="02000603000000000000" pitchFamily="2" charset="0"/>
                <a:ea typeface="CMU Serif Roman" panose="02000603000000000000" pitchFamily="2" charset="0"/>
                <a:cs typeface="CMU Serif Roman" panose="02000603000000000000" pitchFamily="2" charset="0"/>
              </a:rPr>
              <a:t>Attention</a:t>
            </a:r>
          </a:p>
        </p:txBody>
      </p:sp>
      <p:sp>
        <p:nvSpPr>
          <p:cNvPr id="37" name="TextBox 36">
            <a:extLst>
              <a:ext uri="{FF2B5EF4-FFF2-40B4-BE49-F238E27FC236}">
                <a16:creationId xmlns:a16="http://schemas.microsoft.com/office/drawing/2014/main" id="{7A953F32-7333-BF84-D68A-12CE0C4099A6}"/>
              </a:ext>
            </a:extLst>
          </p:cNvPr>
          <p:cNvSpPr txBox="1"/>
          <p:nvPr/>
        </p:nvSpPr>
        <p:spPr>
          <a:xfrm>
            <a:off x="9198426" y="4568598"/>
            <a:ext cx="2333625" cy="369332"/>
          </a:xfrm>
          <a:custGeom>
            <a:avLst/>
            <a:gdLst>
              <a:gd name="csX0" fmla="*/ 0 w 2333625"/>
              <a:gd name="csY0" fmla="*/ 0 h 369332"/>
              <a:gd name="csX1" fmla="*/ 583406 w 2333625"/>
              <a:gd name="csY1" fmla="*/ 0 h 369332"/>
              <a:gd name="csX2" fmla="*/ 1213485 w 2333625"/>
              <a:gd name="csY2" fmla="*/ 0 h 369332"/>
              <a:gd name="csX3" fmla="*/ 1773555 w 2333625"/>
              <a:gd name="csY3" fmla="*/ 0 h 369332"/>
              <a:gd name="csX4" fmla="*/ 2333625 w 2333625"/>
              <a:gd name="csY4" fmla="*/ 0 h 369332"/>
              <a:gd name="csX5" fmla="*/ 2333625 w 2333625"/>
              <a:gd name="csY5" fmla="*/ 369332 h 369332"/>
              <a:gd name="csX6" fmla="*/ 1703546 w 2333625"/>
              <a:gd name="csY6" fmla="*/ 369332 h 369332"/>
              <a:gd name="csX7" fmla="*/ 1143476 w 2333625"/>
              <a:gd name="csY7" fmla="*/ 369332 h 369332"/>
              <a:gd name="csX8" fmla="*/ 583406 w 2333625"/>
              <a:gd name="csY8" fmla="*/ 369332 h 369332"/>
              <a:gd name="csX9" fmla="*/ 0 w 2333625"/>
              <a:gd name="csY9" fmla="*/ 369332 h 369332"/>
              <a:gd name="csX10" fmla="*/ 0 w 2333625"/>
              <a:gd name="csY10" fmla="*/ 0 h 369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solidFill>
              <a:srgbClr val="1B55EB"/>
            </a:solidFill>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latin typeface="CMU Serif Roman" panose="02000603000000000000" pitchFamily="2" charset="0"/>
                <a:ea typeface="CMU Serif Roman" panose="02000603000000000000" pitchFamily="2" charset="0"/>
                <a:cs typeface="CMU Serif Roman" panose="02000603000000000000" pitchFamily="2" charset="0"/>
              </a:rPr>
              <a:t>Sampling</a:t>
            </a:r>
          </a:p>
        </p:txBody>
      </p:sp>
    </p:spTree>
    <p:extLst>
      <p:ext uri="{BB962C8B-B14F-4D97-AF65-F5344CB8AC3E}">
        <p14:creationId xmlns:p14="http://schemas.microsoft.com/office/powerpoint/2010/main" val="162251729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181</TotalTime>
  <Words>1433</Words>
  <Application>Microsoft Macintosh PowerPoint</Application>
  <PresentationFormat>Widescreen</PresentationFormat>
  <Paragraphs>217</Paragraphs>
  <Slides>19</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19</vt:i4>
      </vt:variant>
    </vt:vector>
  </HeadingPairs>
  <TitlesOfParts>
    <vt:vector size="27" baseType="lpstr">
      <vt:lpstr>Aptos</vt:lpstr>
      <vt:lpstr>Aptos Display</vt:lpstr>
      <vt:lpstr>Arial</vt:lpstr>
      <vt:lpstr>Calibri</vt:lpstr>
      <vt:lpstr>CMU SERIF ROMAN</vt:lpstr>
      <vt:lpstr>CMU SERIF ROMAN</vt:lpstr>
      <vt:lpstr>Courier New</vt:lpstr>
      <vt:lpstr>Office Theme</vt:lpstr>
      <vt:lpstr>Introduction to LLMs</vt:lpstr>
      <vt:lpstr>About Us</vt:lpstr>
      <vt:lpstr>AI Clinic</vt:lpstr>
      <vt:lpstr>Workshop Goals</vt:lpstr>
      <vt:lpstr>Schedule</vt:lpstr>
      <vt:lpstr>Before we begin...</vt:lpstr>
      <vt:lpstr>The Llama...</vt:lpstr>
      <vt:lpstr>How can we augment them?</vt:lpstr>
      <vt:lpstr>Some definitions</vt:lpstr>
      <vt:lpstr>EU AI Act (August 2024)</vt:lpstr>
      <vt:lpstr>EU AI Act (August 2024)</vt:lpstr>
      <vt:lpstr>EU AI Act (August 2024)</vt:lpstr>
      <vt:lpstr>EU AI Act (August 2024)</vt:lpstr>
      <vt:lpstr>EU AI Act (August 2024)</vt:lpstr>
      <vt:lpstr>General Purpose AI Model</vt:lpstr>
      <vt:lpstr>General Purpose AI Model</vt:lpstr>
      <vt:lpstr>AI Systems</vt:lpstr>
      <vt:lpstr>Further reading</vt:lpstr>
      <vt:lpstr>The Llama...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Finley Griffin</cp:lastModifiedBy>
  <cp:revision>487</cp:revision>
  <dcterms:created xsi:type="dcterms:W3CDTF">2025-06-13T08:58:27Z</dcterms:created>
  <dcterms:modified xsi:type="dcterms:W3CDTF">2026-05-14T12:51:21Z</dcterms:modified>
</cp:coreProperties>
</file>