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sldIdLst>
    <p:sldId id="256" r:id="rId2"/>
    <p:sldId id="257" r:id="rId3"/>
    <p:sldId id="264" r:id="rId4"/>
    <p:sldId id="263" r:id="rId5"/>
    <p:sldId id="265" r:id="rId6"/>
    <p:sldId id="258" r:id="rId7"/>
    <p:sldId id="259" r:id="rId8"/>
    <p:sldId id="262" r:id="rId9"/>
    <p:sldId id="266" r:id="rId10"/>
    <p:sldId id="267" r:id="rId11"/>
    <p:sldId id="268" r:id="rId12"/>
    <p:sldId id="269" r:id="rId13"/>
    <p:sldId id="270" r:id="rId14"/>
    <p:sldId id="271" r:id="rId15"/>
    <p:sldId id="272" r:id="rId16"/>
    <p:sldId id="273" r:id="rId17"/>
    <p:sldId id="261"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B6609-0461-3689-64DB-6E59DF0EFC74}" v="4" dt="2025-09-30T10:40:58.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82" autoAdjust="0"/>
    <p:restoredTop sz="83648"/>
  </p:normalViewPr>
  <p:slideViewPr>
    <p:cSldViewPr snapToGrid="0">
      <p:cViewPr varScale="1">
        <p:scale>
          <a:sx n="99" d="100"/>
          <a:sy n="99" d="100"/>
        </p:scale>
        <p:origin x="81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Daniels" userId="S::rkd43@cam.ac.uk::aaa4fbe9-f474-4140-b10b-5257398ac308" providerId="AD" clId="Web-{4E64C8C7-738B-4470-FDD7-57B834C01F0B}"/>
    <pc:docChg chg="modSld">
      <pc:chgData name="Ryan Daniels" userId="S::rkd43@cam.ac.uk::aaa4fbe9-f474-4140-b10b-5257398ac308" providerId="AD" clId="Web-{4E64C8C7-738B-4470-FDD7-57B834C01F0B}" dt="2025-09-04T15:58:01.178" v="7" actId="20577"/>
      <pc:docMkLst>
        <pc:docMk/>
      </pc:docMkLst>
      <pc:sldChg chg="modSp">
        <pc:chgData name="Ryan Daniels" userId="S::rkd43@cam.ac.uk::aaa4fbe9-f474-4140-b10b-5257398ac308" providerId="AD" clId="Web-{4E64C8C7-738B-4470-FDD7-57B834C01F0B}" dt="2025-09-04T15:58:01.178" v="7" actId="20577"/>
        <pc:sldMkLst>
          <pc:docMk/>
          <pc:sldMk cId="570589333" sldId="259"/>
        </pc:sldMkLst>
        <pc:spChg chg="mod">
          <ac:chgData name="Ryan Daniels" userId="S::rkd43@cam.ac.uk::aaa4fbe9-f474-4140-b10b-5257398ac308" providerId="AD" clId="Web-{4E64C8C7-738B-4470-FDD7-57B834C01F0B}" dt="2025-09-04T15:58:01.178" v="7" actId="20577"/>
          <ac:spMkLst>
            <pc:docMk/>
            <pc:sldMk cId="570589333" sldId="259"/>
            <ac:spMk id="3" creationId="{D83C43F5-34A7-8640-01DC-E67800E0C470}"/>
          </ac:spMkLst>
        </pc:spChg>
      </pc:sldChg>
    </pc:docChg>
  </pc:docChgLst>
  <pc:docChgLst>
    <pc:chgData name="Ryan Daniels" userId="S::rkd43@cam.ac.uk::aaa4fbe9-f474-4140-b10b-5257398ac308" providerId="AD" clId="Web-{E26B6609-0461-3689-64DB-6E59DF0EFC74}"/>
    <pc:docChg chg="modSld">
      <pc:chgData name="Ryan Daniels" userId="S::rkd43@cam.ac.uk::aaa4fbe9-f474-4140-b10b-5257398ac308" providerId="AD" clId="Web-{E26B6609-0461-3689-64DB-6E59DF0EFC74}" dt="2025-09-30T10:40:58.045" v="3" actId="20577"/>
      <pc:docMkLst>
        <pc:docMk/>
      </pc:docMkLst>
      <pc:sldChg chg="modSp">
        <pc:chgData name="Ryan Daniels" userId="S::rkd43@cam.ac.uk::aaa4fbe9-f474-4140-b10b-5257398ac308" providerId="AD" clId="Web-{E26B6609-0461-3689-64DB-6E59DF0EFC74}" dt="2025-09-30T10:40:58.045" v="3" actId="20577"/>
        <pc:sldMkLst>
          <pc:docMk/>
          <pc:sldMk cId="1719520842" sldId="273"/>
        </pc:sldMkLst>
        <pc:spChg chg="mod">
          <ac:chgData name="Ryan Daniels" userId="S::rkd43@cam.ac.uk::aaa4fbe9-f474-4140-b10b-5257398ac308" providerId="AD" clId="Web-{E26B6609-0461-3689-64DB-6E59DF0EFC74}" dt="2025-09-30T10:40:58.045" v="3" actId="20577"/>
          <ac:spMkLst>
            <pc:docMk/>
            <pc:sldMk cId="1719520842" sldId="273"/>
            <ac:spMk id="3" creationId="{8E3982A0-7BFF-76E6-00A2-2D4A08CAC85F}"/>
          </ac:spMkLst>
        </pc:spChg>
      </pc:sldChg>
    </pc:docChg>
  </pc:docChgLst>
  <pc:docChgLst>
    <pc:chgData name="Ryan Daniels" userId="S::rkd43@cam.ac.uk::aaa4fbe9-f474-4140-b10b-5257398ac308" providerId="AD" clId="Web-{61261352-28B5-F6B1-1A56-AB06BC1060C3}"/>
    <pc:docChg chg="addSld delSld modSld">
      <pc:chgData name="Ryan Daniels" userId="S::rkd43@cam.ac.uk::aaa4fbe9-f474-4140-b10b-5257398ac308" providerId="AD" clId="Web-{61261352-28B5-F6B1-1A56-AB06BC1060C3}" dt="2025-09-03T12:01:59.552" v="104" actId="20577"/>
      <pc:docMkLst>
        <pc:docMk/>
      </pc:docMkLst>
      <pc:sldChg chg="delSp delAnim">
        <pc:chgData name="Ryan Daniels" userId="S::rkd43@cam.ac.uk::aaa4fbe9-f474-4140-b10b-5257398ac308" providerId="AD" clId="Web-{61261352-28B5-F6B1-1A56-AB06BC1060C3}" dt="2025-09-03T11:25:20.204" v="2"/>
        <pc:sldMkLst>
          <pc:docMk/>
          <pc:sldMk cId="3802117303" sldId="258"/>
        </pc:sldMkLst>
      </pc:sldChg>
      <pc:sldChg chg="modSp">
        <pc:chgData name="Ryan Daniels" userId="S::rkd43@cam.ac.uk::aaa4fbe9-f474-4140-b10b-5257398ac308" providerId="AD" clId="Web-{61261352-28B5-F6B1-1A56-AB06BC1060C3}" dt="2025-09-03T12:01:59.552" v="104" actId="20577"/>
        <pc:sldMkLst>
          <pc:docMk/>
          <pc:sldMk cId="3011003677" sldId="261"/>
        </pc:sldMkLst>
        <pc:spChg chg="mod">
          <ac:chgData name="Ryan Daniels" userId="S::rkd43@cam.ac.uk::aaa4fbe9-f474-4140-b10b-5257398ac308" providerId="AD" clId="Web-{61261352-28B5-F6B1-1A56-AB06BC1060C3}" dt="2025-09-03T12:01:59.552" v="104" actId="20577"/>
          <ac:spMkLst>
            <pc:docMk/>
            <pc:sldMk cId="3011003677" sldId="261"/>
            <ac:spMk id="3" creationId="{00BDD31A-73BA-6424-5AC5-D11B0A152ACD}"/>
          </ac:spMkLst>
        </pc:spChg>
      </pc:sldChg>
    </pc:docChg>
  </pc:docChgLst>
  <pc:docChgLst>
    <pc:chgData name="Ryan Daniels" userId="S::rkd43@cam.ac.uk::aaa4fbe9-f474-4140-b10b-5257398ac308" providerId="AD" clId="Web-{319BC8FD-C455-96ED-2801-3920832F5F55}"/>
    <pc:docChg chg="addSld delSld modSld">
      <pc:chgData name="Ryan Daniels" userId="S::rkd43@cam.ac.uk::aaa4fbe9-f474-4140-b10b-5257398ac308" providerId="AD" clId="Web-{319BC8FD-C455-96ED-2801-3920832F5F55}" dt="2025-09-13T08:47:10.864" v="13"/>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082D9-00CE-4FDC-82D3-FDE16CD37225}" type="datetimeFigureOut">
              <a:t>5/8/26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7E69D-609B-4983-96D1-38CC478AEB14}" type="slidenum">
              <a:t>‹#›</a:t>
            </a:fld>
            <a:endParaRPr lang="en-US"/>
          </a:p>
        </p:txBody>
      </p:sp>
    </p:spTree>
    <p:extLst>
      <p:ext uri="{BB962C8B-B14F-4D97-AF65-F5344CB8AC3E}">
        <p14:creationId xmlns:p14="http://schemas.microsoft.com/office/powerpoint/2010/main" val="1926875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a:t>
            </a:r>
          </a:p>
          <a:p>
            <a:endParaRPr lang="en-US" dirty="0"/>
          </a:p>
          <a:p>
            <a:r>
              <a:rPr lang="en-US" dirty="0"/>
              <a:t>Practice: 40m</a:t>
            </a:r>
          </a:p>
          <a:p>
            <a:r>
              <a:rPr lang="en-US" dirty="0"/>
              <a:t>Target: 45m</a:t>
            </a:r>
          </a:p>
          <a:p>
            <a:endParaRPr lang="en-US" dirty="0"/>
          </a:p>
          <a:p>
            <a:r>
              <a:rPr lang="en-US" dirty="0"/>
              <a:t>Start time: 9:35</a:t>
            </a:r>
          </a:p>
          <a:p>
            <a:r>
              <a:rPr lang="en-US" dirty="0"/>
              <a:t>End time: 10:20</a:t>
            </a:r>
          </a:p>
          <a:p>
            <a:endParaRPr lang="en-US" dirty="0"/>
          </a:p>
          <a:p>
            <a:r>
              <a:rPr lang="en-US" dirty="0"/>
              <a:t>---</a:t>
            </a:r>
          </a:p>
          <a:p>
            <a:endParaRPr lang="en-US" dirty="0"/>
          </a:p>
          <a:p>
            <a:r>
              <a:rPr lang="en-US" dirty="0"/>
              <a:t>Welcome to introduction to large </a:t>
            </a:r>
            <a:r>
              <a:rPr lang="en-US" dirty="0" err="1"/>
              <a:t>langauge</a:t>
            </a:r>
            <a:r>
              <a:rPr lang="en-US" dirty="0"/>
              <a:t> models</a:t>
            </a:r>
          </a:p>
          <a:p>
            <a:endParaRPr lang="en-US" dirty="0"/>
          </a:p>
          <a:p>
            <a:r>
              <a:rPr lang="en-US" dirty="0"/>
              <a:t>I’m Fin – MLE and I will be running workshop today</a:t>
            </a:r>
          </a:p>
          <a:p>
            <a:endParaRPr lang="en-US" dirty="0"/>
          </a:p>
          <a:p>
            <a:r>
              <a:rPr lang="en-US" dirty="0"/>
              <a:t>Radzim and </a:t>
            </a:r>
            <a:r>
              <a:rPr lang="en-US" dirty="0" err="1"/>
              <a:t>Faibra</a:t>
            </a:r>
            <a:r>
              <a:rPr lang="en-US" dirty="0"/>
              <a:t> on hand to answer technical questions, who are engineers</a:t>
            </a:r>
          </a:p>
          <a:p>
            <a:endParaRPr lang="en-US" dirty="0"/>
          </a:p>
          <a:p>
            <a:r>
              <a:rPr lang="en-US" dirty="0"/>
              <a:t>Will give you more of an intro on our group:</a:t>
            </a:r>
          </a:p>
        </p:txBody>
      </p:sp>
      <p:sp>
        <p:nvSpPr>
          <p:cNvPr id="4" name="Slide Number Placeholder 3"/>
          <p:cNvSpPr>
            <a:spLocks noGrp="1"/>
          </p:cNvSpPr>
          <p:nvPr>
            <p:ph type="sldNum" sz="quarter" idx="5"/>
          </p:nvPr>
        </p:nvSpPr>
        <p:spPr/>
        <p:txBody>
          <a:bodyPr/>
          <a:lstStyle/>
          <a:p>
            <a:fld id="{C2D7E69D-609B-4983-96D1-38CC478AEB14}" type="slidenum">
              <a:rPr lang="en-GB" smtClean="0"/>
              <a:t>1</a:t>
            </a:fld>
            <a:endParaRPr lang="en-GB"/>
          </a:p>
        </p:txBody>
      </p:sp>
    </p:spTree>
    <p:extLst>
      <p:ext uri="{BB962C8B-B14F-4D97-AF65-F5344CB8AC3E}">
        <p14:creationId xmlns:p14="http://schemas.microsoft.com/office/powerpoint/2010/main" val="2744497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Just before we get started, I would just like to give a brief overview of the Accelerate program.</a:t>
            </a:r>
          </a:p>
          <a:p>
            <a:endParaRPr lang="en-US" dirty="0"/>
          </a:p>
          <a:p>
            <a:r>
              <a:rPr lang="en-US" dirty="0"/>
              <a:t>We are a group composed of researchers, machine learning engineers and </a:t>
            </a:r>
            <a:r>
              <a:rPr lang="en-US" dirty="0" err="1"/>
              <a:t>programme</a:t>
            </a:r>
            <a:r>
              <a:rPr lang="en-US" dirty="0"/>
              <a:t> staff.</a:t>
            </a:r>
          </a:p>
          <a:p>
            <a:endParaRPr lang="en-US" dirty="0"/>
          </a:p>
          <a:p>
            <a:r>
              <a:rPr lang="en-US" dirty="0"/>
              <a:t>Our overarching goal is to support the adoption of AI in research at the university. </a:t>
            </a:r>
          </a:p>
          <a:p>
            <a:endParaRPr lang="en-US" dirty="0"/>
          </a:p>
          <a:p>
            <a:r>
              <a:rPr lang="en-US" dirty="0"/>
              <a:t>We do this through activities such as</a:t>
            </a:r>
          </a:p>
          <a:p>
            <a:endParaRPr lang="en-US" dirty="0"/>
          </a:p>
          <a:p>
            <a:r>
              <a:rPr lang="en-US" dirty="0"/>
              <a:t>Workshops (see in a second), AI Clinic, sections of university-wide workshops / events that are supported by us</a:t>
            </a:r>
          </a:p>
          <a:p>
            <a:endParaRPr lang="en-US" dirty="0"/>
          </a:p>
          <a:p>
            <a:r>
              <a:rPr lang="en-US" dirty="0"/>
              <a:t>But also longer-term involvement on research projects in a research engineering capacity.</a:t>
            </a:r>
          </a:p>
          <a:p>
            <a:endParaRPr lang="en-US" dirty="0"/>
          </a:p>
          <a:p>
            <a:r>
              <a:rPr lang="en-US" dirty="0"/>
              <a:t>Not just intersection of AI and Science!</a:t>
            </a:r>
          </a:p>
          <a:p>
            <a:endParaRPr lang="en-US" dirty="0"/>
          </a:p>
          <a:p>
            <a:r>
              <a:rPr lang="en-US" dirty="0"/>
              <a:t>We’re finding more and more that researchers from the Humanities want to utilize machine learning methods, and we’re having to reassess what we think of as traditional science.</a:t>
            </a:r>
          </a:p>
          <a:p>
            <a:endParaRPr lang="en-US" dirty="0"/>
          </a:p>
        </p:txBody>
      </p:sp>
      <p:sp>
        <p:nvSpPr>
          <p:cNvPr id="4" name="Slide Number Placeholder 3"/>
          <p:cNvSpPr>
            <a:spLocks noGrp="1"/>
          </p:cNvSpPr>
          <p:nvPr>
            <p:ph type="sldNum" sz="quarter" idx="5"/>
          </p:nvPr>
        </p:nvSpPr>
        <p:spPr/>
        <p:txBody>
          <a:bodyPr/>
          <a:lstStyle/>
          <a:p>
            <a:fld id="{C2D7E69D-609B-4983-96D1-38CC478AEB14}" type="slidenum">
              <a:rPr lang="en-GB" smtClean="0"/>
              <a:t>2</a:t>
            </a:fld>
            <a:endParaRPr lang="en-GB"/>
          </a:p>
        </p:txBody>
      </p:sp>
    </p:spTree>
    <p:extLst>
      <p:ext uri="{BB962C8B-B14F-4D97-AF65-F5344CB8AC3E}">
        <p14:creationId xmlns:p14="http://schemas.microsoft.com/office/powerpoint/2010/main" val="3450249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ultimately here to facilitate this process of integrating AI into research.</a:t>
            </a:r>
          </a:p>
          <a:p>
            <a:endParaRPr lang="en-US" dirty="0"/>
          </a:p>
          <a:p>
            <a:r>
              <a:rPr lang="en-US" dirty="0"/>
              <a:t>We run a couple of workshops at the moment: an introduction to large language models, a hands on LLMs, generative AI, diffusion models, docker, a packaging and publishing workshop.</a:t>
            </a:r>
          </a:p>
        </p:txBody>
      </p:sp>
      <p:sp>
        <p:nvSpPr>
          <p:cNvPr id="4" name="Slide Number Placeholder 3"/>
          <p:cNvSpPr>
            <a:spLocks noGrp="1"/>
          </p:cNvSpPr>
          <p:nvPr>
            <p:ph type="sldNum" sz="quarter" idx="5"/>
          </p:nvPr>
        </p:nvSpPr>
        <p:spPr/>
        <p:txBody>
          <a:bodyPr/>
          <a:lstStyle/>
          <a:p>
            <a:fld id="{C2D7E69D-609B-4983-96D1-38CC478AEB14}" type="slidenum">
              <a:rPr lang="en-GB" smtClean="0"/>
              <a:t>3</a:t>
            </a:fld>
            <a:endParaRPr lang="en-GB"/>
          </a:p>
        </p:txBody>
      </p:sp>
    </p:spTree>
    <p:extLst>
      <p:ext uri="{BB962C8B-B14F-4D97-AF65-F5344CB8AC3E}">
        <p14:creationId xmlns:p14="http://schemas.microsoft.com/office/powerpoint/2010/main" val="414499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5 minutes</a:t>
            </a:r>
          </a:p>
        </p:txBody>
      </p:sp>
      <p:sp>
        <p:nvSpPr>
          <p:cNvPr id="4" name="Slide Number Placeholder 3"/>
          <p:cNvSpPr>
            <a:spLocks noGrp="1"/>
          </p:cNvSpPr>
          <p:nvPr>
            <p:ph type="sldNum" sz="quarter" idx="5"/>
          </p:nvPr>
        </p:nvSpPr>
        <p:spPr/>
        <p:txBody>
          <a:bodyPr/>
          <a:lstStyle/>
          <a:p>
            <a:fld id="{C2D7E69D-609B-4983-96D1-38CC478AEB14}" type="slidenum">
              <a:rPr lang="en-GB" smtClean="0"/>
              <a:t>5</a:t>
            </a:fld>
            <a:endParaRPr lang="en-GB"/>
          </a:p>
        </p:txBody>
      </p:sp>
    </p:spTree>
    <p:extLst>
      <p:ext uri="{BB962C8B-B14F-4D97-AF65-F5344CB8AC3E}">
        <p14:creationId xmlns:p14="http://schemas.microsoft.com/office/powerpoint/2010/main" val="3075358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to think of our model as a Llama</a:t>
            </a:r>
          </a:p>
          <a:p>
            <a:endParaRPr lang="en-US" dirty="0"/>
          </a:p>
          <a:p>
            <a:r>
              <a:rPr lang="en-US" dirty="0"/>
              <a:t>Has a specific meaning in the history of AI</a:t>
            </a:r>
          </a:p>
          <a:p>
            <a:endParaRPr lang="en-US" dirty="0"/>
          </a:p>
          <a:p>
            <a:r>
              <a:rPr lang="en-US" dirty="0"/>
              <a:t>Llama is an acronym: Large Language Model Meta AI</a:t>
            </a:r>
          </a:p>
          <a:p>
            <a:endParaRPr lang="en-US" dirty="0"/>
          </a:p>
          <a:p>
            <a:r>
              <a:rPr lang="en-US" dirty="0"/>
              <a:t>Released for research-only purposes by Meta in February 2023 following success of GPT-3.5 (ChatGPT moment, i.e. finetuned version of GPT-3) to prove you didn't need closed APIs and huge inference budgets</a:t>
            </a:r>
          </a:p>
          <a:p>
            <a:endParaRPr lang="en-US" dirty="0"/>
          </a:p>
          <a:p>
            <a:r>
              <a:rPr lang="en-US" dirty="0"/>
              <a:t>Uses the same underlying architecture - it is an autoregressive decoder-only transformer. We will come back these words</a:t>
            </a:r>
          </a:p>
          <a:p>
            <a:endParaRPr lang="en-US" dirty="0"/>
          </a:p>
          <a:p>
            <a:r>
              <a:rPr lang="en-US" dirty="0"/>
              <a:t>Shortly leaked and spawned the community of open weights models. </a:t>
            </a:r>
          </a:p>
          <a:p>
            <a:endParaRPr lang="en-US" dirty="0"/>
          </a:p>
          <a:p>
            <a:r>
              <a:rPr lang="en-US" dirty="0"/>
              <a:t>As researchers, we tend to prefer open source models for various reasons so we will be using this as the source of our discussion on model architecture. Most differences between frontier models and Llama are too subtle or complex to discuss for the scope of this workshop</a:t>
            </a:r>
          </a:p>
          <a:p>
            <a:endParaRPr lang="en-US" dirty="0"/>
          </a:p>
          <a:p>
            <a:r>
              <a:rPr lang="en-US" dirty="0"/>
              <a:t>The basic pieces, which will ultimately inform the narrative today are [go through]</a:t>
            </a:r>
          </a:p>
          <a:p>
            <a:endParaRPr lang="en-US" dirty="0"/>
          </a:p>
          <a:p>
            <a:endParaRPr lang="en-US" dirty="0"/>
          </a:p>
        </p:txBody>
      </p:sp>
      <p:sp>
        <p:nvSpPr>
          <p:cNvPr id="4" name="Slide Number Placeholder 3"/>
          <p:cNvSpPr>
            <a:spLocks noGrp="1"/>
          </p:cNvSpPr>
          <p:nvPr>
            <p:ph type="sldNum" sz="quarter" idx="5"/>
          </p:nvPr>
        </p:nvSpPr>
        <p:spPr/>
        <p:txBody>
          <a:bodyPr/>
          <a:lstStyle/>
          <a:p>
            <a:fld id="{C2D7E69D-609B-4983-96D1-38CC478AEB14}" type="slidenum">
              <a:rPr lang="en-GB" smtClean="0"/>
              <a:t>6</a:t>
            </a:fld>
            <a:endParaRPr lang="en-GB"/>
          </a:p>
        </p:txBody>
      </p:sp>
    </p:spTree>
    <p:extLst>
      <p:ext uri="{BB962C8B-B14F-4D97-AF65-F5344CB8AC3E}">
        <p14:creationId xmlns:p14="http://schemas.microsoft.com/office/powerpoint/2010/main" val="243210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are stateless, so conversation history stuffed in a context window helps create illusion of state and gives models working memory.</a:t>
            </a:r>
          </a:p>
          <a:p>
            <a:endParaRPr lang="en-US" dirty="0"/>
          </a:p>
          <a:p>
            <a:r>
              <a:rPr lang="en-US" dirty="0"/>
              <a:t>RAG; giving LLMs access to information that isn't baked inside its weights. Retrieve relevant information at inference time and stuff it into context window.</a:t>
            </a:r>
          </a:p>
          <a:p>
            <a:endParaRPr lang="en-US" dirty="0"/>
          </a:p>
          <a:p>
            <a:r>
              <a:rPr lang="en-US" dirty="0"/>
              <a:t>Prompting; so-called prompt engineering, a quite atheoretical practice. It works but evidence is mostly restricted to empirical evidence, a recurring theme we will deal with.</a:t>
            </a:r>
          </a:p>
          <a:p>
            <a:endParaRPr lang="en-US" dirty="0"/>
          </a:p>
          <a:p>
            <a:r>
              <a:rPr lang="en-US" dirty="0"/>
              <a:t>Tool-calling; especially relevant in the so-called agentic era</a:t>
            </a:r>
          </a:p>
          <a:p>
            <a:endParaRPr lang="en-US" dirty="0"/>
          </a:p>
          <a:p>
            <a:r>
              <a:rPr lang="en-US" dirty="0"/>
              <a:t>Fine-tuning; or equivalently any post-training methodology, further improving model performance on down-stream tasks by 'fine-tuning' weights </a:t>
            </a:r>
          </a:p>
        </p:txBody>
      </p:sp>
      <p:sp>
        <p:nvSpPr>
          <p:cNvPr id="4" name="Slide Number Placeholder 3"/>
          <p:cNvSpPr>
            <a:spLocks noGrp="1"/>
          </p:cNvSpPr>
          <p:nvPr>
            <p:ph type="sldNum" sz="quarter" idx="5"/>
          </p:nvPr>
        </p:nvSpPr>
        <p:spPr/>
        <p:txBody>
          <a:bodyPr/>
          <a:lstStyle/>
          <a:p>
            <a:fld id="{C2D7E69D-609B-4983-96D1-38CC478AEB14}" type="slidenum">
              <a:rPr lang="en-GB" smtClean="0"/>
              <a:t>7</a:t>
            </a:fld>
            <a:endParaRPr lang="en-GB"/>
          </a:p>
        </p:txBody>
      </p:sp>
    </p:spTree>
    <p:extLst>
      <p:ext uri="{BB962C8B-B14F-4D97-AF65-F5344CB8AC3E}">
        <p14:creationId xmlns:p14="http://schemas.microsoft.com/office/powerpoint/2010/main" val="2452359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actually defining AI</a:t>
            </a:r>
          </a:p>
        </p:txBody>
      </p:sp>
      <p:sp>
        <p:nvSpPr>
          <p:cNvPr id="4" name="Slide Number Placeholder 3"/>
          <p:cNvSpPr>
            <a:spLocks noGrp="1"/>
          </p:cNvSpPr>
          <p:nvPr>
            <p:ph type="sldNum" sz="quarter" idx="5"/>
          </p:nvPr>
        </p:nvSpPr>
        <p:spPr/>
        <p:txBody>
          <a:bodyPr/>
          <a:lstStyle/>
          <a:p>
            <a:fld id="{C2D7E69D-609B-4983-96D1-38CC478AEB14}" type="slidenum">
              <a:rPr lang="en-GB" smtClean="0"/>
              <a:t>9</a:t>
            </a:fld>
            <a:endParaRPr lang="en-GB"/>
          </a:p>
        </p:txBody>
      </p:sp>
    </p:spTree>
    <p:extLst>
      <p:ext uri="{BB962C8B-B14F-4D97-AF65-F5344CB8AC3E}">
        <p14:creationId xmlns:p14="http://schemas.microsoft.com/office/powerpoint/2010/main" val="2569798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 supervision is where the training data labels itself. I.e. for next token prediction, don't need human labelling as with conventional supervised learning. The structure of the text already encodes the ground truth.</a:t>
            </a:r>
          </a:p>
        </p:txBody>
      </p:sp>
      <p:sp>
        <p:nvSpPr>
          <p:cNvPr id="4" name="Slide Number Placeholder 3"/>
          <p:cNvSpPr>
            <a:spLocks noGrp="1"/>
          </p:cNvSpPr>
          <p:nvPr>
            <p:ph type="sldNum" sz="quarter" idx="5"/>
          </p:nvPr>
        </p:nvSpPr>
        <p:spPr/>
        <p:txBody>
          <a:bodyPr/>
          <a:lstStyle/>
          <a:p>
            <a:fld id="{C2D7E69D-609B-4983-96D1-38CC478AEB14}" type="slidenum">
              <a:rPr lang="en-GB" smtClean="0"/>
              <a:t>13</a:t>
            </a:fld>
            <a:endParaRPr lang="en-GB"/>
          </a:p>
        </p:txBody>
      </p:sp>
    </p:spTree>
    <p:extLst>
      <p:ext uri="{BB962C8B-B14F-4D97-AF65-F5344CB8AC3E}">
        <p14:creationId xmlns:p14="http://schemas.microsoft.com/office/powerpoint/2010/main" val="1911962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Act needs a practical, auditable way to classify and assess general purpose AI models without being able to directly test every possible capability. These indicators are its solution to that problem. </a:t>
            </a:r>
            <a:endParaRPr lang="en-US" dirty="0"/>
          </a:p>
        </p:txBody>
      </p:sp>
      <p:sp>
        <p:nvSpPr>
          <p:cNvPr id="4" name="Slide Number Placeholder 3"/>
          <p:cNvSpPr>
            <a:spLocks noGrp="1"/>
          </p:cNvSpPr>
          <p:nvPr>
            <p:ph type="sldNum" sz="quarter" idx="5"/>
          </p:nvPr>
        </p:nvSpPr>
        <p:spPr/>
        <p:txBody>
          <a:bodyPr/>
          <a:lstStyle/>
          <a:p>
            <a:fld id="{C2D7E69D-609B-4983-96D1-38CC478AEB14}" type="slidenum">
              <a:rPr lang="en-GB" smtClean="0"/>
              <a:t>14</a:t>
            </a:fld>
            <a:endParaRPr lang="en-GB"/>
          </a:p>
        </p:txBody>
      </p:sp>
    </p:spTree>
    <p:extLst>
      <p:ext uri="{BB962C8B-B14F-4D97-AF65-F5344CB8AC3E}">
        <p14:creationId xmlns:p14="http://schemas.microsoft.com/office/powerpoint/2010/main" val="975238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D7E69D-609B-4983-96D1-38CC478AEB14}" type="slidenum">
              <a:rPr lang="en-GB" smtClean="0"/>
              <a:t>15</a:t>
            </a:fld>
            <a:endParaRPr lang="en-GB"/>
          </a:p>
        </p:txBody>
      </p:sp>
    </p:spTree>
    <p:extLst>
      <p:ext uri="{BB962C8B-B14F-4D97-AF65-F5344CB8AC3E}">
        <p14:creationId xmlns:p14="http://schemas.microsoft.com/office/powerpoint/2010/main" val="1079868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61217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21414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5500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0809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64180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739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9030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8341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50196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36549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5061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5/8/26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56698698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co.org.uk/for-organisations/advice-and-services/audits/data-protection-audit-framework/toolkits/artificial-intelligence/" TargetMode="External"/><Relationship Id="rId2" Type="http://schemas.openxmlformats.org/officeDocument/2006/relationships/hyperlink" Target="https://artificialintelligenceact.eu/ai-act-explorer/" TargetMode="External"/><Relationship Id="rId1" Type="http://schemas.openxmlformats.org/officeDocument/2006/relationships/slideLayout" Target="../slideLayouts/slideLayout2.xml"/><Relationship Id="rId5" Type="http://schemas.openxmlformats.org/officeDocument/2006/relationships/hyperlink" Target="https://ico.org.uk/for-organisations/uk-gdpr-guidance-and-resources/artificial-intelligence/explaining-decisions-made-with-artificial-intelligence/" TargetMode="External"/><Relationship Id="rId4" Type="http://schemas.openxmlformats.org/officeDocument/2006/relationships/hyperlink" Target="https://ico.org.uk/for-organisations/uk-gdpr-guidance-and-resources/artificial-intelligence/guidance-on-ai-and-data-protection/"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US" dirty="0"/>
              <a:t>Introduction to LLMs</a:t>
            </a:r>
            <a:endParaRPr lang="en-US"/>
          </a:p>
        </p:txBody>
      </p:sp>
      <p:sp>
        <p:nvSpPr>
          <p:cNvPr id="3" name="Subtitle 2"/>
          <p:cNvSpPr>
            <a:spLocks noGrp="1"/>
          </p:cNvSpPr>
          <p:nvPr>
            <p:ph type="subTitle" idx="1"/>
          </p:nvPr>
        </p:nvSpPr>
        <p:spPr/>
        <p:txBody>
          <a:bodyPr vert="horz" lIns="91440" tIns="45720" rIns="91440" bIns="45720" rtlCol="0" anchor="t">
            <a:normAutofit/>
          </a:bodyPr>
          <a:lstStyle/>
          <a:p>
            <a:pPr algn="l"/>
            <a:r>
              <a:rPr lang="en-US" dirty="0"/>
              <a:t>Accelerate Programme for Scientific Discovery</a:t>
            </a:r>
            <a:endParaRPr lang="en-US" dirty="0" err="1"/>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60AD0-4539-F7BD-07C7-86CA4C742BB0}"/>
              </a:ext>
            </a:extLst>
          </p:cNvPr>
          <p:cNvSpPr>
            <a:spLocks noGrp="1"/>
          </p:cNvSpPr>
          <p:nvPr>
            <p:ph type="title"/>
          </p:nvPr>
        </p:nvSpPr>
        <p:spPr/>
        <p:txBody>
          <a:bodyPr/>
          <a:lstStyle/>
          <a:p>
            <a:r>
              <a:rPr lang="en-US" dirty="0"/>
              <a:t>About Us</a:t>
            </a:r>
          </a:p>
        </p:txBody>
      </p:sp>
      <p:sp>
        <p:nvSpPr>
          <p:cNvPr id="3" name="Content Placeholder 2">
            <a:extLst>
              <a:ext uri="{FF2B5EF4-FFF2-40B4-BE49-F238E27FC236}">
                <a16:creationId xmlns:a16="http://schemas.microsoft.com/office/drawing/2014/main" id="{C23B4CFB-C5F1-DC47-AED8-80D7FE89AAB1}"/>
              </a:ext>
            </a:extLst>
          </p:cNvPr>
          <p:cNvSpPr>
            <a:spLocks noGrp="1"/>
          </p:cNvSpPr>
          <p:nvPr>
            <p:ph idx="1"/>
          </p:nvPr>
        </p:nvSpPr>
        <p:spPr/>
        <p:txBody>
          <a:bodyPr vert="horz" lIns="91440" tIns="45720" rIns="91440" bIns="45720" rtlCol="0" anchor="t">
            <a:normAutofit/>
          </a:bodyPr>
          <a:lstStyle/>
          <a:p>
            <a:pPr marL="0" indent="0" algn="ctr">
              <a:buNone/>
            </a:pPr>
            <a:r>
              <a:rPr lang="en-US" i="1" dirty="0">
                <a:ea typeface="+mn-lt"/>
                <a:cs typeface="+mn-lt"/>
              </a:rPr>
              <a:t>"</a:t>
            </a:r>
            <a:r>
              <a:rPr lang="en-US" i="1" dirty="0">
                <a:solidFill>
                  <a:srgbClr val="7030A0"/>
                </a:solidFill>
                <a:ea typeface="+mn-lt"/>
                <a:cs typeface="+mn-lt"/>
              </a:rPr>
              <a:t>Accelerate Science pursues research at the interface of AI and the sciences, generating new scientific insights and developing AI methods that can be deployed to advance scientific knowledge.</a:t>
            </a:r>
            <a:r>
              <a:rPr lang="en-US" i="1" dirty="0">
                <a:ea typeface="+mn-lt"/>
                <a:cs typeface="+mn-lt"/>
              </a:rPr>
              <a:t>"</a:t>
            </a:r>
            <a:endParaRPr lang="en-US" i="1" dirty="0"/>
          </a:p>
        </p:txBody>
      </p:sp>
      <p:pic>
        <p:nvPicPr>
          <p:cNvPr id="4" name="Picture 3">
            <a:extLst>
              <a:ext uri="{FF2B5EF4-FFF2-40B4-BE49-F238E27FC236}">
                <a16:creationId xmlns:a16="http://schemas.microsoft.com/office/drawing/2014/main" id="{62F90085-2CFA-E241-70E3-58E8EC79428C}"/>
              </a:ext>
            </a:extLst>
          </p:cNvPr>
          <p:cNvPicPr>
            <a:picLocks noChangeAspect="1"/>
          </p:cNvPicPr>
          <p:nvPr/>
        </p:nvPicPr>
        <p:blipFill>
          <a:blip r:embed="rId3"/>
          <a:stretch>
            <a:fillRect/>
          </a:stretch>
        </p:blipFill>
        <p:spPr>
          <a:xfrm>
            <a:off x="4798195" y="3429000"/>
            <a:ext cx="2595609" cy="2609471"/>
          </a:xfrm>
          <a:prstGeom prst="rect">
            <a:avLst/>
          </a:prstGeom>
        </p:spPr>
      </p:pic>
    </p:spTree>
    <p:extLst>
      <p:ext uri="{BB962C8B-B14F-4D97-AF65-F5344CB8AC3E}">
        <p14:creationId xmlns:p14="http://schemas.microsoft.com/office/powerpoint/2010/main" val="2776984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8369-8553-1A55-B265-3F27C53A813B}"/>
              </a:ext>
            </a:extLst>
          </p:cNvPr>
          <p:cNvSpPr>
            <a:spLocks noGrp="1"/>
          </p:cNvSpPr>
          <p:nvPr>
            <p:ph type="title"/>
          </p:nvPr>
        </p:nvSpPr>
        <p:spPr/>
        <p:txBody>
          <a:bodyPr/>
          <a:lstStyle/>
          <a:p>
            <a:r>
              <a:rPr lang="en-US" dirty="0"/>
              <a:t>Workshop Goals</a:t>
            </a:r>
          </a:p>
        </p:txBody>
      </p:sp>
      <p:sp>
        <p:nvSpPr>
          <p:cNvPr id="3" name="Content Placeholder 2">
            <a:extLst>
              <a:ext uri="{FF2B5EF4-FFF2-40B4-BE49-F238E27FC236}">
                <a16:creationId xmlns:a16="http://schemas.microsoft.com/office/drawing/2014/main" id="{B8D918F4-C557-96D2-9BF3-A1F98CF87E2F}"/>
              </a:ext>
            </a:extLst>
          </p:cNvPr>
          <p:cNvSpPr>
            <a:spLocks noGrp="1"/>
          </p:cNvSpPr>
          <p:nvPr>
            <p:ph idx="1"/>
          </p:nvPr>
        </p:nvSpPr>
        <p:spPr/>
        <p:txBody>
          <a:bodyPr vert="horz" lIns="91440" tIns="45720" rIns="91440" bIns="45720" rtlCol="0" anchor="t">
            <a:normAutofit/>
          </a:bodyPr>
          <a:lstStyle/>
          <a:p>
            <a:pPr marL="0" indent="0">
              <a:buNone/>
            </a:pPr>
            <a:r>
              <a:rPr lang="en-US" b="1" dirty="0">
                <a:ea typeface="+mn-lt"/>
                <a:cs typeface="+mn-lt"/>
              </a:rPr>
              <a:t>We want to:</a:t>
            </a:r>
          </a:p>
          <a:p>
            <a:r>
              <a:rPr lang="en-US" dirty="0">
                <a:ea typeface="+mn-lt"/>
                <a:cs typeface="+mn-lt"/>
              </a:rPr>
              <a:t>Support researchers across the university to use AI – that's LLMs in this group.</a:t>
            </a:r>
          </a:p>
          <a:p>
            <a:r>
              <a:rPr lang="en-US" dirty="0">
                <a:ea typeface="+mn-lt"/>
                <a:cs typeface="+mn-lt"/>
              </a:rPr>
              <a:t>Better understand the challenges that researchers face.</a:t>
            </a:r>
          </a:p>
          <a:p>
            <a:r>
              <a:rPr lang="en-US" dirty="0">
                <a:ea typeface="+mn-lt"/>
                <a:cs typeface="+mn-lt"/>
              </a:rPr>
              <a:t>Identify what training courses or software resources we might want the Accelerate Science </a:t>
            </a:r>
            <a:r>
              <a:rPr lang="en-US" dirty="0" err="1">
                <a:ea typeface="+mn-lt"/>
                <a:cs typeface="+mn-lt"/>
              </a:rPr>
              <a:t>Programme</a:t>
            </a:r>
            <a:r>
              <a:rPr lang="en-US" dirty="0">
                <a:ea typeface="+mn-lt"/>
                <a:cs typeface="+mn-lt"/>
              </a:rPr>
              <a:t> to create.</a:t>
            </a:r>
          </a:p>
          <a:p>
            <a:pPr lvl="1">
              <a:buFont typeface="Courier New" panose="020B0604020202020204" pitchFamily="34" charset="0"/>
              <a:buChar char="o"/>
            </a:pPr>
            <a:r>
              <a:rPr lang="en-US" dirty="0">
                <a:ea typeface="+mn-lt"/>
                <a:cs typeface="+mn-lt"/>
              </a:rPr>
              <a:t>Including shared code</a:t>
            </a:r>
          </a:p>
          <a:p>
            <a:r>
              <a:rPr lang="en-US" dirty="0">
                <a:ea typeface="+mn-lt"/>
                <a:cs typeface="+mn-lt"/>
              </a:rPr>
              <a:t>Start to build a community of like-minded researchers across the university.</a:t>
            </a:r>
            <a:endParaRPr lang="en-US" dirty="0"/>
          </a:p>
        </p:txBody>
      </p:sp>
    </p:spTree>
    <p:extLst>
      <p:ext uri="{BB962C8B-B14F-4D97-AF65-F5344CB8AC3E}">
        <p14:creationId xmlns:p14="http://schemas.microsoft.com/office/powerpoint/2010/main" val="140969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07A1A-BBA2-EE55-28CA-B2544E559B2A}"/>
              </a:ext>
            </a:extLst>
          </p:cNvPr>
          <p:cNvSpPr>
            <a:spLocks noGrp="1"/>
          </p:cNvSpPr>
          <p:nvPr>
            <p:ph type="title"/>
          </p:nvPr>
        </p:nvSpPr>
        <p:spPr/>
        <p:txBody>
          <a:bodyPr/>
          <a:lstStyle/>
          <a:p>
            <a:r>
              <a:rPr lang="en-US" dirty="0"/>
              <a:t>Schedule</a:t>
            </a:r>
          </a:p>
        </p:txBody>
      </p:sp>
      <p:graphicFrame>
        <p:nvGraphicFramePr>
          <p:cNvPr id="4" name="Content Placeholder 3">
            <a:extLst>
              <a:ext uri="{FF2B5EF4-FFF2-40B4-BE49-F238E27FC236}">
                <a16:creationId xmlns:a16="http://schemas.microsoft.com/office/drawing/2014/main" id="{37AC12F2-ECA6-1C35-9B77-1A11BE531B23}"/>
              </a:ext>
            </a:extLst>
          </p:cNvPr>
          <p:cNvGraphicFramePr>
            <a:graphicFrameLocks noGrp="1"/>
          </p:cNvGraphicFramePr>
          <p:nvPr>
            <p:ph idx="1"/>
            <p:extLst>
              <p:ext uri="{D42A27DB-BD31-4B8C-83A1-F6EECF244321}">
                <p14:modId xmlns:p14="http://schemas.microsoft.com/office/powerpoint/2010/main" val="566401051"/>
              </p:ext>
            </p:extLst>
          </p:nvPr>
        </p:nvGraphicFramePr>
        <p:xfrm>
          <a:off x="838200" y="1825625"/>
          <a:ext cx="10515600" cy="296671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6625105"/>
                    </a:ext>
                  </a:extLst>
                </a:gridCol>
                <a:gridCol w="5257800">
                  <a:extLst>
                    <a:ext uri="{9D8B030D-6E8A-4147-A177-3AD203B41FA5}">
                      <a16:colId xmlns:a16="http://schemas.microsoft.com/office/drawing/2014/main" val="3107896615"/>
                    </a:ext>
                  </a:extLst>
                </a:gridCol>
              </a:tblGrid>
              <a:tr h="370840">
                <a:tc>
                  <a:txBody>
                    <a:bodyPr/>
                    <a:lstStyle/>
                    <a:p>
                      <a:r>
                        <a:rPr lang="en-US" dirty="0"/>
                        <a:t>Session</a:t>
                      </a:r>
                    </a:p>
                  </a:txBody>
                  <a:tcPr/>
                </a:tc>
                <a:tc>
                  <a:txBody>
                    <a:bodyPr/>
                    <a:lstStyle/>
                    <a:p>
                      <a:r>
                        <a:rPr lang="en-US" dirty="0"/>
                        <a:t>Time</a:t>
                      </a:r>
                    </a:p>
                  </a:txBody>
                  <a:tcPr/>
                </a:tc>
                <a:extLst>
                  <a:ext uri="{0D108BD9-81ED-4DB2-BD59-A6C34878D82A}">
                    <a16:rowId xmlns:a16="http://schemas.microsoft.com/office/drawing/2014/main" val="913100559"/>
                  </a:ext>
                </a:extLst>
              </a:tr>
              <a:tr h="370840">
                <a:tc>
                  <a:txBody>
                    <a:bodyPr/>
                    <a:lstStyle/>
                    <a:p>
                      <a:r>
                        <a:rPr lang="en-US" dirty="0">
                          <a:solidFill>
                            <a:srgbClr val="7030A0"/>
                          </a:solidFill>
                        </a:rPr>
                        <a:t>9:30 – 10:30</a:t>
                      </a:r>
                    </a:p>
                  </a:txBody>
                  <a:tcPr/>
                </a:tc>
                <a:tc>
                  <a:txBody>
                    <a:bodyPr/>
                    <a:lstStyle/>
                    <a:p>
                      <a:r>
                        <a:rPr lang="en-US" dirty="0">
                          <a:solidFill>
                            <a:srgbClr val="7030A0"/>
                          </a:solidFill>
                        </a:rPr>
                        <a:t>Session 1</a:t>
                      </a:r>
                    </a:p>
                  </a:txBody>
                  <a:tcPr/>
                </a:tc>
                <a:extLst>
                  <a:ext uri="{0D108BD9-81ED-4DB2-BD59-A6C34878D82A}">
                    <a16:rowId xmlns:a16="http://schemas.microsoft.com/office/drawing/2014/main" val="1290499807"/>
                  </a:ext>
                </a:extLst>
              </a:tr>
              <a:tr h="370840">
                <a:tc>
                  <a:txBody>
                    <a:bodyPr/>
                    <a:lstStyle/>
                    <a:p>
                      <a:r>
                        <a:rPr lang="en-US" b="1" dirty="0"/>
                        <a:t>10:30 – 11:00</a:t>
                      </a:r>
                    </a:p>
                  </a:txBody>
                  <a:tcPr/>
                </a:tc>
                <a:tc>
                  <a:txBody>
                    <a:bodyPr/>
                    <a:lstStyle/>
                    <a:p>
                      <a:r>
                        <a:rPr lang="en-US" b="1" dirty="0"/>
                        <a:t>Break</a:t>
                      </a:r>
                    </a:p>
                  </a:txBody>
                  <a:tcPr/>
                </a:tc>
                <a:extLst>
                  <a:ext uri="{0D108BD9-81ED-4DB2-BD59-A6C34878D82A}">
                    <a16:rowId xmlns:a16="http://schemas.microsoft.com/office/drawing/2014/main" val="352690158"/>
                  </a:ext>
                </a:extLst>
              </a:tr>
              <a:tr h="370840">
                <a:tc>
                  <a:txBody>
                    <a:bodyPr/>
                    <a:lstStyle/>
                    <a:p>
                      <a:r>
                        <a:rPr lang="en-US" dirty="0">
                          <a:solidFill>
                            <a:srgbClr val="7030A0"/>
                          </a:solidFill>
                        </a:rPr>
                        <a:t>11:00 – 12:30</a:t>
                      </a:r>
                    </a:p>
                  </a:txBody>
                  <a:tcPr/>
                </a:tc>
                <a:tc>
                  <a:txBody>
                    <a:bodyPr/>
                    <a:lstStyle/>
                    <a:p>
                      <a:r>
                        <a:rPr lang="en-US" dirty="0">
                          <a:solidFill>
                            <a:srgbClr val="7030A0"/>
                          </a:solidFill>
                        </a:rPr>
                        <a:t>Session 2</a:t>
                      </a:r>
                    </a:p>
                  </a:txBody>
                  <a:tcPr/>
                </a:tc>
                <a:extLst>
                  <a:ext uri="{0D108BD9-81ED-4DB2-BD59-A6C34878D82A}">
                    <a16:rowId xmlns:a16="http://schemas.microsoft.com/office/drawing/2014/main" val="3723253093"/>
                  </a:ext>
                </a:extLst>
              </a:tr>
              <a:tr h="370839">
                <a:tc>
                  <a:txBody>
                    <a:bodyPr/>
                    <a:lstStyle/>
                    <a:p>
                      <a:r>
                        <a:rPr lang="en-US" b="1" dirty="0"/>
                        <a:t>12:30 – 13:30</a:t>
                      </a:r>
                    </a:p>
                  </a:txBody>
                  <a:tcPr/>
                </a:tc>
                <a:tc>
                  <a:txBody>
                    <a:bodyPr/>
                    <a:lstStyle/>
                    <a:p>
                      <a:r>
                        <a:rPr lang="en-US" b="1" dirty="0"/>
                        <a:t>Lunch</a:t>
                      </a:r>
                    </a:p>
                  </a:txBody>
                  <a:tcPr/>
                </a:tc>
                <a:extLst>
                  <a:ext uri="{0D108BD9-81ED-4DB2-BD59-A6C34878D82A}">
                    <a16:rowId xmlns:a16="http://schemas.microsoft.com/office/drawing/2014/main" val="2871907493"/>
                  </a:ext>
                </a:extLst>
              </a:tr>
              <a:tr h="370840">
                <a:tc>
                  <a:txBody>
                    <a:bodyPr/>
                    <a:lstStyle/>
                    <a:p>
                      <a:r>
                        <a:rPr lang="en-US" dirty="0">
                          <a:solidFill>
                            <a:srgbClr val="7030A0"/>
                          </a:solidFill>
                        </a:rPr>
                        <a:t>13:30 – 15:00</a:t>
                      </a:r>
                    </a:p>
                  </a:txBody>
                  <a:tcPr/>
                </a:tc>
                <a:tc>
                  <a:txBody>
                    <a:bodyPr/>
                    <a:lstStyle/>
                    <a:p>
                      <a:r>
                        <a:rPr lang="en-US" dirty="0">
                          <a:solidFill>
                            <a:srgbClr val="7030A0"/>
                          </a:solidFill>
                        </a:rPr>
                        <a:t>Session 3</a:t>
                      </a:r>
                    </a:p>
                  </a:txBody>
                  <a:tcPr/>
                </a:tc>
                <a:extLst>
                  <a:ext uri="{0D108BD9-81ED-4DB2-BD59-A6C34878D82A}">
                    <a16:rowId xmlns:a16="http://schemas.microsoft.com/office/drawing/2014/main" val="3804542395"/>
                  </a:ext>
                </a:extLst>
              </a:tr>
              <a:tr h="370839">
                <a:tc>
                  <a:txBody>
                    <a:bodyPr/>
                    <a:lstStyle/>
                    <a:p>
                      <a:pPr lvl="0">
                        <a:buNone/>
                      </a:pPr>
                      <a:r>
                        <a:rPr lang="en-US" b="1" dirty="0"/>
                        <a:t>15:00 – 15:30</a:t>
                      </a:r>
                    </a:p>
                  </a:txBody>
                  <a:tcPr/>
                </a:tc>
                <a:tc>
                  <a:txBody>
                    <a:bodyPr/>
                    <a:lstStyle/>
                    <a:p>
                      <a:pPr lvl="0">
                        <a:buNone/>
                      </a:pPr>
                      <a:r>
                        <a:rPr lang="en-US" b="1" dirty="0"/>
                        <a:t>Break</a:t>
                      </a:r>
                    </a:p>
                  </a:txBody>
                  <a:tcPr/>
                </a:tc>
                <a:extLst>
                  <a:ext uri="{0D108BD9-81ED-4DB2-BD59-A6C34878D82A}">
                    <a16:rowId xmlns:a16="http://schemas.microsoft.com/office/drawing/2014/main" val="1976928700"/>
                  </a:ext>
                </a:extLst>
              </a:tr>
              <a:tr h="370838">
                <a:tc>
                  <a:txBody>
                    <a:bodyPr/>
                    <a:lstStyle/>
                    <a:p>
                      <a:pPr lvl="0">
                        <a:buNone/>
                      </a:pPr>
                      <a:r>
                        <a:rPr lang="en-US" dirty="0">
                          <a:solidFill>
                            <a:srgbClr val="7030A0"/>
                          </a:solidFill>
                        </a:rPr>
                        <a:t>15:30 – 17:00</a:t>
                      </a:r>
                    </a:p>
                  </a:txBody>
                  <a:tcPr/>
                </a:tc>
                <a:tc>
                  <a:txBody>
                    <a:bodyPr/>
                    <a:lstStyle/>
                    <a:p>
                      <a:pPr marL="0" lvl="0" indent="0">
                        <a:buNone/>
                      </a:pPr>
                      <a:r>
                        <a:rPr lang="en-US" dirty="0">
                          <a:solidFill>
                            <a:srgbClr val="7030A0"/>
                          </a:solidFill>
                        </a:rPr>
                        <a:t>Session 4</a:t>
                      </a:r>
                    </a:p>
                  </a:txBody>
                  <a:tcPr/>
                </a:tc>
                <a:extLst>
                  <a:ext uri="{0D108BD9-81ED-4DB2-BD59-A6C34878D82A}">
                    <a16:rowId xmlns:a16="http://schemas.microsoft.com/office/drawing/2014/main" val="117434727"/>
                  </a:ext>
                </a:extLst>
              </a:tr>
            </a:tbl>
          </a:graphicData>
        </a:graphic>
      </p:graphicFrame>
      <p:sp>
        <p:nvSpPr>
          <p:cNvPr id="6" name="Content Placeholder 2">
            <a:extLst>
              <a:ext uri="{FF2B5EF4-FFF2-40B4-BE49-F238E27FC236}">
                <a16:creationId xmlns:a16="http://schemas.microsoft.com/office/drawing/2014/main" id="{13040332-75D0-405E-6D35-DCBEE6D0BE3E}"/>
              </a:ext>
            </a:extLst>
          </p:cNvPr>
          <p:cNvSpPr txBox="1">
            <a:spLocks/>
          </p:cNvSpPr>
          <p:nvPr/>
        </p:nvSpPr>
        <p:spPr>
          <a:xfrm>
            <a:off x="838200" y="5196522"/>
            <a:ext cx="10515600" cy="16614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2">
                    <a:lumMod val="50000"/>
                  </a:schemeClr>
                </a:solidFill>
              </a:rPr>
              <a:t>Slides available at:</a:t>
            </a:r>
          </a:p>
          <a:p>
            <a:pPr marL="0" indent="0">
              <a:buNone/>
            </a:pPr>
            <a:r>
              <a:rPr lang="en-US" b="1" dirty="0" err="1">
                <a:solidFill>
                  <a:schemeClr val="bg2">
                    <a:lumMod val="50000"/>
                  </a:schemeClr>
                </a:solidFill>
              </a:rPr>
              <a:t>docs.science.ai.cam.ac.uk</a:t>
            </a:r>
            <a:r>
              <a:rPr lang="en-US" b="1" dirty="0">
                <a:solidFill>
                  <a:schemeClr val="bg2">
                    <a:lumMod val="50000"/>
                  </a:schemeClr>
                </a:solidFill>
              </a:rPr>
              <a:t>/large-language-models/</a:t>
            </a:r>
          </a:p>
        </p:txBody>
      </p:sp>
    </p:spTree>
    <p:extLst>
      <p:ext uri="{BB962C8B-B14F-4D97-AF65-F5344CB8AC3E}">
        <p14:creationId xmlns:p14="http://schemas.microsoft.com/office/powerpoint/2010/main" val="455639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E374D-7A21-28E7-7122-63EDD7695383}"/>
              </a:ext>
            </a:extLst>
          </p:cNvPr>
          <p:cNvSpPr>
            <a:spLocks noGrp="1"/>
          </p:cNvSpPr>
          <p:nvPr>
            <p:ph type="title"/>
          </p:nvPr>
        </p:nvSpPr>
        <p:spPr/>
        <p:txBody>
          <a:bodyPr/>
          <a:lstStyle/>
          <a:p>
            <a:r>
              <a:rPr lang="en-US" dirty="0"/>
              <a:t>Before we begin...</a:t>
            </a:r>
          </a:p>
        </p:txBody>
      </p:sp>
      <p:sp>
        <p:nvSpPr>
          <p:cNvPr id="3" name="Content Placeholder 2">
            <a:extLst>
              <a:ext uri="{FF2B5EF4-FFF2-40B4-BE49-F238E27FC236}">
                <a16:creationId xmlns:a16="http://schemas.microsoft.com/office/drawing/2014/main" id="{92FFB990-1B10-587D-D853-7278325EB36D}"/>
              </a:ext>
            </a:extLst>
          </p:cNvPr>
          <p:cNvSpPr>
            <a:spLocks noGrp="1"/>
          </p:cNvSpPr>
          <p:nvPr>
            <p:ph idx="1"/>
          </p:nvPr>
        </p:nvSpPr>
        <p:spPr/>
        <p:txBody>
          <a:bodyPr vert="horz" lIns="91440" tIns="45720" rIns="91440" bIns="45720" rtlCol="0" anchor="t">
            <a:normAutofit/>
          </a:bodyPr>
          <a:lstStyle/>
          <a:p>
            <a:pPr marL="0" indent="0" algn="ctr">
              <a:buNone/>
            </a:pPr>
            <a:r>
              <a:rPr lang="en-US"/>
              <a:t>What do you know about LLMs...?</a:t>
            </a:r>
          </a:p>
          <a:p>
            <a:pPr marL="0" indent="0">
              <a:buNone/>
            </a:pPr>
            <a:endParaRPr lang="en-US" dirty="0"/>
          </a:p>
          <a:p>
            <a:pPr>
              <a:buFont typeface="Calibri" panose="020B0604020202020204" pitchFamily="34" charset="0"/>
              <a:buChar char="-"/>
            </a:pPr>
            <a:r>
              <a:rPr lang="en-US" i="1" dirty="0"/>
              <a:t>How do they work?</a:t>
            </a:r>
          </a:p>
          <a:p>
            <a:pPr>
              <a:buFont typeface="Calibri" panose="020B0604020202020204" pitchFamily="34" charset="0"/>
              <a:buChar char="-"/>
            </a:pPr>
            <a:r>
              <a:rPr lang="en-US" i="1" dirty="0"/>
              <a:t>Can you name any?</a:t>
            </a:r>
          </a:p>
          <a:p>
            <a:pPr>
              <a:buFont typeface="Calibri" panose="020B0604020202020204" pitchFamily="34" charset="0"/>
              <a:buChar char="-"/>
            </a:pPr>
            <a:r>
              <a:rPr lang="en-US" i="1" dirty="0"/>
              <a:t>What can you use them for?</a:t>
            </a:r>
          </a:p>
          <a:p>
            <a:pPr>
              <a:buFont typeface="Calibri" panose="020B0604020202020204" pitchFamily="34" charset="0"/>
              <a:buChar char="-"/>
            </a:pPr>
            <a:r>
              <a:rPr lang="en-US" i="1"/>
              <a:t>What are potential problems?</a:t>
            </a:r>
            <a:endParaRPr lang="en-US" i="1" dirty="0"/>
          </a:p>
          <a:p>
            <a:pPr>
              <a:buFont typeface="Calibri" panose="020B0604020202020204" pitchFamily="34" charset="0"/>
              <a:buChar char="-"/>
            </a:pPr>
            <a:r>
              <a:rPr lang="en-US" i="1" dirty="0"/>
              <a:t>What do </a:t>
            </a:r>
            <a:r>
              <a:rPr lang="en-US" b="1" i="1" dirty="0"/>
              <a:t>you </a:t>
            </a:r>
            <a:r>
              <a:rPr lang="en-US" i="1" dirty="0"/>
              <a:t>want to use them for?</a:t>
            </a:r>
          </a:p>
        </p:txBody>
      </p:sp>
    </p:spTree>
    <p:extLst>
      <p:ext uri="{BB962C8B-B14F-4D97-AF65-F5344CB8AC3E}">
        <p14:creationId xmlns:p14="http://schemas.microsoft.com/office/powerpoint/2010/main" val="183427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enerated image">
            <a:extLst>
              <a:ext uri="{FF2B5EF4-FFF2-40B4-BE49-F238E27FC236}">
                <a16:creationId xmlns:a16="http://schemas.microsoft.com/office/drawing/2014/main" id="{E1EEB66C-5440-6A6B-CA11-DBAEE711749E}"/>
              </a:ext>
            </a:extLst>
          </p:cNvPr>
          <p:cNvPicPr>
            <a:picLocks noChangeAspect="1"/>
          </p:cNvPicPr>
          <p:nvPr/>
        </p:nvPicPr>
        <p:blipFill>
          <a:blip r:embed="rId3"/>
          <a:stretch>
            <a:fillRect/>
          </a:stretch>
        </p:blipFill>
        <p:spPr>
          <a:xfrm>
            <a:off x="3653518" y="659947"/>
            <a:ext cx="4401911" cy="6613071"/>
          </a:xfrm>
          <a:prstGeom prst="rect">
            <a:avLst/>
          </a:prstGeom>
        </p:spPr>
      </p:pic>
      <p:sp>
        <p:nvSpPr>
          <p:cNvPr id="2" name="Title 1">
            <a:extLst>
              <a:ext uri="{FF2B5EF4-FFF2-40B4-BE49-F238E27FC236}">
                <a16:creationId xmlns:a16="http://schemas.microsoft.com/office/drawing/2014/main" id="{79428D2F-F725-B3EE-D39E-56A5B729FF65}"/>
              </a:ext>
            </a:extLst>
          </p:cNvPr>
          <p:cNvSpPr>
            <a:spLocks noGrp="1"/>
          </p:cNvSpPr>
          <p:nvPr>
            <p:ph type="title"/>
          </p:nvPr>
        </p:nvSpPr>
        <p:spPr/>
        <p:txBody>
          <a:bodyPr/>
          <a:lstStyle/>
          <a:p>
            <a:r>
              <a:rPr lang="en-US" dirty="0"/>
              <a:t>Here is a Llama...</a:t>
            </a:r>
          </a:p>
        </p:txBody>
      </p:sp>
      <p:sp>
        <p:nvSpPr>
          <p:cNvPr id="15" name="Flowchart: Connector 14">
            <a:extLst>
              <a:ext uri="{FF2B5EF4-FFF2-40B4-BE49-F238E27FC236}">
                <a16:creationId xmlns:a16="http://schemas.microsoft.com/office/drawing/2014/main" id="{C9BAAFC0-B1D0-6CC7-7910-C53F7B9D4D0C}"/>
              </a:ext>
            </a:extLst>
          </p:cNvPr>
          <p:cNvSpPr/>
          <p:nvPr/>
        </p:nvSpPr>
        <p:spPr>
          <a:xfrm>
            <a:off x="3913290" y="2504332"/>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cxnSp>
        <p:nvCxnSpPr>
          <p:cNvPr id="17" name="Connector: Curved 16">
            <a:extLst>
              <a:ext uri="{FF2B5EF4-FFF2-40B4-BE49-F238E27FC236}">
                <a16:creationId xmlns:a16="http://schemas.microsoft.com/office/drawing/2014/main" id="{CB6A7381-EA09-B208-799D-43C4ABED2E99}"/>
              </a:ext>
            </a:extLst>
          </p:cNvPr>
          <p:cNvCxnSpPr/>
          <p:nvPr/>
        </p:nvCxnSpPr>
        <p:spPr>
          <a:xfrm>
            <a:off x="4368511" y="2734417"/>
            <a:ext cx="620485" cy="920339"/>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0" name="Connector: Curved 19">
            <a:extLst>
              <a:ext uri="{FF2B5EF4-FFF2-40B4-BE49-F238E27FC236}">
                <a16:creationId xmlns:a16="http://schemas.microsoft.com/office/drawing/2014/main" id="{0465B321-BEF6-9BC9-E031-75A72C55C5DB}"/>
              </a:ext>
            </a:extLst>
          </p:cNvPr>
          <p:cNvCxnSpPr>
            <a:cxnSpLocks/>
          </p:cNvCxnSpPr>
          <p:nvPr/>
        </p:nvCxnSpPr>
        <p:spPr>
          <a:xfrm>
            <a:off x="5443475" y="3666506"/>
            <a:ext cx="409574" cy="838695"/>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1" name="Connector: Curved 20">
            <a:extLst>
              <a:ext uri="{FF2B5EF4-FFF2-40B4-BE49-F238E27FC236}">
                <a16:creationId xmlns:a16="http://schemas.microsoft.com/office/drawing/2014/main" id="{6A4F4912-68B4-38C5-A973-1536B11B50B2}"/>
              </a:ext>
            </a:extLst>
          </p:cNvPr>
          <p:cNvCxnSpPr>
            <a:cxnSpLocks/>
          </p:cNvCxnSpPr>
          <p:nvPr/>
        </p:nvCxnSpPr>
        <p:spPr>
          <a:xfrm>
            <a:off x="6307528" y="4496542"/>
            <a:ext cx="810985" cy="8660"/>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sp>
        <p:nvSpPr>
          <p:cNvPr id="22" name="Flowchart: Connector 21">
            <a:extLst>
              <a:ext uri="{FF2B5EF4-FFF2-40B4-BE49-F238E27FC236}">
                <a16:creationId xmlns:a16="http://schemas.microsoft.com/office/drawing/2014/main" id="{48EC56BF-C941-EF14-B6E9-042D0195FB01}"/>
              </a:ext>
            </a:extLst>
          </p:cNvPr>
          <p:cNvSpPr/>
          <p:nvPr/>
        </p:nvSpPr>
        <p:spPr>
          <a:xfrm>
            <a:off x="4988253" y="34296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23" name="Flowchart: Connector 22">
            <a:extLst>
              <a:ext uri="{FF2B5EF4-FFF2-40B4-BE49-F238E27FC236}">
                <a16:creationId xmlns:a16="http://schemas.microsoft.com/office/drawing/2014/main" id="{5CD1E691-ADB4-B39D-7B93-AFA9A2A1CFE4}"/>
              </a:ext>
            </a:extLst>
          </p:cNvPr>
          <p:cNvSpPr/>
          <p:nvPr/>
        </p:nvSpPr>
        <p:spPr>
          <a:xfrm>
            <a:off x="5852306"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24" name="Flowchart: Connector 23">
            <a:extLst>
              <a:ext uri="{FF2B5EF4-FFF2-40B4-BE49-F238E27FC236}">
                <a16:creationId xmlns:a16="http://schemas.microsoft.com/office/drawing/2014/main" id="{13162B3D-EBD1-BFAC-98F0-3E1B74B224C7}"/>
              </a:ext>
            </a:extLst>
          </p:cNvPr>
          <p:cNvSpPr/>
          <p:nvPr/>
        </p:nvSpPr>
        <p:spPr>
          <a:xfrm>
            <a:off x="7117770"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27" name="Flowchart: Connector 26">
            <a:extLst>
              <a:ext uri="{FF2B5EF4-FFF2-40B4-BE49-F238E27FC236}">
                <a16:creationId xmlns:a16="http://schemas.microsoft.com/office/drawing/2014/main" id="{D48EE0A8-2231-2314-5A63-6A74CEF6A696}"/>
              </a:ext>
            </a:extLst>
          </p:cNvPr>
          <p:cNvSpPr/>
          <p:nvPr/>
        </p:nvSpPr>
        <p:spPr>
          <a:xfrm>
            <a:off x="8596868" y="2098839"/>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sp>
        <p:nvSpPr>
          <p:cNvPr id="29" name="Flowchart: Connector 28">
            <a:extLst>
              <a:ext uri="{FF2B5EF4-FFF2-40B4-BE49-F238E27FC236}">
                <a16:creationId xmlns:a16="http://schemas.microsoft.com/office/drawing/2014/main" id="{C36047C0-85CB-BA7B-6BD7-F642638AEFF8}"/>
              </a:ext>
            </a:extLst>
          </p:cNvPr>
          <p:cNvSpPr/>
          <p:nvPr/>
        </p:nvSpPr>
        <p:spPr>
          <a:xfrm>
            <a:off x="8596867" y="291526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31" name="Flowchart: Connector 30">
            <a:extLst>
              <a:ext uri="{FF2B5EF4-FFF2-40B4-BE49-F238E27FC236}">
                <a16:creationId xmlns:a16="http://schemas.microsoft.com/office/drawing/2014/main" id="{DDEFADCE-B113-6739-3FC5-E14B02A84070}"/>
              </a:ext>
            </a:extLst>
          </p:cNvPr>
          <p:cNvSpPr/>
          <p:nvPr/>
        </p:nvSpPr>
        <p:spPr>
          <a:xfrm>
            <a:off x="8596866" y="3731695"/>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33" name="Flowchart: Connector 32">
            <a:extLst>
              <a:ext uri="{FF2B5EF4-FFF2-40B4-BE49-F238E27FC236}">
                <a16:creationId xmlns:a16="http://schemas.microsoft.com/office/drawing/2014/main" id="{FC159739-3DF5-1A3C-C129-3C2DFD8BCEEA}"/>
              </a:ext>
            </a:extLst>
          </p:cNvPr>
          <p:cNvSpPr/>
          <p:nvPr/>
        </p:nvSpPr>
        <p:spPr>
          <a:xfrm>
            <a:off x="8596866" y="45345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34" name="TextBox 33">
            <a:extLst>
              <a:ext uri="{FF2B5EF4-FFF2-40B4-BE49-F238E27FC236}">
                <a16:creationId xmlns:a16="http://schemas.microsoft.com/office/drawing/2014/main" id="{779DC3C3-FBE7-E9E9-0482-A68A5BA47091}"/>
              </a:ext>
            </a:extLst>
          </p:cNvPr>
          <p:cNvSpPr txBox="1"/>
          <p:nvPr/>
        </p:nvSpPr>
        <p:spPr>
          <a:xfrm>
            <a:off x="9198427" y="2139723"/>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Tokenization</a:t>
            </a:r>
          </a:p>
        </p:txBody>
      </p:sp>
      <p:sp>
        <p:nvSpPr>
          <p:cNvPr id="35" name="TextBox 34">
            <a:extLst>
              <a:ext uri="{FF2B5EF4-FFF2-40B4-BE49-F238E27FC236}">
                <a16:creationId xmlns:a16="http://schemas.microsoft.com/office/drawing/2014/main" id="{6716EF06-87BC-A8BB-B7A9-6BBF50CFE998}"/>
              </a:ext>
            </a:extLst>
          </p:cNvPr>
          <p:cNvSpPr txBox="1"/>
          <p:nvPr/>
        </p:nvSpPr>
        <p:spPr>
          <a:xfrm>
            <a:off x="9198426" y="2956151"/>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Embeddings</a:t>
            </a:r>
          </a:p>
        </p:txBody>
      </p:sp>
      <p:sp>
        <p:nvSpPr>
          <p:cNvPr id="36" name="TextBox 35">
            <a:extLst>
              <a:ext uri="{FF2B5EF4-FFF2-40B4-BE49-F238E27FC236}">
                <a16:creationId xmlns:a16="http://schemas.microsoft.com/office/drawing/2014/main" id="{A2CC3B54-57C0-1BE6-8F58-B03F2D0FBFC2}"/>
              </a:ext>
            </a:extLst>
          </p:cNvPr>
          <p:cNvSpPr txBox="1"/>
          <p:nvPr/>
        </p:nvSpPr>
        <p:spPr>
          <a:xfrm>
            <a:off x="9198426" y="3772580"/>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Attention</a:t>
            </a:r>
          </a:p>
        </p:txBody>
      </p:sp>
      <p:sp>
        <p:nvSpPr>
          <p:cNvPr id="37" name="TextBox 36">
            <a:extLst>
              <a:ext uri="{FF2B5EF4-FFF2-40B4-BE49-F238E27FC236}">
                <a16:creationId xmlns:a16="http://schemas.microsoft.com/office/drawing/2014/main" id="{0A83DA7D-9981-194C-5CD0-443FA0BD851B}"/>
              </a:ext>
            </a:extLst>
          </p:cNvPr>
          <p:cNvSpPr txBox="1"/>
          <p:nvPr/>
        </p:nvSpPr>
        <p:spPr>
          <a:xfrm>
            <a:off x="9198426" y="4568598"/>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Sampling</a:t>
            </a:r>
          </a:p>
        </p:txBody>
      </p:sp>
    </p:spTree>
    <p:extLst>
      <p:ext uri="{BB962C8B-B14F-4D97-AF65-F5344CB8AC3E}">
        <p14:creationId xmlns:p14="http://schemas.microsoft.com/office/powerpoint/2010/main" val="380211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23" grpId="0" animBg="1"/>
      <p:bldP spid="24" grpId="0" animBg="1"/>
      <p:bldP spid="27" grpId="0" animBg="1"/>
      <p:bldP spid="29" grpId="0" animBg="1"/>
      <p:bldP spid="31" grpId="0" animBg="1"/>
      <p:bldP spid="33" grpId="0" animBg="1"/>
      <p:bldP spid="34" grpId="0" animBg="1"/>
      <p:bldP spid="35" grpId="0" animBg="1"/>
      <p:bldP spid="36"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artoon of a llama wearing a cape and mask&#10;&#10;AI-generated content may be incorrect.">
            <a:extLst>
              <a:ext uri="{FF2B5EF4-FFF2-40B4-BE49-F238E27FC236}">
                <a16:creationId xmlns:a16="http://schemas.microsoft.com/office/drawing/2014/main" id="{757DC58F-0406-309A-D7C4-BEF5EE85814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903917" y="1396915"/>
            <a:ext cx="3797300" cy="5695950"/>
          </a:xfrm>
          <a:prstGeom prst="rect">
            <a:avLst/>
          </a:prstGeom>
        </p:spPr>
      </p:pic>
      <p:sp>
        <p:nvSpPr>
          <p:cNvPr id="2" name="Title 1">
            <a:extLst>
              <a:ext uri="{FF2B5EF4-FFF2-40B4-BE49-F238E27FC236}">
                <a16:creationId xmlns:a16="http://schemas.microsoft.com/office/drawing/2014/main" id="{30D6147D-3AF1-B627-DC49-BB083443A874}"/>
              </a:ext>
            </a:extLst>
          </p:cNvPr>
          <p:cNvSpPr>
            <a:spLocks noGrp="1"/>
          </p:cNvSpPr>
          <p:nvPr>
            <p:ph type="title"/>
          </p:nvPr>
        </p:nvSpPr>
        <p:spPr/>
        <p:txBody>
          <a:bodyPr/>
          <a:lstStyle/>
          <a:p>
            <a:r>
              <a:rPr lang="en-US" dirty="0"/>
              <a:t>How can we augment them?</a:t>
            </a:r>
          </a:p>
        </p:txBody>
      </p:sp>
      <p:sp>
        <p:nvSpPr>
          <p:cNvPr id="3" name="Content Placeholder 2">
            <a:extLst>
              <a:ext uri="{FF2B5EF4-FFF2-40B4-BE49-F238E27FC236}">
                <a16:creationId xmlns:a16="http://schemas.microsoft.com/office/drawing/2014/main" id="{D83C43F5-34A7-8640-01DC-E67800E0C470}"/>
              </a:ext>
            </a:extLst>
          </p:cNvPr>
          <p:cNvSpPr>
            <a:spLocks noGrp="1"/>
          </p:cNvSpPr>
          <p:nvPr>
            <p:ph idx="1"/>
          </p:nvPr>
        </p:nvSpPr>
        <p:spPr/>
        <p:txBody>
          <a:bodyPr vert="horz" lIns="91440" tIns="45720" rIns="91440" bIns="45720" rtlCol="0" anchor="t">
            <a:normAutofit/>
          </a:bodyPr>
          <a:lstStyle/>
          <a:p>
            <a:pPr marL="0" indent="0">
              <a:buNone/>
            </a:pPr>
            <a:r>
              <a:rPr lang="en-US"/>
              <a:t>Session states</a:t>
            </a:r>
          </a:p>
          <a:p>
            <a:pPr marL="0" indent="0">
              <a:buNone/>
            </a:pPr>
            <a:r>
              <a:rPr lang="en-US" dirty="0"/>
              <a:t>RAG</a:t>
            </a:r>
          </a:p>
          <a:p>
            <a:pPr marL="0" indent="0">
              <a:buNone/>
            </a:pPr>
            <a:r>
              <a:rPr lang="en-US"/>
              <a:t>Prompting</a:t>
            </a:r>
          </a:p>
          <a:p>
            <a:pPr marL="0" indent="0">
              <a:buNone/>
            </a:pPr>
            <a:r>
              <a:rPr lang="en-US"/>
              <a:t>Tools</a:t>
            </a:r>
          </a:p>
          <a:p>
            <a:pPr marL="0" indent="0">
              <a:buNone/>
            </a:pPr>
            <a:r>
              <a:rPr lang="en-US" dirty="0"/>
              <a:t>Finetuning</a:t>
            </a:r>
          </a:p>
        </p:txBody>
      </p:sp>
    </p:spTree>
    <p:extLst>
      <p:ext uri="{BB962C8B-B14F-4D97-AF65-F5344CB8AC3E}">
        <p14:creationId xmlns:p14="http://schemas.microsoft.com/office/powerpoint/2010/main" val="57058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41BF3-F107-F9B0-5EDB-4373BB4196B4}"/>
              </a:ext>
            </a:extLst>
          </p:cNvPr>
          <p:cNvSpPr>
            <a:spLocks noGrp="1"/>
          </p:cNvSpPr>
          <p:nvPr>
            <p:ph type="title"/>
          </p:nvPr>
        </p:nvSpPr>
        <p:spPr/>
        <p:txBody>
          <a:bodyPr/>
          <a:lstStyle/>
          <a:p>
            <a:r>
              <a:rPr lang="en-US" dirty="0"/>
              <a:t>Some definitions</a:t>
            </a:r>
          </a:p>
        </p:txBody>
      </p:sp>
      <p:sp>
        <p:nvSpPr>
          <p:cNvPr id="3" name="Content Placeholder 2">
            <a:extLst>
              <a:ext uri="{FF2B5EF4-FFF2-40B4-BE49-F238E27FC236}">
                <a16:creationId xmlns:a16="http://schemas.microsoft.com/office/drawing/2014/main" id="{BACC3A7C-33D4-2896-0AC9-9DA08F6ED357}"/>
              </a:ext>
            </a:extLst>
          </p:cNvPr>
          <p:cNvSpPr>
            <a:spLocks noGrp="1"/>
          </p:cNvSpPr>
          <p:nvPr>
            <p:ph idx="1"/>
          </p:nvPr>
        </p:nvSpPr>
        <p:spPr>
          <a:xfrm>
            <a:off x="838200" y="1825624"/>
            <a:ext cx="10900410" cy="5032375"/>
          </a:xfrm>
        </p:spPr>
        <p:txBody>
          <a:bodyPr vert="horz" lIns="91440" tIns="45720" rIns="91440" bIns="45720" rtlCol="0" anchor="t">
            <a:normAutofit fontScale="70000" lnSpcReduction="20000"/>
          </a:bodyPr>
          <a:lstStyle/>
          <a:p>
            <a:pPr marL="0" indent="0">
              <a:buNone/>
            </a:pPr>
            <a:r>
              <a:rPr lang="en-US" b="1" dirty="0">
                <a:solidFill>
                  <a:srgbClr val="7030A0"/>
                </a:solidFill>
                <a:ea typeface="+mn-lt"/>
                <a:cs typeface="+mn-lt"/>
              </a:rPr>
              <a:t>Model </a:t>
            </a:r>
            <a:r>
              <a:rPr lang="en-US" dirty="0">
                <a:ea typeface="+mn-lt"/>
                <a:cs typeface="+mn-lt"/>
              </a:rPr>
              <a:t>The thing you train and use to generate text.</a:t>
            </a:r>
          </a:p>
          <a:p>
            <a:pPr marL="0" indent="0">
              <a:buNone/>
            </a:pPr>
            <a:r>
              <a:rPr lang="en-US" b="1" dirty="0">
                <a:solidFill>
                  <a:srgbClr val="7030A0"/>
                </a:solidFill>
                <a:ea typeface="+mn-lt"/>
                <a:cs typeface="+mn-lt"/>
              </a:rPr>
              <a:t>Architecture </a:t>
            </a:r>
            <a:r>
              <a:rPr lang="en-US" dirty="0">
                <a:ea typeface="+mn-lt"/>
                <a:cs typeface="+mn-lt"/>
              </a:rPr>
              <a:t>The high-level structure of the model.</a:t>
            </a:r>
          </a:p>
          <a:p>
            <a:pPr marL="0" indent="0">
              <a:buNone/>
            </a:pPr>
            <a:r>
              <a:rPr lang="en-US" b="1" dirty="0">
                <a:solidFill>
                  <a:srgbClr val="7030A0"/>
                </a:solidFill>
                <a:ea typeface="+mn-lt"/>
                <a:cs typeface="+mn-lt"/>
              </a:rPr>
              <a:t>Parameters </a:t>
            </a:r>
            <a:r>
              <a:rPr lang="en-US" dirty="0">
                <a:ea typeface="+mn-lt"/>
                <a:cs typeface="+mn-lt"/>
              </a:rPr>
              <a:t>(or weights) The internal knobs and dials that get altered during the course of training.</a:t>
            </a:r>
          </a:p>
          <a:p>
            <a:pPr marL="0" indent="0">
              <a:buNone/>
            </a:pPr>
            <a:r>
              <a:rPr lang="en-US" b="1" dirty="0">
                <a:solidFill>
                  <a:srgbClr val="7030A0"/>
                </a:solidFill>
                <a:ea typeface="+mn-lt"/>
                <a:cs typeface="+mn-lt"/>
              </a:rPr>
              <a:t>Context </a:t>
            </a:r>
            <a:r>
              <a:rPr lang="en-US" dirty="0">
                <a:ea typeface="+mn-lt"/>
                <a:cs typeface="+mn-lt"/>
              </a:rPr>
              <a:t>The input to the LLM.</a:t>
            </a:r>
          </a:p>
          <a:p>
            <a:pPr marL="0" indent="0">
              <a:buNone/>
            </a:pPr>
            <a:r>
              <a:rPr lang="en-US" b="1" dirty="0">
                <a:solidFill>
                  <a:srgbClr val="7030A0"/>
                </a:solidFill>
                <a:ea typeface="+mn-lt"/>
                <a:cs typeface="+mn-lt"/>
              </a:rPr>
              <a:t>Embedding </a:t>
            </a:r>
            <a:r>
              <a:rPr lang="en-US" dirty="0">
                <a:ea typeface="+mn-lt"/>
                <a:cs typeface="+mn-lt"/>
              </a:rPr>
              <a:t>A high-dimensional representation of text.</a:t>
            </a:r>
          </a:p>
          <a:p>
            <a:pPr marL="0" indent="0">
              <a:buNone/>
            </a:pPr>
            <a:r>
              <a:rPr lang="en-US" b="1" dirty="0">
                <a:solidFill>
                  <a:srgbClr val="7030A0"/>
                </a:solidFill>
                <a:ea typeface="+mn-lt"/>
                <a:cs typeface="+mn-lt"/>
              </a:rPr>
              <a:t>Token </a:t>
            </a:r>
            <a:r>
              <a:rPr lang="en-US" dirty="0">
                <a:ea typeface="+mn-lt"/>
                <a:cs typeface="+mn-lt"/>
              </a:rPr>
              <a:t>The smallest unit of text fed into a model.</a:t>
            </a:r>
          </a:p>
          <a:p>
            <a:pPr marL="0" indent="0">
              <a:buNone/>
            </a:pPr>
            <a:r>
              <a:rPr lang="en-US" b="1" dirty="0">
                <a:solidFill>
                  <a:srgbClr val="7030A0"/>
                </a:solidFill>
                <a:ea typeface="+mn-lt"/>
                <a:cs typeface="+mn-lt"/>
              </a:rPr>
              <a:t>Pre-training </a:t>
            </a:r>
            <a:r>
              <a:rPr lang="en-US" dirty="0">
                <a:ea typeface="+mn-lt"/>
                <a:cs typeface="+mn-lt"/>
              </a:rPr>
              <a:t>The first stage of training the LLM, and usually the most expensive.</a:t>
            </a:r>
          </a:p>
          <a:p>
            <a:pPr marL="0" indent="0">
              <a:buNone/>
            </a:pPr>
            <a:r>
              <a:rPr lang="en-US" b="1" dirty="0">
                <a:solidFill>
                  <a:srgbClr val="7030A0"/>
                </a:solidFill>
                <a:ea typeface="+mn-lt"/>
                <a:cs typeface="+mn-lt"/>
              </a:rPr>
              <a:t>Post-training </a:t>
            </a:r>
            <a:r>
              <a:rPr lang="en-US" dirty="0">
                <a:ea typeface="+mn-lt"/>
                <a:cs typeface="+mn-lt"/>
              </a:rPr>
              <a:t>The second stage of training for working beyond general language understanding</a:t>
            </a:r>
          </a:p>
          <a:p>
            <a:pPr marL="0" indent="0">
              <a:buNone/>
            </a:pPr>
            <a:r>
              <a:rPr lang="en-US" b="1" dirty="0">
                <a:solidFill>
                  <a:srgbClr val="7030A0"/>
                </a:solidFill>
                <a:ea typeface="+mn-lt"/>
                <a:cs typeface="+mn-lt"/>
              </a:rPr>
              <a:t>Fine-tuning </a:t>
            </a:r>
            <a:r>
              <a:rPr lang="en-US" dirty="0">
                <a:ea typeface="+mn-lt"/>
                <a:cs typeface="+mn-lt"/>
              </a:rPr>
              <a:t>Training the LLM to do a particular task.</a:t>
            </a:r>
          </a:p>
          <a:p>
            <a:pPr marL="0" indent="0">
              <a:buNone/>
            </a:pPr>
            <a:r>
              <a:rPr lang="en-US" b="1" dirty="0">
                <a:solidFill>
                  <a:srgbClr val="7030A0"/>
                </a:solidFill>
                <a:ea typeface="+mn-lt"/>
                <a:cs typeface="+mn-lt"/>
              </a:rPr>
              <a:t>Inference </a:t>
            </a:r>
            <a:r>
              <a:rPr lang="en-US" dirty="0">
                <a:ea typeface="+mn-lt"/>
                <a:cs typeface="+mn-lt"/>
              </a:rPr>
              <a:t>The act of calling the model for text generation.</a:t>
            </a:r>
          </a:p>
          <a:p>
            <a:pPr marL="0" indent="0">
              <a:buNone/>
            </a:pPr>
            <a:r>
              <a:rPr lang="en-US" b="1" dirty="0">
                <a:solidFill>
                  <a:srgbClr val="7030A0"/>
                </a:solidFill>
                <a:ea typeface="+mn-lt"/>
                <a:cs typeface="+mn-lt"/>
              </a:rPr>
              <a:t>Quantization </a:t>
            </a:r>
            <a:r>
              <a:rPr lang="en-US" dirty="0">
                <a:ea typeface="+mn-lt"/>
                <a:cs typeface="+mn-lt"/>
              </a:rPr>
              <a:t>Reducing the size of a model.</a:t>
            </a:r>
          </a:p>
          <a:p>
            <a:pPr marL="0" indent="0">
              <a:buNone/>
            </a:pPr>
            <a:r>
              <a:rPr lang="en-US" b="1" dirty="0">
                <a:solidFill>
                  <a:srgbClr val="7030A0"/>
                </a:solidFill>
                <a:ea typeface="+mn-lt"/>
                <a:cs typeface="+mn-lt"/>
              </a:rPr>
              <a:t>Source </a:t>
            </a:r>
            <a:r>
              <a:rPr lang="en-US" dirty="0">
                <a:ea typeface="+mn-lt"/>
                <a:cs typeface="+mn-lt"/>
              </a:rPr>
              <a:t>The availability of the model (can be open or closed).</a:t>
            </a:r>
          </a:p>
          <a:p>
            <a:pPr marL="0" indent="0">
              <a:buNone/>
            </a:pPr>
            <a:r>
              <a:rPr lang="en-US" b="1" dirty="0">
                <a:solidFill>
                  <a:srgbClr val="7030A0"/>
                </a:solidFill>
                <a:ea typeface="+mn-lt"/>
                <a:cs typeface="+mn-lt"/>
              </a:rPr>
              <a:t>Modality </a:t>
            </a:r>
            <a:r>
              <a:rPr lang="en-US" dirty="0">
                <a:ea typeface="+mn-lt"/>
                <a:cs typeface="+mn-lt"/>
              </a:rPr>
              <a:t>Defined by the type of data the model is trained on (e.g. text or images).</a:t>
            </a:r>
          </a:p>
          <a:p>
            <a:pPr marL="0" indent="0">
              <a:buNone/>
            </a:pPr>
            <a:r>
              <a:rPr lang="en-US" b="1" dirty="0">
                <a:solidFill>
                  <a:srgbClr val="7030A0"/>
                </a:solidFill>
                <a:ea typeface="+mn-lt"/>
                <a:cs typeface="+mn-lt"/>
              </a:rPr>
              <a:t>API </a:t>
            </a:r>
            <a:r>
              <a:rPr lang="en-US" dirty="0">
                <a:ea typeface="+mn-lt"/>
                <a:cs typeface="+mn-lt"/>
              </a:rPr>
              <a:t>(Application Programming Interface) The means by which you can interact with a model.</a:t>
            </a:r>
            <a:endParaRPr lang="en-US" dirty="0"/>
          </a:p>
        </p:txBody>
      </p:sp>
    </p:spTree>
    <p:extLst>
      <p:ext uri="{BB962C8B-B14F-4D97-AF65-F5344CB8AC3E}">
        <p14:creationId xmlns:p14="http://schemas.microsoft.com/office/powerpoint/2010/main" val="2828243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3511F-8565-6D41-02BF-6E9296DCF3B4}"/>
              </a:ext>
            </a:extLst>
          </p:cNvPr>
          <p:cNvSpPr>
            <a:spLocks noGrp="1"/>
          </p:cNvSpPr>
          <p:nvPr>
            <p:ph type="title"/>
          </p:nvPr>
        </p:nvSpPr>
        <p:spPr/>
        <p:txBody>
          <a:bodyPr/>
          <a:lstStyle/>
          <a:p>
            <a:r>
              <a:rPr lang="en-US" dirty="0"/>
              <a:t>EU AI Act </a:t>
            </a:r>
            <a:r>
              <a:rPr lang="en-US" i="1" dirty="0">
                <a:solidFill>
                  <a:schemeClr val="bg2">
                    <a:lumMod val="50000"/>
                  </a:schemeClr>
                </a:solidFill>
              </a:rPr>
              <a:t>(</a:t>
            </a:r>
            <a:r>
              <a:rPr lang="en-GB" i="1" dirty="0">
                <a:solidFill>
                  <a:schemeClr val="bg2">
                    <a:lumMod val="50000"/>
                  </a:schemeClr>
                </a:solidFill>
              </a:rPr>
              <a:t>August 2024</a:t>
            </a:r>
            <a:r>
              <a:rPr lang="en-US" i="1" dirty="0">
                <a:solidFill>
                  <a:schemeClr val="bg2">
                    <a:lumMod val="50000"/>
                  </a:schemeClr>
                </a:solidFill>
              </a:rPr>
              <a:t>)</a:t>
            </a:r>
          </a:p>
        </p:txBody>
      </p:sp>
      <p:sp>
        <p:nvSpPr>
          <p:cNvPr id="3" name="Content Placeholder 2">
            <a:extLst>
              <a:ext uri="{FF2B5EF4-FFF2-40B4-BE49-F238E27FC236}">
                <a16:creationId xmlns:a16="http://schemas.microsoft.com/office/drawing/2014/main" id="{C10ABB8D-3273-0866-F725-70CD2E52915C}"/>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endParaRPr lang="en-US" dirty="0">
              <a:ea typeface="+mn-lt"/>
              <a:cs typeface="+mn-lt"/>
            </a:endParaRPr>
          </a:p>
        </p:txBody>
      </p:sp>
    </p:spTree>
    <p:extLst>
      <p:ext uri="{BB962C8B-B14F-4D97-AF65-F5344CB8AC3E}">
        <p14:creationId xmlns:p14="http://schemas.microsoft.com/office/powerpoint/2010/main" val="1865729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FE21E-B1C7-BFB6-78F1-F228EFDED0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0013B-05E0-42A6-4927-0EEBCFBECB85}"/>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AI model</a:t>
            </a:r>
            <a:endParaRPr lang="en-US" dirty="0"/>
          </a:p>
        </p:txBody>
      </p:sp>
      <p:sp>
        <p:nvSpPr>
          <p:cNvPr id="5" name="Title 4">
            <a:extLst>
              <a:ext uri="{FF2B5EF4-FFF2-40B4-BE49-F238E27FC236}">
                <a16:creationId xmlns:a16="http://schemas.microsoft.com/office/drawing/2014/main" id="{1700A706-5A9A-B94A-5E5E-F6185319F000}"/>
              </a:ext>
            </a:extLst>
          </p:cNvPr>
          <p:cNvSpPr>
            <a:spLocks noGrp="1"/>
          </p:cNvSpPr>
          <p:nvPr>
            <p:ph type="title"/>
          </p:nvPr>
        </p:nvSpPr>
        <p:spPr/>
        <p:txBody>
          <a:bodyPr/>
          <a:lstStyle/>
          <a:p>
            <a:r>
              <a:rPr lang="en-US" dirty="0"/>
              <a:t>EU AI Act </a:t>
            </a:r>
            <a:r>
              <a:rPr lang="en-US" i="1" dirty="0">
                <a:solidFill>
                  <a:schemeClr val="bg2">
                    <a:lumMod val="50000"/>
                  </a:schemeClr>
                </a:solidFill>
              </a:rPr>
              <a:t>(</a:t>
            </a:r>
            <a:r>
              <a:rPr lang="en-GB" i="1" dirty="0">
                <a:solidFill>
                  <a:schemeClr val="bg2">
                    <a:lumMod val="50000"/>
                  </a:schemeClr>
                </a:solidFill>
              </a:rPr>
              <a:t>August 2024</a:t>
            </a:r>
            <a:r>
              <a:rPr lang="en-US" i="1" dirty="0">
                <a:solidFill>
                  <a:schemeClr val="bg2">
                    <a:lumMod val="50000"/>
                  </a:schemeClr>
                </a:solidFill>
              </a:rPr>
              <a:t>)</a:t>
            </a:r>
            <a:endParaRPr lang="en-US" dirty="0"/>
          </a:p>
        </p:txBody>
      </p:sp>
    </p:spTree>
    <p:extLst>
      <p:ext uri="{BB962C8B-B14F-4D97-AF65-F5344CB8AC3E}">
        <p14:creationId xmlns:p14="http://schemas.microsoft.com/office/powerpoint/2010/main" val="288595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D587-F051-7D62-0F42-9119016C1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6A392-618F-BD9C-5214-DB8B71621D5F}"/>
              </a:ext>
            </a:extLst>
          </p:cNvPr>
          <p:cNvSpPr>
            <a:spLocks noGrp="1"/>
          </p:cNvSpPr>
          <p:nvPr>
            <p:ph type="title"/>
          </p:nvPr>
        </p:nvSpPr>
        <p:spPr/>
        <p:txBody>
          <a:bodyPr/>
          <a:lstStyle/>
          <a:p>
            <a:r>
              <a:rPr lang="en-US" dirty="0"/>
              <a:t>EU AI Act </a:t>
            </a:r>
            <a:r>
              <a:rPr lang="en-US" i="1" dirty="0">
                <a:solidFill>
                  <a:schemeClr val="bg2">
                    <a:lumMod val="50000"/>
                  </a:schemeClr>
                </a:solidFill>
              </a:rPr>
              <a:t>(</a:t>
            </a:r>
            <a:r>
              <a:rPr lang="en-GB" i="1" dirty="0">
                <a:solidFill>
                  <a:schemeClr val="bg2">
                    <a:lumMod val="50000"/>
                  </a:schemeClr>
                </a:solidFill>
              </a:rPr>
              <a:t>August 2024</a:t>
            </a:r>
            <a:r>
              <a:rPr lang="en-US" i="1" dirty="0">
                <a:solidFill>
                  <a:schemeClr val="bg2">
                    <a:lumMod val="50000"/>
                  </a:schemeClr>
                </a:solidFill>
              </a:rPr>
              <a:t>)</a:t>
            </a:r>
            <a:endParaRPr lang="en-US" dirty="0"/>
          </a:p>
        </p:txBody>
      </p:sp>
      <p:sp>
        <p:nvSpPr>
          <p:cNvPr id="3" name="Content Placeholder 2">
            <a:extLst>
              <a:ext uri="{FF2B5EF4-FFF2-40B4-BE49-F238E27FC236}">
                <a16:creationId xmlns:a16="http://schemas.microsoft.com/office/drawing/2014/main" id="{CD14D7EF-B0A7-7551-E481-D9816DC0D0E9}"/>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AI model … trained with a large amount of data using self-supervision at scale, that displays significant generality and is capable of competently performing a wide range of distinct tasks</a:t>
            </a:r>
            <a:endParaRPr lang="en-US" dirty="0"/>
          </a:p>
        </p:txBody>
      </p:sp>
    </p:spTree>
    <p:extLst>
      <p:ext uri="{BB962C8B-B14F-4D97-AF65-F5344CB8AC3E}">
        <p14:creationId xmlns:p14="http://schemas.microsoft.com/office/powerpoint/2010/main" val="459657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A47D2-6A35-8A15-1A0B-31708619F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2FFD7-9E08-B464-0286-6956E8B6E119}"/>
              </a:ext>
            </a:extLst>
          </p:cNvPr>
          <p:cNvSpPr>
            <a:spLocks noGrp="1"/>
          </p:cNvSpPr>
          <p:nvPr>
            <p:ph type="title"/>
          </p:nvPr>
        </p:nvSpPr>
        <p:spPr/>
        <p:txBody>
          <a:bodyPr/>
          <a:lstStyle/>
          <a:p>
            <a:r>
              <a:rPr lang="en-US" dirty="0"/>
              <a:t>EU AI Act </a:t>
            </a:r>
            <a:r>
              <a:rPr lang="en-US" i="1" dirty="0">
                <a:solidFill>
                  <a:schemeClr val="bg2">
                    <a:lumMod val="50000"/>
                  </a:schemeClr>
                </a:solidFill>
              </a:rPr>
              <a:t>(</a:t>
            </a:r>
            <a:r>
              <a:rPr lang="en-GB" i="1" dirty="0">
                <a:solidFill>
                  <a:schemeClr val="bg2">
                    <a:lumMod val="50000"/>
                  </a:schemeClr>
                </a:solidFill>
              </a:rPr>
              <a:t>August 2024</a:t>
            </a:r>
            <a:r>
              <a:rPr lang="en-US" i="1" dirty="0">
                <a:solidFill>
                  <a:schemeClr val="bg2">
                    <a:lumMod val="50000"/>
                  </a:schemeClr>
                </a:solidFill>
              </a:rPr>
              <a:t>)</a:t>
            </a:r>
            <a:endParaRPr lang="en-US" dirty="0"/>
          </a:p>
        </p:txBody>
      </p:sp>
      <p:sp>
        <p:nvSpPr>
          <p:cNvPr id="3" name="Content Placeholder 2">
            <a:extLst>
              <a:ext uri="{FF2B5EF4-FFF2-40B4-BE49-F238E27FC236}">
                <a16:creationId xmlns:a16="http://schemas.microsoft.com/office/drawing/2014/main" id="{E2408F8A-1039-0F2C-D043-161693F55A34}"/>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AI model … trained with a large amount of data using self-supervision at scale, that displays significant generality and is capable of competently performing a wide range of distinct tasks ... that can be integrated into a variety of downstream systems or applications ...</a:t>
            </a:r>
            <a:endParaRPr lang="en-US" dirty="0"/>
          </a:p>
        </p:txBody>
      </p:sp>
    </p:spTree>
    <p:extLst>
      <p:ext uri="{BB962C8B-B14F-4D97-AF65-F5344CB8AC3E}">
        <p14:creationId xmlns:p14="http://schemas.microsoft.com/office/powerpoint/2010/main" val="490861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2E27-88D9-4FC9-1674-847609364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24151-50C3-889E-51EB-C0D04EFB03FF}"/>
              </a:ext>
            </a:extLst>
          </p:cNvPr>
          <p:cNvSpPr>
            <a:spLocks noGrp="1"/>
          </p:cNvSpPr>
          <p:nvPr>
            <p:ph type="title"/>
          </p:nvPr>
        </p:nvSpPr>
        <p:spPr/>
        <p:txBody>
          <a:bodyPr/>
          <a:lstStyle/>
          <a:p>
            <a:r>
              <a:rPr lang="en-US" dirty="0"/>
              <a:t>EU AI Act </a:t>
            </a:r>
            <a:r>
              <a:rPr lang="en-US" i="1" dirty="0">
                <a:solidFill>
                  <a:schemeClr val="bg2">
                    <a:lumMod val="50000"/>
                  </a:schemeClr>
                </a:solidFill>
              </a:rPr>
              <a:t>(</a:t>
            </a:r>
            <a:r>
              <a:rPr lang="en-GB" i="1" dirty="0">
                <a:solidFill>
                  <a:schemeClr val="bg2">
                    <a:lumMod val="50000"/>
                  </a:schemeClr>
                </a:solidFill>
              </a:rPr>
              <a:t>August 2024</a:t>
            </a:r>
            <a:r>
              <a:rPr lang="en-US" i="1" dirty="0">
                <a:solidFill>
                  <a:schemeClr val="bg2">
                    <a:lumMod val="50000"/>
                  </a:schemeClr>
                </a:solidFill>
              </a:rPr>
              <a:t>)</a:t>
            </a:r>
            <a:endParaRPr lang="en-US" dirty="0"/>
          </a:p>
        </p:txBody>
      </p:sp>
      <p:sp>
        <p:nvSpPr>
          <p:cNvPr id="3" name="Content Placeholder 2">
            <a:extLst>
              <a:ext uri="{FF2B5EF4-FFF2-40B4-BE49-F238E27FC236}">
                <a16:creationId xmlns:a16="http://schemas.microsoft.com/office/drawing/2014/main" id="{E6923F68-DE8D-A21D-AD3D-642139153BC1}"/>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t>
            </a:r>
            <a:r>
              <a:rPr lang="en-US" i="1" dirty="0">
                <a:solidFill>
                  <a:srgbClr val="7030A0"/>
                </a:solidFill>
                <a:ea typeface="+mn-lt"/>
                <a:cs typeface="+mn-lt"/>
              </a:rPr>
              <a:t>AI model</a:t>
            </a:r>
            <a:r>
              <a:rPr lang="en-US" dirty="0">
                <a:ea typeface="+mn-lt"/>
                <a:cs typeface="+mn-lt"/>
              </a:rPr>
              <a:t> … trained with a </a:t>
            </a:r>
            <a:r>
              <a:rPr lang="en-US" i="1" dirty="0">
                <a:solidFill>
                  <a:srgbClr val="7030A0"/>
                </a:solidFill>
                <a:ea typeface="+mn-lt"/>
                <a:cs typeface="+mn-lt"/>
              </a:rPr>
              <a:t>large amount of data</a:t>
            </a:r>
            <a:r>
              <a:rPr lang="en-US" dirty="0">
                <a:ea typeface="+mn-lt"/>
                <a:cs typeface="+mn-lt"/>
              </a:rPr>
              <a:t> using </a:t>
            </a:r>
            <a:r>
              <a:rPr lang="en-US" i="1" dirty="0">
                <a:solidFill>
                  <a:srgbClr val="7030A0"/>
                </a:solidFill>
                <a:ea typeface="+mn-lt"/>
                <a:cs typeface="+mn-lt"/>
              </a:rPr>
              <a:t>self-supervision</a:t>
            </a:r>
            <a:r>
              <a:rPr lang="en-US" dirty="0">
                <a:ea typeface="+mn-lt"/>
                <a:cs typeface="+mn-lt"/>
              </a:rPr>
              <a:t> at </a:t>
            </a:r>
            <a:r>
              <a:rPr lang="en-US" i="1" dirty="0">
                <a:solidFill>
                  <a:srgbClr val="7030A0"/>
                </a:solidFill>
                <a:ea typeface="+mn-lt"/>
                <a:cs typeface="+mn-lt"/>
              </a:rPr>
              <a:t>scale</a:t>
            </a:r>
            <a:r>
              <a:rPr lang="en-US" dirty="0">
                <a:ea typeface="+mn-lt"/>
                <a:cs typeface="+mn-lt"/>
              </a:rPr>
              <a:t>, that displays significant </a:t>
            </a:r>
            <a:r>
              <a:rPr lang="en-US" i="1" dirty="0">
                <a:solidFill>
                  <a:srgbClr val="7030A0"/>
                </a:solidFill>
                <a:ea typeface="+mn-lt"/>
                <a:cs typeface="+mn-lt"/>
              </a:rPr>
              <a:t>generality </a:t>
            </a:r>
            <a:r>
              <a:rPr lang="en-US" dirty="0">
                <a:ea typeface="+mn-lt"/>
                <a:cs typeface="+mn-lt"/>
              </a:rPr>
              <a:t>and is capable of competently performing a wide range of distinct tasks ... that can be integrated into a variety of </a:t>
            </a:r>
            <a:r>
              <a:rPr lang="en-US" i="1" dirty="0">
                <a:solidFill>
                  <a:srgbClr val="7030A0"/>
                </a:solidFill>
                <a:ea typeface="+mn-lt"/>
                <a:cs typeface="+mn-lt"/>
              </a:rPr>
              <a:t>downstream systems or applications</a:t>
            </a:r>
            <a:r>
              <a:rPr lang="en-US" dirty="0">
                <a:ea typeface="+mn-lt"/>
                <a:cs typeface="+mn-lt"/>
              </a:rPr>
              <a:t> ...</a:t>
            </a:r>
            <a:endParaRPr lang="en-US" dirty="0"/>
          </a:p>
        </p:txBody>
      </p:sp>
    </p:spTree>
    <p:extLst>
      <p:ext uri="{BB962C8B-B14F-4D97-AF65-F5344CB8AC3E}">
        <p14:creationId xmlns:p14="http://schemas.microsoft.com/office/powerpoint/2010/main" val="1534518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0A84B-CED9-D10B-9C53-03A051F7C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FFBF8-A696-6775-4F1A-763C5095ED50}"/>
              </a:ext>
            </a:extLst>
          </p:cNvPr>
          <p:cNvSpPr>
            <a:spLocks noGrp="1"/>
          </p:cNvSpPr>
          <p:nvPr>
            <p:ph type="title"/>
          </p:nvPr>
        </p:nvSpPr>
        <p:spPr/>
        <p:txBody>
          <a:bodyPr/>
          <a:lstStyle/>
          <a:p>
            <a:r>
              <a:rPr lang="en-US" dirty="0"/>
              <a:t>General Purpose AI Model</a:t>
            </a:r>
          </a:p>
        </p:txBody>
      </p:sp>
      <p:sp>
        <p:nvSpPr>
          <p:cNvPr id="3" name="Content Placeholder 2">
            <a:extLst>
              <a:ext uri="{FF2B5EF4-FFF2-40B4-BE49-F238E27FC236}">
                <a16:creationId xmlns:a16="http://schemas.microsoft.com/office/drawing/2014/main" id="{39593BBD-E291-3768-2FDE-E0BA2F410DFC}"/>
              </a:ext>
            </a:extLst>
          </p:cNvPr>
          <p:cNvSpPr>
            <a:spLocks noGrp="1"/>
          </p:cNvSpPr>
          <p:nvPr>
            <p:ph idx="1"/>
          </p:nvPr>
        </p:nvSpPr>
        <p:spPr/>
        <p:txBody>
          <a:bodyPr vert="horz" lIns="91440" tIns="45720" rIns="91440" bIns="45720" rtlCol="0" anchor="t">
            <a:noAutofit/>
          </a:bodyPr>
          <a:lstStyle/>
          <a:p>
            <a:r>
              <a:rPr lang="en-US" dirty="0">
                <a:ea typeface="+mn-lt"/>
                <a:cs typeface="+mn-lt"/>
              </a:rPr>
              <a:t>The number of parameters of the model;</a:t>
            </a:r>
            <a:endParaRPr lang="en-US" dirty="0"/>
          </a:p>
          <a:p>
            <a:r>
              <a:rPr lang="en-US" dirty="0">
                <a:ea typeface="+mn-lt"/>
                <a:cs typeface="+mn-lt"/>
              </a:rPr>
              <a:t>The quality or size of the data set, for example measured through tokens;</a:t>
            </a:r>
          </a:p>
          <a:p>
            <a:r>
              <a:rPr lang="en-US" dirty="0">
                <a:ea typeface="+mn-lt"/>
                <a:cs typeface="+mn-lt"/>
              </a:rPr>
              <a:t>The amount of computation used for training the model, measured in:</a:t>
            </a:r>
          </a:p>
          <a:p>
            <a:pPr marL="971550" lvl="1" indent="-514350">
              <a:buFont typeface="Courier New" panose="020B0604020202020204" pitchFamily="34" charset="0"/>
              <a:buChar char="o"/>
            </a:pPr>
            <a:r>
              <a:rPr lang="en-US" dirty="0">
                <a:ea typeface="+mn-lt"/>
                <a:cs typeface="+mn-lt"/>
              </a:rPr>
              <a:t>Floating point ops</a:t>
            </a:r>
          </a:p>
          <a:p>
            <a:pPr marL="971550" lvl="1" indent="-514350">
              <a:buFont typeface="Courier New" panose="020B0604020202020204" pitchFamily="34" charset="0"/>
              <a:buChar char="o"/>
            </a:pPr>
            <a:r>
              <a:rPr lang="en-US" dirty="0">
                <a:ea typeface="+mn-lt"/>
                <a:cs typeface="+mn-lt"/>
              </a:rPr>
              <a:t>Cost of training</a:t>
            </a:r>
          </a:p>
          <a:p>
            <a:pPr marL="971550" lvl="1" indent="-514350">
              <a:buFont typeface="Courier New" panose="020B0604020202020204" pitchFamily="34" charset="0"/>
              <a:buChar char="o"/>
            </a:pPr>
            <a:r>
              <a:rPr lang="en-US" dirty="0">
                <a:ea typeface="+mn-lt"/>
                <a:cs typeface="+mn-lt"/>
              </a:rPr>
              <a:t>Training time</a:t>
            </a:r>
          </a:p>
          <a:p>
            <a:pPr marL="971550" lvl="1" indent="-514350">
              <a:buFont typeface="Courier New" panose="020B0604020202020204" pitchFamily="34" charset="0"/>
              <a:buChar char="o"/>
            </a:pPr>
            <a:r>
              <a:rPr lang="en-US" dirty="0">
                <a:ea typeface="+mn-lt"/>
                <a:cs typeface="+mn-lt"/>
              </a:rPr>
              <a:t>Energy consumption</a:t>
            </a:r>
          </a:p>
          <a:p>
            <a:pPr marL="0" indent="0">
              <a:buNone/>
            </a:pPr>
            <a:endParaRPr lang="en-US" dirty="0">
              <a:ea typeface="+mn-lt"/>
              <a:cs typeface="+mn-lt"/>
            </a:endParaRPr>
          </a:p>
        </p:txBody>
      </p:sp>
    </p:spTree>
    <p:extLst>
      <p:ext uri="{BB962C8B-B14F-4D97-AF65-F5344CB8AC3E}">
        <p14:creationId xmlns:p14="http://schemas.microsoft.com/office/powerpoint/2010/main" val="276038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799AC-F16A-9B10-8065-66046C433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C1BFA-C543-0795-068D-73F38A5EB0E3}"/>
              </a:ext>
            </a:extLst>
          </p:cNvPr>
          <p:cNvSpPr>
            <a:spLocks noGrp="1"/>
          </p:cNvSpPr>
          <p:nvPr>
            <p:ph type="title"/>
          </p:nvPr>
        </p:nvSpPr>
        <p:spPr/>
        <p:txBody>
          <a:bodyPr/>
          <a:lstStyle/>
          <a:p>
            <a:r>
              <a:rPr lang="en-US" dirty="0"/>
              <a:t>General Purpose AI Model</a:t>
            </a:r>
          </a:p>
        </p:txBody>
      </p:sp>
      <p:sp>
        <p:nvSpPr>
          <p:cNvPr id="3" name="Content Placeholder 2">
            <a:extLst>
              <a:ext uri="{FF2B5EF4-FFF2-40B4-BE49-F238E27FC236}">
                <a16:creationId xmlns:a16="http://schemas.microsoft.com/office/drawing/2014/main" id="{E7E0EA96-25AD-64DE-88A5-B407DAD77273}"/>
              </a:ext>
            </a:extLst>
          </p:cNvPr>
          <p:cNvSpPr>
            <a:spLocks noGrp="1"/>
          </p:cNvSpPr>
          <p:nvPr>
            <p:ph idx="1"/>
          </p:nvPr>
        </p:nvSpPr>
        <p:spPr/>
        <p:txBody>
          <a:bodyPr vert="horz" lIns="91440" tIns="45720" rIns="91440" bIns="45720" rtlCol="0" anchor="t">
            <a:noAutofit/>
          </a:bodyPr>
          <a:lstStyle/>
          <a:p>
            <a:r>
              <a:rPr lang="en-US" dirty="0">
                <a:ea typeface="+mn-lt"/>
                <a:cs typeface="+mn-lt"/>
              </a:rPr>
              <a:t>The input and output modalities of the model, such as text to text(large language models)</a:t>
            </a:r>
          </a:p>
          <a:p>
            <a:r>
              <a:rPr lang="en-US" dirty="0">
                <a:ea typeface="+mn-lt"/>
                <a:cs typeface="+mn-lt"/>
              </a:rPr>
              <a:t>Impact:</a:t>
            </a:r>
          </a:p>
          <a:p>
            <a:pPr marL="971550" lvl="1" indent="-514350">
              <a:buFont typeface="Courier New" panose="020B0604020202020204" pitchFamily="34" charset="0"/>
              <a:buChar char="o"/>
            </a:pPr>
            <a:r>
              <a:rPr lang="en-US" dirty="0">
                <a:ea typeface="+mn-lt"/>
                <a:cs typeface="+mn-lt"/>
              </a:rPr>
              <a:t>Business users</a:t>
            </a:r>
          </a:p>
          <a:p>
            <a:pPr marL="971550" lvl="1" indent="-514350">
              <a:buFont typeface="Courier New" panose="020B0604020202020204" pitchFamily="34" charset="0"/>
              <a:buChar char="o"/>
            </a:pPr>
            <a:r>
              <a:rPr lang="en-US" dirty="0">
                <a:ea typeface="+mn-lt"/>
                <a:cs typeface="+mn-lt"/>
              </a:rPr>
              <a:t>Registered end-users</a:t>
            </a:r>
          </a:p>
          <a:p>
            <a:r>
              <a:rPr lang="en-US" dirty="0">
                <a:ea typeface="+mn-lt"/>
                <a:cs typeface="+mn-lt"/>
              </a:rPr>
              <a:t>The benchmarks and evaluations of capabilities of the model</a:t>
            </a:r>
          </a:p>
          <a:p>
            <a:pPr marL="971550" lvl="1" indent="-514350">
              <a:buFont typeface="Courier New" panose="020B0604020202020204" pitchFamily="34" charset="0"/>
              <a:buChar char="o"/>
            </a:pPr>
            <a:r>
              <a:rPr lang="en-US" dirty="0">
                <a:ea typeface="+mn-lt"/>
                <a:cs typeface="+mn-lt"/>
              </a:rPr>
              <a:t>Tasks without additional training</a:t>
            </a:r>
          </a:p>
          <a:p>
            <a:pPr marL="971550" lvl="1" indent="-514350">
              <a:buFont typeface="Courier New" panose="020B0604020202020204" pitchFamily="34" charset="0"/>
              <a:buChar char="o"/>
            </a:pPr>
            <a:r>
              <a:rPr lang="en-US" dirty="0">
                <a:ea typeface="+mn-lt"/>
                <a:cs typeface="+mn-lt"/>
              </a:rPr>
              <a:t>Adaptability to distinct tasks</a:t>
            </a:r>
          </a:p>
          <a:p>
            <a:pPr marL="971550" lvl="1" indent="-514350">
              <a:buFont typeface="Courier New" panose="020B0604020202020204" pitchFamily="34" charset="0"/>
              <a:buChar char="o"/>
            </a:pPr>
            <a:r>
              <a:rPr lang="en-US" dirty="0">
                <a:ea typeface="+mn-lt"/>
                <a:cs typeface="+mn-lt"/>
              </a:rPr>
              <a:t>Autonomy and scalability</a:t>
            </a:r>
          </a:p>
          <a:p>
            <a:pPr marL="971550" lvl="1" indent="-514350">
              <a:buFont typeface="Courier New" panose="020B0604020202020204" pitchFamily="34" charset="0"/>
              <a:buChar char="o"/>
            </a:pPr>
            <a:r>
              <a:rPr lang="en-US" dirty="0">
                <a:ea typeface="+mn-lt"/>
                <a:cs typeface="+mn-lt"/>
              </a:rPr>
              <a:t>Tool access</a:t>
            </a:r>
            <a:endParaRPr lang="en-US" sz="2800" dirty="0"/>
          </a:p>
          <a:p>
            <a:pPr marL="0" indent="0">
              <a:buNone/>
            </a:pPr>
            <a:endParaRPr lang="en-US" dirty="0">
              <a:ea typeface="+mn-lt"/>
              <a:cs typeface="+mn-lt"/>
            </a:endParaRPr>
          </a:p>
        </p:txBody>
      </p:sp>
    </p:spTree>
    <p:extLst>
      <p:ext uri="{BB962C8B-B14F-4D97-AF65-F5344CB8AC3E}">
        <p14:creationId xmlns:p14="http://schemas.microsoft.com/office/powerpoint/2010/main" val="351636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E63CC-2009-9150-9883-7D6A5D765426}"/>
              </a:ext>
            </a:extLst>
          </p:cNvPr>
          <p:cNvSpPr>
            <a:spLocks noGrp="1"/>
          </p:cNvSpPr>
          <p:nvPr>
            <p:ph type="title"/>
          </p:nvPr>
        </p:nvSpPr>
        <p:spPr/>
        <p:txBody>
          <a:bodyPr/>
          <a:lstStyle/>
          <a:p>
            <a:r>
              <a:rPr lang="en-US" dirty="0"/>
              <a:t>AI Systems</a:t>
            </a:r>
          </a:p>
        </p:txBody>
      </p:sp>
      <p:sp>
        <p:nvSpPr>
          <p:cNvPr id="3" name="Content Placeholder 2">
            <a:extLst>
              <a:ext uri="{FF2B5EF4-FFF2-40B4-BE49-F238E27FC236}">
                <a16:creationId xmlns:a16="http://schemas.microsoft.com/office/drawing/2014/main" id="{8E3982A0-7BFF-76E6-00A2-2D4A08CAC85F}"/>
              </a:ext>
            </a:extLst>
          </p:cNvPr>
          <p:cNvSpPr>
            <a:spLocks noGrp="1"/>
          </p:cNvSpPr>
          <p:nvPr>
            <p:ph idx="1"/>
          </p:nvPr>
        </p:nvSpPr>
        <p:spPr/>
        <p:txBody>
          <a:bodyPr vert="horz" lIns="91440" tIns="45720" rIns="91440" bIns="45720" rtlCol="0" anchor="t">
            <a:normAutofit/>
          </a:bodyPr>
          <a:lstStyle/>
          <a:p>
            <a:pPr marL="0" indent="0">
              <a:buNone/>
            </a:pPr>
            <a:r>
              <a:rPr lang="en-US" dirty="0"/>
              <a:t>There is a clear distinction between AI </a:t>
            </a:r>
            <a:r>
              <a:rPr lang="en-US" i="1" dirty="0">
                <a:solidFill>
                  <a:srgbClr val="7030A0"/>
                </a:solidFill>
              </a:rPr>
              <a:t>models </a:t>
            </a:r>
            <a:r>
              <a:rPr lang="en-US" dirty="0"/>
              <a:t>and AI </a:t>
            </a:r>
            <a:r>
              <a:rPr lang="en-US" i="1" dirty="0">
                <a:solidFill>
                  <a:srgbClr val="7030A0"/>
                </a:solidFill>
              </a:rPr>
              <a:t>Systems</a:t>
            </a:r>
          </a:p>
          <a:p>
            <a:pPr marL="0" indent="0">
              <a:buNone/>
            </a:pPr>
            <a:endParaRPr lang="en-US" dirty="0"/>
          </a:p>
          <a:p>
            <a:pPr marL="0" indent="0">
              <a:buNone/>
            </a:pPr>
            <a:r>
              <a:rPr lang="en-US" i="1" dirty="0">
                <a:solidFill>
                  <a:srgbClr val="7030A0"/>
                </a:solidFill>
              </a:rPr>
              <a:t>"...</a:t>
            </a:r>
            <a:r>
              <a:rPr lang="en-US" i="1" dirty="0">
                <a:solidFill>
                  <a:srgbClr val="7030A0"/>
                </a:solidFill>
                <a:ea typeface="+mn-lt"/>
                <a:cs typeface="+mn-lt"/>
              </a:rPr>
              <a:t>AI models require the addition of further components, such as for example a user interface, to become AI systems..."</a:t>
            </a:r>
          </a:p>
          <a:p>
            <a:pPr marL="0" indent="0">
              <a:buNone/>
            </a:pPr>
            <a:endParaRPr lang="en-US" dirty="0"/>
          </a:p>
        </p:txBody>
      </p:sp>
    </p:spTree>
    <p:extLst>
      <p:ext uri="{BB962C8B-B14F-4D97-AF65-F5344CB8AC3E}">
        <p14:creationId xmlns:p14="http://schemas.microsoft.com/office/powerpoint/2010/main" val="171952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1F7C-A98A-5154-DCC0-C9556283009D}"/>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00BDD31A-73BA-6424-5AC5-D11B0A152ACD}"/>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dirty="0">
                <a:ea typeface="+mn-lt"/>
                <a:cs typeface="+mn-lt"/>
              </a:rPr>
              <a:t>Raphaël </a:t>
            </a:r>
            <a:r>
              <a:rPr lang="en-US" err="1">
                <a:ea typeface="+mn-lt"/>
                <a:cs typeface="+mn-lt"/>
              </a:rPr>
              <a:t>Millière</a:t>
            </a:r>
            <a:r>
              <a:rPr lang="en-US" dirty="0">
                <a:ea typeface="+mn-lt"/>
                <a:cs typeface="+mn-lt"/>
              </a:rPr>
              <a:t> and </a:t>
            </a:r>
            <a:r>
              <a:rPr lang="en-US" dirty="0"/>
              <a:t>Charles </a:t>
            </a:r>
            <a:r>
              <a:rPr lang="en-US" err="1"/>
              <a:t>Rathkopf</a:t>
            </a:r>
            <a:r>
              <a:rPr lang="en-US" dirty="0">
                <a:ea typeface="+mn-lt"/>
                <a:cs typeface="+mn-lt"/>
              </a:rPr>
              <a:t>, </a:t>
            </a:r>
            <a:r>
              <a:rPr lang="en-US" i="1" dirty="0">
                <a:ea typeface="+mn-lt"/>
                <a:cs typeface="+mn-lt"/>
              </a:rPr>
              <a:t>Anthropocentric bias and the possibility of artificial cognition</a:t>
            </a:r>
            <a:r>
              <a:rPr lang="en-US" dirty="0">
                <a:ea typeface="+mn-lt"/>
                <a:cs typeface="+mn-lt"/>
              </a:rPr>
              <a:t>, 2024</a:t>
            </a:r>
            <a:endParaRPr lang="en-US"/>
          </a:p>
          <a:p>
            <a:pPr marL="0" indent="0">
              <a:buNone/>
            </a:pPr>
            <a:endParaRPr lang="en-US" dirty="0"/>
          </a:p>
          <a:p>
            <a:pPr marL="0" indent="0">
              <a:buNone/>
            </a:pPr>
            <a:r>
              <a:rPr lang="en-US" dirty="0"/>
              <a:t>Raphaël </a:t>
            </a:r>
            <a:r>
              <a:rPr lang="en-US" err="1"/>
              <a:t>Millière</a:t>
            </a:r>
            <a:r>
              <a:rPr lang="en-US" dirty="0"/>
              <a:t> and </a:t>
            </a:r>
            <a:r>
              <a:rPr lang="en-US" dirty="0">
                <a:ea typeface="+mn-lt"/>
                <a:cs typeface="+mn-lt"/>
              </a:rPr>
              <a:t>Cameron Buckner</a:t>
            </a:r>
            <a:r>
              <a:rPr lang="en-US" dirty="0"/>
              <a:t>, </a:t>
            </a:r>
            <a:r>
              <a:rPr lang="en-US" i="1" dirty="0">
                <a:ea typeface="+mn-lt"/>
                <a:cs typeface="+mn-lt"/>
              </a:rPr>
              <a:t>A Philosophical Introduction to Language Models</a:t>
            </a:r>
            <a:r>
              <a:rPr lang="en-US" dirty="0"/>
              <a:t>, 2024</a:t>
            </a:r>
          </a:p>
          <a:p>
            <a:pPr marL="0" indent="0">
              <a:buNone/>
            </a:pPr>
            <a:endParaRPr lang="en-US" dirty="0"/>
          </a:p>
          <a:p>
            <a:pPr marL="0" indent="0">
              <a:buNone/>
            </a:pPr>
            <a:r>
              <a:rPr lang="en-US" dirty="0">
                <a:ea typeface="+mn-lt"/>
                <a:cs typeface="+mn-lt"/>
                <a:hlinkClick r:id="rId2"/>
              </a:rPr>
              <a:t>EU AI Act Explorer</a:t>
            </a:r>
          </a:p>
          <a:p>
            <a:pPr marL="0" indent="0">
              <a:buNone/>
            </a:pPr>
            <a:endParaRPr lang="en-US" dirty="0"/>
          </a:p>
          <a:p>
            <a:pPr marL="0" indent="0">
              <a:buNone/>
            </a:pPr>
            <a:r>
              <a:rPr lang="en-US" dirty="0"/>
              <a:t>ICO Information:</a:t>
            </a:r>
          </a:p>
          <a:p>
            <a:pPr marL="0" indent="0">
              <a:buNone/>
            </a:pPr>
            <a:r>
              <a:rPr lang="en-US"/>
              <a:t> </a:t>
            </a:r>
            <a:r>
              <a:rPr lang="en-US" dirty="0">
                <a:hlinkClick r:id="rId3"/>
              </a:rPr>
              <a:t>Artificial Intelligence</a:t>
            </a:r>
          </a:p>
          <a:p>
            <a:pPr marL="0" indent="0">
              <a:buNone/>
            </a:pPr>
            <a:r>
              <a:rPr lang="en-US"/>
              <a:t> </a:t>
            </a:r>
            <a:r>
              <a:rPr lang="en-US" dirty="0">
                <a:hlinkClick r:id="rId4"/>
              </a:rPr>
              <a:t>Data Protection</a:t>
            </a:r>
          </a:p>
          <a:p>
            <a:pPr marL="0" indent="0">
              <a:buNone/>
            </a:pPr>
            <a:r>
              <a:rPr lang="en-US"/>
              <a:t> </a:t>
            </a:r>
            <a:r>
              <a:rPr lang="en-US" dirty="0">
                <a:hlinkClick r:id="rId5"/>
              </a:rPr>
              <a:t>Explaining Decisions</a:t>
            </a:r>
          </a:p>
        </p:txBody>
      </p:sp>
    </p:spTree>
    <p:extLst>
      <p:ext uri="{BB962C8B-B14F-4D97-AF65-F5344CB8AC3E}">
        <p14:creationId xmlns:p14="http://schemas.microsoft.com/office/powerpoint/2010/main" val="3011003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87FD7-F408-4ADB-E02C-219317EC5E7B}"/>
            </a:ext>
          </a:extLst>
        </p:cNvPr>
        <p:cNvGrpSpPr/>
        <p:nvPr/>
      </p:nvGrpSpPr>
      <p:grpSpPr>
        <a:xfrm>
          <a:off x="0" y="0"/>
          <a:ext cx="0" cy="0"/>
          <a:chOff x="0" y="0"/>
          <a:chExt cx="0" cy="0"/>
        </a:xfrm>
      </p:grpSpPr>
      <p:pic>
        <p:nvPicPr>
          <p:cNvPr id="9" name="Picture 8" descr="Generated image">
            <a:extLst>
              <a:ext uri="{FF2B5EF4-FFF2-40B4-BE49-F238E27FC236}">
                <a16:creationId xmlns:a16="http://schemas.microsoft.com/office/drawing/2014/main" id="{1A9401A4-3E59-C24C-B465-A14D4AC0E9BA}"/>
              </a:ext>
            </a:extLst>
          </p:cNvPr>
          <p:cNvPicPr>
            <a:picLocks noChangeAspect="1"/>
          </p:cNvPicPr>
          <p:nvPr/>
        </p:nvPicPr>
        <p:blipFill>
          <a:blip r:embed="rId2"/>
          <a:stretch>
            <a:fillRect/>
          </a:stretch>
        </p:blipFill>
        <p:spPr>
          <a:xfrm>
            <a:off x="3653518" y="659947"/>
            <a:ext cx="4401911" cy="6613071"/>
          </a:xfrm>
          <a:prstGeom prst="rect">
            <a:avLst/>
          </a:prstGeom>
        </p:spPr>
      </p:pic>
      <p:sp>
        <p:nvSpPr>
          <p:cNvPr id="2" name="Title 1">
            <a:extLst>
              <a:ext uri="{FF2B5EF4-FFF2-40B4-BE49-F238E27FC236}">
                <a16:creationId xmlns:a16="http://schemas.microsoft.com/office/drawing/2014/main" id="{051FD524-6505-46E4-B48E-05443451B39B}"/>
              </a:ext>
            </a:extLst>
          </p:cNvPr>
          <p:cNvSpPr>
            <a:spLocks noGrp="1"/>
          </p:cNvSpPr>
          <p:nvPr>
            <p:ph type="title"/>
          </p:nvPr>
        </p:nvSpPr>
        <p:spPr/>
        <p:txBody>
          <a:bodyPr/>
          <a:lstStyle/>
          <a:p>
            <a:r>
              <a:rPr lang="en-US" dirty="0"/>
              <a:t>Back to the Llama...</a:t>
            </a:r>
          </a:p>
        </p:txBody>
      </p:sp>
      <p:sp>
        <p:nvSpPr>
          <p:cNvPr id="15" name="Flowchart: Connector 14">
            <a:extLst>
              <a:ext uri="{FF2B5EF4-FFF2-40B4-BE49-F238E27FC236}">
                <a16:creationId xmlns:a16="http://schemas.microsoft.com/office/drawing/2014/main" id="{44BA943E-F75D-70BC-66FA-FCEE37DB2F65}"/>
              </a:ext>
            </a:extLst>
          </p:cNvPr>
          <p:cNvSpPr/>
          <p:nvPr/>
        </p:nvSpPr>
        <p:spPr>
          <a:xfrm>
            <a:off x="3913290" y="2504332"/>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cxnSp>
        <p:nvCxnSpPr>
          <p:cNvPr id="17" name="Connector: Curved 16">
            <a:extLst>
              <a:ext uri="{FF2B5EF4-FFF2-40B4-BE49-F238E27FC236}">
                <a16:creationId xmlns:a16="http://schemas.microsoft.com/office/drawing/2014/main" id="{C6EFEDB1-32D6-5A09-1935-65D7243FAA38}"/>
              </a:ext>
            </a:extLst>
          </p:cNvPr>
          <p:cNvCxnSpPr/>
          <p:nvPr/>
        </p:nvCxnSpPr>
        <p:spPr>
          <a:xfrm>
            <a:off x="4368511" y="2734417"/>
            <a:ext cx="620485" cy="920339"/>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0" name="Connector: Curved 19">
            <a:extLst>
              <a:ext uri="{FF2B5EF4-FFF2-40B4-BE49-F238E27FC236}">
                <a16:creationId xmlns:a16="http://schemas.microsoft.com/office/drawing/2014/main" id="{DDE49F8E-F31C-9089-9F7C-658C7265B777}"/>
              </a:ext>
            </a:extLst>
          </p:cNvPr>
          <p:cNvCxnSpPr>
            <a:cxnSpLocks/>
          </p:cNvCxnSpPr>
          <p:nvPr/>
        </p:nvCxnSpPr>
        <p:spPr>
          <a:xfrm>
            <a:off x="5443475" y="3666506"/>
            <a:ext cx="409574" cy="838695"/>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1" name="Connector: Curved 20">
            <a:extLst>
              <a:ext uri="{FF2B5EF4-FFF2-40B4-BE49-F238E27FC236}">
                <a16:creationId xmlns:a16="http://schemas.microsoft.com/office/drawing/2014/main" id="{EE6C85E4-75F1-3CA6-3137-CCDFFFD6B08A}"/>
              </a:ext>
            </a:extLst>
          </p:cNvPr>
          <p:cNvCxnSpPr>
            <a:cxnSpLocks/>
          </p:cNvCxnSpPr>
          <p:nvPr/>
        </p:nvCxnSpPr>
        <p:spPr>
          <a:xfrm>
            <a:off x="6307528" y="4496542"/>
            <a:ext cx="810985" cy="8660"/>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sp>
        <p:nvSpPr>
          <p:cNvPr id="22" name="Flowchart: Connector 21">
            <a:extLst>
              <a:ext uri="{FF2B5EF4-FFF2-40B4-BE49-F238E27FC236}">
                <a16:creationId xmlns:a16="http://schemas.microsoft.com/office/drawing/2014/main" id="{D5313209-D324-86BD-27B5-6032FA0D624B}"/>
              </a:ext>
            </a:extLst>
          </p:cNvPr>
          <p:cNvSpPr/>
          <p:nvPr/>
        </p:nvSpPr>
        <p:spPr>
          <a:xfrm>
            <a:off x="4988253" y="34296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23" name="Flowchart: Connector 22">
            <a:extLst>
              <a:ext uri="{FF2B5EF4-FFF2-40B4-BE49-F238E27FC236}">
                <a16:creationId xmlns:a16="http://schemas.microsoft.com/office/drawing/2014/main" id="{045B9FB8-EEA7-7105-C244-CB749B77A7C4}"/>
              </a:ext>
            </a:extLst>
          </p:cNvPr>
          <p:cNvSpPr/>
          <p:nvPr/>
        </p:nvSpPr>
        <p:spPr>
          <a:xfrm>
            <a:off x="5852306"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24" name="Flowchart: Connector 23">
            <a:extLst>
              <a:ext uri="{FF2B5EF4-FFF2-40B4-BE49-F238E27FC236}">
                <a16:creationId xmlns:a16="http://schemas.microsoft.com/office/drawing/2014/main" id="{E1E2630A-5F89-194B-F752-4C1757665205}"/>
              </a:ext>
            </a:extLst>
          </p:cNvPr>
          <p:cNvSpPr/>
          <p:nvPr/>
        </p:nvSpPr>
        <p:spPr>
          <a:xfrm>
            <a:off x="7117770"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27" name="Flowchart: Connector 26">
            <a:extLst>
              <a:ext uri="{FF2B5EF4-FFF2-40B4-BE49-F238E27FC236}">
                <a16:creationId xmlns:a16="http://schemas.microsoft.com/office/drawing/2014/main" id="{8D48BB32-0742-CC8D-0295-C3631F565183}"/>
              </a:ext>
            </a:extLst>
          </p:cNvPr>
          <p:cNvSpPr/>
          <p:nvPr/>
        </p:nvSpPr>
        <p:spPr>
          <a:xfrm>
            <a:off x="8596868" y="2098839"/>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sp>
        <p:nvSpPr>
          <p:cNvPr id="29" name="Flowchart: Connector 28">
            <a:extLst>
              <a:ext uri="{FF2B5EF4-FFF2-40B4-BE49-F238E27FC236}">
                <a16:creationId xmlns:a16="http://schemas.microsoft.com/office/drawing/2014/main" id="{A334D6B2-4575-4248-FDF6-5C5949D1E0B2}"/>
              </a:ext>
            </a:extLst>
          </p:cNvPr>
          <p:cNvSpPr/>
          <p:nvPr/>
        </p:nvSpPr>
        <p:spPr>
          <a:xfrm>
            <a:off x="8596867" y="291526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31" name="Flowchart: Connector 30">
            <a:extLst>
              <a:ext uri="{FF2B5EF4-FFF2-40B4-BE49-F238E27FC236}">
                <a16:creationId xmlns:a16="http://schemas.microsoft.com/office/drawing/2014/main" id="{698B8E65-1B91-3B68-9EFE-B95DF2CF0380}"/>
              </a:ext>
            </a:extLst>
          </p:cNvPr>
          <p:cNvSpPr/>
          <p:nvPr/>
        </p:nvSpPr>
        <p:spPr>
          <a:xfrm>
            <a:off x="8596866" y="3731695"/>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33" name="Flowchart: Connector 32">
            <a:extLst>
              <a:ext uri="{FF2B5EF4-FFF2-40B4-BE49-F238E27FC236}">
                <a16:creationId xmlns:a16="http://schemas.microsoft.com/office/drawing/2014/main" id="{A9E2DD96-8722-E5A8-DA69-8CD81C98109F}"/>
              </a:ext>
            </a:extLst>
          </p:cNvPr>
          <p:cNvSpPr/>
          <p:nvPr/>
        </p:nvSpPr>
        <p:spPr>
          <a:xfrm>
            <a:off x="8596866" y="45345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34" name="TextBox 33">
            <a:extLst>
              <a:ext uri="{FF2B5EF4-FFF2-40B4-BE49-F238E27FC236}">
                <a16:creationId xmlns:a16="http://schemas.microsoft.com/office/drawing/2014/main" id="{0F27E98C-85A1-71D9-A20A-7EEEF969EAC4}"/>
              </a:ext>
            </a:extLst>
          </p:cNvPr>
          <p:cNvSpPr txBox="1"/>
          <p:nvPr/>
        </p:nvSpPr>
        <p:spPr>
          <a:xfrm>
            <a:off x="9198427" y="2139723"/>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Tokenization</a:t>
            </a:r>
          </a:p>
        </p:txBody>
      </p:sp>
      <p:sp>
        <p:nvSpPr>
          <p:cNvPr id="35" name="TextBox 34">
            <a:extLst>
              <a:ext uri="{FF2B5EF4-FFF2-40B4-BE49-F238E27FC236}">
                <a16:creationId xmlns:a16="http://schemas.microsoft.com/office/drawing/2014/main" id="{3668E21C-BDB8-282B-EB4A-0EEA5820EDAB}"/>
              </a:ext>
            </a:extLst>
          </p:cNvPr>
          <p:cNvSpPr txBox="1"/>
          <p:nvPr/>
        </p:nvSpPr>
        <p:spPr>
          <a:xfrm>
            <a:off x="9198426" y="2956151"/>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Embeddings</a:t>
            </a:r>
          </a:p>
        </p:txBody>
      </p:sp>
      <p:sp>
        <p:nvSpPr>
          <p:cNvPr id="36" name="TextBox 35">
            <a:extLst>
              <a:ext uri="{FF2B5EF4-FFF2-40B4-BE49-F238E27FC236}">
                <a16:creationId xmlns:a16="http://schemas.microsoft.com/office/drawing/2014/main" id="{A2A647F5-B4E3-66EC-BB4E-9EF6ABC78F01}"/>
              </a:ext>
            </a:extLst>
          </p:cNvPr>
          <p:cNvSpPr txBox="1"/>
          <p:nvPr/>
        </p:nvSpPr>
        <p:spPr>
          <a:xfrm>
            <a:off x="9198426" y="3772580"/>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Attention</a:t>
            </a:r>
          </a:p>
        </p:txBody>
      </p:sp>
      <p:sp>
        <p:nvSpPr>
          <p:cNvPr id="37" name="TextBox 36">
            <a:extLst>
              <a:ext uri="{FF2B5EF4-FFF2-40B4-BE49-F238E27FC236}">
                <a16:creationId xmlns:a16="http://schemas.microsoft.com/office/drawing/2014/main" id="{DC6D2BB9-FEB8-D63C-66BC-9EF14CA6BE7B}"/>
              </a:ext>
            </a:extLst>
          </p:cNvPr>
          <p:cNvSpPr txBox="1"/>
          <p:nvPr/>
        </p:nvSpPr>
        <p:spPr>
          <a:xfrm>
            <a:off x="9198426" y="4568598"/>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Sampling</a:t>
            </a:r>
          </a:p>
        </p:txBody>
      </p:sp>
      <p:sp>
        <p:nvSpPr>
          <p:cNvPr id="4" name="Flowchart: Connector 3">
            <a:extLst>
              <a:ext uri="{FF2B5EF4-FFF2-40B4-BE49-F238E27FC236}">
                <a16:creationId xmlns:a16="http://schemas.microsoft.com/office/drawing/2014/main" id="{2B81FEAB-B322-271F-3B23-B688BC735BEE}"/>
              </a:ext>
            </a:extLst>
          </p:cNvPr>
          <p:cNvSpPr/>
          <p:nvPr/>
        </p:nvSpPr>
        <p:spPr>
          <a:xfrm>
            <a:off x="3827565" y="613335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0</a:t>
            </a:r>
          </a:p>
        </p:txBody>
      </p:sp>
      <p:sp>
        <p:nvSpPr>
          <p:cNvPr id="6" name="Flowchart: Connector 5">
            <a:extLst>
              <a:ext uri="{FF2B5EF4-FFF2-40B4-BE49-F238E27FC236}">
                <a16:creationId xmlns:a16="http://schemas.microsoft.com/office/drawing/2014/main" id="{15B07714-AFC8-705F-A4E1-12559D5C7D8C}"/>
              </a:ext>
            </a:extLst>
          </p:cNvPr>
          <p:cNvSpPr/>
          <p:nvPr/>
        </p:nvSpPr>
        <p:spPr>
          <a:xfrm>
            <a:off x="8599590" y="123750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0</a:t>
            </a:r>
          </a:p>
        </p:txBody>
      </p:sp>
      <p:sp>
        <p:nvSpPr>
          <p:cNvPr id="8" name="TextBox 7">
            <a:extLst>
              <a:ext uri="{FF2B5EF4-FFF2-40B4-BE49-F238E27FC236}">
                <a16:creationId xmlns:a16="http://schemas.microsoft.com/office/drawing/2014/main" id="{F828A35B-682A-4751-5A92-071AD5043088}"/>
              </a:ext>
            </a:extLst>
          </p:cNvPr>
          <p:cNvSpPr txBox="1"/>
          <p:nvPr/>
        </p:nvSpPr>
        <p:spPr>
          <a:xfrm>
            <a:off x="9201148" y="1278391"/>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Hardware</a:t>
            </a:r>
          </a:p>
        </p:txBody>
      </p:sp>
    </p:spTree>
    <p:extLst>
      <p:ext uri="{BB962C8B-B14F-4D97-AF65-F5344CB8AC3E}">
        <p14:creationId xmlns:p14="http://schemas.microsoft.com/office/powerpoint/2010/main" val="360770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136</TotalTime>
  <Words>1423</Words>
  <Application>Microsoft Macintosh PowerPoint</Application>
  <PresentationFormat>Widescreen</PresentationFormat>
  <Paragraphs>213</Paragraphs>
  <Slides>18</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Courier New</vt:lpstr>
      <vt:lpstr>Office Theme</vt:lpstr>
      <vt:lpstr>Introduction to LLMs</vt:lpstr>
      <vt:lpstr>About Us</vt:lpstr>
      <vt:lpstr>Workshop Goals</vt:lpstr>
      <vt:lpstr>Schedule</vt:lpstr>
      <vt:lpstr>Before we begin...</vt:lpstr>
      <vt:lpstr>Here is a Llama...</vt:lpstr>
      <vt:lpstr>How can we augment them?</vt:lpstr>
      <vt:lpstr>Some definitions</vt:lpstr>
      <vt:lpstr>EU AI Act (August 2024)</vt:lpstr>
      <vt:lpstr>EU AI Act (August 2024)</vt:lpstr>
      <vt:lpstr>EU AI Act (August 2024)</vt:lpstr>
      <vt:lpstr>EU AI Act (August 2024)</vt:lpstr>
      <vt:lpstr>EU AI Act (August 2024)</vt:lpstr>
      <vt:lpstr>General Purpose AI Model</vt:lpstr>
      <vt:lpstr>General Purpose AI Model</vt:lpstr>
      <vt:lpstr>AI Systems</vt:lpstr>
      <vt:lpstr>Further reading</vt:lpstr>
      <vt:lpstr>Back to the Llama...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Finley Griffin</cp:lastModifiedBy>
  <cp:revision>484</cp:revision>
  <dcterms:created xsi:type="dcterms:W3CDTF">2025-06-13T08:58:27Z</dcterms:created>
  <dcterms:modified xsi:type="dcterms:W3CDTF">2026-05-08T10:25:50Z</dcterms:modified>
</cp:coreProperties>
</file>