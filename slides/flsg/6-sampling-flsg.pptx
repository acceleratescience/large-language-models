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9"/>
  </p:notesMasterIdLst>
  <p:sldIdLst>
    <p:sldId id="291" r:id="rId2"/>
    <p:sldId id="256" r:id="rId3"/>
    <p:sldId id="263" r:id="rId4"/>
    <p:sldId id="286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9" r:id="rId13"/>
    <p:sldId id="267" r:id="rId14"/>
    <p:sldId id="269" r:id="rId15"/>
    <p:sldId id="270" r:id="rId16"/>
    <p:sldId id="268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64" r:id="rId26"/>
    <p:sldId id="265" r:id="rId27"/>
    <p:sldId id="26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5EB"/>
    <a:srgbClr val="8ED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14D47F-B458-F3FA-F50C-97B2CC2DE9F4}" v="351" dt="2025-09-30T12:20:46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/>
    <p:restoredTop sz="61628"/>
  </p:normalViewPr>
  <p:slideViewPr>
    <p:cSldViewPr snapToGrid="0">
      <p:cViewPr varScale="1">
        <p:scale>
          <a:sx n="71" d="100"/>
          <a:sy n="71" d="100"/>
        </p:scale>
        <p:origin x="2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Daniels" userId="S::rkd43@cam.ac.uk::aaa4fbe9-f474-4140-b10b-5257398ac308" providerId="AD" clId="Web-{7EEE46AD-8C6F-D469-15B5-EF6A0E9A1835}"/>
    <pc:docChg chg="modSld">
      <pc:chgData name="Ryan Daniels" userId="S::rkd43@cam.ac.uk::aaa4fbe9-f474-4140-b10b-5257398ac308" providerId="AD" clId="Web-{7EEE46AD-8C6F-D469-15B5-EF6A0E9A1835}" dt="2025-09-05T12:54:42.735" v="2"/>
      <pc:docMkLst>
        <pc:docMk/>
      </pc:docMkLst>
      <pc:sldChg chg="modSp">
        <pc:chgData name="Ryan Daniels" userId="S::rkd43@cam.ac.uk::aaa4fbe9-f474-4140-b10b-5257398ac308" providerId="AD" clId="Web-{7EEE46AD-8C6F-D469-15B5-EF6A0E9A1835}" dt="2025-09-05T12:54:42.735" v="2"/>
        <pc:sldMkLst>
          <pc:docMk/>
          <pc:sldMk cId="109857222" sldId="256"/>
        </pc:sldMkLst>
        <pc:spChg chg="mod">
          <ac:chgData name="Ryan Daniels" userId="S::rkd43@cam.ac.uk::aaa4fbe9-f474-4140-b10b-5257398ac308" providerId="AD" clId="Web-{7EEE46AD-8C6F-D469-15B5-EF6A0E9A1835}" dt="2025-09-05T12:54:42.688" v="0"/>
          <ac:spMkLst>
            <pc:docMk/>
            <pc:sldMk cId="109857222" sldId="256"/>
            <ac:spMk id="31" creationId="{C21CB81B-840D-ED4E-DF15-D302248C1FB2}"/>
          </ac:spMkLst>
        </pc:spChg>
        <pc:spChg chg="mod">
          <ac:chgData name="Ryan Daniels" userId="S::rkd43@cam.ac.uk::aaa4fbe9-f474-4140-b10b-5257398ac308" providerId="AD" clId="Web-{7EEE46AD-8C6F-D469-15B5-EF6A0E9A1835}" dt="2025-09-05T12:54:42.688" v="1"/>
          <ac:spMkLst>
            <pc:docMk/>
            <pc:sldMk cId="109857222" sldId="256"/>
            <ac:spMk id="36" creationId="{FED7BF59-DE51-30E0-FC68-64D6D83590FA}"/>
          </ac:spMkLst>
        </pc:spChg>
        <pc:spChg chg="mod">
          <ac:chgData name="Ryan Daniels" userId="S::rkd43@cam.ac.uk::aaa4fbe9-f474-4140-b10b-5257398ac308" providerId="AD" clId="Web-{7EEE46AD-8C6F-D469-15B5-EF6A0E9A1835}" dt="2025-09-05T12:54:42.735" v="2"/>
          <ac:spMkLst>
            <pc:docMk/>
            <pc:sldMk cId="109857222" sldId="256"/>
            <ac:spMk id="40" creationId="{718A2B7E-3A80-360E-83EF-2F6EA0A422D5}"/>
          </ac:spMkLst>
        </pc:spChg>
      </pc:sldChg>
    </pc:docChg>
  </pc:docChgLst>
  <pc:docChgLst>
    <pc:chgData name="Ryan Daniels" userId="S::rkd43@cam.ac.uk::aaa4fbe9-f474-4140-b10b-5257398ac308" providerId="AD" clId="Web-{A320FE55-65D1-2E3D-73F6-50AF383AA39D}"/>
    <pc:docChg chg="addSld modSld">
      <pc:chgData name="Ryan Daniels" userId="S::rkd43@cam.ac.uk::aaa4fbe9-f474-4140-b10b-5257398ac308" providerId="AD" clId="Web-{A320FE55-65D1-2E3D-73F6-50AF383AA39D}" dt="2025-09-09T19:47:30.294" v="127" actId="20577"/>
      <pc:docMkLst>
        <pc:docMk/>
      </pc:docMkLst>
      <pc:sldChg chg="modSp">
        <pc:chgData name="Ryan Daniels" userId="S::rkd43@cam.ac.uk::aaa4fbe9-f474-4140-b10b-5257398ac308" providerId="AD" clId="Web-{A320FE55-65D1-2E3D-73F6-50AF383AA39D}" dt="2025-09-09T19:43:49.055" v="102" actId="20577"/>
        <pc:sldMkLst>
          <pc:docMk/>
          <pc:sldMk cId="4267722948" sldId="285"/>
        </pc:sldMkLst>
        <pc:spChg chg="mod">
          <ac:chgData name="Ryan Daniels" userId="S::rkd43@cam.ac.uk::aaa4fbe9-f474-4140-b10b-5257398ac308" providerId="AD" clId="Web-{A320FE55-65D1-2E3D-73F6-50AF383AA39D}" dt="2025-09-09T19:43:49.055" v="102" actId="20577"/>
          <ac:spMkLst>
            <pc:docMk/>
            <pc:sldMk cId="4267722948" sldId="285"/>
            <ac:spMk id="3" creationId="{6968E219-FEC3-A8AB-CD9E-B9D14BC49BD1}"/>
          </ac:spMkLst>
        </pc:spChg>
      </pc:sldChg>
      <pc:sldChg chg="modSp">
        <pc:chgData name="Ryan Daniels" userId="S::rkd43@cam.ac.uk::aaa4fbe9-f474-4140-b10b-5257398ac308" providerId="AD" clId="Web-{A320FE55-65D1-2E3D-73F6-50AF383AA39D}" dt="2025-09-09T19:47:30.294" v="127" actId="20577"/>
        <pc:sldMkLst>
          <pc:docMk/>
          <pc:sldMk cId="2683247511" sldId="286"/>
        </pc:sldMkLst>
        <pc:spChg chg="mod">
          <ac:chgData name="Ryan Daniels" userId="S::rkd43@cam.ac.uk::aaa4fbe9-f474-4140-b10b-5257398ac308" providerId="AD" clId="Web-{A320FE55-65D1-2E3D-73F6-50AF383AA39D}" dt="2025-09-09T19:31:33.351" v="17" actId="20577"/>
          <ac:spMkLst>
            <pc:docMk/>
            <pc:sldMk cId="2683247511" sldId="286"/>
            <ac:spMk id="2" creationId="{874FF8B1-875F-ED0F-7654-4D298333FBC3}"/>
          </ac:spMkLst>
        </pc:spChg>
        <pc:spChg chg="mod">
          <ac:chgData name="Ryan Daniels" userId="S::rkd43@cam.ac.uk::aaa4fbe9-f474-4140-b10b-5257398ac308" providerId="AD" clId="Web-{A320FE55-65D1-2E3D-73F6-50AF383AA39D}" dt="2025-09-09T19:47:30.294" v="127" actId="20577"/>
          <ac:spMkLst>
            <pc:docMk/>
            <pc:sldMk cId="2683247511" sldId="286"/>
            <ac:spMk id="3" creationId="{584140AD-0DAB-330E-800A-A7A141EE1DE6}"/>
          </ac:spMkLst>
        </pc:spChg>
      </pc:sldChg>
      <pc:sldChg chg="addSp delSp modSp new mod setBg">
        <pc:chgData name="Ryan Daniels" userId="S::rkd43@cam.ac.uk::aaa4fbe9-f474-4140-b10b-5257398ac308" providerId="AD" clId="Web-{A320FE55-65D1-2E3D-73F6-50AF383AA39D}" dt="2025-09-09T19:47:10.044" v="125" actId="1076"/>
        <pc:sldMkLst>
          <pc:docMk/>
          <pc:sldMk cId="3850214496" sldId="287"/>
        </pc:sldMkLst>
        <pc:spChg chg="mod">
          <ac:chgData name="Ryan Daniels" userId="S::rkd43@cam.ac.uk::aaa4fbe9-f474-4140-b10b-5257398ac308" providerId="AD" clId="Web-{A320FE55-65D1-2E3D-73F6-50AF383AA39D}" dt="2025-09-09T19:46:49.982" v="123"/>
          <ac:spMkLst>
            <pc:docMk/>
            <pc:sldMk cId="3850214496" sldId="287"/>
            <ac:spMk id="2" creationId="{F6DECD85-D113-8F83-D065-59F46DD1DBC8}"/>
          </ac:spMkLst>
        </pc:spChg>
        <pc:spChg chg="add">
          <ac:chgData name="Ryan Daniels" userId="S::rkd43@cam.ac.uk::aaa4fbe9-f474-4140-b10b-5257398ac308" providerId="AD" clId="Web-{A320FE55-65D1-2E3D-73F6-50AF383AA39D}" dt="2025-09-09T19:46:49.982" v="123"/>
          <ac:spMkLst>
            <pc:docMk/>
            <pc:sldMk cId="3850214496" sldId="287"/>
            <ac:spMk id="9" creationId="{B7BD7FCF-A254-4A97-A15C-319B67622677}"/>
          </ac:spMkLst>
        </pc:spChg>
        <pc:spChg chg="add">
          <ac:chgData name="Ryan Daniels" userId="S::rkd43@cam.ac.uk::aaa4fbe9-f474-4140-b10b-5257398ac308" providerId="AD" clId="Web-{A320FE55-65D1-2E3D-73F6-50AF383AA39D}" dt="2025-09-09T19:46:49.982" v="123"/>
          <ac:spMkLst>
            <pc:docMk/>
            <pc:sldMk cId="3850214496" sldId="287"/>
            <ac:spMk id="11" creationId="{52FFAF72-6204-4676-9C6F-9A4CC4D91805}"/>
          </ac:spMkLst>
        </pc:spChg>
        <pc:picChg chg="add mod">
          <ac:chgData name="Ryan Daniels" userId="S::rkd43@cam.ac.uk::aaa4fbe9-f474-4140-b10b-5257398ac308" providerId="AD" clId="Web-{A320FE55-65D1-2E3D-73F6-50AF383AA39D}" dt="2025-09-09T19:47:10.044" v="125" actId="1076"/>
          <ac:picMkLst>
            <pc:docMk/>
            <pc:sldMk cId="3850214496" sldId="287"/>
            <ac:picMk id="4" creationId="{86ABA59D-AC73-D3B6-0BC8-03C372592D01}"/>
          </ac:picMkLst>
        </pc:picChg>
      </pc:sldChg>
    </pc:docChg>
  </pc:docChgLst>
  <pc:docChgLst>
    <pc:chgData name="Ryan Daniels" userId="S::rkd43@cam.ac.uk::aaa4fbe9-f474-4140-b10b-5257398ac308" providerId="AD" clId="Web-{0314D47F-B458-F3FA-F50C-97B2CC2DE9F4}"/>
    <pc:docChg chg="addSld delSld modSld sldOrd">
      <pc:chgData name="Ryan Daniels" userId="S::rkd43@cam.ac.uk::aaa4fbe9-f474-4140-b10b-5257398ac308" providerId="AD" clId="Web-{0314D47F-B458-F3FA-F50C-97B2CC2DE9F4}" dt="2025-09-30T12:20:46.386" v="342"/>
      <pc:docMkLst>
        <pc:docMk/>
      </pc:docMkLst>
      <pc:sldChg chg="modSp">
        <pc:chgData name="Ryan Daniels" userId="S::rkd43@cam.ac.uk::aaa4fbe9-f474-4140-b10b-5257398ac308" providerId="AD" clId="Web-{0314D47F-B458-F3FA-F50C-97B2CC2DE9F4}" dt="2025-09-30T12:18:18.476" v="285" actId="20577"/>
        <pc:sldMkLst>
          <pc:docMk/>
          <pc:sldMk cId="4267722948" sldId="285"/>
        </pc:sldMkLst>
        <pc:spChg chg="mod">
          <ac:chgData name="Ryan Daniels" userId="S::rkd43@cam.ac.uk::aaa4fbe9-f474-4140-b10b-5257398ac308" providerId="AD" clId="Web-{0314D47F-B458-F3FA-F50C-97B2CC2DE9F4}" dt="2025-09-30T12:18:18.476" v="285" actId="20577"/>
          <ac:spMkLst>
            <pc:docMk/>
            <pc:sldMk cId="4267722948" sldId="285"/>
            <ac:spMk id="3" creationId="{6968E219-FEC3-A8AB-CD9E-B9D14BC49BD1}"/>
          </ac:spMkLst>
        </pc:spChg>
      </pc:sldChg>
      <pc:sldChg chg="modSp ord">
        <pc:chgData name="Ryan Daniels" userId="S::rkd43@cam.ac.uk::aaa4fbe9-f474-4140-b10b-5257398ac308" providerId="AD" clId="Web-{0314D47F-B458-F3FA-F50C-97B2CC2DE9F4}" dt="2025-09-30T12:10:51.184" v="80" actId="20577"/>
        <pc:sldMkLst>
          <pc:docMk/>
          <pc:sldMk cId="2683247511" sldId="286"/>
        </pc:sldMkLst>
        <pc:spChg chg="mod">
          <ac:chgData name="Ryan Daniels" userId="S::rkd43@cam.ac.uk::aaa4fbe9-f474-4140-b10b-5257398ac308" providerId="AD" clId="Web-{0314D47F-B458-F3FA-F50C-97B2CC2DE9F4}" dt="2025-09-30T12:09:40.759" v="17" actId="20577"/>
          <ac:spMkLst>
            <pc:docMk/>
            <pc:sldMk cId="2683247511" sldId="286"/>
            <ac:spMk id="2" creationId="{874FF8B1-875F-ED0F-7654-4D298333FBC3}"/>
          </ac:spMkLst>
        </pc:spChg>
        <pc:spChg chg="mod">
          <ac:chgData name="Ryan Daniels" userId="S::rkd43@cam.ac.uk::aaa4fbe9-f474-4140-b10b-5257398ac308" providerId="AD" clId="Web-{0314D47F-B458-F3FA-F50C-97B2CC2DE9F4}" dt="2025-09-30T12:10:51.184" v="80" actId="20577"/>
          <ac:spMkLst>
            <pc:docMk/>
            <pc:sldMk cId="2683247511" sldId="286"/>
            <ac:spMk id="3" creationId="{584140AD-0DAB-330E-800A-A7A141EE1DE6}"/>
          </ac:spMkLst>
        </pc:spChg>
      </pc:sldChg>
      <pc:sldChg chg="ord">
        <pc:chgData name="Ryan Daniels" userId="S::rkd43@cam.ac.uk::aaa4fbe9-f474-4140-b10b-5257398ac308" providerId="AD" clId="Web-{0314D47F-B458-F3FA-F50C-97B2CC2DE9F4}" dt="2025-09-30T12:09:27.587" v="14"/>
        <pc:sldMkLst>
          <pc:docMk/>
          <pc:sldMk cId="3850214496" sldId="287"/>
        </pc:sldMkLst>
      </pc:sldChg>
      <pc:sldChg chg="modSp new del">
        <pc:chgData name="Ryan Daniels" userId="S::rkd43@cam.ac.uk::aaa4fbe9-f474-4140-b10b-5257398ac308" providerId="AD" clId="Web-{0314D47F-B458-F3FA-F50C-97B2CC2DE9F4}" dt="2025-09-30T12:20:46.386" v="342"/>
        <pc:sldMkLst>
          <pc:docMk/>
          <pc:sldMk cId="2976477835" sldId="288"/>
        </pc:sldMkLst>
        <pc:spChg chg="mod">
          <ac:chgData name="Ryan Daniels" userId="S::rkd43@cam.ac.uk::aaa4fbe9-f474-4140-b10b-5257398ac308" providerId="AD" clId="Web-{0314D47F-B458-F3FA-F50C-97B2CC2DE9F4}" dt="2025-09-30T11:49:51.038" v="12" actId="20577"/>
          <ac:spMkLst>
            <pc:docMk/>
            <pc:sldMk cId="2976477835" sldId="288"/>
            <ac:spMk id="2" creationId="{7AE91AAE-FB55-B2A7-B0CE-351769BA901A}"/>
          </ac:spMkLst>
        </pc:spChg>
        <pc:spChg chg="mod">
          <ac:chgData name="Ryan Daniels" userId="S::rkd43@cam.ac.uk::aaa4fbe9-f474-4140-b10b-5257398ac308" providerId="AD" clId="Web-{0314D47F-B458-F3FA-F50C-97B2CC2DE9F4}" dt="2025-09-30T11:49:54.007" v="13" actId="20577"/>
          <ac:spMkLst>
            <pc:docMk/>
            <pc:sldMk cId="2976477835" sldId="288"/>
            <ac:spMk id="3" creationId="{D39A5C9A-C93E-DD29-0FD8-EC1DE1CAE7EF}"/>
          </ac:spMkLst>
        </pc:spChg>
      </pc:sldChg>
      <pc:sldChg chg="new del">
        <pc:chgData name="Ryan Daniels" userId="S::rkd43@cam.ac.uk::aaa4fbe9-f474-4140-b10b-5257398ac308" providerId="AD" clId="Web-{0314D47F-B458-F3FA-F50C-97B2CC2DE9F4}" dt="2025-09-30T12:18:36.570" v="287"/>
        <pc:sldMkLst>
          <pc:docMk/>
          <pc:sldMk cId="54200121" sldId="289"/>
        </pc:sldMkLst>
      </pc:sldChg>
      <pc:sldChg chg="modSp new">
        <pc:chgData name="Ryan Daniels" userId="S::rkd43@cam.ac.uk::aaa4fbe9-f474-4140-b10b-5257398ac308" providerId="AD" clId="Web-{0314D47F-B458-F3FA-F50C-97B2CC2DE9F4}" dt="2025-09-30T12:19:59.974" v="338" actId="20577"/>
        <pc:sldMkLst>
          <pc:docMk/>
          <pc:sldMk cId="369994042" sldId="289"/>
        </pc:sldMkLst>
        <pc:spChg chg="mod">
          <ac:chgData name="Ryan Daniels" userId="S::rkd43@cam.ac.uk::aaa4fbe9-f474-4140-b10b-5257398ac308" providerId="AD" clId="Web-{0314D47F-B458-F3FA-F50C-97B2CC2DE9F4}" dt="2025-09-30T12:19:01.793" v="297" actId="20577"/>
          <ac:spMkLst>
            <pc:docMk/>
            <pc:sldMk cId="369994042" sldId="289"/>
            <ac:spMk id="2" creationId="{F6949C54-B427-E511-2CBC-0738137CF6F0}"/>
          </ac:spMkLst>
        </pc:spChg>
        <pc:spChg chg="mod">
          <ac:chgData name="Ryan Daniels" userId="S::rkd43@cam.ac.uk::aaa4fbe9-f474-4140-b10b-5257398ac308" providerId="AD" clId="Web-{0314D47F-B458-F3FA-F50C-97B2CC2DE9F4}" dt="2025-09-30T12:19:59.974" v="338" actId="20577"/>
          <ac:spMkLst>
            <pc:docMk/>
            <pc:sldMk cId="369994042" sldId="289"/>
            <ac:spMk id="3" creationId="{FE0442B9-B028-67A5-F7BC-4A665A4AD3A3}"/>
          </ac:spMkLst>
        </pc:spChg>
      </pc:sldChg>
      <pc:sldChg chg="modSp add del replId addAnim modAnim">
        <pc:chgData name="Ryan Daniels" userId="S::rkd43@cam.ac.uk::aaa4fbe9-f474-4140-b10b-5257398ac308" providerId="AD" clId="Web-{0314D47F-B458-F3FA-F50C-97B2CC2DE9F4}" dt="2025-09-30T12:17:46.054" v="273"/>
        <pc:sldMkLst>
          <pc:docMk/>
          <pc:sldMk cId="3042642244" sldId="289"/>
        </pc:sldMkLst>
        <pc:spChg chg="mod">
          <ac:chgData name="Ryan Daniels" userId="S::rkd43@cam.ac.uk::aaa4fbe9-f474-4140-b10b-5257398ac308" providerId="AD" clId="Web-{0314D47F-B458-F3FA-F50C-97B2CC2DE9F4}" dt="2025-09-30T12:13:00.641" v="179" actId="20577"/>
          <ac:spMkLst>
            <pc:docMk/>
            <pc:sldMk cId="3042642244" sldId="289"/>
            <ac:spMk id="3" creationId="{3CAE56BE-5006-D0B8-14AF-7D2C9ED42055}"/>
          </ac:spMkLst>
        </pc:spChg>
      </pc:sldChg>
      <pc:sldChg chg="addSp delSp modSp new del">
        <pc:chgData name="Ryan Daniels" userId="S::rkd43@cam.ac.uk::aaa4fbe9-f474-4140-b10b-5257398ac308" providerId="AD" clId="Web-{0314D47F-B458-F3FA-F50C-97B2CC2DE9F4}" dt="2025-09-30T12:17:53.476" v="274"/>
        <pc:sldMkLst>
          <pc:docMk/>
          <pc:sldMk cId="1012090623" sldId="290"/>
        </pc:sldMkLst>
        <pc:spChg chg="mod">
          <ac:chgData name="Ryan Daniels" userId="S::rkd43@cam.ac.uk::aaa4fbe9-f474-4140-b10b-5257398ac308" providerId="AD" clId="Web-{0314D47F-B458-F3FA-F50C-97B2CC2DE9F4}" dt="2025-09-30T12:13:33.548" v="183" actId="20577"/>
          <ac:spMkLst>
            <pc:docMk/>
            <pc:sldMk cId="1012090623" sldId="290"/>
            <ac:spMk id="2" creationId="{2139B834-4CEB-7ABC-64E4-91E60C8CA395}"/>
          </ac:spMkLst>
        </pc:spChg>
        <pc:spChg chg="add del mod">
          <ac:chgData name="Ryan Daniels" userId="S::rkd43@cam.ac.uk::aaa4fbe9-f474-4140-b10b-5257398ac308" providerId="AD" clId="Web-{0314D47F-B458-F3FA-F50C-97B2CC2DE9F4}" dt="2025-09-30T12:16:15.521" v="234" actId="20577"/>
          <ac:spMkLst>
            <pc:docMk/>
            <pc:sldMk cId="1012090623" sldId="290"/>
            <ac:spMk id="3" creationId="{EAE73D5D-B223-FA99-0223-A40357B41C68}"/>
          </ac:spMkLst>
        </pc:spChg>
        <pc:spChg chg="add del mod">
          <ac:chgData name="Ryan Daniels" userId="S::rkd43@cam.ac.uk::aaa4fbe9-f474-4140-b10b-5257398ac308" providerId="AD" clId="Web-{0314D47F-B458-F3FA-F50C-97B2CC2DE9F4}" dt="2025-09-30T12:14:26.956" v="195"/>
          <ac:spMkLst>
            <pc:docMk/>
            <pc:sldMk cId="1012090623" sldId="290"/>
            <ac:spMk id="9" creationId="{DCDEB848-75D5-6141-27D4-1BD5FEA62394}"/>
          </ac:spMkLst>
        </pc:spChg>
        <pc:graphicFrameChg chg="add del mod ord modGraphic">
          <ac:chgData name="Ryan Daniels" userId="S::rkd43@cam.ac.uk::aaa4fbe9-f474-4140-b10b-5257398ac308" providerId="AD" clId="Web-{0314D47F-B458-F3FA-F50C-97B2CC2DE9F4}" dt="2025-09-30T12:14:31.534" v="204"/>
          <ac:graphicFrameMkLst>
            <pc:docMk/>
            <pc:sldMk cId="1012090623" sldId="290"/>
            <ac:graphicFrameMk id="4" creationId="{4D31EA59-190F-C548-5178-C54EEBB0073F}"/>
          </ac:graphicFrameMkLst>
        </pc:graphicFrameChg>
        <pc:graphicFrameChg chg="add del mod">
          <ac:chgData name="Ryan Daniels" userId="S::rkd43@cam.ac.uk::aaa4fbe9-f474-4140-b10b-5257398ac308" providerId="AD" clId="Web-{0314D47F-B458-F3FA-F50C-97B2CC2DE9F4}" dt="2025-09-30T12:14:27.534" v="199"/>
          <ac:graphicFrameMkLst>
            <pc:docMk/>
            <pc:sldMk cId="1012090623" sldId="290"/>
            <ac:graphicFrameMk id="6" creationId="{18543386-164B-3C59-B98B-DEF628796EE0}"/>
          </ac:graphicFrameMkLst>
        </pc:graphicFrameChg>
        <pc:graphicFrameChg chg="add del mod">
          <ac:chgData name="Ryan Daniels" userId="S::rkd43@cam.ac.uk::aaa4fbe9-f474-4140-b10b-5257398ac308" providerId="AD" clId="Web-{0314D47F-B458-F3FA-F50C-97B2CC2DE9F4}" dt="2025-09-30T12:14:27.440" v="198"/>
          <ac:graphicFrameMkLst>
            <pc:docMk/>
            <pc:sldMk cId="1012090623" sldId="290"/>
            <ac:graphicFrameMk id="7" creationId="{C695F172-D1FB-1CA6-AAE5-815A11263A3B}"/>
          </ac:graphicFrameMkLst>
        </pc:graphicFrameChg>
      </pc:sldChg>
      <pc:sldChg chg="addSp delSp modSp add replId">
        <pc:chgData name="Ryan Daniels" userId="S::rkd43@cam.ac.uk::aaa4fbe9-f474-4140-b10b-5257398ac308" providerId="AD" clId="Web-{0314D47F-B458-F3FA-F50C-97B2CC2DE9F4}" dt="2025-09-30T12:20:21.664" v="341"/>
        <pc:sldMkLst>
          <pc:docMk/>
          <pc:sldMk cId="4149827681" sldId="290"/>
        </pc:sldMkLst>
        <pc:spChg chg="del">
          <ac:chgData name="Ryan Daniels" userId="S::rkd43@cam.ac.uk::aaa4fbe9-f474-4140-b10b-5257398ac308" providerId="AD" clId="Web-{0314D47F-B458-F3FA-F50C-97B2CC2DE9F4}" dt="2025-09-30T12:20:18.273" v="340"/>
          <ac:spMkLst>
            <pc:docMk/>
            <pc:sldMk cId="4149827681" sldId="290"/>
            <ac:spMk id="2" creationId="{D7C3D699-592E-23A9-B089-9F2AE80B34CA}"/>
          </ac:spMkLst>
        </pc:spChg>
        <pc:spChg chg="add del mod">
          <ac:chgData name="Ryan Daniels" userId="S::rkd43@cam.ac.uk::aaa4fbe9-f474-4140-b10b-5257398ac308" providerId="AD" clId="Web-{0314D47F-B458-F3FA-F50C-97B2CC2DE9F4}" dt="2025-09-30T12:20:21.664" v="341"/>
          <ac:spMkLst>
            <pc:docMk/>
            <pc:sldMk cId="4149827681" sldId="290"/>
            <ac:spMk id="5" creationId="{09F1D1EA-F8A1-631F-AEC5-D54E1D37D202}"/>
          </ac:spMkLst>
        </pc:spChg>
      </pc:sldChg>
      <pc:sldChg chg="addSp delSp modSp new del">
        <pc:chgData name="Ryan Daniels" userId="S::rkd43@cam.ac.uk::aaa4fbe9-f474-4140-b10b-5257398ac308" providerId="AD" clId="Web-{0314D47F-B458-F3FA-F50C-97B2CC2DE9F4}" dt="2025-09-30T12:17:55.491" v="275"/>
        <pc:sldMkLst>
          <pc:docMk/>
          <pc:sldMk cId="1935167938" sldId="291"/>
        </pc:sldMkLst>
        <pc:spChg chg="del mod">
          <ac:chgData name="Ryan Daniels" userId="S::rkd43@cam.ac.uk::aaa4fbe9-f474-4140-b10b-5257398ac308" providerId="AD" clId="Web-{0314D47F-B458-F3FA-F50C-97B2CC2DE9F4}" dt="2025-09-30T12:16:57.912" v="271"/>
          <ac:spMkLst>
            <pc:docMk/>
            <pc:sldMk cId="1935167938" sldId="291"/>
            <ac:spMk id="2" creationId="{1AA03E9A-2D0F-B2DC-A65F-16EFE9D323CA}"/>
          </ac:spMkLst>
        </pc:spChg>
        <pc:spChg chg="mod">
          <ac:chgData name="Ryan Daniels" userId="S::rkd43@cam.ac.uk::aaa4fbe9-f474-4140-b10b-5257398ac308" providerId="AD" clId="Web-{0314D47F-B458-F3FA-F50C-97B2CC2DE9F4}" dt="2025-09-30T12:16:53.553" v="270" actId="20577"/>
          <ac:spMkLst>
            <pc:docMk/>
            <pc:sldMk cId="1935167938" sldId="291"/>
            <ac:spMk id="3" creationId="{B9ADCEE4-48BB-955E-B47E-119EC09A561E}"/>
          </ac:spMkLst>
        </pc:spChg>
        <pc:spChg chg="add del mod">
          <ac:chgData name="Ryan Daniels" userId="S::rkd43@cam.ac.uk::aaa4fbe9-f474-4140-b10b-5257398ac308" providerId="AD" clId="Web-{0314D47F-B458-F3FA-F50C-97B2CC2DE9F4}" dt="2025-09-30T12:17:02.694" v="272"/>
          <ac:spMkLst>
            <pc:docMk/>
            <pc:sldMk cId="1935167938" sldId="291"/>
            <ac:spMk id="5" creationId="{C4BC0899-B9A2-37D4-5603-EE76F534F8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15C98-C603-7C4D-997E-2B4A9996FEBD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802D9-2461-2B4C-ADAF-E58436D3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1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[TIMINGS]</a:t>
            </a:r>
          </a:p>
          <a:p>
            <a:endParaRPr lang="en-US" dirty="0"/>
          </a:p>
          <a:p>
            <a:r>
              <a:rPr lang="en-US" dirty="0"/>
              <a:t>Practice: 45m</a:t>
            </a:r>
          </a:p>
          <a:p>
            <a:r>
              <a:rPr lang="en-US" dirty="0"/>
              <a:t>Target: 45m</a:t>
            </a:r>
          </a:p>
          <a:p>
            <a:endParaRPr lang="en-US" dirty="0"/>
          </a:p>
          <a:p>
            <a:r>
              <a:rPr lang="en-US" dirty="0"/>
              <a:t>Start time: 14:45</a:t>
            </a:r>
          </a:p>
          <a:p>
            <a:r>
              <a:rPr lang="en-US" dirty="0"/>
              <a:t>[30m break @ 15:00 – 15:30]</a:t>
            </a:r>
          </a:p>
          <a:p>
            <a:r>
              <a:rPr lang="en-US" dirty="0"/>
              <a:t>End time: 16:00</a:t>
            </a:r>
          </a:p>
          <a:p>
            <a:endParaRPr lang="en-US" dirty="0"/>
          </a:p>
          <a:p>
            <a:r>
              <a:rPr lang="en-US" dirty="0"/>
              <a:t>---</a:t>
            </a:r>
          </a:p>
          <a:p>
            <a:endParaRPr lang="en-US" dirty="0"/>
          </a:p>
          <a:p>
            <a:r>
              <a:rPr lang="en-US" dirty="0"/>
              <a:t>Richard Sutton, Canadian computer scientist - godfather of RL, Turing award winner</a:t>
            </a:r>
          </a:p>
          <a:p>
            <a:endParaRPr lang="en-US" dirty="0"/>
          </a:p>
          <a:p>
            <a:r>
              <a:rPr lang="en-US" dirty="0"/>
              <a:t>Blogpost on his website from 2019, that's garnering more and more attention as we move through this age of LLMs</a:t>
            </a:r>
          </a:p>
          <a:p>
            <a:endParaRPr lang="en-US" dirty="0"/>
          </a:p>
          <a:p>
            <a:r>
              <a:rPr lang="en-US" dirty="0"/>
              <a:t>The core argument is simple: </a:t>
            </a:r>
            <a:r>
              <a:rPr lang="en-GB" dirty="0"/>
              <a:t>every time researchers have tried to build human knowledge into AI systems, they've eventually been beaten by simpler methods that just leverage more compute and data.</a:t>
            </a:r>
          </a:p>
          <a:p>
            <a:endParaRPr lang="en-GB" dirty="0"/>
          </a:p>
          <a:p>
            <a:r>
              <a:rPr lang="en-GB" dirty="0"/>
              <a:t>We've seen this so far:</a:t>
            </a:r>
          </a:p>
          <a:p>
            <a:r>
              <a:rPr lang="en-GB" dirty="0"/>
              <a:t>- Neural embeddings vs </a:t>
            </a:r>
            <a:r>
              <a:rPr lang="en-GB" dirty="0" err="1"/>
              <a:t>tf-idf</a:t>
            </a:r>
            <a:r>
              <a:rPr lang="en-GB" dirty="0"/>
              <a:t> and other heuristic approaches</a:t>
            </a:r>
          </a:p>
          <a:p>
            <a:r>
              <a:rPr lang="en-GB" dirty="0"/>
              <a:t>- Key, query and value matrices in attention</a:t>
            </a:r>
          </a:p>
          <a:p>
            <a:endParaRPr lang="en-GB" dirty="0"/>
          </a:p>
          <a:p>
            <a:r>
              <a:rPr lang="en-GB" dirty="0"/>
              <a:t>Turns out this theme continues in what we're going to talk about next which is pre-training. But first we should talk about how to get sample outputs from these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802D9-2461-2B4C-ADAF-E58436D3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57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802D9-2461-2B4C-ADAF-E58436D3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16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we need to discuss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802D9-2461-2B4C-ADAF-E58436D374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06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802D9-2461-2B4C-ADAF-E58436D374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49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Pile is a large, open-source text dataset created by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EleutherAI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designed specifically for training large language models.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ranges from 8B, 70B to 405B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802D9-2461-2B4C-ADAF-E58436D3747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15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802D9-2461-2B4C-ADAF-E58436D3747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82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80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6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87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31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973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1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7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54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29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52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23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7A72CF-5570-E560-EAC0-F4B508856D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207"/>
          <a:stretch>
            <a:fillRect/>
          </a:stretch>
        </p:blipFill>
        <p:spPr>
          <a:xfrm>
            <a:off x="2057400" y="1942943"/>
            <a:ext cx="8077200" cy="3238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473DF2-5022-A65D-2E22-7EDD5A0435D4}"/>
              </a:ext>
            </a:extLst>
          </p:cNvPr>
          <p:cNvSpPr/>
          <p:nvPr/>
        </p:nvSpPr>
        <p:spPr>
          <a:xfrm>
            <a:off x="7425267" y="3472806"/>
            <a:ext cx="2235200" cy="177800"/>
          </a:xfrm>
          <a:prstGeom prst="rect">
            <a:avLst/>
          </a:prstGeom>
          <a:solidFill>
            <a:srgbClr val="8ED97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6E08AC-5A76-09D4-039D-298D8BD8F428}"/>
              </a:ext>
            </a:extLst>
          </p:cNvPr>
          <p:cNvSpPr/>
          <p:nvPr/>
        </p:nvSpPr>
        <p:spPr>
          <a:xfrm>
            <a:off x="2370667" y="3650606"/>
            <a:ext cx="4986866" cy="177800"/>
          </a:xfrm>
          <a:prstGeom prst="rect">
            <a:avLst/>
          </a:prstGeom>
          <a:solidFill>
            <a:srgbClr val="8ED97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83B87D-06F4-149C-9885-89854A5A8C91}"/>
              </a:ext>
            </a:extLst>
          </p:cNvPr>
          <p:cNvSpPr/>
          <p:nvPr/>
        </p:nvSpPr>
        <p:spPr>
          <a:xfrm>
            <a:off x="0" y="3828406"/>
            <a:ext cx="12191999" cy="23757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3680B-64FE-498F-A20B-3E33F5F61126}"/>
              </a:ext>
            </a:extLst>
          </p:cNvPr>
          <p:cNvSpPr txBox="1"/>
          <p:nvPr/>
        </p:nvSpPr>
        <p:spPr>
          <a:xfrm>
            <a:off x="72103" y="571386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www.incompleteideas.net</a:t>
            </a: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</a:t>
            </a:r>
            <a:r>
              <a:rPr lang="en-GB" sz="1600" dirty="0" err="1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IncIdeas</a:t>
            </a: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</a:t>
            </a:r>
            <a:r>
              <a:rPr lang="en-GB" sz="1600" dirty="0" err="1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BitterLesson.html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4" name="Picture 13" descr="Dr. Richard Sutton">
            <a:extLst>
              <a:ext uri="{FF2B5EF4-FFF2-40B4-BE49-F238E27FC236}">
                <a16:creationId xmlns:a16="http://schemas.microsoft.com/office/drawing/2014/main" id="{438E75B9-5B95-5729-08AF-EB8FD5E583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58" t="2673" r="3933" b="3703"/>
          <a:stretch>
            <a:fillRect/>
          </a:stretch>
        </p:blipFill>
        <p:spPr>
          <a:xfrm>
            <a:off x="10032283" y="371244"/>
            <a:ext cx="1687607" cy="1943100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226255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Generated image">
            <a:extLst>
              <a:ext uri="{FF2B5EF4-FFF2-40B4-BE49-F238E27FC236}">
                <a16:creationId xmlns:a16="http://schemas.microsoft.com/office/drawing/2014/main" id="{4E396994-1183-8EFC-B77B-FFB3085CE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525" y="2204549"/>
            <a:ext cx="2018744" cy="3084347"/>
          </a:xfrm>
          <a:prstGeom prst="rect">
            <a:avLst/>
          </a:prstGeom>
        </p:spPr>
      </p:pic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9191282-9F83-B72C-662C-B7BDE1A1FA13}"/>
              </a:ext>
            </a:extLst>
          </p:cNvPr>
          <p:cNvCxnSpPr/>
          <p:nvPr/>
        </p:nvCxnSpPr>
        <p:spPr>
          <a:xfrm>
            <a:off x="8414692" y="3177330"/>
            <a:ext cx="201130" cy="434500"/>
          </a:xfrm>
          <a:prstGeom prst="curvedConnector3">
            <a:avLst/>
          </a:prstGeom>
          <a:ln w="28575">
            <a:solidFill>
              <a:srgbClr val="1B55E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4135A0F6-01C5-8781-1622-8517F9B25851}"/>
              </a:ext>
            </a:extLst>
          </p:cNvPr>
          <p:cNvCxnSpPr>
            <a:cxnSpLocks/>
          </p:cNvCxnSpPr>
          <p:nvPr/>
        </p:nvCxnSpPr>
        <p:spPr>
          <a:xfrm>
            <a:off x="8875965" y="3618466"/>
            <a:ext cx="220353" cy="455139"/>
          </a:xfrm>
          <a:prstGeom prst="curvedConnector3">
            <a:avLst/>
          </a:prstGeom>
          <a:ln w="28575">
            <a:solidFill>
              <a:srgbClr val="1B55E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631F9AEF-A4B9-AD41-D645-E6112C90670E}"/>
              </a:ext>
            </a:extLst>
          </p:cNvPr>
          <p:cNvCxnSpPr>
            <a:cxnSpLocks/>
          </p:cNvCxnSpPr>
          <p:nvPr/>
        </p:nvCxnSpPr>
        <p:spPr>
          <a:xfrm>
            <a:off x="9325776" y="4070059"/>
            <a:ext cx="360945" cy="8660"/>
          </a:xfrm>
          <a:prstGeom prst="curvedConnector3">
            <a:avLst/>
          </a:prstGeom>
          <a:ln w="28575">
            <a:solidFill>
              <a:srgbClr val="1B55E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666E5423-C6DB-43D0-96CF-089AF8382095}"/>
              </a:ext>
            </a:extLst>
          </p:cNvPr>
          <p:cNvSpPr/>
          <p:nvPr/>
        </p:nvSpPr>
        <p:spPr>
          <a:xfrm>
            <a:off x="8078098" y="4880006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0</a:t>
            </a: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E222AB3C-5B7F-6D58-8079-1A371AD7AB81}"/>
              </a:ext>
            </a:extLst>
          </p:cNvPr>
          <p:cNvSpPr txBox="1"/>
          <p:nvPr/>
        </p:nvSpPr>
        <p:spPr>
          <a:xfrm>
            <a:off x="10503454" y="3237239"/>
            <a:ext cx="1351719" cy="338554"/>
          </a:xfrm>
          <a:custGeom>
            <a:avLst/>
            <a:gdLst>
              <a:gd name="csX0" fmla="*/ 0 w 1351719"/>
              <a:gd name="csY0" fmla="*/ 0 h 338554"/>
              <a:gd name="csX1" fmla="*/ 635308 w 1351719"/>
              <a:gd name="csY1" fmla="*/ 0 h 338554"/>
              <a:gd name="csX2" fmla="*/ 1351719 w 1351719"/>
              <a:gd name="csY2" fmla="*/ 0 h 338554"/>
              <a:gd name="csX3" fmla="*/ 1351719 w 1351719"/>
              <a:gd name="csY3" fmla="*/ 338554 h 338554"/>
              <a:gd name="csX4" fmla="*/ 648825 w 1351719"/>
              <a:gd name="csY4" fmla="*/ 338554 h 338554"/>
              <a:gd name="csX5" fmla="*/ 0 w 1351719"/>
              <a:gd name="csY5" fmla="*/ 338554 h 338554"/>
              <a:gd name="csX6" fmla="*/ 0 w 1351719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1719" h="338554" fill="none" extrusionOk="0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6608" y="-35665"/>
                  <a:pt x="1351719" y="0"/>
                </a:cubicBezTo>
                <a:cubicBezTo>
                  <a:pt x="1354532" y="77488"/>
                  <a:pt x="1351383" y="251748"/>
                  <a:pt x="1351719" y="338554"/>
                </a:cubicBezTo>
                <a:cubicBezTo>
                  <a:pt x="1126928" y="310424"/>
                  <a:pt x="985852" y="342082"/>
                  <a:pt x="648825" y="338554"/>
                </a:cubicBezTo>
                <a:cubicBezTo>
                  <a:pt x="311798" y="335026"/>
                  <a:pt x="265888" y="356446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19" h="338554" stroke="0" extrusionOk="0">
                <a:moveTo>
                  <a:pt x="0" y="0"/>
                </a:moveTo>
                <a:cubicBezTo>
                  <a:pt x="159753" y="-29741"/>
                  <a:pt x="436147" y="14046"/>
                  <a:pt x="648825" y="0"/>
                </a:cubicBezTo>
                <a:cubicBezTo>
                  <a:pt x="861503" y="-14046"/>
                  <a:pt x="1171552" y="-28184"/>
                  <a:pt x="1351719" y="0"/>
                </a:cubicBezTo>
                <a:cubicBezTo>
                  <a:pt x="1366704" y="126099"/>
                  <a:pt x="1367511" y="215826"/>
                  <a:pt x="1351719" y="338554"/>
                </a:cubicBezTo>
                <a:cubicBezTo>
                  <a:pt x="1031547" y="314607"/>
                  <a:pt x="1003531" y="318399"/>
                  <a:pt x="662342" y="338554"/>
                </a:cubicBezTo>
                <a:cubicBezTo>
                  <a:pt x="321153" y="358709"/>
                  <a:pt x="164641" y="35830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28374106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/>
              <a:t>Tokenization</a:t>
            </a: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F565E465-14D7-AC96-4BB8-C8E857DBA7A2}"/>
              </a:ext>
            </a:extLst>
          </p:cNvPr>
          <p:cNvSpPr txBox="1"/>
          <p:nvPr/>
        </p:nvSpPr>
        <p:spPr>
          <a:xfrm>
            <a:off x="10503453" y="3757050"/>
            <a:ext cx="1346605" cy="338554"/>
          </a:xfrm>
          <a:custGeom>
            <a:avLst/>
            <a:gdLst>
              <a:gd name="csX0" fmla="*/ 0 w 1346605"/>
              <a:gd name="csY0" fmla="*/ 0 h 338554"/>
              <a:gd name="csX1" fmla="*/ 632904 w 1346605"/>
              <a:gd name="csY1" fmla="*/ 0 h 338554"/>
              <a:gd name="csX2" fmla="*/ 1346605 w 1346605"/>
              <a:gd name="csY2" fmla="*/ 0 h 338554"/>
              <a:gd name="csX3" fmla="*/ 1346605 w 1346605"/>
              <a:gd name="csY3" fmla="*/ 338554 h 338554"/>
              <a:gd name="csX4" fmla="*/ 646370 w 1346605"/>
              <a:gd name="csY4" fmla="*/ 338554 h 338554"/>
              <a:gd name="csX5" fmla="*/ 0 w 1346605"/>
              <a:gd name="csY5" fmla="*/ 338554 h 338554"/>
              <a:gd name="csX6" fmla="*/ 0 w 1346605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6605" h="338554" fill="none" extrusionOk="0">
                <a:moveTo>
                  <a:pt x="0" y="0"/>
                </a:moveTo>
                <a:cubicBezTo>
                  <a:pt x="253654" y="29217"/>
                  <a:pt x="356173" y="4834"/>
                  <a:pt x="632904" y="0"/>
                </a:cubicBezTo>
                <a:cubicBezTo>
                  <a:pt x="909635" y="-4834"/>
                  <a:pt x="1121379" y="26169"/>
                  <a:pt x="1346605" y="0"/>
                </a:cubicBezTo>
                <a:cubicBezTo>
                  <a:pt x="1349418" y="77488"/>
                  <a:pt x="1346269" y="251748"/>
                  <a:pt x="1346605" y="338554"/>
                </a:cubicBezTo>
                <a:cubicBezTo>
                  <a:pt x="1156298" y="318515"/>
                  <a:pt x="891539" y="357030"/>
                  <a:pt x="646370" y="338554"/>
                </a:cubicBezTo>
                <a:cubicBezTo>
                  <a:pt x="401201" y="320078"/>
                  <a:pt x="140549" y="357089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46605" h="338554" stroke="0" extrusionOk="0">
                <a:moveTo>
                  <a:pt x="0" y="0"/>
                </a:moveTo>
                <a:cubicBezTo>
                  <a:pt x="133781" y="28092"/>
                  <a:pt x="482181" y="-20522"/>
                  <a:pt x="646370" y="0"/>
                </a:cubicBezTo>
                <a:cubicBezTo>
                  <a:pt x="810559" y="20522"/>
                  <a:pt x="1153150" y="29368"/>
                  <a:pt x="1346605" y="0"/>
                </a:cubicBezTo>
                <a:cubicBezTo>
                  <a:pt x="1361590" y="126099"/>
                  <a:pt x="1362397" y="215826"/>
                  <a:pt x="1346605" y="338554"/>
                </a:cubicBezTo>
                <a:cubicBezTo>
                  <a:pt x="1190988" y="358096"/>
                  <a:pt x="883384" y="335404"/>
                  <a:pt x="659836" y="338554"/>
                </a:cubicBezTo>
                <a:cubicBezTo>
                  <a:pt x="436288" y="341704"/>
                  <a:pt x="243431" y="34121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28374106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/>
              <a:t>Embeddings</a:t>
            </a:r>
          </a:p>
        </p:txBody>
      </p:sp>
      <p:sp>
        <p:nvSpPr>
          <p:cNvPr id="31" name="TextBox 35">
            <a:extLst>
              <a:ext uri="{FF2B5EF4-FFF2-40B4-BE49-F238E27FC236}">
                <a16:creationId xmlns:a16="http://schemas.microsoft.com/office/drawing/2014/main" id="{C21CB81B-840D-ED4E-DF15-D302248C1FB2}"/>
              </a:ext>
            </a:extLst>
          </p:cNvPr>
          <p:cNvSpPr txBox="1"/>
          <p:nvPr/>
        </p:nvSpPr>
        <p:spPr>
          <a:xfrm>
            <a:off x="10508567" y="4798500"/>
            <a:ext cx="1341491" cy="338554"/>
          </a:xfrm>
          <a:custGeom>
            <a:avLst/>
            <a:gdLst>
              <a:gd name="csX0" fmla="*/ 0 w 1341491"/>
              <a:gd name="csY0" fmla="*/ 0 h 338554"/>
              <a:gd name="csX1" fmla="*/ 630501 w 1341491"/>
              <a:gd name="csY1" fmla="*/ 0 h 338554"/>
              <a:gd name="csX2" fmla="*/ 1341491 w 1341491"/>
              <a:gd name="csY2" fmla="*/ 0 h 338554"/>
              <a:gd name="csX3" fmla="*/ 1341491 w 1341491"/>
              <a:gd name="csY3" fmla="*/ 338554 h 338554"/>
              <a:gd name="csX4" fmla="*/ 643916 w 1341491"/>
              <a:gd name="csY4" fmla="*/ 338554 h 338554"/>
              <a:gd name="csX5" fmla="*/ 0 w 1341491"/>
              <a:gd name="csY5" fmla="*/ 338554 h 338554"/>
              <a:gd name="csX6" fmla="*/ 0 w 1341491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1491" h="338554" fill="none" extrusionOk="0">
                <a:moveTo>
                  <a:pt x="0" y="0"/>
                </a:moveTo>
                <a:cubicBezTo>
                  <a:pt x="201971" y="22649"/>
                  <a:pt x="355596" y="-14105"/>
                  <a:pt x="630501" y="0"/>
                </a:cubicBezTo>
                <a:cubicBezTo>
                  <a:pt x="905406" y="14105"/>
                  <a:pt x="1018929" y="-31432"/>
                  <a:pt x="1341491" y="0"/>
                </a:cubicBezTo>
                <a:cubicBezTo>
                  <a:pt x="1344304" y="77488"/>
                  <a:pt x="1341155" y="251748"/>
                  <a:pt x="1341491" y="338554"/>
                </a:cubicBezTo>
                <a:cubicBezTo>
                  <a:pt x="1071780" y="305917"/>
                  <a:pt x="941141" y="314440"/>
                  <a:pt x="643916" y="338554"/>
                </a:cubicBezTo>
                <a:cubicBezTo>
                  <a:pt x="346691" y="362668"/>
                  <a:pt x="302681" y="339446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41491" h="338554" stroke="0" extrusionOk="0">
                <a:moveTo>
                  <a:pt x="0" y="0"/>
                </a:moveTo>
                <a:cubicBezTo>
                  <a:pt x="313537" y="7450"/>
                  <a:pt x="392150" y="-21928"/>
                  <a:pt x="643916" y="0"/>
                </a:cubicBezTo>
                <a:cubicBezTo>
                  <a:pt x="895682" y="21928"/>
                  <a:pt x="1009220" y="5527"/>
                  <a:pt x="1341491" y="0"/>
                </a:cubicBezTo>
                <a:cubicBezTo>
                  <a:pt x="1356476" y="126099"/>
                  <a:pt x="1357283" y="215826"/>
                  <a:pt x="1341491" y="338554"/>
                </a:cubicBezTo>
                <a:cubicBezTo>
                  <a:pt x="1092623" y="306327"/>
                  <a:pt x="858267" y="323813"/>
                  <a:pt x="657331" y="338554"/>
                </a:cubicBezTo>
                <a:cubicBezTo>
                  <a:pt x="456395" y="353295"/>
                  <a:pt x="296557" y="31248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28374106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/>
              <a:t>Output</a:t>
            </a:r>
          </a:p>
        </p:txBody>
      </p:sp>
      <p:sp>
        <p:nvSpPr>
          <p:cNvPr id="32" name="TextBox 36">
            <a:extLst>
              <a:ext uri="{FF2B5EF4-FFF2-40B4-BE49-F238E27FC236}">
                <a16:creationId xmlns:a16="http://schemas.microsoft.com/office/drawing/2014/main" id="{54ED427E-7866-13F9-59C0-BC0D7F989A8A}"/>
              </a:ext>
            </a:extLst>
          </p:cNvPr>
          <p:cNvSpPr txBox="1"/>
          <p:nvPr/>
        </p:nvSpPr>
        <p:spPr>
          <a:xfrm>
            <a:off x="10503453" y="4269967"/>
            <a:ext cx="1351720" cy="338554"/>
          </a:xfrm>
          <a:custGeom>
            <a:avLst/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1720" h="338554" fill="none" extrusionOk="0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 stroke="0" extrusionOk="0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28374106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/>
              <a:t>Attention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BCC5FE95-2FF8-7809-29D7-EE6C05FB86AD}"/>
              </a:ext>
            </a:extLst>
          </p:cNvPr>
          <p:cNvSpPr txBox="1"/>
          <p:nvPr/>
        </p:nvSpPr>
        <p:spPr>
          <a:xfrm>
            <a:off x="10506175" y="2723665"/>
            <a:ext cx="1351720" cy="338554"/>
          </a:xfrm>
          <a:custGeom>
            <a:avLst/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1720" h="338554" fill="none" extrusionOk="0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 stroke="0" extrusionOk="0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28374106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/>
              <a:t>Hardware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3B67FE26-BA0B-EB7C-E6DF-06FE55609F80}"/>
              </a:ext>
            </a:extLst>
          </p:cNvPr>
          <p:cNvSpPr/>
          <p:nvPr/>
        </p:nvSpPr>
        <p:spPr>
          <a:xfrm>
            <a:off x="8190608" y="308495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1</a:t>
            </a: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F29CDA69-8DBD-3E29-B51F-E7AF0A971805}"/>
              </a:ext>
            </a:extLst>
          </p:cNvPr>
          <p:cNvSpPr/>
          <p:nvPr/>
        </p:nvSpPr>
        <p:spPr>
          <a:xfrm>
            <a:off x="9090689" y="395946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3</a:t>
            </a: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FED7BF59-DE51-30E0-FC68-64D6D83590FA}"/>
              </a:ext>
            </a:extLst>
          </p:cNvPr>
          <p:cNvSpPr/>
          <p:nvPr/>
        </p:nvSpPr>
        <p:spPr>
          <a:xfrm>
            <a:off x="9694151" y="3959468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4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3483E34-C09F-DF87-AF53-2A6AFB5409B4}"/>
              </a:ext>
            </a:extLst>
          </p:cNvPr>
          <p:cNvSpPr/>
          <p:nvPr/>
        </p:nvSpPr>
        <p:spPr>
          <a:xfrm>
            <a:off x="8630420" y="350942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2</a:t>
            </a: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A23D6165-3F28-EF25-0D10-05FC78F18519}"/>
              </a:ext>
            </a:extLst>
          </p:cNvPr>
          <p:cNvSpPr/>
          <p:nvPr/>
        </p:nvSpPr>
        <p:spPr>
          <a:xfrm>
            <a:off x="10133964" y="2762770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0</a:t>
            </a: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071CFCA2-49B3-8FF2-8AFB-2051C9ABDC0B}"/>
              </a:ext>
            </a:extLst>
          </p:cNvPr>
          <p:cNvSpPr/>
          <p:nvPr/>
        </p:nvSpPr>
        <p:spPr>
          <a:xfrm>
            <a:off x="10133963" y="3289522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1</a:t>
            </a: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718A2B7E-3A80-360E-83EF-2F6EA0A422D5}"/>
              </a:ext>
            </a:extLst>
          </p:cNvPr>
          <p:cNvSpPr/>
          <p:nvPr/>
        </p:nvSpPr>
        <p:spPr>
          <a:xfrm>
            <a:off x="10133964" y="4849321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4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8B4F6DD6-AF0F-8D7A-4EC5-7049183C79FA}"/>
              </a:ext>
            </a:extLst>
          </p:cNvPr>
          <p:cNvSpPr/>
          <p:nvPr/>
        </p:nvSpPr>
        <p:spPr>
          <a:xfrm>
            <a:off x="10133963" y="432256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3</a:t>
            </a: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924D63B4-71D9-DAC8-54D5-0543F2073663}"/>
              </a:ext>
            </a:extLst>
          </p:cNvPr>
          <p:cNvSpPr/>
          <p:nvPr/>
        </p:nvSpPr>
        <p:spPr>
          <a:xfrm>
            <a:off x="10133964" y="3806045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952" h="237294" fill="none" extrusionOk="0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 stroke="0" extrusionOk="0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1B55EB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flowChartConnector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00" y="1277099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GB" sz="4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Output &amp; Pre-training</a:t>
            </a:r>
            <a:endParaRPr lang="en-US" sz="48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19A6-AA13-589A-3D85-F17AA279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93BF7-7B90-4B3D-73C2-35A6D9A7E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Neural networks</a:t>
            </a:r>
          </a:p>
          <a:p>
            <a:pPr marL="0" indent="0">
              <a:buNone/>
            </a:pPr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  <a:p>
            <a:pPr marL="0" indent="0">
              <a:buNone/>
            </a:pPr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Sampling methods</a:t>
            </a:r>
          </a:p>
          <a:p>
            <a:pPr marL="0" indent="0">
              <a:buNone/>
            </a:pPr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Training data</a:t>
            </a:r>
          </a:p>
          <a:p>
            <a:pPr marL="0" indent="0">
              <a:buNone/>
            </a:pPr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Scaling laws</a:t>
            </a:r>
          </a:p>
          <a:p>
            <a:pPr marL="0" indent="0">
              <a:buNone/>
            </a:pPr>
            <a:endParaRPr lang="en-GB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672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F8B1-875F-ED0F-7654-4D298333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From the Last Section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40AD-0DAB-330E-800A-A7A141EE1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We got out of the model: </a:t>
            </a:r>
            <a:r>
              <a:rPr lang="en-GB" dirty="0">
                <a:solidFill>
                  <a:schemeClr val="bg2">
                    <a:lumMod val="49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</a:t>
            </a:r>
            <a:r>
              <a:rPr lang="en-GB" dirty="0" err="1">
                <a:solidFill>
                  <a:schemeClr val="bg2">
                    <a:lumMod val="49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sequence_length</a:t>
            </a:r>
            <a:r>
              <a:rPr lang="en-GB" dirty="0">
                <a:solidFill>
                  <a:schemeClr val="bg2">
                    <a:lumMod val="49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en-GB" dirty="0" err="1">
                <a:solidFill>
                  <a:schemeClr val="bg2">
                    <a:lumMod val="49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embedding_dim</a:t>
            </a:r>
            <a:r>
              <a:rPr lang="en-GB" dirty="0">
                <a:solidFill>
                  <a:schemeClr val="bg2">
                    <a:lumMod val="49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]</a:t>
            </a: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Great... now what?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721F7-5D5D-31BA-BFBD-298AAA5F3AEE}"/>
                  </a:ext>
                </a:extLst>
              </p:cNvPr>
              <p:cNvSpPr txBox="1"/>
              <p:nvPr/>
            </p:nvSpPr>
            <p:spPr>
              <a:xfrm>
                <a:off x="4526811" y="3313537"/>
                <a:ext cx="3138378" cy="113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.7</m:t>
                                </m:r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721F7-5D5D-31BA-BFBD-298AAA5F3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811" y="3313537"/>
                <a:ext cx="3138378" cy="1139414"/>
              </a:xfrm>
              <a:prstGeom prst="rect">
                <a:avLst/>
              </a:prstGeom>
              <a:blipFill>
                <a:blip r:embed="rId3"/>
                <a:stretch>
                  <a:fillRect t="-111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F1923C56-A3D7-0983-FE0C-CDCB3776E673}"/>
              </a:ext>
            </a:extLst>
          </p:cNvPr>
          <p:cNvSpPr/>
          <p:nvPr/>
        </p:nvSpPr>
        <p:spPr>
          <a:xfrm>
            <a:off x="4526811" y="3313537"/>
            <a:ext cx="293842" cy="11394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7AC38CC4-B8B9-0549-3459-8E7068101A7E}"/>
              </a:ext>
            </a:extLst>
          </p:cNvPr>
          <p:cNvSpPr/>
          <p:nvPr/>
        </p:nvSpPr>
        <p:spPr>
          <a:xfrm rot="5400000">
            <a:off x="5932824" y="1975988"/>
            <a:ext cx="293842" cy="224631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2856F2-1956-E41A-2C67-6DE9B5880984}"/>
              </a:ext>
            </a:extLst>
          </p:cNvPr>
          <p:cNvSpPr txBox="1"/>
          <p:nvPr/>
        </p:nvSpPr>
        <p:spPr>
          <a:xfrm>
            <a:off x="2630138" y="3698578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sequence_length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52DE53-07FD-283E-5275-3C7E119F7CCF}"/>
              </a:ext>
            </a:extLst>
          </p:cNvPr>
          <p:cNvSpPr txBox="1"/>
          <p:nvPr/>
        </p:nvSpPr>
        <p:spPr>
          <a:xfrm>
            <a:off x="5160262" y="258289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embedding_dim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55574E-BA21-C271-5D42-D6619493BEDE}"/>
              </a:ext>
            </a:extLst>
          </p:cNvPr>
          <p:cNvSpPr/>
          <p:nvPr/>
        </p:nvSpPr>
        <p:spPr>
          <a:xfrm>
            <a:off x="5061284" y="3246069"/>
            <a:ext cx="2085474" cy="452509"/>
          </a:xfrm>
          <a:prstGeom prst="rect">
            <a:avLst/>
          </a:prstGeom>
          <a:solidFill>
            <a:srgbClr val="1B55EB">
              <a:alpha val="32000"/>
            </a:srgbClr>
          </a:solidFill>
          <a:ln>
            <a:noFill/>
          </a:ln>
          <a:effectLst>
            <a:softEdge rad="57129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22498-D9C3-2FA5-4C1B-D9D0CE806423}"/>
              </a:ext>
            </a:extLst>
          </p:cNvPr>
          <p:cNvSpPr txBox="1"/>
          <p:nvPr/>
        </p:nvSpPr>
        <p:spPr>
          <a:xfrm>
            <a:off x="7905820" y="3246069"/>
            <a:ext cx="3594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B55EB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Context-adjusted embedding vector for a single token</a:t>
            </a:r>
          </a:p>
          <a:p>
            <a:r>
              <a:rPr lang="en-US" dirty="0">
                <a:solidFill>
                  <a:srgbClr val="1B55EB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e.g. “the” in “the cat sat on the mat”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E002630D-6168-3A23-EF9F-48395C40895B}"/>
              </a:ext>
            </a:extLst>
          </p:cNvPr>
          <p:cNvCxnSpPr/>
          <p:nvPr/>
        </p:nvCxnSpPr>
        <p:spPr>
          <a:xfrm rot="10800000">
            <a:off x="7269018" y="3472323"/>
            <a:ext cx="636802" cy="373910"/>
          </a:xfrm>
          <a:prstGeom prst="curvedConnector3">
            <a:avLst/>
          </a:prstGeom>
          <a:ln>
            <a:solidFill>
              <a:srgbClr val="1B55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24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834C753E-A2EA-C548-321E-831545D70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980" y="2043112"/>
            <a:ext cx="7011867" cy="39221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3387CD-5125-AB22-E0A7-43F42150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Neural Networks</a:t>
            </a:r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57E2C85A-524C-8C8A-16E4-0B0508EA9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84" y="3143250"/>
            <a:ext cx="2601058" cy="17218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C45873-E04F-CE5C-F82A-019501AC9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951481"/>
              </p:ext>
            </p:extLst>
          </p:nvPr>
        </p:nvGraphicFramePr>
        <p:xfrm>
          <a:off x="3367160" y="1982607"/>
          <a:ext cx="754583" cy="40506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4583">
                  <a:extLst>
                    <a:ext uri="{9D8B030D-6E8A-4147-A177-3AD203B41FA5}">
                      <a16:colId xmlns:a16="http://schemas.microsoft.com/office/drawing/2014/main" val="740337855"/>
                    </a:ext>
                  </a:extLst>
                </a:gridCol>
              </a:tblGrid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317749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661537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231119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17820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16451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321375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36553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239508"/>
                  </a:ext>
                </a:extLst>
              </a:tr>
            </a:tbl>
          </a:graphicData>
        </a:graphic>
      </p:graphicFrame>
      <p:sp>
        <p:nvSpPr>
          <p:cNvPr id="7" name="Arrow: Bent 6">
            <a:extLst>
              <a:ext uri="{FF2B5EF4-FFF2-40B4-BE49-F238E27FC236}">
                <a16:creationId xmlns:a16="http://schemas.microsoft.com/office/drawing/2014/main" id="{9EC71AC6-B98E-4216-BD20-2F274DF683A0}"/>
              </a:ext>
            </a:extLst>
          </p:cNvPr>
          <p:cNvSpPr/>
          <p:nvPr/>
        </p:nvSpPr>
        <p:spPr>
          <a:xfrm>
            <a:off x="1033823" y="2166327"/>
            <a:ext cx="2016114" cy="788117"/>
          </a:xfrm>
          <a:prstGeom prst="ben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ED7D9A-8117-EA97-CFB5-63B8064052A4}"/>
              </a:ext>
            </a:extLst>
          </p:cNvPr>
          <p:cNvSpPr txBox="1"/>
          <p:nvPr/>
        </p:nvSpPr>
        <p:spPr>
          <a:xfrm>
            <a:off x="1528466" y="1858286"/>
            <a:ext cx="10304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Unravel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231F1B-BA8D-780C-C66C-99CB59378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365025"/>
              </p:ext>
            </p:extLst>
          </p:nvPr>
        </p:nvGraphicFramePr>
        <p:xfrm>
          <a:off x="10276449" y="3726414"/>
          <a:ext cx="1596592" cy="1190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8296">
                  <a:extLst>
                    <a:ext uri="{9D8B030D-6E8A-4147-A177-3AD203B41FA5}">
                      <a16:colId xmlns:a16="http://schemas.microsoft.com/office/drawing/2014/main" val="4112193143"/>
                    </a:ext>
                  </a:extLst>
                </a:gridCol>
                <a:gridCol w="798296">
                  <a:extLst>
                    <a:ext uri="{9D8B030D-6E8A-4147-A177-3AD203B41FA5}">
                      <a16:colId xmlns:a16="http://schemas.microsoft.com/office/drawing/2014/main" val="1312779470"/>
                    </a:ext>
                  </a:extLst>
                </a:gridCol>
              </a:tblGrid>
              <a:tr h="396959">
                <a:tc>
                  <a:txBody>
                    <a:bodyPr/>
                    <a:lstStyle/>
                    <a:p>
                      <a:r>
                        <a:rPr lang="en-GB"/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0.33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633190"/>
                  </a:ext>
                </a:extLst>
              </a:tr>
              <a:tr h="396959">
                <a:tc>
                  <a:txBody>
                    <a:bodyPr/>
                    <a:lstStyle/>
                    <a:p>
                      <a:r>
                        <a:rPr lang="en-GB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0.33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792626"/>
                  </a:ext>
                </a:extLst>
              </a:tr>
              <a:tr h="396959">
                <a:tc>
                  <a:txBody>
                    <a:bodyPr/>
                    <a:lstStyle/>
                    <a:p>
                      <a:r>
                        <a:rPr lang="en-GB"/>
                        <a:t>goose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0.33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00899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0B77563-52CD-47E0-EAC2-A26B1368ABDD}"/>
              </a:ext>
            </a:extLst>
          </p:cNvPr>
          <p:cNvSpPr/>
          <p:nvPr/>
        </p:nvSpPr>
        <p:spPr>
          <a:xfrm>
            <a:off x="4747033" y="2499955"/>
            <a:ext cx="5108340" cy="634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7030A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dog-cat-goose classifier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0A5042-E843-2B74-C61C-58D8E20B2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189328"/>
              </p:ext>
            </p:extLst>
          </p:nvPr>
        </p:nvGraphicFramePr>
        <p:xfrm>
          <a:off x="10274984" y="1263102"/>
          <a:ext cx="1596592" cy="11908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8296">
                  <a:extLst>
                    <a:ext uri="{9D8B030D-6E8A-4147-A177-3AD203B41FA5}">
                      <a16:colId xmlns:a16="http://schemas.microsoft.com/office/drawing/2014/main" val="4112193143"/>
                    </a:ext>
                  </a:extLst>
                </a:gridCol>
                <a:gridCol w="798296">
                  <a:extLst>
                    <a:ext uri="{9D8B030D-6E8A-4147-A177-3AD203B41FA5}">
                      <a16:colId xmlns:a16="http://schemas.microsoft.com/office/drawing/2014/main" val="1312779470"/>
                    </a:ext>
                  </a:extLst>
                </a:gridCol>
              </a:tblGrid>
              <a:tr h="396959"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accent6">
                              <a:lumMod val="49000"/>
                            </a:schemeClr>
                          </a:solidFill>
                        </a:rPr>
                        <a:t>dog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accent6">
                              <a:lumMod val="49000"/>
                            </a:schemeClr>
                          </a:solidFill>
                        </a:rPr>
                        <a:t>0.00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633190"/>
                  </a:ext>
                </a:extLst>
              </a:tr>
              <a:tr h="396958"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accent6">
                              <a:lumMod val="49000"/>
                            </a:schemeClr>
                          </a:solidFill>
                        </a:rPr>
                        <a:t>cat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chemeClr val="accent6">
                              <a:lumMod val="49000"/>
                            </a:schemeClr>
                          </a:solidFill>
                        </a:rPr>
                        <a:t>1.00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792626"/>
                  </a:ext>
                </a:extLst>
              </a:tr>
              <a:tr h="396959">
                <a:tc>
                  <a:txBody>
                    <a:bodyPr/>
                    <a:lstStyle/>
                    <a:p>
                      <a:r>
                        <a:rPr lang="en-GB" b="0" i="0">
                          <a:solidFill>
                            <a:schemeClr val="accent6">
                              <a:lumMod val="49000"/>
                            </a:schemeClr>
                          </a:solidFill>
                        </a:rPr>
                        <a:t>goose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chemeClr val="accent6">
                              <a:lumMod val="49000"/>
                            </a:schemeClr>
                          </a:solidFill>
                        </a:rPr>
                        <a:t>0.00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0899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C355A2-4FBA-637A-3F25-49CAE9B2A7C2}"/>
              </a:ext>
            </a:extLst>
          </p:cNvPr>
          <p:cNvCxnSpPr/>
          <p:nvPr/>
        </p:nvCxnSpPr>
        <p:spPr>
          <a:xfrm>
            <a:off x="10778837" y="2625964"/>
            <a:ext cx="0" cy="1016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36889A-65C9-D678-34BC-D32AAC493DE0}"/>
                  </a:ext>
                </a:extLst>
              </p:cNvPr>
              <p:cNvSpPr txBox="1"/>
              <p:nvPr/>
            </p:nvSpPr>
            <p:spPr>
              <a:xfrm>
                <a:off x="10904006" y="2895417"/>
                <a:ext cx="159659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CMU Serif Roman" panose="02000603000000000000" pitchFamily="2" charset="0"/>
                    <a:ea typeface="CMU Serif Roman" panose="02000603000000000000" pitchFamily="2" charset="0"/>
                    <a:cs typeface="CMU Serif Roman" panose="02000603000000000000" pitchFamily="2" charset="0"/>
                  </a:rPr>
                  <a:t>Loss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endParaRPr lang="en-GB" sz="2400" b="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  <a:p>
                <a:endParaRPr lang="en-US" sz="2400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36889A-65C9-D678-34BC-D32AAC493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4006" y="2895417"/>
                <a:ext cx="1596591" cy="830997"/>
              </a:xfrm>
              <a:prstGeom prst="rect">
                <a:avLst/>
              </a:prstGeom>
              <a:blipFill>
                <a:blip r:embed="rId4"/>
                <a:stretch>
                  <a:fillRect l="-5512" t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412D299-C726-F942-5AC8-346C7B89BC6D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>
            <a:off x="7337915" y="2043113"/>
            <a:ext cx="4131225" cy="843609"/>
          </a:xfrm>
          <a:prstGeom prst="curvedConnector4">
            <a:avLst>
              <a:gd name="adj1" fmla="val 190"/>
              <a:gd name="adj2" fmla="val 208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AF12F1C-B863-1DBE-9F26-1CF2584466A5}"/>
              </a:ext>
            </a:extLst>
          </p:cNvPr>
          <p:cNvSpPr txBox="1"/>
          <p:nvPr/>
        </p:nvSpPr>
        <p:spPr>
          <a:xfrm>
            <a:off x="8109607" y="156626"/>
            <a:ext cx="2794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Update parameters (backpropagation)</a:t>
            </a:r>
            <a:endParaRPr lang="en-GB" sz="2400" b="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2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1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DFEE31-F7BB-195F-86A7-98F4F769C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4"/>
            <a:ext cx="12206653" cy="686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47AE1-D02F-5387-0FF9-46559B65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34C5C863-682E-DC99-28FB-00FF64F41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980" y="2043112"/>
            <a:ext cx="7011867" cy="39221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C4A9AF-F8CE-F7A0-784B-72F02B07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Neural Networks</a:t>
            </a:r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D8213387-64B1-A27F-5AD5-14E67FD81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84" y="3143250"/>
            <a:ext cx="2601058" cy="17218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7B03FA-7750-4299-377A-427908BDDCA6}"/>
              </a:ext>
            </a:extLst>
          </p:cNvPr>
          <p:cNvGraphicFramePr>
            <a:graphicFrameLocks noGrp="1"/>
          </p:cNvGraphicFramePr>
          <p:nvPr/>
        </p:nvGraphicFramePr>
        <p:xfrm>
          <a:off x="3367160" y="1982607"/>
          <a:ext cx="754583" cy="40506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4583">
                  <a:extLst>
                    <a:ext uri="{9D8B030D-6E8A-4147-A177-3AD203B41FA5}">
                      <a16:colId xmlns:a16="http://schemas.microsoft.com/office/drawing/2014/main" val="740337855"/>
                    </a:ext>
                  </a:extLst>
                </a:gridCol>
              </a:tblGrid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317749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661537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231119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17820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16451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321375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36553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239508"/>
                  </a:ext>
                </a:extLst>
              </a:tr>
            </a:tbl>
          </a:graphicData>
        </a:graphic>
      </p:graphicFrame>
      <p:sp>
        <p:nvSpPr>
          <p:cNvPr id="7" name="Arrow: Bent 6">
            <a:extLst>
              <a:ext uri="{FF2B5EF4-FFF2-40B4-BE49-F238E27FC236}">
                <a16:creationId xmlns:a16="http://schemas.microsoft.com/office/drawing/2014/main" id="{347E0C94-A27E-18D2-799D-4A6ACB90722F}"/>
              </a:ext>
            </a:extLst>
          </p:cNvPr>
          <p:cNvSpPr/>
          <p:nvPr/>
        </p:nvSpPr>
        <p:spPr>
          <a:xfrm>
            <a:off x="1033823" y="2166327"/>
            <a:ext cx="2016114" cy="788117"/>
          </a:xfrm>
          <a:prstGeom prst="ben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1C4CC1-FCF1-BB2B-7CBD-443F058B742C}"/>
              </a:ext>
            </a:extLst>
          </p:cNvPr>
          <p:cNvSpPr txBox="1"/>
          <p:nvPr/>
        </p:nvSpPr>
        <p:spPr>
          <a:xfrm>
            <a:off x="1528466" y="1858286"/>
            <a:ext cx="10304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Unravel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721A5DE-A6CD-D386-38B7-50B2AD82E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570010"/>
              </p:ext>
            </p:extLst>
          </p:nvPr>
        </p:nvGraphicFramePr>
        <p:xfrm>
          <a:off x="10276449" y="3726414"/>
          <a:ext cx="1596592" cy="1190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8296">
                  <a:extLst>
                    <a:ext uri="{9D8B030D-6E8A-4147-A177-3AD203B41FA5}">
                      <a16:colId xmlns:a16="http://schemas.microsoft.com/office/drawing/2014/main" val="4112193143"/>
                    </a:ext>
                  </a:extLst>
                </a:gridCol>
                <a:gridCol w="798296">
                  <a:extLst>
                    <a:ext uri="{9D8B030D-6E8A-4147-A177-3AD203B41FA5}">
                      <a16:colId xmlns:a16="http://schemas.microsoft.com/office/drawing/2014/main" val="1312779470"/>
                    </a:ext>
                  </a:extLst>
                </a:gridCol>
              </a:tblGrid>
              <a:tr h="396959">
                <a:tc>
                  <a:txBody>
                    <a:bodyPr/>
                    <a:lstStyle/>
                    <a:p>
                      <a:r>
                        <a:rPr lang="en-GB"/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633190"/>
                  </a:ext>
                </a:extLst>
              </a:tr>
              <a:tr h="396959">
                <a:tc>
                  <a:txBody>
                    <a:bodyPr/>
                    <a:lstStyle/>
                    <a:p>
                      <a:r>
                        <a:rPr lang="en-GB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792626"/>
                  </a:ext>
                </a:extLst>
              </a:tr>
              <a:tr h="396959">
                <a:tc>
                  <a:txBody>
                    <a:bodyPr/>
                    <a:lstStyle/>
                    <a:p>
                      <a:r>
                        <a:rPr lang="en-GB"/>
                        <a:t>goose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0.03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00899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4FFB9AC-DE5F-52A2-EB49-0751540B1040}"/>
              </a:ext>
            </a:extLst>
          </p:cNvPr>
          <p:cNvSpPr/>
          <p:nvPr/>
        </p:nvSpPr>
        <p:spPr>
          <a:xfrm>
            <a:off x="4747033" y="2499955"/>
            <a:ext cx="5108340" cy="634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7030A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dog-cat-goose classifier</a:t>
            </a:r>
          </a:p>
        </p:txBody>
      </p:sp>
    </p:spTree>
    <p:extLst>
      <p:ext uri="{BB962C8B-B14F-4D97-AF65-F5344CB8AC3E}">
        <p14:creationId xmlns:p14="http://schemas.microsoft.com/office/powerpoint/2010/main" val="404816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F0BAE-01F9-BCF7-10D3-80D0463B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C22F-6922-7631-5B3A-2674B97BB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781"/>
            <a:ext cx="10515600" cy="1325563"/>
          </a:xfrm>
        </p:spPr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The Language Model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42825B-B738-FB62-E623-AF21E8E9E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867963"/>
              </p:ext>
            </p:extLst>
          </p:nvPr>
        </p:nvGraphicFramePr>
        <p:xfrm>
          <a:off x="840105" y="2084451"/>
          <a:ext cx="691460" cy="3642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1460">
                  <a:extLst>
                    <a:ext uri="{9D8B030D-6E8A-4147-A177-3AD203B41FA5}">
                      <a16:colId xmlns:a16="http://schemas.microsoft.com/office/drawing/2014/main" val="2454851643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507878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57237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7489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606408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26629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644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1DD34C9-D5DF-D625-8863-B2AB85437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594523"/>
              </p:ext>
            </p:extLst>
          </p:nvPr>
        </p:nvGraphicFramePr>
        <p:xfrm>
          <a:off x="9563100" y="2085975"/>
          <a:ext cx="178684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420">
                  <a:extLst>
                    <a:ext uri="{9D8B030D-6E8A-4147-A177-3AD203B41FA5}">
                      <a16:colId xmlns:a16="http://schemas.microsoft.com/office/drawing/2014/main" val="2157992499"/>
                    </a:ext>
                  </a:extLst>
                </a:gridCol>
                <a:gridCol w="893420">
                  <a:extLst>
                    <a:ext uri="{9D8B030D-6E8A-4147-A177-3AD203B41FA5}">
                      <a16:colId xmlns:a16="http://schemas.microsoft.com/office/drawing/2014/main" val="243696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4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50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hippo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3308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5BCAD02-EE5C-0690-411E-480166917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856436"/>
              </p:ext>
            </p:extLst>
          </p:nvPr>
        </p:nvGraphicFramePr>
        <p:xfrm>
          <a:off x="9534525" y="4305300"/>
          <a:ext cx="17868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420">
                  <a:extLst>
                    <a:ext uri="{9D8B030D-6E8A-4147-A177-3AD203B41FA5}">
                      <a16:colId xmlns:a16="http://schemas.microsoft.com/office/drawing/2014/main" val="2157992499"/>
                    </a:ext>
                  </a:extLst>
                </a:gridCol>
                <a:gridCol w="893420">
                  <a:extLst>
                    <a:ext uri="{9D8B030D-6E8A-4147-A177-3AD203B41FA5}">
                      <a16:colId xmlns:a16="http://schemas.microsoft.com/office/drawing/2014/main" val="243696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0.54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330874"/>
                  </a:ext>
                </a:extLst>
              </a:tr>
            </a:tbl>
          </a:graphicData>
        </a:graphic>
      </p:graphicFrame>
      <p:pic>
        <p:nvPicPr>
          <p:cNvPr id="16" name="Picture 15" descr="Generated image">
            <a:extLst>
              <a:ext uri="{FF2B5EF4-FFF2-40B4-BE49-F238E27FC236}">
                <a16:creationId xmlns:a16="http://schemas.microsoft.com/office/drawing/2014/main" id="{D604C1EC-4222-69DA-CC42-7D6CE636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238" y="2081213"/>
            <a:ext cx="2028825" cy="3095625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4FD455C-2EAF-0347-61E9-7CC5071D9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054913"/>
              </p:ext>
            </p:extLst>
          </p:nvPr>
        </p:nvGraphicFramePr>
        <p:xfrm>
          <a:off x="5288279" y="1474850"/>
          <a:ext cx="810523" cy="42491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454851643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24353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507878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4937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57237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7489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606408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26629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7030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D79510A-59CD-2B2F-447B-19B259840DAE}"/>
              </a:ext>
            </a:extLst>
          </p:cNvPr>
          <p:cNvSpPr txBox="1"/>
          <p:nvPr/>
        </p:nvSpPr>
        <p:spPr>
          <a:xfrm>
            <a:off x="10020120" y="3298087"/>
            <a:ext cx="8169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•</a:t>
            </a:r>
            <a:endParaRPr lang="en-US"/>
          </a:p>
          <a:p>
            <a:pPr algn="ctr"/>
            <a:r>
              <a:rPr lang="en-GB"/>
              <a:t>•</a:t>
            </a:r>
          </a:p>
          <a:p>
            <a:pPr algn="ctr"/>
            <a:r>
              <a:rPr lang="en-GB"/>
              <a:t>•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12CE7A2-B0B9-48FA-D3A6-E3E6934B96EA}"/>
              </a:ext>
            </a:extLst>
          </p:cNvPr>
          <p:cNvSpPr/>
          <p:nvPr/>
        </p:nvSpPr>
        <p:spPr>
          <a:xfrm>
            <a:off x="6096757" y="3725676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BFDBCF9-63F7-DD86-7695-799A77FE0427}"/>
              </a:ext>
            </a:extLst>
          </p:cNvPr>
          <p:cNvSpPr/>
          <p:nvPr/>
        </p:nvSpPr>
        <p:spPr>
          <a:xfrm>
            <a:off x="8782807" y="3725676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ACDD33-AD34-E457-B435-8917F7EB2D91}"/>
              </a:ext>
            </a:extLst>
          </p:cNvPr>
          <p:cNvSpPr/>
          <p:nvPr/>
        </p:nvSpPr>
        <p:spPr>
          <a:xfrm>
            <a:off x="9475490" y="4218232"/>
            <a:ext cx="1910749" cy="521300"/>
          </a:xfrm>
          <a:prstGeom prst="rect">
            <a:avLst/>
          </a:prstGeom>
          <a:noFill/>
          <a:ln w="28575">
            <a:solidFill>
              <a:srgbClr val="1B5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Bent 27">
            <a:extLst>
              <a:ext uri="{FF2B5EF4-FFF2-40B4-BE49-F238E27FC236}">
                <a16:creationId xmlns:a16="http://schemas.microsoft.com/office/drawing/2014/main" id="{1EB94B09-A333-CE43-1B39-D30837ECA6EB}"/>
              </a:ext>
            </a:extLst>
          </p:cNvPr>
          <p:cNvSpPr/>
          <p:nvPr/>
        </p:nvSpPr>
        <p:spPr>
          <a:xfrm rot="10800000">
            <a:off x="6182521" y="4873765"/>
            <a:ext cx="4337923" cy="687318"/>
          </a:xfrm>
          <a:prstGeom prst="bentArrow">
            <a:avLst/>
          </a:prstGeom>
          <a:solidFill>
            <a:srgbClr val="1B5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A3A6CE-1A5B-3246-B2F5-9573F5BA3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412622"/>
              </p:ext>
            </p:extLst>
          </p:nvPr>
        </p:nvGraphicFramePr>
        <p:xfrm>
          <a:off x="2240279" y="1474851"/>
          <a:ext cx="810523" cy="4551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454851643"/>
                    </a:ext>
                  </a:extLst>
                </a:gridCol>
              </a:tblGrid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&lt;</a:t>
                      </a:r>
                      <a:r>
                        <a:rPr lang="en-GB" err="1"/>
                        <a:t>bos</a:t>
                      </a:r>
                      <a:r>
                        <a:rPr lang="en-GB"/>
                        <a:t>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243534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50787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572371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748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60640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2662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644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/>
                        <a:t>&lt;</a:t>
                      </a:r>
                      <a:r>
                        <a:rPr lang="en-GB" dirty="0" err="1"/>
                        <a:t>eos</a:t>
                      </a:r>
                      <a:r>
                        <a:rPr lang="en-GB" dirty="0"/>
                        <a:t>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375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188A77-C0D5-525F-04DB-D7CBACD28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271324"/>
              </p:ext>
            </p:extLst>
          </p:nvPr>
        </p:nvGraphicFramePr>
        <p:xfrm>
          <a:off x="3802379" y="1474850"/>
          <a:ext cx="810523" cy="4551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454851643"/>
                    </a:ext>
                  </a:extLst>
                </a:gridCol>
              </a:tblGrid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243534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50787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4937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572371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748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60640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2662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13523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644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37533"/>
                  </a:ext>
                </a:extLst>
              </a:tr>
            </a:tbl>
          </a:graphicData>
        </a:graphic>
      </p:graphicFrame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F836DE-5FC2-429A-B112-EC1D886F544E}"/>
              </a:ext>
            </a:extLst>
          </p:cNvPr>
          <p:cNvSpPr/>
          <p:nvPr/>
        </p:nvSpPr>
        <p:spPr>
          <a:xfrm>
            <a:off x="1534283" y="3744726"/>
            <a:ext cx="776983" cy="33322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A20D30C-751C-BF22-4EF4-DCAEB7CB54A5}"/>
              </a:ext>
            </a:extLst>
          </p:cNvPr>
          <p:cNvSpPr/>
          <p:nvPr/>
        </p:nvSpPr>
        <p:spPr>
          <a:xfrm>
            <a:off x="3048757" y="3744726"/>
            <a:ext cx="796033" cy="33322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129F320-481D-BBDF-9098-CE1552590EE2}"/>
              </a:ext>
            </a:extLst>
          </p:cNvPr>
          <p:cNvSpPr/>
          <p:nvPr/>
        </p:nvSpPr>
        <p:spPr>
          <a:xfrm>
            <a:off x="4610857" y="3735201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66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 animBg="1"/>
      <p:bldP spid="24" grpId="0" animBg="1"/>
      <p:bldP spid="26" grpId="0" animBg="1"/>
      <p:bldP spid="28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2595-4C05-6A0E-59E6-5B768D840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A34A1E-7B8A-D055-4783-F7F256D0E436}"/>
              </a:ext>
            </a:extLst>
          </p:cNvPr>
          <p:cNvGraphicFramePr>
            <a:graphicFrameLocks noGrp="1"/>
          </p:cNvGraphicFramePr>
          <p:nvPr/>
        </p:nvGraphicFramePr>
        <p:xfrm>
          <a:off x="840105" y="2084451"/>
          <a:ext cx="691460" cy="3642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1460">
                  <a:extLst>
                    <a:ext uri="{9D8B030D-6E8A-4147-A177-3AD203B41FA5}">
                      <a16:colId xmlns:a16="http://schemas.microsoft.com/office/drawing/2014/main" val="2454851643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507878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57237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7489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606408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26629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64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6882BAF-7AEE-7F5B-3EA0-3E4415EA9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695996"/>
              </p:ext>
            </p:extLst>
          </p:nvPr>
        </p:nvGraphicFramePr>
        <p:xfrm>
          <a:off x="2240279" y="1474851"/>
          <a:ext cx="810523" cy="4551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454851643"/>
                    </a:ext>
                  </a:extLst>
                </a:gridCol>
              </a:tblGrid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&lt;</a:t>
                      </a:r>
                      <a:r>
                        <a:rPr lang="en-GB" err="1"/>
                        <a:t>bos</a:t>
                      </a:r>
                      <a:r>
                        <a:rPr lang="en-GB"/>
                        <a:t>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243534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50787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572371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748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60640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2662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644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/>
                        <a:t>&lt;</a:t>
                      </a:r>
                      <a:r>
                        <a:rPr lang="en-GB" dirty="0" err="1"/>
                        <a:t>eos</a:t>
                      </a:r>
                      <a:r>
                        <a:rPr lang="en-GB" dirty="0"/>
                        <a:t>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3753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A36F99-9FF7-F142-7C06-B61FB82FB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691457"/>
              </p:ext>
            </p:extLst>
          </p:nvPr>
        </p:nvGraphicFramePr>
        <p:xfrm>
          <a:off x="3802379" y="1474850"/>
          <a:ext cx="810523" cy="4551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454851643"/>
                    </a:ext>
                  </a:extLst>
                </a:gridCol>
              </a:tblGrid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243534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50787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4937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572371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748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60640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2662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13523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644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3753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EF5A197-B329-81A4-381B-DAA5890A9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183897"/>
              </p:ext>
            </p:extLst>
          </p:nvPr>
        </p:nvGraphicFramePr>
        <p:xfrm>
          <a:off x="9563100" y="2085975"/>
          <a:ext cx="178684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420">
                  <a:extLst>
                    <a:ext uri="{9D8B030D-6E8A-4147-A177-3AD203B41FA5}">
                      <a16:colId xmlns:a16="http://schemas.microsoft.com/office/drawing/2014/main" val="2157992499"/>
                    </a:ext>
                  </a:extLst>
                </a:gridCol>
                <a:gridCol w="893420">
                  <a:extLst>
                    <a:ext uri="{9D8B030D-6E8A-4147-A177-3AD203B41FA5}">
                      <a16:colId xmlns:a16="http://schemas.microsoft.com/office/drawing/2014/main" val="243696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4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eating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50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while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3308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A3B30F2-7ADC-B309-68B6-42D7013BD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193607"/>
              </p:ext>
            </p:extLst>
          </p:nvPr>
        </p:nvGraphicFramePr>
        <p:xfrm>
          <a:off x="9534525" y="4305300"/>
          <a:ext cx="17868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420">
                  <a:extLst>
                    <a:ext uri="{9D8B030D-6E8A-4147-A177-3AD203B41FA5}">
                      <a16:colId xmlns:a16="http://schemas.microsoft.com/office/drawing/2014/main" val="2157992499"/>
                    </a:ext>
                  </a:extLst>
                </a:gridCol>
                <a:gridCol w="893420">
                  <a:extLst>
                    <a:ext uri="{9D8B030D-6E8A-4147-A177-3AD203B41FA5}">
                      <a16:colId xmlns:a16="http://schemas.microsoft.com/office/drawing/2014/main" val="2436964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&lt;</a:t>
                      </a:r>
                      <a:r>
                        <a:rPr lang="en-GB" err="1"/>
                        <a:t>eos</a:t>
                      </a:r>
                      <a:r>
                        <a:rPr lang="en-GB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0.54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330874"/>
                  </a:ext>
                </a:extLst>
              </a:tr>
            </a:tbl>
          </a:graphicData>
        </a:graphic>
      </p:graphicFrame>
      <p:pic>
        <p:nvPicPr>
          <p:cNvPr id="16" name="Picture 15" descr="Generated image">
            <a:extLst>
              <a:ext uri="{FF2B5EF4-FFF2-40B4-BE49-F238E27FC236}">
                <a16:creationId xmlns:a16="http://schemas.microsoft.com/office/drawing/2014/main" id="{00F1288C-6E47-BFAD-5AFB-7FEE5031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238" y="2081213"/>
            <a:ext cx="2028825" cy="3095625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D64CEE3-919D-8BB6-8C25-C55693BBC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35042"/>
              </p:ext>
            </p:extLst>
          </p:nvPr>
        </p:nvGraphicFramePr>
        <p:xfrm>
          <a:off x="5288279" y="1474850"/>
          <a:ext cx="810523" cy="4551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454851643"/>
                    </a:ext>
                  </a:extLst>
                </a:gridCol>
              </a:tblGrid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243534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50787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4937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572371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748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606408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26629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13523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703004"/>
                  </a:ext>
                </a:extLst>
              </a:tr>
              <a:tr h="5689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57406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CC14675-F106-FBE2-741B-018B08EDCACA}"/>
              </a:ext>
            </a:extLst>
          </p:cNvPr>
          <p:cNvSpPr txBox="1"/>
          <p:nvPr/>
        </p:nvSpPr>
        <p:spPr>
          <a:xfrm>
            <a:off x="10020120" y="3298087"/>
            <a:ext cx="8169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•</a:t>
            </a:r>
            <a:endParaRPr lang="en-US"/>
          </a:p>
          <a:p>
            <a:pPr algn="ctr"/>
            <a:r>
              <a:rPr lang="en-GB"/>
              <a:t>•</a:t>
            </a:r>
          </a:p>
          <a:p>
            <a:pPr algn="ctr"/>
            <a:r>
              <a:rPr lang="en-GB"/>
              <a:t>•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7722D60-EB1B-B659-7041-26D6A4B0A8BD}"/>
              </a:ext>
            </a:extLst>
          </p:cNvPr>
          <p:cNvSpPr/>
          <p:nvPr/>
        </p:nvSpPr>
        <p:spPr>
          <a:xfrm>
            <a:off x="1534283" y="3744726"/>
            <a:ext cx="776983" cy="33322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50B9C55-E596-9ADE-C328-FCBCC11C8A20}"/>
              </a:ext>
            </a:extLst>
          </p:cNvPr>
          <p:cNvSpPr/>
          <p:nvPr/>
        </p:nvSpPr>
        <p:spPr>
          <a:xfrm>
            <a:off x="3048757" y="3744726"/>
            <a:ext cx="796033" cy="33322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9C47DE0-7B5B-4FC2-D5BE-22C18F0A1B9F}"/>
              </a:ext>
            </a:extLst>
          </p:cNvPr>
          <p:cNvSpPr/>
          <p:nvPr/>
        </p:nvSpPr>
        <p:spPr>
          <a:xfrm>
            <a:off x="4610857" y="3735201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54C077-E989-5C82-1E3E-1D1F30FEDC39}"/>
              </a:ext>
            </a:extLst>
          </p:cNvPr>
          <p:cNvSpPr/>
          <p:nvPr/>
        </p:nvSpPr>
        <p:spPr>
          <a:xfrm>
            <a:off x="6096757" y="3725676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F9A249E-BEE8-EC6A-AD0B-83EAA70D4E7A}"/>
              </a:ext>
            </a:extLst>
          </p:cNvPr>
          <p:cNvSpPr/>
          <p:nvPr/>
        </p:nvSpPr>
        <p:spPr>
          <a:xfrm>
            <a:off x="8782807" y="3725676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1720AC-A1A0-3080-0D26-D529FD2EE542}"/>
              </a:ext>
            </a:extLst>
          </p:cNvPr>
          <p:cNvSpPr txBox="1">
            <a:spLocks/>
          </p:cNvSpPr>
          <p:nvPr/>
        </p:nvSpPr>
        <p:spPr>
          <a:xfrm>
            <a:off x="838200" y="2457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The Language Model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47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D063-2F65-5AF5-7EF4-83C03577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The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6AE14-1881-A599-EFAC-5B9E8AAE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During training, it is inefficient to do this on a per token basis</a:t>
            </a:r>
          </a:p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Subsequent prefixes are stuffed into the model at the same time</a:t>
            </a:r>
          </a:p>
          <a:p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F79875-3D0F-EFA2-423B-D2EF853AB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97773"/>
              </p:ext>
            </p:extLst>
          </p:nvPr>
        </p:nvGraphicFramePr>
        <p:xfrm>
          <a:off x="4000723" y="3067611"/>
          <a:ext cx="4187856" cy="2903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482">
                  <a:extLst>
                    <a:ext uri="{9D8B030D-6E8A-4147-A177-3AD203B41FA5}">
                      <a16:colId xmlns:a16="http://schemas.microsoft.com/office/drawing/2014/main" val="4237243896"/>
                    </a:ext>
                  </a:extLst>
                </a:gridCol>
                <a:gridCol w="523482">
                  <a:extLst>
                    <a:ext uri="{9D8B030D-6E8A-4147-A177-3AD203B41FA5}">
                      <a16:colId xmlns:a16="http://schemas.microsoft.com/office/drawing/2014/main" val="1026874203"/>
                    </a:ext>
                  </a:extLst>
                </a:gridCol>
                <a:gridCol w="523482">
                  <a:extLst>
                    <a:ext uri="{9D8B030D-6E8A-4147-A177-3AD203B41FA5}">
                      <a16:colId xmlns:a16="http://schemas.microsoft.com/office/drawing/2014/main" val="300906890"/>
                    </a:ext>
                  </a:extLst>
                </a:gridCol>
                <a:gridCol w="523482">
                  <a:extLst>
                    <a:ext uri="{9D8B030D-6E8A-4147-A177-3AD203B41FA5}">
                      <a16:colId xmlns:a16="http://schemas.microsoft.com/office/drawing/2014/main" val="3834903430"/>
                    </a:ext>
                  </a:extLst>
                </a:gridCol>
                <a:gridCol w="523482">
                  <a:extLst>
                    <a:ext uri="{9D8B030D-6E8A-4147-A177-3AD203B41FA5}">
                      <a16:colId xmlns:a16="http://schemas.microsoft.com/office/drawing/2014/main" val="1941520891"/>
                    </a:ext>
                  </a:extLst>
                </a:gridCol>
                <a:gridCol w="523482">
                  <a:extLst>
                    <a:ext uri="{9D8B030D-6E8A-4147-A177-3AD203B41FA5}">
                      <a16:colId xmlns:a16="http://schemas.microsoft.com/office/drawing/2014/main" val="2667278488"/>
                    </a:ext>
                  </a:extLst>
                </a:gridCol>
                <a:gridCol w="523482">
                  <a:extLst>
                    <a:ext uri="{9D8B030D-6E8A-4147-A177-3AD203B41FA5}">
                      <a16:colId xmlns:a16="http://schemas.microsoft.com/office/drawing/2014/main" val="2721393563"/>
                    </a:ext>
                  </a:extLst>
                </a:gridCol>
                <a:gridCol w="523482">
                  <a:extLst>
                    <a:ext uri="{9D8B030D-6E8A-4147-A177-3AD203B41FA5}">
                      <a16:colId xmlns:a16="http://schemas.microsoft.com/office/drawing/2014/main" val="370281242"/>
                    </a:ext>
                  </a:extLst>
                </a:gridCol>
              </a:tblGrid>
              <a:tr h="362962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&lt;</a:t>
                      </a:r>
                      <a:r>
                        <a:rPr lang="en-GB" sz="1000" err="1"/>
                        <a:t>bos</a:t>
                      </a:r>
                      <a:r>
                        <a:rPr lang="en-GB" sz="10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/>
                        <a:t>&lt;</a:t>
                      </a:r>
                      <a:r>
                        <a:rPr lang="en-GB" sz="1000" err="1"/>
                        <a:t>bos</a:t>
                      </a:r>
                      <a:r>
                        <a:rPr lang="en-GB" sz="1000"/>
                        <a:t>&gt;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&lt;</a:t>
                      </a:r>
                      <a:r>
                        <a:rPr lang="en-GB" sz="1000" err="1"/>
                        <a:t>bos</a:t>
                      </a:r>
                      <a:r>
                        <a:rPr lang="en-GB" sz="10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&lt;</a:t>
                      </a:r>
                      <a:r>
                        <a:rPr lang="en-GB" sz="1000" err="1"/>
                        <a:t>bos</a:t>
                      </a:r>
                      <a:r>
                        <a:rPr lang="en-GB" sz="10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&lt;</a:t>
                      </a:r>
                      <a:r>
                        <a:rPr lang="en-GB" sz="1000" err="1"/>
                        <a:t>bos</a:t>
                      </a:r>
                      <a:r>
                        <a:rPr lang="en-GB" sz="10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&lt;</a:t>
                      </a:r>
                      <a:r>
                        <a:rPr lang="en-GB" sz="1000" err="1"/>
                        <a:t>bos</a:t>
                      </a:r>
                      <a:r>
                        <a:rPr lang="en-GB" sz="10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&lt;</a:t>
                      </a:r>
                      <a:r>
                        <a:rPr lang="en-GB" sz="1000" err="1"/>
                        <a:t>bos</a:t>
                      </a:r>
                      <a:r>
                        <a:rPr lang="en-GB" sz="10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&lt;</a:t>
                      </a:r>
                      <a:r>
                        <a:rPr lang="en-GB" sz="1000" err="1"/>
                        <a:t>bos</a:t>
                      </a:r>
                      <a:r>
                        <a:rPr lang="en-GB" sz="1000"/>
                        <a:t>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900914"/>
                  </a:ext>
                </a:extLst>
              </a:tr>
              <a:tr h="362962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617464"/>
                  </a:ext>
                </a:extLst>
              </a:tr>
              <a:tr h="362962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538856"/>
                  </a:ext>
                </a:extLst>
              </a:tr>
              <a:tr h="362962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202911"/>
                  </a:ext>
                </a:extLst>
              </a:tr>
              <a:tr h="362962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/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061334"/>
                  </a:ext>
                </a:extLst>
              </a:tr>
              <a:tr h="362962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009049"/>
                  </a:ext>
                </a:extLst>
              </a:tr>
              <a:tr h="362962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00"/>
                        <a:t>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219189"/>
                  </a:ext>
                </a:extLst>
              </a:tr>
              <a:tr h="362962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&lt;</a:t>
                      </a:r>
                      <a:r>
                        <a:rPr lang="en-GB" sz="1000" err="1"/>
                        <a:t>eos</a:t>
                      </a:r>
                      <a:r>
                        <a:rPr lang="en-GB" sz="10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67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71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CC3D-7026-15F4-FE12-816E52C7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The Final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8E219-FEC3-A8AB-CD9E-B9D14BC49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389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2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The output to attention told us how to modify the initial embedding:</a:t>
            </a:r>
          </a:p>
          <a:p>
            <a:pPr marL="0" indent="0">
              <a:buNone/>
            </a:pPr>
            <a:endParaRPr lang="en-GB" sz="2000" dirty="0">
              <a:solidFill>
                <a:srgbClr val="0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 algn="ctr">
              <a:buNone/>
            </a:pP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[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sequence_length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, 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embedding_dim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]</a:t>
            </a:r>
          </a:p>
          <a:p>
            <a:pPr marL="0" indent="0">
              <a:buNone/>
            </a:pPr>
            <a:endParaRPr lang="en-GB" sz="2000" dirty="0">
              <a:solidFill>
                <a:srgbClr val="727272"/>
              </a:solidFill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And our goal is to predict the </a:t>
            </a:r>
            <a:r>
              <a:rPr lang="en-GB" sz="2000" i="1" dirty="0">
                <a:solidFill>
                  <a:srgbClr val="1B55EB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[?]</a:t>
            </a:r>
          </a:p>
          <a:p>
            <a:pPr marL="0" indent="0">
              <a:buNone/>
            </a:pPr>
            <a:endParaRPr lang="en-GB" sz="2000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GB" sz="20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”</a:t>
            </a:r>
            <a:r>
              <a:rPr lang="en-GB" sz="2000" i="1" dirty="0">
                <a:solidFill>
                  <a:srgbClr val="7030A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 juvenile cat is called a</a:t>
            </a:r>
            <a:r>
              <a:rPr lang="en-GB" sz="2000" i="1" dirty="0">
                <a:solidFill>
                  <a:schemeClr val="accent5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GB" sz="2000" i="1" dirty="0">
                <a:solidFill>
                  <a:srgbClr val="1B55EB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[?]</a:t>
            </a:r>
            <a:r>
              <a:rPr lang="en-GB" sz="20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</a:t>
            </a:r>
            <a:endParaRPr lang="en-GB" sz="20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So, we need a distribution over tokens:</a:t>
            </a:r>
          </a:p>
          <a:p>
            <a:pPr marL="0" indent="0">
              <a:buNone/>
            </a:pPr>
            <a:endParaRPr lang="en-GB" sz="2000" dirty="0">
              <a:solidFill>
                <a:schemeClr val="bg2">
                  <a:lumMod val="49000"/>
                </a:schemeClr>
              </a:solidFill>
              <a:latin typeface="Consolas"/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[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sequence_length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, 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vocab_size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]</a:t>
            </a:r>
            <a:endParaRPr lang="en-GB" sz="2000" dirty="0">
              <a:solidFill>
                <a:schemeClr val="bg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72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achine learning process&#10;&#10;Description automatically generated">
            <a:extLst>
              <a:ext uri="{FF2B5EF4-FFF2-40B4-BE49-F238E27FC236}">
                <a16:creationId xmlns:a16="http://schemas.microsoft.com/office/drawing/2014/main" id="{B21DAF75-924F-2237-D3D0-ED03D3FD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686" y="2564390"/>
            <a:ext cx="3464627" cy="3305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949C54-B427-E511-2CBC-0738137C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The Final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42B9-B028-67A5-F7BC-4A665A4AD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801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</a:rPr>
              <a:t>[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</a:rPr>
              <a:t>seq_len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</a:rPr>
              <a:t>, 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</a:rPr>
              <a:t>embed_dim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</a:rPr>
              <a:t>] x [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</a:rPr>
              <a:t>embed_dim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</a:rPr>
              <a:t>, 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</a:rPr>
              <a:t>vocab_size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</a:rPr>
              <a:t>] = [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</a:rPr>
              <a:t>seq_len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</a:rPr>
              <a:t>, </a:t>
            </a:r>
            <a:r>
              <a:rPr lang="en-GB" sz="2000" dirty="0" err="1">
                <a:solidFill>
                  <a:schemeClr val="bg2">
                    <a:lumMod val="49000"/>
                  </a:schemeClr>
                </a:solidFill>
                <a:latin typeface="Consolas"/>
              </a:rPr>
              <a:t>vocab_size</a:t>
            </a:r>
            <a:r>
              <a:rPr lang="en-GB" sz="2000" dirty="0">
                <a:solidFill>
                  <a:schemeClr val="bg2">
                    <a:lumMod val="49000"/>
                  </a:schemeClr>
                </a:solidFill>
                <a:latin typeface="Consolas"/>
              </a:rPr>
              <a:t>]</a:t>
            </a:r>
            <a:endParaRPr lang="en-GB" dirty="0">
              <a:solidFill>
                <a:schemeClr val="bg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94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44ED-A72E-B713-D915-8F24F914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16E9A-3953-DE83-CC64-4504205C1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Here is an equation:</a:t>
            </a:r>
            <a:endParaRPr lang="en-US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GB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6E152-1B44-E991-C233-7BCFC0871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060" y="3193528"/>
            <a:ext cx="4745880" cy="16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2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9917-AC9B-CAE4-0200-4E1F6570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4A80-E087-0017-79EE-F75EB1015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"the cat sat on the _____"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07DD34-3B20-8DFF-2CF7-C6577C2C8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811799"/>
              </p:ext>
            </p:extLst>
          </p:nvPr>
        </p:nvGraphicFramePr>
        <p:xfrm>
          <a:off x="1411489" y="2761610"/>
          <a:ext cx="2122992" cy="3181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1496">
                  <a:extLst>
                    <a:ext uri="{9D8B030D-6E8A-4147-A177-3AD203B41FA5}">
                      <a16:colId xmlns:a16="http://schemas.microsoft.com/office/drawing/2014/main" val="970148215"/>
                    </a:ext>
                  </a:extLst>
                </a:gridCol>
                <a:gridCol w="1061496">
                  <a:extLst>
                    <a:ext uri="{9D8B030D-6E8A-4147-A177-3AD203B41FA5}">
                      <a16:colId xmlns:a16="http://schemas.microsoft.com/office/drawing/2014/main" val="1441925169"/>
                    </a:ext>
                  </a:extLst>
                </a:gridCol>
              </a:tblGrid>
              <a:tr h="5303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goose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802283"/>
                  </a:ext>
                </a:extLst>
              </a:tr>
              <a:tr h="5303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donkey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-0.98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467692"/>
                  </a:ext>
                </a:extLst>
              </a:tr>
              <a:tr h="5303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moose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783241"/>
                  </a:ext>
                </a:extLst>
              </a:tr>
              <a:tr h="5303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hippo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878543"/>
                  </a:ext>
                </a:extLst>
              </a:tr>
              <a:tr h="5303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28662"/>
                  </a:ext>
                </a:extLst>
              </a:tr>
              <a:tr h="5303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/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875208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A76D190A-E0A2-9FD6-9870-1E6F4230D141}"/>
              </a:ext>
            </a:extLst>
          </p:cNvPr>
          <p:cNvSpPr/>
          <p:nvPr/>
        </p:nvSpPr>
        <p:spPr>
          <a:xfrm>
            <a:off x="4107770" y="3959385"/>
            <a:ext cx="1574588" cy="683035"/>
          </a:xfrm>
          <a:prstGeom prst="rightArrow">
            <a:avLst/>
          </a:prstGeom>
          <a:solidFill>
            <a:srgbClr val="1B5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C14AE645-C96D-C3CF-6469-9C696AF66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5269"/>
            <a:ext cx="5744308" cy="430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3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9647-C856-945E-D468-D1D7A182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CE8BF-1ABC-21F0-EE29-BE520E7AF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7DAB-1D0D-5B29-A674-855C1FAED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"the cat sat on the _____"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F94DA8-B392-FDBF-7AF4-16FA02017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pic>
        <p:nvPicPr>
          <p:cNvPr id="14" name="Picture 13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B7AD4172-25A3-CA40-9E7A-98A86113F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53043"/>
            <a:ext cx="4967655" cy="3729404"/>
          </a:xfrm>
          <a:prstGeom prst="rect">
            <a:avLst/>
          </a:prstGeom>
        </p:spPr>
      </p:pic>
      <p:pic>
        <p:nvPicPr>
          <p:cNvPr id="15" name="Picture 14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5FEA4FBF-B402-5178-C608-9A84F65EF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290" y="2440231"/>
            <a:ext cx="5121519" cy="373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76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A8B09-3D99-FE6C-BAF0-C903641B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6348A-02D1-D20E-AD35-72EEBB57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6441D-96AC-1F85-D67C-71DD12911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What does T do?</a:t>
            </a:r>
            <a:endParaRPr lang="en-US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49173-39A7-BDBC-5184-64D15873A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060" y="3193528"/>
            <a:ext cx="4745880" cy="16165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6F0242C-EED7-FBC8-4861-D188803F1598}"/>
              </a:ext>
            </a:extLst>
          </p:cNvPr>
          <p:cNvSpPr/>
          <p:nvPr/>
        </p:nvSpPr>
        <p:spPr>
          <a:xfrm>
            <a:off x="7291546" y="3113369"/>
            <a:ext cx="476536" cy="476536"/>
          </a:xfrm>
          <a:custGeom>
            <a:avLst/>
            <a:gdLst>
              <a:gd name="csX0" fmla="*/ 0 w 476536"/>
              <a:gd name="csY0" fmla="*/ 238268 h 476536"/>
              <a:gd name="csX1" fmla="*/ 238268 w 476536"/>
              <a:gd name="csY1" fmla="*/ 0 h 476536"/>
              <a:gd name="csX2" fmla="*/ 476536 w 476536"/>
              <a:gd name="csY2" fmla="*/ 238268 h 476536"/>
              <a:gd name="csX3" fmla="*/ 238268 w 476536"/>
              <a:gd name="csY3" fmla="*/ 476536 h 476536"/>
              <a:gd name="csX4" fmla="*/ 0 w 476536"/>
              <a:gd name="csY4" fmla="*/ 238268 h 476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6536" h="476536" extrusionOk="0">
                <a:moveTo>
                  <a:pt x="0" y="238268"/>
                </a:moveTo>
                <a:cubicBezTo>
                  <a:pt x="-8743" y="125437"/>
                  <a:pt x="95864" y="2426"/>
                  <a:pt x="238268" y="0"/>
                </a:cubicBezTo>
                <a:cubicBezTo>
                  <a:pt x="349715" y="23303"/>
                  <a:pt x="457385" y="81665"/>
                  <a:pt x="476536" y="238268"/>
                </a:cubicBezTo>
                <a:cubicBezTo>
                  <a:pt x="462826" y="362228"/>
                  <a:pt x="374256" y="450828"/>
                  <a:pt x="238268" y="476536"/>
                </a:cubicBezTo>
                <a:cubicBezTo>
                  <a:pt x="123855" y="496781"/>
                  <a:pt x="1056" y="365623"/>
                  <a:pt x="0" y="238268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26733586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D988B0-45E5-8E77-5F76-0044896E0E50}"/>
              </a:ext>
            </a:extLst>
          </p:cNvPr>
          <p:cNvSpPr/>
          <p:nvPr/>
        </p:nvSpPr>
        <p:spPr>
          <a:xfrm>
            <a:off x="8053545" y="4018563"/>
            <a:ext cx="476536" cy="476536"/>
          </a:xfrm>
          <a:custGeom>
            <a:avLst/>
            <a:gdLst>
              <a:gd name="csX0" fmla="*/ 0 w 476536"/>
              <a:gd name="csY0" fmla="*/ 238268 h 476536"/>
              <a:gd name="csX1" fmla="*/ 238268 w 476536"/>
              <a:gd name="csY1" fmla="*/ 0 h 476536"/>
              <a:gd name="csX2" fmla="*/ 476536 w 476536"/>
              <a:gd name="csY2" fmla="*/ 238268 h 476536"/>
              <a:gd name="csX3" fmla="*/ 238268 w 476536"/>
              <a:gd name="csY3" fmla="*/ 476536 h 476536"/>
              <a:gd name="csX4" fmla="*/ 0 w 476536"/>
              <a:gd name="csY4" fmla="*/ 238268 h 476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6536" h="476536" extrusionOk="0">
                <a:moveTo>
                  <a:pt x="0" y="238268"/>
                </a:moveTo>
                <a:cubicBezTo>
                  <a:pt x="-3449" y="107284"/>
                  <a:pt x="124528" y="3919"/>
                  <a:pt x="238268" y="0"/>
                </a:cubicBezTo>
                <a:cubicBezTo>
                  <a:pt x="362074" y="-19679"/>
                  <a:pt x="479424" y="108474"/>
                  <a:pt x="476536" y="238268"/>
                </a:cubicBezTo>
                <a:cubicBezTo>
                  <a:pt x="475879" y="361395"/>
                  <a:pt x="365581" y="479611"/>
                  <a:pt x="238268" y="476536"/>
                </a:cubicBezTo>
                <a:cubicBezTo>
                  <a:pt x="95980" y="506567"/>
                  <a:pt x="24233" y="376309"/>
                  <a:pt x="0" y="238268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279706574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395EF8-2A77-A82E-8D64-B50A1ACA4B17}"/>
              </a:ext>
            </a:extLst>
          </p:cNvPr>
          <p:cNvSpPr txBox="1"/>
          <p:nvPr/>
        </p:nvSpPr>
        <p:spPr>
          <a:xfrm>
            <a:off x="8784150" y="2970409"/>
            <a:ext cx="1492829" cy="374446"/>
          </a:xfrm>
          <a:custGeom>
            <a:avLst/>
            <a:gdLst>
              <a:gd name="csX0" fmla="*/ 0 w 1492829"/>
              <a:gd name="csY0" fmla="*/ 0 h 374446"/>
              <a:gd name="csX1" fmla="*/ 467753 w 1492829"/>
              <a:gd name="csY1" fmla="*/ 0 h 374446"/>
              <a:gd name="csX2" fmla="*/ 980291 w 1492829"/>
              <a:gd name="csY2" fmla="*/ 0 h 374446"/>
              <a:gd name="csX3" fmla="*/ 1492829 w 1492829"/>
              <a:gd name="csY3" fmla="*/ 0 h 374446"/>
              <a:gd name="csX4" fmla="*/ 1492829 w 1492829"/>
              <a:gd name="csY4" fmla="*/ 374446 h 374446"/>
              <a:gd name="csX5" fmla="*/ 1010148 w 1492829"/>
              <a:gd name="csY5" fmla="*/ 374446 h 374446"/>
              <a:gd name="csX6" fmla="*/ 482681 w 1492829"/>
              <a:gd name="csY6" fmla="*/ 374446 h 374446"/>
              <a:gd name="csX7" fmla="*/ 0 w 1492829"/>
              <a:gd name="csY7" fmla="*/ 374446 h 374446"/>
              <a:gd name="csX8" fmla="*/ 0 w 1492829"/>
              <a:gd name="csY8" fmla="*/ 0 h 374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92829" h="374446" extrusionOk="0">
                <a:moveTo>
                  <a:pt x="0" y="0"/>
                </a:moveTo>
                <a:cubicBezTo>
                  <a:pt x="145784" y="2528"/>
                  <a:pt x="271229" y="18773"/>
                  <a:pt x="467753" y="0"/>
                </a:cubicBezTo>
                <a:cubicBezTo>
                  <a:pt x="664277" y="-18773"/>
                  <a:pt x="818388" y="25577"/>
                  <a:pt x="980291" y="0"/>
                </a:cubicBezTo>
                <a:cubicBezTo>
                  <a:pt x="1142194" y="-25577"/>
                  <a:pt x="1274909" y="-3453"/>
                  <a:pt x="1492829" y="0"/>
                </a:cubicBezTo>
                <a:cubicBezTo>
                  <a:pt x="1482308" y="89559"/>
                  <a:pt x="1487810" y="206874"/>
                  <a:pt x="1492829" y="374446"/>
                </a:cubicBezTo>
                <a:cubicBezTo>
                  <a:pt x="1348032" y="398130"/>
                  <a:pt x="1236155" y="390317"/>
                  <a:pt x="1010148" y="374446"/>
                </a:cubicBezTo>
                <a:cubicBezTo>
                  <a:pt x="784141" y="358575"/>
                  <a:pt x="739497" y="385583"/>
                  <a:pt x="482681" y="374446"/>
                </a:cubicBezTo>
                <a:cubicBezTo>
                  <a:pt x="225865" y="363309"/>
                  <a:pt x="162003" y="397730"/>
                  <a:pt x="0" y="374446"/>
                </a:cubicBezTo>
                <a:cubicBezTo>
                  <a:pt x="18277" y="296883"/>
                  <a:pt x="2627" y="122005"/>
                  <a:pt x="0" y="0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8528546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Temperature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B060B2-955B-E842-FE42-854F0F192B93}"/>
              </a:ext>
            </a:extLst>
          </p:cNvPr>
          <p:cNvCxnSpPr/>
          <p:nvPr/>
        </p:nvCxnSpPr>
        <p:spPr>
          <a:xfrm flipH="1">
            <a:off x="7765901" y="3149169"/>
            <a:ext cx="1019885" cy="17875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8975B2-59D9-D4F7-C081-55C8FDEDFAE6}"/>
              </a:ext>
            </a:extLst>
          </p:cNvPr>
          <p:cNvCxnSpPr>
            <a:cxnSpLocks/>
          </p:cNvCxnSpPr>
          <p:nvPr/>
        </p:nvCxnSpPr>
        <p:spPr>
          <a:xfrm flipH="1">
            <a:off x="8517672" y="3348619"/>
            <a:ext cx="1030113" cy="91007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55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0FEF0-9B6F-6B1A-9886-387DD4C1B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9CA3-6ED0-B5F8-E370-43F4DB34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02095-E99A-F985-1812-F3FF03A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"the cat sat on the _____"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9499F-C0D8-452B-ACE7-1C8BCFF077BC}"/>
              </a:ext>
            </a:extLst>
          </p:cNvPr>
          <p:cNvSpPr txBox="1"/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i="1" dirty="0">
                <a:latin typeface="Palatino Linotype"/>
              </a:rPr>
              <a:t>T = 1.0</a:t>
            </a:r>
            <a:endParaRPr lang="en-US" dirty="0"/>
          </a:p>
        </p:txBody>
      </p:sp>
      <p:pic>
        <p:nvPicPr>
          <p:cNvPr id="6" name="Picture 5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06293B36-EC07-7FB5-C468-67BBC92FD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603" y="2470820"/>
            <a:ext cx="5128846" cy="3722078"/>
          </a:xfrm>
          <a:prstGeom prst="rect">
            <a:avLst/>
          </a:prstGeom>
        </p:spPr>
      </p:pic>
      <p:pic>
        <p:nvPicPr>
          <p:cNvPr id="11" name="Picture 10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3A80A025-2CED-B8ED-D10D-5646BC28E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" y="2451222"/>
            <a:ext cx="4967655" cy="3729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2DB210-286C-5E45-972D-B23F5C9C4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39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A5603-74C1-A00C-7CD8-403F97FF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F3FA-4C40-71C7-55F5-EDAE63BE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1010-62AF-AEA3-EE3C-6E8BA2F3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"the cat sat on the _____"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63884F-BD54-91F7-9635-3E9A561B4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DEB007-B440-E26B-838A-0FD6AD28B049}"/>
              </a:ext>
            </a:extLst>
          </p:cNvPr>
          <p:cNvSpPr txBox="1"/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i="1">
                <a:latin typeface="Palatino Linotype"/>
              </a:rPr>
              <a:t>T = 0.5</a:t>
            </a:r>
            <a:endParaRPr lang="en-US"/>
          </a:p>
        </p:txBody>
      </p:sp>
      <p:pic>
        <p:nvPicPr>
          <p:cNvPr id="8" name="Picture 7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2DBF9D73-FF93-93EB-0531-332D44DD2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" y="2447559"/>
            <a:ext cx="4967655" cy="3729404"/>
          </a:xfrm>
          <a:prstGeom prst="rect">
            <a:avLst/>
          </a:prstGeom>
        </p:spPr>
      </p:pic>
      <p:pic>
        <p:nvPicPr>
          <p:cNvPr id="11" name="Picture 10" descr="A graph with blue squares&#10;&#10;AI-generated content may be incorrect.">
            <a:extLst>
              <a:ext uri="{FF2B5EF4-FFF2-40B4-BE49-F238E27FC236}">
                <a16:creationId xmlns:a16="http://schemas.microsoft.com/office/drawing/2014/main" id="{0FFCECB4-3B2A-5AFF-5D3F-A322EE1F7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516" y="2454885"/>
            <a:ext cx="4931020" cy="372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87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885E-EF80-09C3-1E59-2DFFEEA3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EDDC-4D80-3F32-945F-7DD89CAF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CB303-EFC4-50EC-86F9-04D404FFA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"the cat sat on the _____"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CCC94-A491-4BF8-0A2B-39F36B6F2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2F4B36-6719-320E-F948-117C489B2C7E}"/>
              </a:ext>
            </a:extLst>
          </p:cNvPr>
          <p:cNvSpPr txBox="1"/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i="1">
                <a:latin typeface="Palatino Linotype"/>
              </a:rPr>
              <a:t>T = 0.01</a:t>
            </a:r>
            <a:endParaRPr lang="en-US"/>
          </a:p>
        </p:txBody>
      </p:sp>
      <p:pic>
        <p:nvPicPr>
          <p:cNvPr id="8" name="Picture 7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764E49FB-7BC8-4F55-9588-FE322679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" y="2447559"/>
            <a:ext cx="4967655" cy="3729404"/>
          </a:xfrm>
          <a:prstGeom prst="rect">
            <a:avLst/>
          </a:prstGeom>
        </p:spPr>
      </p:pic>
      <p:pic>
        <p:nvPicPr>
          <p:cNvPr id="5" name="Picture 4" descr="A graph with a blue line&#10;&#10;AI-generated content may be incorrect.">
            <a:extLst>
              <a:ext uri="{FF2B5EF4-FFF2-40B4-BE49-F238E27FC236}">
                <a16:creationId xmlns:a16="http://schemas.microsoft.com/office/drawing/2014/main" id="{321AA0E8-5FA6-1946-0C21-E192588BD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199" y="2454886"/>
            <a:ext cx="4967654" cy="37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01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5F03B-0DD5-A2A8-7CA7-904603C2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B725-4910-14FC-C2FE-2DA19C55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721F7-82CC-2A09-5894-54378BBA8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"the cat sat on the _____"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07A64-A25B-FBED-5810-9C6BF895E323}"/>
              </a:ext>
            </a:extLst>
          </p:cNvPr>
          <p:cNvSpPr txBox="1"/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i="1">
                <a:latin typeface="Palatino Linotype"/>
              </a:rPr>
              <a:t>T = 1.0</a:t>
            </a:r>
            <a:endParaRPr lang="en-US"/>
          </a:p>
        </p:txBody>
      </p:sp>
      <p:pic>
        <p:nvPicPr>
          <p:cNvPr id="6" name="Picture 5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65678D64-CC39-B9C7-4CD4-C75A81D0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603" y="2454885"/>
            <a:ext cx="5128846" cy="3722078"/>
          </a:xfrm>
          <a:prstGeom prst="rect">
            <a:avLst/>
          </a:prstGeom>
        </p:spPr>
      </p:pic>
      <p:pic>
        <p:nvPicPr>
          <p:cNvPr id="11" name="Picture 10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B30A00B1-BACA-520B-C707-6A9F9B350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" y="2447559"/>
            <a:ext cx="4967655" cy="3729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9BBDE9-EB56-8839-D708-BE40B5F71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34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A276-DAA7-5C8D-0F32-951A64E7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2185-DBFA-4929-87E2-49E46085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163A6-50D0-6772-4928-96F0E5211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"the cat sat on the _____"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42B2D-DC48-A030-92A5-E746B105530A}"/>
              </a:ext>
            </a:extLst>
          </p:cNvPr>
          <p:cNvSpPr txBox="1"/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i="1">
                <a:latin typeface="Palatino Linotype"/>
              </a:rPr>
              <a:t>T = 2.0</a:t>
            </a:r>
            <a:endParaRPr lang="en-US"/>
          </a:p>
        </p:txBody>
      </p:sp>
      <p:pic>
        <p:nvPicPr>
          <p:cNvPr id="11" name="Picture 10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891AE12C-71CA-0E49-1E80-7FAA9AD7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559"/>
            <a:ext cx="4967655" cy="3729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D98DF2-F639-4813-18BF-B428A246F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pic>
        <p:nvPicPr>
          <p:cNvPr id="5" name="Picture 4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01B5B40D-4256-5A08-64E6-E22706D2F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535" y="2459814"/>
            <a:ext cx="4974981" cy="372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9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3985-A4FA-E8CE-22EB-55A7DF8D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FFC6-B775-CE44-8273-59858764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5B7B-9565-4B68-B5DE-9A3FDFCE4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"the cat sat on the _____"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5A287-DD3D-65D7-6EB7-832F6573BAFB}"/>
              </a:ext>
            </a:extLst>
          </p:cNvPr>
          <p:cNvSpPr txBox="1"/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i="1">
                <a:latin typeface="Palatino Linotype"/>
              </a:rPr>
              <a:t>T = 99.0</a:t>
            </a:r>
            <a:endParaRPr lang="en-US"/>
          </a:p>
        </p:txBody>
      </p:sp>
      <p:pic>
        <p:nvPicPr>
          <p:cNvPr id="11" name="Picture 10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34788AD9-DD7C-38DA-F333-40915633C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" y="2447559"/>
            <a:ext cx="4967655" cy="3729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6D0DDE-E827-3C57-3027-3B7F4B8EE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pic>
        <p:nvPicPr>
          <p:cNvPr id="6" name="Picture 5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3C91EC0F-1B0E-9D1B-AF37-592AE9E0B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525" y="2454885"/>
            <a:ext cx="4953001" cy="372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39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968E-1A74-2906-EE37-CEB165AB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A9CE8-C849-F2F0-8A6C-FA9E5A6F5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Softmax</a:t>
            </a:r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converts raw logits to a probability distribution</a:t>
            </a:r>
            <a:endParaRPr lang="en-US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Changing the temperature parameter alters the entropy of the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CDB22-BDB0-DFDD-EBDF-5623C378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060" y="3858546"/>
            <a:ext cx="4745880" cy="16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12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1D87-9865-8A8C-8F92-652DD737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18BD-36F0-04BC-AAC7-E105E1A21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Top-p </a:t>
            </a:r>
            <a:r>
              <a:rPr lang="en-GB" dirty="0">
                <a:solidFill>
                  <a:srgbClr val="0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The cumulative probability cutoff for token selection. Lower values mean sampling from a smaller, more top-weighted nucleus.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Top-k</a:t>
            </a: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 </a:t>
            </a:r>
            <a:r>
              <a:rPr lang="en-GB" dirty="0">
                <a:solidFill>
                  <a:srgbClr val="0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Sample from the k most likely next tokens at each step. Lower k focuses on higher probability tokens.</a:t>
            </a:r>
          </a:p>
          <a:p>
            <a:pPr marL="0" indent="0">
              <a:buNone/>
            </a:pPr>
            <a:endParaRPr lang="en-GB" dirty="0">
              <a:solidFill>
                <a:srgbClr val="0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Greedy sampling</a:t>
            </a:r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Pick the top score</a:t>
            </a:r>
            <a:endParaRPr lang="en-GB" dirty="0">
              <a:solidFill>
                <a:srgbClr val="0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 algn="ctr">
              <a:buNone/>
            </a:pPr>
            <a:r>
              <a:rPr lang="en-GB" i="1" dirty="0">
                <a:solidFill>
                  <a:srgbClr val="0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 OpenAI models, setting T = 0 essentially does greedy sampling, and top-k is not exposed</a:t>
            </a:r>
          </a:p>
        </p:txBody>
      </p:sp>
    </p:spTree>
    <p:extLst>
      <p:ext uri="{BB962C8B-B14F-4D97-AF65-F5344CB8AC3E}">
        <p14:creationId xmlns:p14="http://schemas.microsoft.com/office/powerpoint/2010/main" val="88764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5963-C496-8CE5-D25A-C6D155E09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Training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97826D-35B5-A604-C501-C1E1ACA3D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6683" y="1656859"/>
            <a:ext cx="5793211" cy="35433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0EA9FC9-87BC-9A63-0B74-AB8FC13A57B8}"/>
              </a:ext>
            </a:extLst>
          </p:cNvPr>
          <p:cNvSpPr/>
          <p:nvPr/>
        </p:nvSpPr>
        <p:spPr>
          <a:xfrm>
            <a:off x="4915587" y="2039801"/>
            <a:ext cx="1638529" cy="1387734"/>
          </a:xfrm>
          <a:prstGeom prst="rect">
            <a:avLst/>
          </a:prstGeom>
          <a:noFill/>
          <a:ln w="28575">
            <a:solidFill>
              <a:srgbClr val="1B5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8A522-D6D4-228F-753D-5F86EAC72AF8}"/>
              </a:ext>
            </a:extLst>
          </p:cNvPr>
          <p:cNvSpPr txBox="1"/>
          <p:nvPr/>
        </p:nvSpPr>
        <p:spPr>
          <a:xfrm>
            <a:off x="7650737" y="1662327"/>
            <a:ext cx="1862477" cy="1472214"/>
          </a:xfrm>
          <a:prstGeom prst="rect">
            <a:avLst/>
          </a:prstGeom>
          <a:noFill/>
          <a:ln w="28575">
            <a:solidFill>
              <a:srgbClr val="1B55EB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~200k books</a:t>
            </a:r>
          </a:p>
          <a:p>
            <a:endParaRPr lang="en-GB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~27B Tokens</a:t>
            </a:r>
          </a:p>
          <a:p>
            <a:endParaRPr lang="en-GB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~110GB</a:t>
            </a:r>
            <a:endParaRPr lang="en-GB" sz="110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F726AA-192B-73CA-879C-85934B8C8DF1}"/>
              </a:ext>
            </a:extLst>
          </p:cNvPr>
          <p:cNvSpPr txBox="1"/>
          <p:nvPr/>
        </p:nvSpPr>
        <p:spPr>
          <a:xfrm>
            <a:off x="7655850" y="3938098"/>
            <a:ext cx="1862477" cy="1477328"/>
          </a:xfrm>
          <a:prstGeom prst="rect">
            <a:avLst/>
          </a:prstGeom>
          <a:noFill/>
          <a:ln w="28575">
            <a:solidFill>
              <a:srgbClr val="1B55EB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1B55EB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Llama 3 </a:t>
            </a:r>
          </a:p>
          <a:p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~15T tokens</a:t>
            </a:r>
          </a:p>
          <a:p>
            <a:endParaRPr lang="en-GB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~44TB</a:t>
            </a:r>
            <a:endParaRPr lang="en-GB" sz="11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16CA88-010A-BB63-3F16-0D9847D70BFC}"/>
              </a:ext>
            </a:extLst>
          </p:cNvPr>
          <p:cNvCxnSpPr/>
          <p:nvPr/>
        </p:nvCxnSpPr>
        <p:spPr>
          <a:xfrm flipH="1">
            <a:off x="4911036" y="1665933"/>
            <a:ext cx="2742896" cy="370832"/>
          </a:xfrm>
          <a:prstGeom prst="straightConnector1">
            <a:avLst/>
          </a:prstGeom>
          <a:ln w="28575">
            <a:solidFill>
              <a:srgbClr val="1B5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9CAC48-B669-05FD-44CD-9873986865DD}"/>
              </a:ext>
            </a:extLst>
          </p:cNvPr>
          <p:cNvCxnSpPr>
            <a:cxnSpLocks/>
          </p:cNvCxnSpPr>
          <p:nvPr/>
        </p:nvCxnSpPr>
        <p:spPr>
          <a:xfrm flipH="1">
            <a:off x="6542431" y="3143905"/>
            <a:ext cx="2983258" cy="278779"/>
          </a:xfrm>
          <a:prstGeom prst="straightConnector1">
            <a:avLst/>
          </a:prstGeom>
          <a:ln w="28575">
            <a:solidFill>
              <a:srgbClr val="1B5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0BF267-CA41-547E-2CB0-BF00509EE461}"/>
              </a:ext>
            </a:extLst>
          </p:cNvPr>
          <p:cNvSpPr txBox="1"/>
          <p:nvPr/>
        </p:nvSpPr>
        <p:spPr>
          <a:xfrm>
            <a:off x="9870241" y="3271895"/>
            <a:ext cx="15823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i="1" dirty="0">
                <a:solidFill>
                  <a:srgbClr val="1B55EB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&lt; 0.2%!!</a:t>
            </a:r>
          </a:p>
        </p:txBody>
      </p:sp>
    </p:spTree>
    <p:extLst>
      <p:ext uri="{BB962C8B-B14F-4D97-AF65-F5344CB8AC3E}">
        <p14:creationId xmlns:p14="http://schemas.microsoft.com/office/powerpoint/2010/main" val="120674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0C37-E568-F188-BD32-F1099E31C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353801" cy="1325563"/>
          </a:xfrm>
        </p:spPr>
        <p:txBody>
          <a:bodyPr/>
          <a:lstStyle/>
          <a:p>
            <a:r>
              <a:rPr lang="en-GB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Scaling laws</a:t>
            </a:r>
          </a:p>
        </p:txBody>
      </p:sp>
      <p:pic>
        <p:nvPicPr>
          <p:cNvPr id="4" name="Picture 3" descr="A graph of a graph of a number of datasets&#10;&#10;Description automatically generated with medium confidence">
            <a:extLst>
              <a:ext uri="{FF2B5EF4-FFF2-40B4-BE49-F238E27FC236}">
                <a16:creationId xmlns:a16="http://schemas.microsoft.com/office/drawing/2014/main" id="{C727DE33-14D5-EE20-03E6-BB02440CA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038" y="1795463"/>
            <a:ext cx="7781925" cy="3267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A42D02-AE9F-1A16-D6F5-18C5E1AE2DFE}"/>
              </a:ext>
            </a:extLst>
          </p:cNvPr>
          <p:cNvSpPr txBox="1"/>
          <p:nvPr/>
        </p:nvSpPr>
        <p:spPr>
          <a:xfrm>
            <a:off x="115454" y="5449381"/>
            <a:ext cx="10607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Kaplan, J., McCandlish, S., Henighan, T., Brown, T. B., Chess, B., Child, R., Gray, S., Radford, A., Wu, J., &amp; Amodei, D. (2020).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Scaling laws for neural language models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386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showing different types of numbers&#10;&#10;Description automatically generated with medium confidence">
            <a:extLst>
              <a:ext uri="{FF2B5EF4-FFF2-40B4-BE49-F238E27FC236}">
                <a16:creationId xmlns:a16="http://schemas.microsoft.com/office/drawing/2014/main" id="{50F2EF8B-F037-5E8B-C751-B068420A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103"/>
          <a:stretch>
            <a:fillRect/>
          </a:stretch>
        </p:blipFill>
        <p:spPr>
          <a:xfrm>
            <a:off x="2950658" y="1323542"/>
            <a:ext cx="6290684" cy="42702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D8F9C-3A27-79A2-38CF-059CB0C2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Emergence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AC6F5-2A15-4033-43C1-5F56D1A7DF73}"/>
              </a:ext>
            </a:extLst>
          </p:cNvPr>
          <p:cNvSpPr txBox="1"/>
          <p:nvPr/>
        </p:nvSpPr>
        <p:spPr>
          <a:xfrm>
            <a:off x="205689" y="5593803"/>
            <a:ext cx="117806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Wei, J., Tay, Y., </a:t>
            </a:r>
            <a:r>
              <a:rPr lang="en-GB" sz="1400" dirty="0" err="1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Bommasani</a:t>
            </a:r>
            <a:r>
              <a:rPr lang="en-GB" sz="1400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R., Raffel, C., Zoph, B., Borgeaud, S., </a:t>
            </a:r>
            <a:r>
              <a:rPr lang="en-GB" sz="1400" dirty="0" err="1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Yogatama</a:t>
            </a:r>
            <a:r>
              <a:rPr lang="en-GB" sz="1400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D., Bosma, M., Zhou, D., </a:t>
            </a:r>
            <a:r>
              <a:rPr lang="en-GB" sz="1400" dirty="0" err="1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Miculivicius</a:t>
            </a:r>
            <a:r>
              <a:rPr lang="en-GB" sz="1400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D., Narang, S., </a:t>
            </a:r>
            <a:r>
              <a:rPr lang="en-GB" sz="1400" dirty="0" err="1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Chowdhery</a:t>
            </a:r>
            <a:r>
              <a:rPr lang="en-GB" sz="1400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A., Le, Q. V., &amp; Dean, J. (2022). </a:t>
            </a:r>
            <a:r>
              <a:rPr lang="en-GB" sz="1400" i="1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Emergent abilities of large language models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241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</TotalTime>
  <Words>976</Words>
  <Application>Microsoft Macintosh PowerPoint</Application>
  <PresentationFormat>Widescreen</PresentationFormat>
  <Paragraphs>339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CMU Serif Roman</vt:lpstr>
      <vt:lpstr>CMU Serif Roman</vt:lpstr>
      <vt:lpstr>Consolas</vt:lpstr>
      <vt:lpstr>Palatino Linotype</vt:lpstr>
      <vt:lpstr>Office Theme</vt:lpstr>
      <vt:lpstr>PowerPoint Presentation</vt:lpstr>
      <vt:lpstr>Output &amp; Pre-training</vt:lpstr>
      <vt:lpstr>Overview</vt:lpstr>
      <vt:lpstr>From the Last Section</vt:lpstr>
      <vt:lpstr>Neural Networks</vt:lpstr>
      <vt:lpstr>PowerPoint Presentation</vt:lpstr>
      <vt:lpstr>Neural Networks</vt:lpstr>
      <vt:lpstr>The Language Model</vt:lpstr>
      <vt:lpstr>PowerPoint Presentation</vt:lpstr>
      <vt:lpstr>The Language Model</vt:lpstr>
      <vt:lpstr>The Final Prediction</vt:lpstr>
      <vt:lpstr>The Final Operation</vt:lpstr>
      <vt:lpstr>Softmax</vt:lpstr>
      <vt:lpstr>Softmax</vt:lpstr>
      <vt:lpstr>Softmax</vt:lpstr>
      <vt:lpstr>Softmax</vt:lpstr>
      <vt:lpstr>Softmax</vt:lpstr>
      <vt:lpstr>Softmax</vt:lpstr>
      <vt:lpstr>Softmax</vt:lpstr>
      <vt:lpstr>Softmax</vt:lpstr>
      <vt:lpstr>Softmax</vt:lpstr>
      <vt:lpstr>Softmax</vt:lpstr>
      <vt:lpstr>Softmax</vt:lpstr>
      <vt:lpstr>Sampling</vt:lpstr>
      <vt:lpstr>Training data</vt:lpstr>
      <vt:lpstr>Scaling laws</vt:lpstr>
      <vt:lpstr>Emergence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Finley Griffin</cp:lastModifiedBy>
  <cp:revision>135</cp:revision>
  <dcterms:created xsi:type="dcterms:W3CDTF">2025-07-29T08:44:33Z</dcterms:created>
  <dcterms:modified xsi:type="dcterms:W3CDTF">2026-05-15T13:35:03Z</dcterms:modified>
</cp:coreProperties>
</file>