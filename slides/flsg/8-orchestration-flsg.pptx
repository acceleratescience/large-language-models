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93" r:id="rId7"/>
    <p:sldId id="294" r:id="rId8"/>
    <p:sldId id="286" r:id="rId9"/>
    <p:sldId id="277" r:id="rId10"/>
    <p:sldId id="287" r:id="rId11"/>
    <p:sldId id="288" r:id="rId12"/>
    <p:sldId id="289" r:id="rId13"/>
    <p:sldId id="290" r:id="rId14"/>
    <p:sldId id="29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77821"/>
  </p:normalViewPr>
  <p:slideViewPr>
    <p:cSldViewPr snapToGrid="0">
      <p:cViewPr varScale="1">
        <p:scale>
          <a:sx n="103" d="100"/>
          <a:sy n="103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7C4D1-EC7E-0840-85AA-55DF372C01FB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06CDB-AC11-B347-A8D6-730584B10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86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Illusion of both short term and long term memory.</a:t>
            </a:r>
          </a:p>
          <a:p>
            <a:endParaRPr lang="en-US" dirty="0"/>
          </a:p>
          <a:p>
            <a:r>
              <a:rPr lang="en-US" dirty="0"/>
              <a:t>Short term = the conversation you’re currently having with the model</a:t>
            </a:r>
          </a:p>
          <a:p>
            <a:endParaRPr lang="en-US" dirty="0"/>
          </a:p>
          <a:p>
            <a:r>
              <a:rPr lang="en-US" dirty="0"/>
              <a:t>Long term = something you told the model a while ago in a different chat</a:t>
            </a:r>
          </a:p>
          <a:p>
            <a:endParaRPr lang="en-US" dirty="0"/>
          </a:p>
          <a:p>
            <a:r>
              <a:rPr lang="en-US" dirty="0"/>
              <a:t>LLMs are stateless</a:t>
            </a:r>
          </a:p>
          <a:p>
            <a:endParaRPr lang="en-US" dirty="0"/>
          </a:p>
          <a:p>
            <a:r>
              <a:rPr lang="en-US" dirty="0"/>
              <a:t>A state meaning </a:t>
            </a:r>
            <a:r>
              <a:rPr lang="en-GB" dirty="0"/>
              <a:t>the information a system retains about past interactions that influences how it responds in the future.</a:t>
            </a:r>
          </a:p>
          <a:p>
            <a:endParaRPr lang="en-GB" dirty="0"/>
          </a:p>
          <a:p>
            <a:r>
              <a:rPr lang="en-GB" dirty="0"/>
              <a:t>So an LLM being stateless means it has no information.</a:t>
            </a:r>
          </a:p>
          <a:p>
            <a:endParaRPr lang="en-GB" dirty="0"/>
          </a:p>
          <a:p>
            <a:r>
              <a:rPr lang="en-GB" b="0" dirty="0"/>
              <a:t>Stateful; </a:t>
            </a:r>
            <a:r>
              <a:rPr lang="en-GB" dirty="0"/>
              <a:t>like a GP who has your notes. Every appointment is informed by your history. </a:t>
            </a:r>
            <a:r>
              <a:rPr lang="en-GB" b="0" dirty="0"/>
              <a:t>Stateless; </a:t>
            </a:r>
            <a:r>
              <a:rPr lang="en-GB" dirty="0"/>
              <a:t>like calling 111. Every call starts from scratch. They have no record of you.</a:t>
            </a:r>
          </a:p>
          <a:p>
            <a:endParaRPr lang="en-GB" dirty="0"/>
          </a:p>
          <a:p>
            <a:r>
              <a:rPr lang="en-GB" dirty="0"/>
              <a:t>So it’s a SWE’s job to manage a session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6CDB-AC11-B347-A8D6-730584B108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6CDB-AC11-B347-A8D6-730584B108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5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06756b4ba_0_2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06756b4ba_0_2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06CDB-AC11-B347-A8D6-730584B108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1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C3831-4500-6630-D513-CD5BDBE08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01C72-50EE-806D-41D7-7BE30E4F6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42A01-2338-627C-9E43-3F4B0CA7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61BBD-7836-8D25-F0E3-7B0C4052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D4A3-E8E4-EFDE-70FA-0D7444A24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0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3936-5B25-1AEF-C371-CD7EA504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84563-F08C-AA60-9161-FFD6A6EBA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9C5E4E-600D-B32C-4C79-7784AF85B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C4CD-C5EF-A36E-45E5-8FAA44FEE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49AAA-1DEE-1A4F-4ACF-BEDCD2E9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5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EEE7-29B6-2415-1494-03562CF0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3CADD-145F-8231-8538-A45B28481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5617-BC6B-FA66-8660-CF37F382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5F65C-04F9-0BEE-1ED6-84C73B0D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D4846-A5E1-958C-72F7-55F50A25F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0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F1D4A-0425-45EE-1B64-ACB74B6D1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AD723-CE42-1E19-6FF5-8CBBAEC296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31FB28-0C32-E1DA-3935-85E91FB9A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EEA09-38C7-E4A2-C8E2-E2B58C2C1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516CE-C4DC-D939-8B47-CA03BC38D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79167-EA0F-0505-6822-9B5C986A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0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6AA9-8758-26B4-3A3D-6524D67E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847D0-58B1-EE9C-B3C5-EBCC091BE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38024-B7A6-CAE5-2999-66C0BBE51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BEA47-24E7-45F9-2F84-8B3CC083A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548DC-3343-7631-3D07-73B319209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18AE2-B221-0893-B585-E25C1B7D3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9C125-8B36-38A7-5D36-D0AD09B1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AA6700-A246-D34C-686D-90BAF7C0D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6711-400C-A451-17FF-C23CC478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9DBFE3-C870-A2B3-C5D0-7FA494C5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43AD8-1487-D23B-4810-9FFC0FB9D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0753C-229C-73AD-7C31-718960D5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1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559C2B-2738-03C6-4BA9-DDC567D61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89D4FB-82D9-CAF4-E55D-C636BFE9C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75999-2AED-2217-E23A-A0454BC4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7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DE55-D28B-DF53-3EC9-84C996AC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2894-EC2D-9563-EF6D-24552E078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B7E5D-9ABB-D2DD-7D4F-C2277E8D2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D8A04-3A25-C232-D357-61153DA6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5A740-56BA-17AA-ED7B-CEA0454E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5D4D9-71E5-8F68-7265-8775C381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52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D668-5D77-F411-7B08-60C9DC94B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15D5DB-0778-96F8-F932-09A01A222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BC90D-73C7-82A9-E5BD-D37B120F4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77E8E-D5FC-1C0A-79B2-11857561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69274-FFBA-4AF4-08E6-A416A485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4F055-CAB9-77D3-F33C-62084B94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0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3073-0459-4891-CE59-5E41A1B1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E96A3-1E8D-58D6-CC0B-4865091C9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69FE9-9FE5-8DC7-BCA4-DEEABF8E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556A-8B5C-63D4-317C-88824C33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F9E2B-CE28-76F2-0C8D-9E4301D4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BFB563-C024-C355-A206-EA380787E8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F3671-7A09-47A2-7F3C-31DDE2BEA5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A984B-DB2B-9897-D814-CE992B82B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B037F-F08B-1858-89A3-ACF420A8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97D1E-B92A-34DB-FBBB-57EED9E4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12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15600" y="390467"/>
            <a:ext cx="113608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15600" y="1638233"/>
            <a:ext cx="11360800" cy="4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259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800A75-ED5F-F7D0-F728-CB438FBFA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7680-03C9-C6C1-A55A-EA0E60706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29D75-1B9E-6D6B-4C20-EA657F6C7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DA55C-5AC5-804A-B675-3F4F94BCFF92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312AD-B475-8380-A13E-22BFE6D7A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D4CB1-CCF5-153B-2DDF-28B4A8036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54821-B385-0647-A9E4-46A0327F97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92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6C62F-3E45-8105-5951-516369734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pPr algn="l"/>
            <a:r>
              <a:rPr lang="en-US" dirty="0"/>
              <a:t>Orchestration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E31E9D-AA89-3EC0-DC26-E036989C2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Interaction and augmentation</a:t>
            </a:r>
          </a:p>
        </p:txBody>
      </p:sp>
      <p:pic>
        <p:nvPicPr>
          <p:cNvPr id="5" name="Picture 4" descr="A cartoon of a llama wearing a cape and mask&#10;&#10;AI-generated content may be incorrect.">
            <a:extLst>
              <a:ext uri="{FF2B5EF4-FFF2-40B4-BE49-F238E27FC236}">
                <a16:creationId xmlns:a16="http://schemas.microsoft.com/office/drawing/2014/main" id="{B05BB3E7-6007-EBC2-9588-2BE4A59D2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041" y="3204845"/>
            <a:ext cx="23241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32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A67D33-5803-DCC0-834B-3CAED38E1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The illusion of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2D049D-C125-2E83-7DA7-A1F5809F1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88" y="1393825"/>
            <a:ext cx="9820275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9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D97C36-A09F-43D1-ECB8-6285E41B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How do we manage session state?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8E50F1-F66F-E2A4-3F67-7771E55F8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400">
                <a:latin typeface="Aptos"/>
                <a:ea typeface="Source Code Pro"/>
              </a:rPr>
              <a:t>LLMs have distinct input and output patterns...</a:t>
            </a:r>
            <a:endParaRPr lang="en-US" sz="2400">
              <a:latin typeface="Aptos"/>
            </a:endParaRPr>
          </a:p>
          <a:p>
            <a:pPr>
              <a:buNone/>
            </a:pPr>
            <a:endParaRPr lang="en-GB" sz="2200">
              <a:solidFill>
                <a:srgbClr val="666666"/>
              </a:solidFill>
              <a:latin typeface="Source Code Pro"/>
              <a:ea typeface="Source Code Pro"/>
            </a:endParaRPr>
          </a:p>
          <a:p>
            <a:pPr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endParaRPr lang="en-GB" sz="2200"/>
          </a:p>
          <a:p>
            <a:pPr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endParaRPr lang="en-GB" sz="2200"/>
          </a:p>
          <a:p>
            <a:pPr marL="0" indent="0">
              <a:buNone/>
            </a:pPr>
            <a:r>
              <a:rPr lang="en-GB" sz="220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</a:p>
          <a:p>
            <a:pPr marL="0" indent="0">
              <a:buNone/>
            </a:pPr>
            <a:endParaRPr lang="en-GB" sz="2200">
              <a:solidFill>
                <a:srgbClr val="9325A5"/>
              </a:solidFill>
              <a:latin typeface="Source Code Pro"/>
              <a:ea typeface="Source Code Pro"/>
            </a:endParaRPr>
          </a:p>
          <a:p>
            <a:pPr marL="0" indent="0">
              <a:buNone/>
            </a:pPr>
            <a:r>
              <a:rPr lang="en-GB" sz="2200">
                <a:latin typeface="Aptos"/>
                <a:ea typeface="Source Code Pro"/>
              </a:rPr>
              <a:t>Almost all LLMs follow this pattern...</a:t>
            </a:r>
          </a:p>
          <a:p>
            <a:pPr marL="0" indent="0">
              <a:buNone/>
            </a:pPr>
            <a:endParaRPr lang="en-GB" sz="2200">
              <a:latin typeface="Aptos"/>
              <a:ea typeface="Source Code Pro"/>
            </a:endParaRPr>
          </a:p>
          <a:p>
            <a:pPr marL="0" indent="0">
              <a:buNone/>
            </a:pPr>
            <a:r>
              <a:rPr lang="en-GB" sz="2200">
                <a:latin typeface="Aptos"/>
                <a:ea typeface="Source Code Pro"/>
              </a:rPr>
              <a:t>...break this pattern, and you'll soon see the model produce nonsense.</a:t>
            </a:r>
          </a:p>
        </p:txBody>
      </p:sp>
    </p:spTree>
    <p:extLst>
      <p:ext uri="{BB962C8B-B14F-4D97-AF65-F5344CB8AC3E}">
        <p14:creationId xmlns:p14="http://schemas.microsoft.com/office/powerpoint/2010/main" val="32454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1029AE-91A6-7430-A1BB-2BE6FB9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How do we manage session state?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E4A177-82FE-5F3D-FEC1-B7F21C23F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endParaRPr lang="en-GB" sz="2200" dirty="0"/>
          </a:p>
          <a:p>
            <a:pPr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endParaRPr lang="en-GB" sz="2200" dirty="0"/>
          </a:p>
          <a:p>
            <a:pPr marL="0" indent="0"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“Is this the only way to make them?”</a:t>
            </a:r>
            <a:endParaRPr lang="en-GB" dirty="0"/>
          </a:p>
          <a:p>
            <a:pPr marL="0" indent="0"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“Actually no! There are two common ways to …”</a:t>
            </a:r>
            <a:endParaRPr lang="en-GB" dirty="0"/>
          </a:p>
          <a:p>
            <a:pPr marL="0" indent="0"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“I think I'll try the Italian method first.”</a:t>
            </a:r>
            <a:endParaRPr lang="en-GB" dirty="0"/>
          </a:p>
          <a:p>
            <a:pPr marL="0" indent="0">
              <a:buNone/>
            </a:pPr>
            <a:r>
              <a:rPr lang="en-GB" sz="2200" dirty="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22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200" dirty="0">
                <a:solidFill>
                  <a:srgbClr val="9325A5"/>
                </a:solidFill>
                <a:latin typeface="Source Code Pro"/>
                <a:ea typeface="Source Code Pro"/>
              </a:rPr>
              <a:t>“What an insightful idea! Let's get started …”</a:t>
            </a:r>
            <a:endParaRPr lang="en-GB" dirty="0"/>
          </a:p>
          <a:p>
            <a:pPr marL="0" indent="0">
              <a:buNone/>
            </a:pPr>
            <a:endParaRPr lang="en-GB" sz="2200" dirty="0">
              <a:latin typeface="Aptos"/>
              <a:ea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36769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362E06-4608-AFA9-06FE-05BB1EBD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/>
              <a:t>How do we manage session state?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A5AE40-6FE2-E859-11D4-4037264D0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session_state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 = [</a:t>
            </a:r>
          </a:p>
          <a:p>
            <a:pPr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‘system’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“Is this the only way to make them?”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“Actually no! There are two common ways to …”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/>
              <a:ea typeface="Source Code Pro"/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‘user’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“I think I'll try the Italian method first.”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rgbClr val="0B7743"/>
                </a:solidFill>
                <a:latin typeface="Source Code Pro"/>
                <a:ea typeface="Source Code Pro"/>
              </a:rPr>
              <a:t>    ‘assistant’</a:t>
            </a:r>
            <a:r>
              <a:rPr lang="en-GB" sz="20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2000" dirty="0">
                <a:solidFill>
                  <a:srgbClr val="9325A5"/>
                </a:solidFill>
                <a:latin typeface="Source Code Pro"/>
                <a:ea typeface="Source Code Pro"/>
              </a:rPr>
              <a:t>“What an insightful idea! Let's get started …”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Source Code Pro"/>
                <a:ea typeface="Source Code Pro"/>
              </a:rPr>
              <a:t>,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Source Code Pro"/>
              </a:rPr>
              <a:t>             …</a:t>
            </a: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  <a:latin typeface="Source Code Pro"/>
              <a:ea typeface="Source Code Pro"/>
            </a:endParaRP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Source Code Pro"/>
              </a:rPr>
              <a:t>]</a:t>
            </a:r>
          </a:p>
          <a:p>
            <a:pPr marL="0" indent="0">
              <a:buNone/>
            </a:pPr>
            <a:endParaRPr lang="en-GB" sz="2200" dirty="0">
              <a:latin typeface="Aptos"/>
              <a:ea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45654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694F5-3DF7-8763-1C92-8C5D4FAC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Retrieval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2436E-9097-316C-AE3B-BAE2E3CA1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GB" sz="1800" dirty="0">
              <a:solidFill>
                <a:srgbClr val="0B7743"/>
              </a:solidFill>
              <a:latin typeface="Source Code Pro"/>
              <a:ea typeface="Source Code Pro"/>
            </a:endParaRPr>
          </a:p>
          <a:p>
            <a:pPr>
              <a:buNone/>
            </a:pPr>
            <a:endParaRPr lang="en-GB" sz="1800" dirty="0">
              <a:solidFill>
                <a:srgbClr val="0B7743"/>
              </a:solidFill>
              <a:latin typeface="Source Code Pro"/>
              <a:ea typeface="Source Code Pro"/>
            </a:endParaRPr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endParaRPr lang="en-GB"/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endParaRPr lang="en-GB"/>
          </a:p>
          <a:p>
            <a:pPr marL="0" indent="0"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4625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B46B5-8E8C-80F3-DDCD-01839778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C09F-7785-7CF4-A2CD-610FEBF03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Retrieval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BC4D8-8DCE-0F46-D95A-92A4BFCEA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GB" sz="1800" dirty="0">
              <a:solidFill>
                <a:srgbClr val="0B7743"/>
              </a:solidFill>
              <a:latin typeface="Source Code Pro"/>
              <a:ea typeface="Source Code Pro"/>
            </a:endParaRPr>
          </a:p>
          <a:p>
            <a:pPr>
              <a:buNone/>
            </a:pPr>
            <a:endParaRPr lang="en-GB" sz="1800" dirty="0">
              <a:solidFill>
                <a:srgbClr val="0B7743"/>
              </a:solidFill>
              <a:latin typeface="Source Code Pro"/>
              <a:ea typeface="Source Code Pro"/>
            </a:endParaRPr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    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  <a:endParaRPr lang="en-GB"/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‘knowledge’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 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“Recipe 1, Recipe 2, … Recipe 1000”</a:t>
            </a:r>
            <a:endParaRPr lang="en-GB" dirty="0"/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      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  <a:endParaRPr lang="en-GB"/>
          </a:p>
          <a:p>
            <a:pPr marL="0" indent="0"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 : </a:t>
            </a: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0834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6A0E-A2E0-97D3-91DC-A3F6BB85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6C9448F-C867-8A29-B3F7-1D1BF3E5705D}"/>
              </a:ext>
            </a:extLst>
          </p:cNvPr>
          <p:cNvSpPr/>
          <p:nvPr/>
        </p:nvSpPr>
        <p:spPr>
          <a:xfrm rot="1680000">
            <a:off x="8014413" y="4438111"/>
            <a:ext cx="723893" cy="1120287"/>
          </a:xfrm>
          <a:custGeom>
            <a:avLst/>
            <a:gdLst>
              <a:gd name="csX0" fmla="*/ 0 w 723893"/>
              <a:gd name="csY0" fmla="*/ 560144 h 1120287"/>
              <a:gd name="csX1" fmla="*/ 361947 w 723893"/>
              <a:gd name="csY1" fmla="*/ 0 h 1120287"/>
              <a:gd name="csX2" fmla="*/ 723894 w 723893"/>
              <a:gd name="csY2" fmla="*/ 560144 h 1120287"/>
              <a:gd name="csX3" fmla="*/ 361947 w 723893"/>
              <a:gd name="csY3" fmla="*/ 1120288 h 1120287"/>
              <a:gd name="csX4" fmla="*/ 0 w 723893"/>
              <a:gd name="csY4" fmla="*/ 560144 h 1120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23893" h="1120287" fill="none" extrusionOk="0">
                <a:moveTo>
                  <a:pt x="0" y="560144"/>
                </a:moveTo>
                <a:cubicBezTo>
                  <a:pt x="-4275" y="218006"/>
                  <a:pt x="161241" y="6306"/>
                  <a:pt x="361947" y="0"/>
                </a:cubicBezTo>
                <a:cubicBezTo>
                  <a:pt x="545784" y="-28608"/>
                  <a:pt x="747236" y="289015"/>
                  <a:pt x="723894" y="560144"/>
                </a:cubicBezTo>
                <a:cubicBezTo>
                  <a:pt x="742226" y="903357"/>
                  <a:pt x="557931" y="1110911"/>
                  <a:pt x="361947" y="1120288"/>
                </a:cubicBezTo>
                <a:cubicBezTo>
                  <a:pt x="135482" y="1116640"/>
                  <a:pt x="-30271" y="877625"/>
                  <a:pt x="0" y="560144"/>
                </a:cubicBezTo>
                <a:close/>
              </a:path>
              <a:path w="723893" h="1120287" stroke="0" extrusionOk="0">
                <a:moveTo>
                  <a:pt x="0" y="560144"/>
                </a:moveTo>
                <a:cubicBezTo>
                  <a:pt x="-1766" y="230629"/>
                  <a:pt x="125361" y="-31262"/>
                  <a:pt x="361947" y="0"/>
                </a:cubicBezTo>
                <a:cubicBezTo>
                  <a:pt x="567197" y="-19255"/>
                  <a:pt x="706624" y="228558"/>
                  <a:pt x="723894" y="560144"/>
                </a:cubicBezTo>
                <a:cubicBezTo>
                  <a:pt x="715492" y="892647"/>
                  <a:pt x="600618" y="1110536"/>
                  <a:pt x="361947" y="1120288"/>
                </a:cubicBezTo>
                <a:cubicBezTo>
                  <a:pt x="202916" y="1070941"/>
                  <a:pt x="-30498" y="849575"/>
                  <a:pt x="0" y="56014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C0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72600548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74D062-1FE6-92DF-D3BD-E6ECC325FD79}"/>
              </a:ext>
            </a:extLst>
          </p:cNvPr>
          <p:cNvSpPr/>
          <p:nvPr/>
        </p:nvSpPr>
        <p:spPr>
          <a:xfrm rot="-2040000">
            <a:off x="7249675" y="2714395"/>
            <a:ext cx="670289" cy="1432288"/>
          </a:xfrm>
          <a:custGeom>
            <a:avLst/>
            <a:gdLst>
              <a:gd name="csX0" fmla="*/ 0 w 670289"/>
              <a:gd name="csY0" fmla="*/ 716144 h 1432288"/>
              <a:gd name="csX1" fmla="*/ 335145 w 670289"/>
              <a:gd name="csY1" fmla="*/ 0 h 1432288"/>
              <a:gd name="csX2" fmla="*/ 670290 w 670289"/>
              <a:gd name="csY2" fmla="*/ 716144 h 1432288"/>
              <a:gd name="csX3" fmla="*/ 335145 w 670289"/>
              <a:gd name="csY3" fmla="*/ 1432288 h 1432288"/>
              <a:gd name="csX4" fmla="*/ 0 w 670289"/>
              <a:gd name="csY4" fmla="*/ 716144 h 1432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70289" h="1432288" fill="none" extrusionOk="0">
                <a:moveTo>
                  <a:pt x="0" y="716144"/>
                </a:moveTo>
                <a:cubicBezTo>
                  <a:pt x="-4909" y="282989"/>
                  <a:pt x="149451" y="4671"/>
                  <a:pt x="335145" y="0"/>
                </a:cubicBezTo>
                <a:cubicBezTo>
                  <a:pt x="479156" y="-73179"/>
                  <a:pt x="715206" y="394194"/>
                  <a:pt x="670290" y="716144"/>
                </a:cubicBezTo>
                <a:cubicBezTo>
                  <a:pt x="676417" y="1122974"/>
                  <a:pt x="509915" y="1407553"/>
                  <a:pt x="335145" y="1432288"/>
                </a:cubicBezTo>
                <a:cubicBezTo>
                  <a:pt x="137397" y="1430551"/>
                  <a:pt x="-44516" y="1123603"/>
                  <a:pt x="0" y="716144"/>
                </a:cubicBezTo>
                <a:close/>
              </a:path>
              <a:path w="670289" h="1432288" stroke="0" extrusionOk="0">
                <a:moveTo>
                  <a:pt x="0" y="716144"/>
                </a:moveTo>
                <a:cubicBezTo>
                  <a:pt x="-1593" y="302446"/>
                  <a:pt x="130692" y="-16495"/>
                  <a:pt x="335145" y="0"/>
                </a:cubicBezTo>
                <a:cubicBezTo>
                  <a:pt x="536846" y="-59747"/>
                  <a:pt x="621202" y="257453"/>
                  <a:pt x="670290" y="716144"/>
                </a:cubicBezTo>
                <a:cubicBezTo>
                  <a:pt x="657248" y="1147583"/>
                  <a:pt x="535028" y="1428569"/>
                  <a:pt x="335145" y="1432288"/>
                </a:cubicBezTo>
                <a:cubicBezTo>
                  <a:pt x="177178" y="1399531"/>
                  <a:pt x="-42805" y="1083690"/>
                  <a:pt x="0" y="716144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28575">
            <a:prstDash val="dash"/>
            <a:extLst>
              <a:ext uri="{C807C97D-BFC1-408E-A445-0C87EB9F89A2}">
                <ask:lineSketchStyleProps xmlns:ask="http://schemas.microsoft.com/office/drawing/2018/sketchyshapes" sd="72600548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F1E60-03A5-E1A8-FBAA-FC421382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A9FBE-45F7-53A0-E885-B88F84416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863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Wouldn't it be nice if we vectorize our recipes...?</a:t>
            </a:r>
          </a:p>
        </p:txBody>
      </p:sp>
      <p:cxnSp>
        <p:nvCxnSpPr>
          <p:cNvPr id="8" name="Google Shape;103;p16">
            <a:extLst>
              <a:ext uri="{FF2B5EF4-FFF2-40B4-BE49-F238E27FC236}">
                <a16:creationId xmlns:a16="http://schemas.microsoft.com/office/drawing/2014/main" id="{D18BF232-B32E-9CC0-1082-6F54661EF8B8}"/>
              </a:ext>
            </a:extLst>
          </p:cNvPr>
          <p:cNvCxnSpPr/>
          <p:nvPr/>
        </p:nvCxnSpPr>
        <p:spPr>
          <a:xfrm rot="10800000">
            <a:off x="6558676" y="1309400"/>
            <a:ext cx="0" cy="4422426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Google Shape;105;p16">
            <a:extLst>
              <a:ext uri="{FF2B5EF4-FFF2-40B4-BE49-F238E27FC236}">
                <a16:creationId xmlns:a16="http://schemas.microsoft.com/office/drawing/2014/main" id="{D48CA7B3-2A6C-3070-F1A7-2FB90B311B4B}"/>
              </a:ext>
            </a:extLst>
          </p:cNvPr>
          <p:cNvSpPr txBox="1"/>
          <p:nvPr/>
        </p:nvSpPr>
        <p:spPr>
          <a:xfrm>
            <a:off x="11011276" y="5548849"/>
            <a:ext cx="314700" cy="27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>
                <a:solidFill>
                  <a:schemeClr val="dk2"/>
                </a:solidFill>
                <a:latin typeface="Constantia"/>
                <a:ea typeface="Roboto Serif"/>
                <a:cs typeface="Roboto Serif"/>
                <a:sym typeface="Roboto Serif"/>
              </a:rPr>
              <a:t>x</a:t>
            </a:r>
            <a:endParaRPr sz="2400" i="1">
              <a:solidFill>
                <a:schemeClr val="dk2"/>
              </a:solidFill>
              <a:latin typeface="Constantia"/>
              <a:ea typeface="Roboto Serif"/>
              <a:cs typeface="Roboto Serif"/>
              <a:sym typeface="Roboto Serif"/>
            </a:endParaRPr>
          </a:p>
        </p:txBody>
      </p:sp>
      <p:sp>
        <p:nvSpPr>
          <p:cNvPr id="10" name="Google Shape;106;p16">
            <a:extLst>
              <a:ext uri="{FF2B5EF4-FFF2-40B4-BE49-F238E27FC236}">
                <a16:creationId xmlns:a16="http://schemas.microsoft.com/office/drawing/2014/main" id="{CD9A5DDD-0853-A42E-9CF0-D80BFAC0A201}"/>
              </a:ext>
            </a:extLst>
          </p:cNvPr>
          <p:cNvSpPr txBox="1"/>
          <p:nvPr/>
        </p:nvSpPr>
        <p:spPr>
          <a:xfrm>
            <a:off x="6093083" y="1034972"/>
            <a:ext cx="314700" cy="274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i="1">
                <a:solidFill>
                  <a:schemeClr val="dk2"/>
                </a:solidFill>
                <a:latin typeface="Constantia"/>
                <a:ea typeface="Roboto Serif"/>
                <a:cs typeface="Roboto Serif"/>
                <a:sym typeface="Roboto Serif"/>
              </a:rPr>
              <a:t>y</a:t>
            </a:r>
            <a:endParaRPr sz="2400" i="1">
              <a:solidFill>
                <a:schemeClr val="dk2"/>
              </a:solidFill>
              <a:latin typeface="Constantia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1" name="Google Shape;107;p16">
            <a:extLst>
              <a:ext uri="{FF2B5EF4-FFF2-40B4-BE49-F238E27FC236}">
                <a16:creationId xmlns:a16="http://schemas.microsoft.com/office/drawing/2014/main" id="{B44A7692-78D6-2188-F80A-265BF0C75BF3}"/>
              </a:ext>
            </a:extLst>
          </p:cNvPr>
          <p:cNvCxnSpPr/>
          <p:nvPr/>
        </p:nvCxnSpPr>
        <p:spPr>
          <a:xfrm rot="10800000" flipH="1">
            <a:off x="6558676" y="3749451"/>
            <a:ext cx="1412700" cy="198237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108;p16">
            <a:extLst>
              <a:ext uri="{FF2B5EF4-FFF2-40B4-BE49-F238E27FC236}">
                <a16:creationId xmlns:a16="http://schemas.microsoft.com/office/drawing/2014/main" id="{F88CD167-94C8-49E3-0301-F340C14D3E46}"/>
              </a:ext>
            </a:extLst>
          </p:cNvPr>
          <p:cNvCxnSpPr/>
          <p:nvPr/>
        </p:nvCxnSpPr>
        <p:spPr>
          <a:xfrm rot="10800000" flipH="1">
            <a:off x="6558676" y="4733041"/>
            <a:ext cx="2164800" cy="998785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109;p16">
            <a:extLst>
              <a:ext uri="{FF2B5EF4-FFF2-40B4-BE49-F238E27FC236}">
                <a16:creationId xmlns:a16="http://schemas.microsoft.com/office/drawing/2014/main" id="{246852EB-8D2A-EE56-D709-8F27103EEBEF}"/>
              </a:ext>
            </a:extLst>
          </p:cNvPr>
          <p:cNvSpPr txBox="1"/>
          <p:nvPr/>
        </p:nvSpPr>
        <p:spPr>
          <a:xfrm>
            <a:off x="7987826" y="3432907"/>
            <a:ext cx="2355122" cy="54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i="1" dirty="0">
                <a:solidFill>
                  <a:schemeClr val="accent1"/>
                </a:solidFill>
                <a:latin typeface="Constantia"/>
                <a:ea typeface="Roboto Serif"/>
                <a:cs typeface="Roboto Serif"/>
                <a:sym typeface="Roboto Serif"/>
              </a:rPr>
              <a:t>French macaron</a:t>
            </a:r>
            <a:endParaRPr lang="en-GB" sz="2400" dirty="0">
              <a:solidFill>
                <a:schemeClr val="accent1"/>
              </a:solidFill>
              <a:latin typeface="Constantia"/>
              <a:ea typeface="Roboto Serif"/>
              <a:cs typeface="Roboto Serif"/>
            </a:endParaRPr>
          </a:p>
        </p:txBody>
      </p:sp>
      <p:sp>
        <p:nvSpPr>
          <p:cNvPr id="14" name="Google Shape;110;p16">
            <a:extLst>
              <a:ext uri="{FF2B5EF4-FFF2-40B4-BE49-F238E27FC236}">
                <a16:creationId xmlns:a16="http://schemas.microsoft.com/office/drawing/2014/main" id="{57B90F29-AED9-3218-795E-537CD90AC971}"/>
              </a:ext>
            </a:extLst>
          </p:cNvPr>
          <p:cNvSpPr txBox="1"/>
          <p:nvPr/>
        </p:nvSpPr>
        <p:spPr>
          <a:xfrm>
            <a:off x="8724409" y="4425227"/>
            <a:ext cx="3248488" cy="44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i="1" dirty="0">
                <a:solidFill>
                  <a:srgbClr val="980000"/>
                </a:solidFill>
                <a:latin typeface="Constantia"/>
                <a:ea typeface="Roboto Serif"/>
                <a:cs typeface="Roboto Serif"/>
                <a:sym typeface="Roboto Serif"/>
              </a:rPr>
              <a:t>apple pie</a:t>
            </a:r>
            <a:endParaRPr lang="en-GB" sz="2400" dirty="0">
              <a:solidFill>
                <a:srgbClr val="980000"/>
              </a:solidFill>
              <a:latin typeface="Constantia"/>
              <a:ea typeface="Roboto Serif"/>
              <a:cs typeface="Roboto Serif"/>
            </a:endParaRPr>
          </a:p>
        </p:txBody>
      </p:sp>
      <p:cxnSp>
        <p:nvCxnSpPr>
          <p:cNvPr id="23" name="Google Shape;55;p13">
            <a:extLst>
              <a:ext uri="{FF2B5EF4-FFF2-40B4-BE49-F238E27FC236}">
                <a16:creationId xmlns:a16="http://schemas.microsoft.com/office/drawing/2014/main" id="{1A03887B-DC57-B954-059E-784A1B19A718}"/>
              </a:ext>
            </a:extLst>
          </p:cNvPr>
          <p:cNvCxnSpPr/>
          <p:nvPr/>
        </p:nvCxnSpPr>
        <p:spPr>
          <a:xfrm flipV="1">
            <a:off x="6546601" y="5729629"/>
            <a:ext cx="4533898" cy="439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B5F659-D94B-DAFA-9574-B1AAE0E9D1E6}"/>
              </a:ext>
            </a:extLst>
          </p:cNvPr>
          <p:cNvSpPr txBox="1"/>
          <p:nvPr/>
        </p:nvSpPr>
        <p:spPr>
          <a:xfrm>
            <a:off x="7530192" y="2596242"/>
            <a:ext cx="31228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Comic Sans MS"/>
              </a:rPr>
              <a:t>almond-based deserts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2AFF85-DB34-785E-C44E-5D92A6C40068}"/>
              </a:ext>
            </a:extLst>
          </p:cNvPr>
          <p:cNvSpPr txBox="1"/>
          <p:nvPr/>
        </p:nvSpPr>
        <p:spPr>
          <a:xfrm>
            <a:off x="8573323" y="5294070"/>
            <a:ext cx="29187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Comic Sans MS"/>
              </a:rPr>
              <a:t>apple-based deserts</a:t>
            </a:r>
            <a:endParaRPr lang="en-US" dirty="0">
              <a:latin typeface="Comic Sans MS"/>
            </a:endParaRPr>
          </a:p>
        </p:txBody>
      </p:sp>
      <p:cxnSp>
        <p:nvCxnSpPr>
          <p:cNvPr id="27" name="Google Shape;79;p14">
            <a:extLst>
              <a:ext uri="{FF2B5EF4-FFF2-40B4-BE49-F238E27FC236}">
                <a16:creationId xmlns:a16="http://schemas.microsoft.com/office/drawing/2014/main" id="{F147015C-DF63-5286-B5AD-519586E406EA}"/>
              </a:ext>
            </a:extLst>
          </p:cNvPr>
          <p:cNvCxnSpPr/>
          <p:nvPr/>
        </p:nvCxnSpPr>
        <p:spPr>
          <a:xfrm flipV="1">
            <a:off x="6579303" y="3698660"/>
            <a:ext cx="1304550" cy="2014874"/>
          </a:xfrm>
          <a:prstGeom prst="straightConnector1">
            <a:avLst/>
          </a:prstGeom>
          <a:noFill/>
          <a:ln w="5715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07;p16">
            <a:extLst>
              <a:ext uri="{FF2B5EF4-FFF2-40B4-BE49-F238E27FC236}">
                <a16:creationId xmlns:a16="http://schemas.microsoft.com/office/drawing/2014/main" id="{F04E060A-4BED-EA3E-AF36-D6BEFBF6C8D6}"/>
              </a:ext>
            </a:extLst>
          </p:cNvPr>
          <p:cNvCxnSpPr/>
          <p:nvPr/>
        </p:nvCxnSpPr>
        <p:spPr>
          <a:xfrm flipV="1">
            <a:off x="6555420" y="3502728"/>
            <a:ext cx="1330150" cy="2217325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09;p16">
            <a:extLst>
              <a:ext uri="{FF2B5EF4-FFF2-40B4-BE49-F238E27FC236}">
                <a16:creationId xmlns:a16="http://schemas.microsoft.com/office/drawing/2014/main" id="{5D528281-797E-E91A-D3AA-929C708B96BA}"/>
              </a:ext>
            </a:extLst>
          </p:cNvPr>
          <p:cNvSpPr txBox="1"/>
          <p:nvPr/>
        </p:nvSpPr>
        <p:spPr>
          <a:xfrm>
            <a:off x="7911626" y="2963007"/>
            <a:ext cx="2355122" cy="54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i="1" dirty="0">
                <a:solidFill>
                  <a:schemeClr val="accent1"/>
                </a:solidFill>
                <a:latin typeface="Constantia"/>
                <a:ea typeface="Roboto Serif"/>
                <a:cs typeface="Roboto Serif"/>
                <a:sym typeface="Roboto Serif"/>
              </a:rPr>
              <a:t>Italian macaron</a:t>
            </a:r>
            <a:endParaRPr lang="en-GB" sz="2400" dirty="0">
              <a:solidFill>
                <a:schemeClr val="accent1"/>
              </a:solidFill>
              <a:latin typeface="Constantia"/>
              <a:ea typeface="Roboto Serif"/>
              <a:cs typeface="Roboto Serif"/>
            </a:endParaRPr>
          </a:p>
        </p:txBody>
      </p:sp>
    </p:spTree>
    <p:extLst>
      <p:ext uri="{BB962C8B-B14F-4D97-AF65-F5344CB8AC3E}">
        <p14:creationId xmlns:p14="http://schemas.microsoft.com/office/powerpoint/2010/main" val="20880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13" grpId="0"/>
      <p:bldP spid="14" grpId="0"/>
      <p:bldP spid="6" grpId="0"/>
      <p:bldP spid="25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/>
          <p:nvPr/>
        </p:nvSpPr>
        <p:spPr>
          <a:xfrm>
            <a:off x="5602566" y="2177140"/>
            <a:ext cx="3251200" cy="3566000"/>
          </a:xfrm>
          <a:prstGeom prst="roundRect">
            <a:avLst>
              <a:gd name="adj" fmla="val 16667"/>
            </a:avLst>
          </a:prstGeom>
          <a:solidFill>
            <a:srgbClr val="DFE3E5"/>
          </a:solidFill>
          <a:ln w="9525" cap="flat" cmpd="sng">
            <a:solidFill>
              <a:srgbClr val="335B7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34"/>
          <p:cNvGraphicFramePr/>
          <p:nvPr/>
        </p:nvGraphicFramePr>
        <p:xfrm>
          <a:off x="382638" y="2375340"/>
          <a:ext cx="825800" cy="3200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2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‘the’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‘cat’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‘sat’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‘on’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‘the’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‘mat’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20" name="Google Shape;220;p34"/>
          <p:cNvGraphicFramePr/>
          <p:nvPr/>
        </p:nvGraphicFramePr>
        <p:xfrm>
          <a:off x="2052972" y="1847074"/>
          <a:ext cx="1158967" cy="4266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58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‘[CLS]’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‘the’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‘cat’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‘[MASK]’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‘on’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‘the’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‘mat’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‘[SEP]’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1" name="Google Shape;221;p34"/>
          <p:cNvGraphicFramePr/>
          <p:nvPr/>
        </p:nvGraphicFramePr>
        <p:xfrm>
          <a:off x="4107705" y="1847074"/>
          <a:ext cx="1062100" cy="42668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101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1996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4937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103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2006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1996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13523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102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22" name="Google Shape;222;p34"/>
          <p:cNvGraphicFramePr/>
          <p:nvPr/>
        </p:nvGraphicFramePr>
        <p:xfrm>
          <a:off x="9131704" y="2363340"/>
          <a:ext cx="2590266" cy="16000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5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‘sat’</a:t>
                      </a:r>
                      <a:endParaRPr sz="19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0.19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‘was’</a:t>
                      </a:r>
                      <a:endParaRPr sz="19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0.14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‘lay’</a:t>
                      </a:r>
                      <a:endParaRPr sz="19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0.07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23" name="Google Shape;223;p34"/>
          <p:cNvGrpSpPr/>
          <p:nvPr/>
        </p:nvGrpSpPr>
        <p:grpSpPr>
          <a:xfrm>
            <a:off x="10384038" y="4175574"/>
            <a:ext cx="85600" cy="625667"/>
            <a:chOff x="9966150" y="4193875"/>
            <a:chExt cx="64200" cy="469250"/>
          </a:xfrm>
        </p:grpSpPr>
        <p:sp>
          <p:nvSpPr>
            <p:cNvPr id="224" name="Google Shape;224;p34"/>
            <p:cNvSpPr/>
            <p:nvPr/>
          </p:nvSpPr>
          <p:spPr>
            <a:xfrm>
              <a:off x="9966150" y="4193875"/>
              <a:ext cx="64200" cy="75300"/>
            </a:xfrm>
            <a:prstGeom prst="ellipse">
              <a:avLst/>
            </a:prstGeom>
            <a:solidFill>
              <a:srgbClr val="DFE3E5"/>
            </a:solidFill>
            <a:ln w="9525" cap="flat" cmpd="sng">
              <a:solidFill>
                <a:srgbClr val="335B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34"/>
            <p:cNvSpPr/>
            <p:nvPr/>
          </p:nvSpPr>
          <p:spPr>
            <a:xfrm>
              <a:off x="9966150" y="4390850"/>
              <a:ext cx="64200" cy="75300"/>
            </a:xfrm>
            <a:prstGeom prst="ellipse">
              <a:avLst/>
            </a:prstGeom>
            <a:solidFill>
              <a:srgbClr val="DFE3E5"/>
            </a:solidFill>
            <a:ln w="9525" cap="flat" cmpd="sng">
              <a:solidFill>
                <a:srgbClr val="335B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34"/>
            <p:cNvSpPr/>
            <p:nvPr/>
          </p:nvSpPr>
          <p:spPr>
            <a:xfrm>
              <a:off x="9966150" y="4587825"/>
              <a:ext cx="64200" cy="75300"/>
            </a:xfrm>
            <a:prstGeom prst="ellipse">
              <a:avLst/>
            </a:prstGeom>
            <a:solidFill>
              <a:srgbClr val="DFE3E5"/>
            </a:solidFill>
            <a:ln w="9525" cap="flat" cmpd="sng">
              <a:solidFill>
                <a:srgbClr val="335B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9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27" name="Google Shape;227;p34"/>
          <p:cNvGraphicFramePr/>
          <p:nvPr/>
        </p:nvGraphicFramePr>
        <p:xfrm>
          <a:off x="9131704" y="5028674"/>
          <a:ext cx="2590266" cy="533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95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28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‘hippo’</a:t>
                      </a:r>
                      <a:endParaRPr sz="190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/>
                        <a:t>0.000001</a:t>
                      </a:r>
                      <a:endParaRPr sz="190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8" name="Google Shape;228;p34"/>
          <p:cNvSpPr/>
          <p:nvPr/>
        </p:nvSpPr>
        <p:spPr>
          <a:xfrm>
            <a:off x="1251504" y="3861740"/>
            <a:ext cx="758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ap="flat" cmpd="sng">
            <a:solidFill>
              <a:srgbClr val="335B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4"/>
          <p:cNvSpPr/>
          <p:nvPr/>
        </p:nvSpPr>
        <p:spPr>
          <a:xfrm>
            <a:off x="3280622" y="3861740"/>
            <a:ext cx="758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ap="flat" cmpd="sng">
            <a:solidFill>
              <a:srgbClr val="335B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/>
          <p:nvPr/>
        </p:nvSpPr>
        <p:spPr>
          <a:xfrm>
            <a:off x="5300632" y="3861740"/>
            <a:ext cx="9124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ap="flat" cmpd="sng">
            <a:solidFill>
              <a:srgbClr val="335B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8209031" y="3861740"/>
            <a:ext cx="826000" cy="19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FE3E5"/>
          </a:solidFill>
          <a:ln w="9525" cap="flat" cmpd="sng">
            <a:solidFill>
              <a:srgbClr val="335B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5939" y="2252000"/>
            <a:ext cx="5124465" cy="341629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1;p33">
            <a:extLst>
              <a:ext uri="{FF2B5EF4-FFF2-40B4-BE49-F238E27FC236}">
                <a16:creationId xmlns:a16="http://schemas.microsoft.com/office/drawing/2014/main" id="{E0E47159-A9F5-6412-F898-29C79B02E900}"/>
              </a:ext>
            </a:extLst>
          </p:cNvPr>
          <p:cNvSpPr/>
          <p:nvPr/>
        </p:nvSpPr>
        <p:spPr>
          <a:xfrm>
            <a:off x="2052971" y="3440514"/>
            <a:ext cx="1158800" cy="528400"/>
          </a:xfrm>
          <a:prstGeom prst="rect">
            <a:avLst/>
          </a:prstGeom>
          <a:noFill/>
          <a:ln w="19050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" name="Google Shape;195;p33">
            <a:extLst>
              <a:ext uri="{FF2B5EF4-FFF2-40B4-BE49-F238E27FC236}">
                <a16:creationId xmlns:a16="http://schemas.microsoft.com/office/drawing/2014/main" id="{055C77B6-9701-0DEB-0EE9-EA42C30DD5F5}"/>
              </a:ext>
            </a:extLst>
          </p:cNvPr>
          <p:cNvSpPr txBox="1"/>
          <p:nvPr/>
        </p:nvSpPr>
        <p:spPr>
          <a:xfrm>
            <a:off x="435173" y="547190"/>
            <a:ext cx="13160400" cy="10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700" b="1" u="sng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</a:t>
            </a:r>
            <a:r>
              <a:rPr lang="en-GB" sz="2700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idirectional </a:t>
            </a:r>
            <a:r>
              <a:rPr lang="en-GB" sz="2700" b="1" u="sng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</a:t>
            </a:r>
            <a:r>
              <a:rPr lang="en-GB" sz="2700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ncoder </a:t>
            </a:r>
            <a:r>
              <a:rPr lang="en-GB" sz="2700" b="1" u="sng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</a:t>
            </a:r>
            <a:r>
              <a:rPr lang="en-GB" sz="2700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epresentations from </a:t>
            </a:r>
            <a:r>
              <a:rPr lang="en-GB" sz="2700" b="1" u="sng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r>
              <a:rPr lang="en-GB" sz="2700" dirty="0">
                <a:solidFill>
                  <a:srgbClr val="3F3F3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ransformers</a:t>
            </a:r>
            <a:endParaRPr lang="en-GB" sz="2700" dirty="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lvl="0" indent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lang="en-GB" sz="2667" dirty="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3200" dirty="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 dirty="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2667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600"/>
              </a:spcBef>
              <a:spcAft>
                <a:spcPts val="267"/>
              </a:spcAft>
              <a:buNone/>
            </a:pPr>
            <a:endParaRPr sz="2667" dirty="0">
              <a:solidFill>
                <a:srgbClr val="3F3F3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A68A-EBFF-162D-923D-A5CBBE66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RAG Pipeline</a:t>
            </a:r>
          </a:p>
        </p:txBody>
      </p:sp>
      <p:pic>
        <p:nvPicPr>
          <p:cNvPr id="4" name="Picture 3" descr="A diagram of a diagram&#10;&#10;Description automatically generated">
            <a:extLst>
              <a:ext uri="{FF2B5EF4-FFF2-40B4-BE49-F238E27FC236}">
                <a16:creationId xmlns:a16="http://schemas.microsoft.com/office/drawing/2014/main" id="{A77467EB-061F-15F2-078A-76B038BF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414" y="1690688"/>
            <a:ext cx="6630119" cy="44679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70467-644A-A9BC-D5C8-416CE2DA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70" y="1496986"/>
            <a:ext cx="4560244" cy="5181239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‘system’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:</a:t>
            </a:r>
          </a:p>
          <a:p>
            <a:pPr>
              <a:buNone/>
            </a:pP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“You are an expert in baking.”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‘user’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:</a:t>
            </a:r>
          </a:p>
          <a:p>
            <a:pPr>
              <a:buNone/>
            </a:pP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“Provide me a recipe for macarons.”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sz="1800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Source Code Pro"/>
                <a:ea typeface="Source Code Pro"/>
              </a:rPr>
              <a:t>user_query</a:t>
            </a:r>
            <a:r>
              <a:rPr lang="en-GB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Source Code Pro"/>
                <a:ea typeface="Source Code Pro"/>
              </a:rPr>
              <a:t> -&gt; </a:t>
            </a:r>
            <a:r>
              <a:rPr lang="en-GB" sz="1800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Source Code Pro"/>
                <a:ea typeface="Source Code Pro"/>
              </a:rPr>
              <a:t>embed_query</a:t>
            </a:r>
            <a:r>
              <a:rPr lang="en-GB" sz="1800" dirty="0">
                <a:solidFill>
                  <a:schemeClr val="tx1">
                    <a:lumMod val="76000"/>
                    <a:lumOff val="24000"/>
                  </a:schemeClr>
                </a:solidFill>
                <a:latin typeface="Source Code Pro"/>
                <a:ea typeface="Source Code Pro"/>
              </a:rPr>
              <a:t> -&gt; search database -&gt; </a:t>
            </a:r>
            <a:r>
              <a:rPr lang="en-GB" sz="1800" dirty="0" err="1">
                <a:solidFill>
                  <a:schemeClr val="tx1">
                    <a:lumMod val="76000"/>
                    <a:lumOff val="24000"/>
                  </a:schemeClr>
                </a:solidFill>
                <a:latin typeface="Source Code Pro"/>
                <a:ea typeface="Source Code Pro"/>
              </a:rPr>
              <a:t>top_k_results</a:t>
            </a:r>
            <a:endParaRPr lang="en-GB" sz="1800" dirty="0">
              <a:solidFill>
                <a:schemeClr val="tx1">
                  <a:lumMod val="76000"/>
                  <a:lumOff val="24000"/>
                </a:schemeClr>
              </a:solidFill>
              <a:latin typeface="Source Code Pro"/>
              <a:ea typeface="Source Code Pro"/>
            </a:endParaRPr>
          </a:p>
          <a:p>
            <a:pPr>
              <a:buNone/>
            </a:pPr>
            <a:endParaRPr lang="en-GB" sz="1800" dirty="0">
              <a:solidFill>
                <a:schemeClr val="tx1">
                  <a:lumMod val="76000"/>
                  <a:lumOff val="24000"/>
                </a:schemeClr>
              </a:solidFill>
              <a:latin typeface="Source Code Pro"/>
              <a:ea typeface="Source Code Pro"/>
            </a:endParaRPr>
          </a:p>
          <a:p>
            <a:pPr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‘knowledge’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:</a:t>
            </a:r>
          </a:p>
          <a:p>
            <a:pPr>
              <a:buNone/>
            </a:pP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“[Top Recipe 1, Top Recipe 2, Top Recipe k]”</a:t>
            </a:r>
          </a:p>
          <a:p>
            <a:pPr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solidFill>
                  <a:srgbClr val="0B7743"/>
                </a:solidFill>
                <a:latin typeface="Source Code Pro"/>
                <a:ea typeface="Source Code Pro"/>
              </a:rPr>
              <a:t>‘assistant’</a:t>
            </a:r>
            <a:r>
              <a:rPr lang="en-GB" sz="1800" dirty="0">
                <a:solidFill>
                  <a:srgbClr val="666666"/>
                </a:solidFill>
                <a:latin typeface="Source Code Pro"/>
                <a:ea typeface="Source Code Pro"/>
              </a:rPr>
              <a:t>: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9325A5"/>
                </a:solidFill>
                <a:latin typeface="Source Code Pro"/>
                <a:ea typeface="Source Code Pro"/>
              </a:rPr>
              <a:t>“Certainly! Here is a recipe for macarons …”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133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09050-3E94-D366-3D30-938C9CB9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C99A2CF-6201-2BF5-0362-76F511F6A99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87308" y="2029869"/>
          <a:ext cx="8017356" cy="36480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6741">
                  <a:extLst>
                    <a:ext uri="{9D8B030D-6E8A-4147-A177-3AD203B41FA5}">
                      <a16:colId xmlns:a16="http://schemas.microsoft.com/office/drawing/2014/main" val="283657678"/>
                    </a:ext>
                  </a:extLst>
                </a:gridCol>
                <a:gridCol w="5980615">
                  <a:extLst>
                    <a:ext uri="{9D8B030D-6E8A-4147-A177-3AD203B41FA5}">
                      <a16:colId xmlns:a16="http://schemas.microsoft.com/office/drawing/2014/main" val="2446216171"/>
                    </a:ext>
                  </a:extLst>
                </a:gridCol>
              </a:tblGrid>
              <a:tr h="263842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B7743"/>
                          </a:solidFill>
                          <a:effectLst/>
                          <a:latin typeface="Source Code Pro"/>
                        </a:rPr>
                        <a:t>‘system’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Source Code Pro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“You are a helpful mathematician. You have access to the following functions: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endParaRPr lang="en-GB" sz="1800" b="0" i="0" u="none" strike="noStrike" dirty="0">
                        <a:solidFill>
                          <a:srgbClr val="9325A5"/>
                        </a:solidFill>
                        <a:effectLst/>
                        <a:latin typeface="Source Code Pro"/>
                      </a:endParaRP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{{ </a:t>
                      </a:r>
                      <a:r>
                        <a:rPr lang="en-GB" sz="1800" b="0" i="0" u="none" strike="noStrike" dirty="0" err="1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tool_schema</a:t>
                      </a: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 }}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endParaRPr lang="en-GB" sz="1800" b="0" i="0" u="none" strike="noStrike" dirty="0">
                        <a:solidFill>
                          <a:srgbClr val="9325A5"/>
                        </a:solidFill>
                        <a:effectLst/>
                        <a:latin typeface="Source Code Pro"/>
                      </a:endParaRP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If you choose to use the tool, respond in </a:t>
                      </a:r>
                      <a:r>
                        <a:rPr lang="en-GB" sz="1800" b="0" i="0" u="none" strike="noStrike" dirty="0" err="1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json</a:t>
                      </a: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 with the correct arguments to the function.”</a:t>
                      </a:r>
                      <a:endParaRPr lang="en-GB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655398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B7743"/>
                          </a:solidFill>
                          <a:effectLst/>
                          <a:latin typeface="Source Code Pro"/>
                        </a:rPr>
                        <a:t>‘user’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Source Code Pro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“What is 1056 x 1316?”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Source Code Pro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839307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0B7743"/>
                          </a:solidFill>
                          <a:effectLst/>
                          <a:latin typeface="Source Code Pro"/>
                        </a:rPr>
                        <a:t>‘assistant’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Source Code Pro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9325A5"/>
                          </a:solidFill>
                          <a:effectLst/>
                          <a:latin typeface="Source Code Pro"/>
                        </a:rPr>
                        <a:t>“{‘a’:1056, ‘b’:1316}”</a:t>
                      </a:r>
                      <a:endParaRPr lang="en-GB" b="0" i="0" dirty="0">
                        <a:solidFill>
                          <a:srgbClr val="000000"/>
                        </a:solidFill>
                        <a:effectLst/>
                        <a:latin typeface="Source Code Pro"/>
                      </a:endParaRPr>
                    </a:p>
                  </a:txBody>
                  <a:tcPr marL="95250" marR="95250" marT="95250" marB="95250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024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323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5E0F3-30DF-7E3D-2754-635E1BC87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4A8247-E8A3-440D-9244-21C90856C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3937" y="2253457"/>
            <a:ext cx="50577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0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09D7E-F08D-02D0-83B9-8B919070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FA782C-205E-17DF-64EC-23CAB7658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5506" y="1685925"/>
            <a:ext cx="7020988" cy="463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869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E3A1-7CEE-1B7B-BFEB-01CC437B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Tools</a:t>
            </a:r>
          </a:p>
        </p:txBody>
      </p:sp>
      <p:pic>
        <p:nvPicPr>
          <p:cNvPr id="4" name="Picture 3" descr="A diagram of a llama&#10;&#10;AI-generated content may be incorrect.">
            <a:extLst>
              <a:ext uri="{FF2B5EF4-FFF2-40B4-BE49-F238E27FC236}">
                <a16:creationId xmlns:a16="http://schemas.microsoft.com/office/drawing/2014/main" id="{B8607B1A-4424-44E0-1725-5CF1BA26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428750"/>
            <a:ext cx="96139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97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753</Words>
  <Application>Microsoft Macintosh PowerPoint</Application>
  <PresentationFormat>Widescreen</PresentationFormat>
  <Paragraphs>137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Comic Sans MS</vt:lpstr>
      <vt:lpstr>Constantia</vt:lpstr>
      <vt:lpstr>Source Code Pro</vt:lpstr>
      <vt:lpstr>Office Theme</vt:lpstr>
      <vt:lpstr>Orchestration</vt:lpstr>
      <vt:lpstr>The illusion of memory</vt:lpstr>
      <vt:lpstr>How do we manage session state?</vt:lpstr>
      <vt:lpstr>How do we manage session state?</vt:lpstr>
      <vt:lpstr>How do we manage session state?</vt:lpstr>
      <vt:lpstr>Retrieval Augmented Generation</vt:lpstr>
      <vt:lpstr>Retrieval Augmented Generation</vt:lpstr>
      <vt:lpstr>Back to Vectors</vt:lpstr>
      <vt:lpstr>PowerPoint Presentation</vt:lpstr>
      <vt:lpstr>The RAG Pipeline</vt:lpstr>
      <vt:lpstr>Tools</vt:lpstr>
      <vt:lpstr>Tools</vt:lpstr>
      <vt:lpstr>Tools</vt:lpstr>
      <vt:lpstr>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Finley Griffin</dc:creator>
  <cp:lastModifiedBy>Finley Griffin</cp:lastModifiedBy>
  <cp:revision>2</cp:revision>
  <dcterms:created xsi:type="dcterms:W3CDTF">2026-05-12T08:55:05Z</dcterms:created>
  <dcterms:modified xsi:type="dcterms:W3CDTF">2026-05-12T09:56:26Z</dcterms:modified>
</cp:coreProperties>
</file>