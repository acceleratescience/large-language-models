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80285"/>
  </p:normalViewPr>
  <p:slideViewPr>
    <p:cSldViewPr snapToGrid="0">
      <p:cViewPr varScale="1">
        <p:scale>
          <a:sx n="107" d="100"/>
          <a:sy n="107" d="100"/>
        </p:scale>
        <p:origin x="92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C7C4D1-EC7E-0840-85AA-55DF372C01FB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406CDB-AC11-B347-A8D6-730584B108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3866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Illusion of both short term and long term memory.</a:t>
            </a:r>
          </a:p>
          <a:p>
            <a:endParaRPr lang="en-US" dirty="0"/>
          </a:p>
          <a:p>
            <a:r>
              <a:rPr lang="en-US" dirty="0"/>
              <a:t>Short term = the conversation you’re currently having with the model</a:t>
            </a:r>
          </a:p>
          <a:p>
            <a:endParaRPr lang="en-US" dirty="0"/>
          </a:p>
          <a:p>
            <a:r>
              <a:rPr lang="en-US" dirty="0"/>
              <a:t>Long term = something you told the model a while ago in a different chat</a:t>
            </a:r>
          </a:p>
          <a:p>
            <a:endParaRPr lang="en-US" dirty="0"/>
          </a:p>
          <a:p>
            <a:r>
              <a:rPr lang="en-US" dirty="0"/>
              <a:t>LLMs are stateless</a:t>
            </a:r>
          </a:p>
          <a:p>
            <a:endParaRPr lang="en-US" dirty="0"/>
          </a:p>
          <a:p>
            <a:r>
              <a:rPr lang="en-US" dirty="0"/>
              <a:t>A state meaning </a:t>
            </a:r>
            <a:r>
              <a:rPr lang="en-GB" dirty="0"/>
              <a:t>the information a system retains about past interactions that influences how it responds in the future.</a:t>
            </a:r>
          </a:p>
          <a:p>
            <a:endParaRPr lang="en-GB" dirty="0"/>
          </a:p>
          <a:p>
            <a:r>
              <a:rPr lang="en-GB" dirty="0"/>
              <a:t>So an LLM being stateless means it has no information.</a:t>
            </a:r>
          </a:p>
          <a:p>
            <a:endParaRPr lang="en-GB" dirty="0"/>
          </a:p>
          <a:p>
            <a:r>
              <a:rPr lang="en-GB" b="0" dirty="0"/>
              <a:t>Stateful; </a:t>
            </a:r>
            <a:r>
              <a:rPr lang="en-GB" dirty="0"/>
              <a:t>like a GP who has your notes. Every appointment is informed by your history. </a:t>
            </a:r>
            <a:r>
              <a:rPr lang="en-GB" b="0" dirty="0"/>
              <a:t>Stateless; </a:t>
            </a:r>
            <a:r>
              <a:rPr lang="en-GB" dirty="0"/>
              <a:t>like calling 111. Every call starts from scratch. They have no record of you.</a:t>
            </a:r>
          </a:p>
          <a:p>
            <a:endParaRPr lang="en-GB" dirty="0"/>
          </a:p>
          <a:p>
            <a:r>
              <a:rPr lang="en-GB" dirty="0"/>
              <a:t>So it’s a SWE’s job to manage a session 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406CDB-AC11-B347-A8D6-730584B108C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638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406CDB-AC11-B347-A8D6-730584B108C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35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C3831-4500-6630-D513-CD5BDBE086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901C72-50EE-806D-41D7-7BE30E4F63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42A01-2338-627C-9E43-3F4B0CA79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61BBD-7836-8D25-F0E3-7B0C40527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F8D4A3-E8E4-EFDE-70FA-0D7444A24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507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23936-5B25-1AEF-C371-CD7EA5049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184563-F08C-AA60-9161-FFD6A6EB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9C5E4E-600D-B32C-4C79-7784AF85B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C4CD-C5EF-A36E-45E5-8FAA44FEE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49AAA-1DEE-1A4F-4ACF-BEDCD2E9B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56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7EEE7-29B6-2415-1494-03562CF0D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23CADD-145F-8231-8538-A45B28481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E5617-BC6B-FA66-8660-CF37F382F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5F65C-04F9-0BEE-1ED6-84C73B0D9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ED4846-A5E1-958C-72F7-55F50A25F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608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F1D4A-0425-45EE-1B64-ACB74B6D1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D723-CE42-1E19-6FF5-8CBBAEC296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31FB28-0C32-E1DA-3935-85E91FB9A4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4EEA09-38C7-E4A2-C8E2-E2B58C2C1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0516CE-C4DC-D939-8B47-CA03BC38D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D79167-EA0F-0505-6822-9B5C986A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408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66AA9-8758-26B4-3A3D-6524D67E7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B847D0-58B1-EE9C-B3C5-EBCC091BE6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D38024-B7A6-CAE5-2999-66C0BBE518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8BEA47-24E7-45F9-2F84-8B3CC083A0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6548DC-3343-7631-3D07-73B319209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218AE2-B221-0893-B585-E25C1B7D3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F9C125-8B36-38A7-5D36-D0AD09B19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AA6700-A246-D34C-686D-90BAF7C0D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23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96711-400C-A451-17FF-C23CC4784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9DBFE3-C870-A2B3-C5D0-7FA494C51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C43AD8-1487-D23B-4810-9FFC0FB9D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10753C-229C-73AD-7C31-718960D50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41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559C2B-2738-03C6-4BA9-DDC567D61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89D4FB-82D9-CAF4-E55D-C636BFE9C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75999-2AED-2217-E23A-A0454BC45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477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8DE55-D28B-DF53-3EC9-84C996AC0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92894-EC2D-9563-EF6D-24552E078C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B7E5D-9ABB-D2DD-7D4F-C2277E8D23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8D8A04-3A25-C232-D357-61153DA65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95A740-56BA-17AA-ED7B-CEA0454E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5D4D9-71E5-8F68-7265-8775C3815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521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AD668-5D77-F411-7B08-60C9DC94B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15D5DB-0778-96F8-F932-09A01A222D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0BC90D-73C7-82A9-E5BD-D37B120F44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277E8E-D5FC-1C0A-79B2-118575615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69274-FFBA-4AF4-08E6-A416A4857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4F055-CAB9-77D3-F33C-62084B949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05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03073-0459-4891-CE59-5E41A1B12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6E96A3-1E8D-58D6-CC0B-4865091C9D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69FE9-9FE5-8DC7-BCA4-DEEABF8E1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8556A-8B5C-63D4-317C-88824C33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9F9E2B-CE28-76F2-0C8D-9E4301D47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BFB563-C024-C355-A206-EA380787E8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AF3671-7A09-47A2-7F3C-31DDE2BEA5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A984B-DB2B-9897-D814-CE992B82B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B037F-F08B-1858-89A3-ACF420A89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D97D1E-B92A-34DB-FBBB-57EED9E4A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412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800A75-ED5F-F7D0-F728-CB438FBFA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4D7680-03C9-C6C1-A55A-EA0E607062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29D75-1B9E-6D6B-4C20-EA657F6C74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8DA55C-5AC5-804A-B675-3F4F94BCFF92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312AD-B475-8380-A13E-22BFE6D7A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D4CB1-CCF5-153B-2DDF-28B4A8036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54821-B385-0647-A9E4-46A0327F97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92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6C62F-3E45-8105-5951-516369734D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1400"/>
            <a:ext cx="9144000" cy="2387600"/>
          </a:xfrm>
        </p:spPr>
        <p:txBody>
          <a:bodyPr/>
          <a:lstStyle/>
          <a:p>
            <a:pPr algn="l"/>
            <a:r>
              <a:rPr lang="en-US" dirty="0"/>
              <a:t>Orchestration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E31E9D-AA89-3EC0-DC26-E036989C2F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Interaction and augmentation</a:t>
            </a:r>
          </a:p>
        </p:txBody>
      </p:sp>
      <p:pic>
        <p:nvPicPr>
          <p:cNvPr id="5" name="Picture 4" descr="A cartoon of a llama wearing a cape and mask&#10;&#10;AI-generated content may be incorrect.">
            <a:extLst>
              <a:ext uri="{FF2B5EF4-FFF2-40B4-BE49-F238E27FC236}">
                <a16:creationId xmlns:a16="http://schemas.microsoft.com/office/drawing/2014/main" id="{B05BB3E7-6007-EBC2-9588-2BE4A59D2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041" y="3204845"/>
            <a:ext cx="2324100" cy="348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532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A67D33-5803-DCC0-834B-3CAED38E1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The illusion of memory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2D049D-C125-2E83-7DA7-A1F5809F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688" y="1393825"/>
            <a:ext cx="9820275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093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5D97C36-A09F-43D1-ECB8-6285E41BE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/>
              <a:t>How do we manage session state?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8E50F1-F66F-E2A4-3F67-7771E55F8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GB" sz="2400">
                <a:latin typeface="Aptos"/>
                <a:ea typeface="Source Code Pro"/>
              </a:rPr>
              <a:t>LLMs have distinct input and output patterns...</a:t>
            </a:r>
            <a:endParaRPr lang="en-US" sz="2400">
              <a:latin typeface="Aptos"/>
            </a:endParaRPr>
          </a:p>
          <a:p>
            <a:pPr>
              <a:buNone/>
            </a:pPr>
            <a:endParaRPr lang="en-GB" sz="220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>
              <a:buNone/>
            </a:pPr>
            <a:r>
              <a:rPr lang="en-GB" sz="2200">
                <a:solidFill>
                  <a:srgbClr val="0B7743"/>
                </a:solidFill>
                <a:latin typeface="Source Code Pro"/>
                <a:ea typeface="Source Code Pro"/>
              </a:rPr>
              <a:t>‘system’</a:t>
            </a:r>
            <a:r>
              <a:rPr lang="en-GB" sz="2200">
                <a:solidFill>
                  <a:srgbClr val="666666"/>
                </a:solidFill>
                <a:latin typeface="Source Code Pro"/>
                <a:ea typeface="Source Code Pro"/>
              </a:rPr>
              <a:t>    : </a:t>
            </a:r>
            <a:r>
              <a:rPr lang="en-GB" sz="2200">
                <a:solidFill>
                  <a:srgbClr val="9325A5"/>
                </a:solidFill>
                <a:latin typeface="Source Code Pro"/>
                <a:ea typeface="Source Code Pro"/>
              </a:rPr>
              <a:t>“You are an expert in baking.”</a:t>
            </a:r>
            <a:endParaRPr lang="en-GB" sz="2200"/>
          </a:p>
          <a:p>
            <a:pPr>
              <a:buNone/>
            </a:pPr>
            <a:r>
              <a:rPr lang="en-GB" sz="2200">
                <a:solidFill>
                  <a:srgbClr val="0B7743"/>
                </a:solidFill>
                <a:latin typeface="Source Code Pro"/>
                <a:ea typeface="Source Code Pro"/>
              </a:rPr>
              <a:t>‘user’</a:t>
            </a:r>
            <a:r>
              <a:rPr lang="en-GB" sz="2200">
                <a:solidFill>
                  <a:srgbClr val="666666"/>
                </a:solidFill>
                <a:latin typeface="Source Code Pro"/>
                <a:ea typeface="Source Code Pro"/>
              </a:rPr>
              <a:t>      : </a:t>
            </a:r>
            <a:r>
              <a:rPr lang="en-GB" sz="2200">
                <a:solidFill>
                  <a:srgbClr val="9325A5"/>
                </a:solidFill>
                <a:latin typeface="Source Code Pro"/>
                <a:ea typeface="Source Code Pro"/>
              </a:rPr>
              <a:t>“Provide me a recipe for macarons.”</a:t>
            </a:r>
            <a:endParaRPr lang="en-GB" sz="2200"/>
          </a:p>
          <a:p>
            <a:pPr marL="0" indent="0">
              <a:buNone/>
            </a:pPr>
            <a:r>
              <a:rPr lang="en-GB" sz="2200">
                <a:solidFill>
                  <a:srgbClr val="0B7743"/>
                </a:solidFill>
                <a:latin typeface="Source Code Pro"/>
                <a:ea typeface="Source Code Pro"/>
              </a:rPr>
              <a:t>‘assistant’</a:t>
            </a:r>
            <a:r>
              <a:rPr lang="en-GB" sz="2200">
                <a:solidFill>
                  <a:srgbClr val="666666"/>
                </a:solidFill>
                <a:latin typeface="Source Code Pro"/>
                <a:ea typeface="Source Code Pro"/>
              </a:rPr>
              <a:t> : </a:t>
            </a:r>
            <a:r>
              <a:rPr lang="en-GB" sz="2200">
                <a:solidFill>
                  <a:srgbClr val="9325A5"/>
                </a:solidFill>
                <a:latin typeface="Source Code Pro"/>
                <a:ea typeface="Source Code Pro"/>
              </a:rPr>
              <a:t>“Certainly! Here is a recipe for macarons …”</a:t>
            </a:r>
          </a:p>
          <a:p>
            <a:pPr marL="0" indent="0">
              <a:buNone/>
            </a:pPr>
            <a:endParaRPr lang="en-GB" sz="2200">
              <a:solidFill>
                <a:srgbClr val="9325A5"/>
              </a:solidFill>
              <a:latin typeface="Source Code Pro"/>
              <a:ea typeface="Source Code Pro"/>
            </a:endParaRPr>
          </a:p>
          <a:p>
            <a:pPr marL="0" indent="0">
              <a:buNone/>
            </a:pPr>
            <a:r>
              <a:rPr lang="en-GB" sz="2200">
                <a:latin typeface="Aptos"/>
                <a:ea typeface="Source Code Pro"/>
              </a:rPr>
              <a:t>Almost all LLMs follow this pattern...</a:t>
            </a:r>
          </a:p>
          <a:p>
            <a:pPr marL="0" indent="0">
              <a:buNone/>
            </a:pPr>
            <a:endParaRPr lang="en-GB" sz="2200">
              <a:latin typeface="Aptos"/>
              <a:ea typeface="Source Code Pro"/>
            </a:endParaRPr>
          </a:p>
          <a:p>
            <a:pPr marL="0" indent="0">
              <a:buNone/>
            </a:pPr>
            <a:r>
              <a:rPr lang="en-GB" sz="2200">
                <a:latin typeface="Aptos"/>
                <a:ea typeface="Source Code Pro"/>
              </a:rPr>
              <a:t>...break this pattern, and you'll soon see the model produce nonsense.</a:t>
            </a:r>
          </a:p>
        </p:txBody>
      </p:sp>
    </p:spTree>
    <p:extLst>
      <p:ext uri="{BB962C8B-B14F-4D97-AF65-F5344CB8AC3E}">
        <p14:creationId xmlns:p14="http://schemas.microsoft.com/office/powerpoint/2010/main" val="324546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31029AE-91A6-7430-A1BB-2BE6FB906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/>
              <a:t>How do we manage session state?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1E4A177-82FE-5F3D-FEC1-B7F21C23FA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GB" sz="2200" dirty="0">
                <a:solidFill>
                  <a:srgbClr val="0B7743"/>
                </a:solidFill>
                <a:latin typeface="Source Code Pro"/>
                <a:ea typeface="Source Code Pro"/>
              </a:rPr>
              <a:t>‘system’</a:t>
            </a:r>
            <a:r>
              <a:rPr lang="en-GB" sz="2200" dirty="0">
                <a:solidFill>
                  <a:srgbClr val="666666"/>
                </a:solidFill>
                <a:latin typeface="Source Code Pro"/>
                <a:ea typeface="Source Code Pro"/>
              </a:rPr>
              <a:t>    : </a:t>
            </a:r>
            <a:r>
              <a:rPr lang="en-GB" sz="2200" dirty="0">
                <a:solidFill>
                  <a:srgbClr val="9325A5"/>
                </a:solidFill>
                <a:latin typeface="Source Code Pro"/>
                <a:ea typeface="Source Code Pro"/>
              </a:rPr>
              <a:t>“You are an expert in baking.”</a:t>
            </a:r>
            <a:endParaRPr lang="en-GB" sz="2200" dirty="0"/>
          </a:p>
          <a:p>
            <a:pPr>
              <a:buNone/>
            </a:pPr>
            <a:r>
              <a:rPr lang="en-GB" sz="2200" dirty="0">
                <a:solidFill>
                  <a:srgbClr val="0B7743"/>
                </a:solidFill>
                <a:latin typeface="Source Code Pro"/>
                <a:ea typeface="Source Code Pro"/>
              </a:rPr>
              <a:t>‘user’</a:t>
            </a:r>
            <a:r>
              <a:rPr lang="en-GB" sz="2200" dirty="0">
                <a:solidFill>
                  <a:srgbClr val="666666"/>
                </a:solidFill>
                <a:latin typeface="Source Code Pro"/>
                <a:ea typeface="Source Code Pro"/>
              </a:rPr>
              <a:t>      : </a:t>
            </a:r>
            <a:r>
              <a:rPr lang="en-GB" sz="2200" dirty="0">
                <a:solidFill>
                  <a:srgbClr val="9325A5"/>
                </a:solidFill>
                <a:latin typeface="Source Code Pro"/>
                <a:ea typeface="Source Code Pro"/>
              </a:rPr>
              <a:t>“Provide me a recipe for macarons.”</a:t>
            </a:r>
            <a:endParaRPr lang="en-GB" sz="2200" dirty="0"/>
          </a:p>
          <a:p>
            <a:pPr marL="0" indent="0">
              <a:buNone/>
            </a:pPr>
            <a:r>
              <a:rPr lang="en-GB" sz="2200" dirty="0">
                <a:solidFill>
                  <a:srgbClr val="0B7743"/>
                </a:solidFill>
                <a:latin typeface="Source Code Pro"/>
                <a:ea typeface="Source Code Pro"/>
              </a:rPr>
              <a:t>‘assistant’</a:t>
            </a:r>
            <a:r>
              <a:rPr lang="en-GB" sz="2200" dirty="0">
                <a:solidFill>
                  <a:srgbClr val="666666"/>
                </a:solidFill>
                <a:latin typeface="Source Code Pro"/>
                <a:ea typeface="Source Code Pro"/>
              </a:rPr>
              <a:t> : </a:t>
            </a:r>
            <a:r>
              <a:rPr lang="en-GB" sz="2200" dirty="0">
                <a:solidFill>
                  <a:srgbClr val="9325A5"/>
                </a:solidFill>
                <a:latin typeface="Source Code Pro"/>
                <a:ea typeface="Source Code Pro"/>
              </a:rPr>
              <a:t>“Certainly! Here is a recipe for macarons …”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0B7743"/>
                </a:solidFill>
                <a:latin typeface="Source Code Pro"/>
                <a:ea typeface="Source Code Pro"/>
              </a:rPr>
              <a:t>‘user’</a:t>
            </a:r>
            <a:r>
              <a:rPr lang="en-GB" sz="2200" dirty="0">
                <a:solidFill>
                  <a:srgbClr val="666666"/>
                </a:solidFill>
                <a:latin typeface="Source Code Pro"/>
                <a:ea typeface="Source Code Pro"/>
              </a:rPr>
              <a:t>      : </a:t>
            </a:r>
            <a:r>
              <a:rPr lang="en-GB" sz="2200" dirty="0">
                <a:solidFill>
                  <a:srgbClr val="9325A5"/>
                </a:solidFill>
                <a:latin typeface="Source Code Pro"/>
                <a:ea typeface="Source Code Pro"/>
              </a:rPr>
              <a:t>“Is this the only way to make them?”</a:t>
            </a:r>
            <a:endParaRPr lang="en-GB" dirty="0"/>
          </a:p>
          <a:p>
            <a:pPr marL="0" indent="0">
              <a:buNone/>
            </a:pPr>
            <a:r>
              <a:rPr lang="en-GB" sz="2200" dirty="0">
                <a:solidFill>
                  <a:srgbClr val="0B7743"/>
                </a:solidFill>
                <a:latin typeface="Source Code Pro"/>
                <a:ea typeface="Source Code Pro"/>
              </a:rPr>
              <a:t>‘assistant’</a:t>
            </a:r>
            <a:r>
              <a:rPr lang="en-GB" sz="2200" dirty="0">
                <a:solidFill>
                  <a:srgbClr val="666666"/>
                </a:solidFill>
                <a:latin typeface="Source Code Pro"/>
                <a:ea typeface="Source Code Pro"/>
              </a:rPr>
              <a:t> : </a:t>
            </a:r>
            <a:r>
              <a:rPr lang="en-GB" sz="2200" dirty="0">
                <a:solidFill>
                  <a:srgbClr val="9325A5"/>
                </a:solidFill>
                <a:latin typeface="Source Code Pro"/>
                <a:ea typeface="Source Code Pro"/>
              </a:rPr>
              <a:t>“Actually no! There are two common ways to …”</a:t>
            </a:r>
            <a:endParaRPr lang="en-GB" dirty="0"/>
          </a:p>
          <a:p>
            <a:pPr marL="0" indent="0">
              <a:buNone/>
            </a:pPr>
            <a:r>
              <a:rPr lang="en-GB" sz="2200" dirty="0">
                <a:solidFill>
                  <a:srgbClr val="0B7743"/>
                </a:solidFill>
                <a:latin typeface="Source Code Pro"/>
                <a:ea typeface="Source Code Pro"/>
              </a:rPr>
              <a:t>‘user’</a:t>
            </a:r>
            <a:r>
              <a:rPr lang="en-GB" sz="2200" dirty="0">
                <a:solidFill>
                  <a:srgbClr val="666666"/>
                </a:solidFill>
                <a:latin typeface="Source Code Pro"/>
                <a:ea typeface="Source Code Pro"/>
              </a:rPr>
              <a:t>      : </a:t>
            </a:r>
            <a:r>
              <a:rPr lang="en-GB" sz="2200" dirty="0">
                <a:solidFill>
                  <a:srgbClr val="9325A5"/>
                </a:solidFill>
                <a:latin typeface="Source Code Pro"/>
                <a:ea typeface="Source Code Pro"/>
              </a:rPr>
              <a:t>“I think I'll try the Italian method first.”</a:t>
            </a:r>
            <a:endParaRPr lang="en-GB" dirty="0"/>
          </a:p>
          <a:p>
            <a:pPr marL="0" indent="0">
              <a:buNone/>
            </a:pPr>
            <a:r>
              <a:rPr lang="en-GB" sz="2200" dirty="0">
                <a:solidFill>
                  <a:srgbClr val="0B7743"/>
                </a:solidFill>
                <a:latin typeface="Source Code Pro"/>
                <a:ea typeface="Source Code Pro"/>
              </a:rPr>
              <a:t>‘assistant’</a:t>
            </a:r>
            <a:r>
              <a:rPr lang="en-GB" sz="2200" dirty="0">
                <a:solidFill>
                  <a:srgbClr val="666666"/>
                </a:solidFill>
                <a:latin typeface="Source Code Pro"/>
                <a:ea typeface="Source Code Pro"/>
              </a:rPr>
              <a:t> : </a:t>
            </a:r>
            <a:r>
              <a:rPr lang="en-GB" sz="2200" dirty="0">
                <a:solidFill>
                  <a:srgbClr val="9325A5"/>
                </a:solidFill>
                <a:latin typeface="Source Code Pro"/>
                <a:ea typeface="Source Code Pro"/>
              </a:rPr>
              <a:t>“What an insightful idea! Let's get started …”</a:t>
            </a:r>
            <a:endParaRPr lang="en-GB" dirty="0"/>
          </a:p>
          <a:p>
            <a:pPr marL="0" indent="0">
              <a:buNone/>
            </a:pPr>
            <a:endParaRPr lang="en-GB" sz="2200" dirty="0">
              <a:latin typeface="Aptos"/>
              <a:ea typeface="Source Code Pro"/>
            </a:endParaRPr>
          </a:p>
        </p:txBody>
      </p:sp>
    </p:spTree>
    <p:extLst>
      <p:ext uri="{BB962C8B-B14F-4D97-AF65-F5344CB8AC3E}">
        <p14:creationId xmlns:p14="http://schemas.microsoft.com/office/powerpoint/2010/main" val="1367693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D362E06-4608-AFA9-06FE-05BB1EBD6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/>
              <a:t>How do we manage session state?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A5AE40-6FE2-E859-11D4-4037264D0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GB" sz="2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ource Code Pro"/>
                <a:ea typeface="Source Code Pro"/>
              </a:rPr>
              <a:t>session_state</a:t>
            </a:r>
            <a:r>
              <a:rPr lang="en-GB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Code Pro"/>
                <a:ea typeface="Source Code Pro"/>
              </a:rPr>
              <a:t> = [</a:t>
            </a:r>
          </a:p>
          <a:p>
            <a:pPr>
              <a:buNone/>
            </a:pPr>
            <a:r>
              <a:rPr lang="en-GB" sz="2000" dirty="0">
                <a:solidFill>
                  <a:srgbClr val="0B7743"/>
                </a:solidFill>
                <a:latin typeface="Source Code Pro"/>
                <a:ea typeface="Source Code Pro"/>
              </a:rPr>
              <a:t>    ‘system’</a:t>
            </a:r>
            <a:r>
              <a:rPr lang="en-GB" sz="2000" dirty="0">
                <a:solidFill>
                  <a:srgbClr val="666666"/>
                </a:solidFill>
                <a:latin typeface="Source Code Pro"/>
                <a:ea typeface="Source Code Pro"/>
              </a:rPr>
              <a:t>    : </a:t>
            </a:r>
            <a:r>
              <a:rPr lang="en-GB" sz="2000" dirty="0">
                <a:solidFill>
                  <a:srgbClr val="9325A5"/>
                </a:solidFill>
                <a:latin typeface="Source Code Pro"/>
                <a:ea typeface="Source Code Pro"/>
              </a:rPr>
              <a:t>“You are an expert in baking.”</a:t>
            </a:r>
            <a:r>
              <a:rPr lang="en-GB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Code Pro"/>
                <a:ea typeface="Source Code Pro"/>
              </a:rPr>
              <a:t>,</a:t>
            </a:r>
            <a:endParaRPr lang="en-GB" sz="2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>
              <a:buNone/>
            </a:pPr>
            <a:r>
              <a:rPr lang="en-GB" sz="2000" dirty="0">
                <a:solidFill>
                  <a:srgbClr val="0B7743"/>
                </a:solidFill>
                <a:latin typeface="Source Code Pro"/>
                <a:ea typeface="Source Code Pro"/>
              </a:rPr>
              <a:t>    ‘user’</a:t>
            </a:r>
            <a:r>
              <a:rPr lang="en-GB" sz="2000" dirty="0">
                <a:solidFill>
                  <a:srgbClr val="666666"/>
                </a:solidFill>
                <a:latin typeface="Source Code Pro"/>
                <a:ea typeface="Source Code Pro"/>
              </a:rPr>
              <a:t>      : </a:t>
            </a:r>
            <a:r>
              <a:rPr lang="en-GB" sz="2000" dirty="0">
                <a:solidFill>
                  <a:srgbClr val="9325A5"/>
                </a:solidFill>
                <a:latin typeface="Source Code Pro"/>
                <a:ea typeface="Source Code Pro"/>
              </a:rPr>
              <a:t>“Provide me a recipe for macarons.”</a:t>
            </a:r>
            <a:r>
              <a:rPr lang="en-GB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Code Pro"/>
                <a:ea typeface="Source Code Pro"/>
              </a:rPr>
              <a:t>,</a:t>
            </a:r>
            <a:endParaRPr lang="en-GB" sz="2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0B7743"/>
                </a:solidFill>
                <a:latin typeface="Source Code Pro"/>
                <a:ea typeface="Source Code Pro"/>
              </a:rPr>
              <a:t>    ‘assistant’</a:t>
            </a:r>
            <a:r>
              <a:rPr lang="en-GB" sz="2000" dirty="0">
                <a:solidFill>
                  <a:srgbClr val="666666"/>
                </a:solidFill>
                <a:latin typeface="Source Code Pro"/>
                <a:ea typeface="Source Code Pro"/>
              </a:rPr>
              <a:t> : </a:t>
            </a:r>
            <a:r>
              <a:rPr lang="en-GB" sz="2000" dirty="0">
                <a:solidFill>
                  <a:srgbClr val="9325A5"/>
                </a:solidFill>
                <a:latin typeface="Source Code Pro"/>
                <a:ea typeface="Source Code Pro"/>
              </a:rPr>
              <a:t>“Certainly! Here is a recipe for macarons …”</a:t>
            </a:r>
            <a:r>
              <a:rPr lang="en-GB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Code Pro"/>
                <a:ea typeface="Source Code Pro"/>
              </a:rPr>
              <a:t>,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B7743"/>
                </a:solidFill>
                <a:latin typeface="Source Code Pro"/>
                <a:ea typeface="Source Code Pro"/>
              </a:rPr>
              <a:t>    ‘user’</a:t>
            </a:r>
            <a:r>
              <a:rPr lang="en-GB" sz="2000" dirty="0">
                <a:solidFill>
                  <a:srgbClr val="666666"/>
                </a:solidFill>
                <a:latin typeface="Source Code Pro"/>
                <a:ea typeface="Source Code Pro"/>
              </a:rPr>
              <a:t>      : </a:t>
            </a:r>
            <a:r>
              <a:rPr lang="en-GB" sz="2000" dirty="0">
                <a:solidFill>
                  <a:srgbClr val="9325A5"/>
                </a:solidFill>
                <a:latin typeface="Source Code Pro"/>
                <a:ea typeface="Source Code Pro"/>
              </a:rPr>
              <a:t>“Is this the only way to make them?”</a:t>
            </a:r>
            <a:r>
              <a:rPr lang="en-GB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Code Pro"/>
                <a:ea typeface="Source Code Pro"/>
              </a:rPr>
              <a:t>,</a:t>
            </a:r>
            <a:endParaRPr lang="en-GB" sz="2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0B7743"/>
                </a:solidFill>
                <a:latin typeface="Source Code Pro"/>
                <a:ea typeface="Source Code Pro"/>
              </a:rPr>
              <a:t>    ‘assistant’</a:t>
            </a:r>
            <a:r>
              <a:rPr lang="en-GB" sz="2000" dirty="0">
                <a:solidFill>
                  <a:srgbClr val="666666"/>
                </a:solidFill>
                <a:latin typeface="Source Code Pro"/>
                <a:ea typeface="Source Code Pro"/>
              </a:rPr>
              <a:t> : </a:t>
            </a:r>
            <a:r>
              <a:rPr lang="en-GB" sz="2000" dirty="0">
                <a:solidFill>
                  <a:srgbClr val="9325A5"/>
                </a:solidFill>
                <a:latin typeface="Source Code Pro"/>
                <a:ea typeface="Source Code Pro"/>
              </a:rPr>
              <a:t>“Actually no! There are two common ways to …”</a:t>
            </a:r>
            <a:r>
              <a:rPr lang="en-GB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Code Pro"/>
                <a:ea typeface="Source Code Pro"/>
              </a:rPr>
              <a:t>,</a:t>
            </a:r>
            <a:endParaRPr lang="en-GB" sz="2000" dirty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/>
              <a:ea typeface="Source Code Pro"/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0B7743"/>
                </a:solidFill>
                <a:latin typeface="Source Code Pro"/>
                <a:ea typeface="Source Code Pro"/>
              </a:rPr>
              <a:t>    ‘user’</a:t>
            </a:r>
            <a:r>
              <a:rPr lang="en-GB" sz="2000" dirty="0">
                <a:solidFill>
                  <a:srgbClr val="666666"/>
                </a:solidFill>
                <a:latin typeface="Source Code Pro"/>
                <a:ea typeface="Source Code Pro"/>
              </a:rPr>
              <a:t>      : </a:t>
            </a:r>
            <a:r>
              <a:rPr lang="en-GB" sz="2000" dirty="0">
                <a:solidFill>
                  <a:srgbClr val="9325A5"/>
                </a:solidFill>
                <a:latin typeface="Source Code Pro"/>
                <a:ea typeface="Source Code Pro"/>
              </a:rPr>
              <a:t>“I think I'll try the Italian method first.”</a:t>
            </a:r>
            <a:r>
              <a:rPr lang="en-GB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Code Pro"/>
                <a:ea typeface="Source Code Pro"/>
              </a:rPr>
              <a:t>,</a:t>
            </a:r>
            <a:endParaRPr lang="en-GB" sz="2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0B7743"/>
                </a:solidFill>
                <a:latin typeface="Source Code Pro"/>
                <a:ea typeface="Source Code Pro"/>
              </a:rPr>
              <a:t>    ‘assistant’</a:t>
            </a:r>
            <a:r>
              <a:rPr lang="en-GB" sz="2000" dirty="0">
                <a:solidFill>
                  <a:srgbClr val="666666"/>
                </a:solidFill>
                <a:latin typeface="Source Code Pro"/>
                <a:ea typeface="Source Code Pro"/>
              </a:rPr>
              <a:t> : </a:t>
            </a:r>
            <a:r>
              <a:rPr lang="en-GB" sz="2000" dirty="0">
                <a:solidFill>
                  <a:srgbClr val="9325A5"/>
                </a:solidFill>
                <a:latin typeface="Source Code Pro"/>
                <a:ea typeface="Source Code Pro"/>
              </a:rPr>
              <a:t>“What an insightful idea! Let's get started …”</a:t>
            </a:r>
            <a:r>
              <a:rPr lang="en-GB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Code Pro"/>
                <a:ea typeface="Source Code Pro"/>
              </a:rPr>
              <a:t>,</a:t>
            </a:r>
            <a:endParaRPr lang="en-GB" sz="2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ptos"/>
                <a:ea typeface="Source Code Pro"/>
              </a:rPr>
              <a:t>             …</a:t>
            </a:r>
            <a:endParaRPr lang="en-GB" sz="2000" dirty="0">
              <a:solidFill>
                <a:schemeClr val="tx1">
                  <a:lumMod val="65000"/>
                  <a:lumOff val="35000"/>
                </a:schemeClr>
              </a:solidFill>
              <a:latin typeface="Source Code Pro"/>
              <a:ea typeface="Source Code Pro"/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ptos"/>
                <a:ea typeface="Source Code Pro"/>
              </a:rPr>
              <a:t>]</a:t>
            </a:r>
          </a:p>
          <a:p>
            <a:pPr marL="0" indent="0">
              <a:buNone/>
            </a:pPr>
            <a:endParaRPr lang="en-GB" sz="2200" dirty="0">
              <a:latin typeface="Aptos"/>
              <a:ea typeface="Source Code Pro"/>
            </a:endParaRPr>
          </a:p>
        </p:txBody>
      </p:sp>
    </p:spTree>
    <p:extLst>
      <p:ext uri="{BB962C8B-B14F-4D97-AF65-F5344CB8AC3E}">
        <p14:creationId xmlns:p14="http://schemas.microsoft.com/office/powerpoint/2010/main" val="2456548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420</Words>
  <Application>Microsoft Macintosh PowerPoint</Application>
  <PresentationFormat>Widescreen</PresentationFormat>
  <Paragraphs>49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Source Code Pro</vt:lpstr>
      <vt:lpstr>Office Theme</vt:lpstr>
      <vt:lpstr>Orchestration</vt:lpstr>
      <vt:lpstr>The illusion of memory</vt:lpstr>
      <vt:lpstr>How do we manage session state?</vt:lpstr>
      <vt:lpstr>How do we manage session state?</vt:lpstr>
      <vt:lpstr>How do we manage session state?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Finley Griffin</dc:creator>
  <cp:lastModifiedBy>Finley Griffin</cp:lastModifiedBy>
  <cp:revision>1</cp:revision>
  <dcterms:created xsi:type="dcterms:W3CDTF">2026-05-12T08:55:05Z</dcterms:created>
  <dcterms:modified xsi:type="dcterms:W3CDTF">2026-05-12T09:18:31Z</dcterms:modified>
</cp:coreProperties>
</file>