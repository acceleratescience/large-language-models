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fe9b61bb4478e" /><Relationship Type="http://schemas.openxmlformats.org/officeDocument/2006/relationships/extended-properties" Target="/docProps/app.xml" Id="R2346904897954451" /><Relationship Type="http://schemas.openxmlformats.org/officeDocument/2006/relationships/officeDocument" Target="/ppt/presentation.xml" Id="R030f3f16f57e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b2ca82da6d4bd0"/>
  </p:sldMasterIdLst>
  <p:notesMasterIdLst>
    <p:notesMasterId xmlns:r="http://schemas.openxmlformats.org/officeDocument/2006/relationships" r:id="R79227f0633a44e39"/>
  </p:notesMasterIdLst>
  <p:sldIdLst>
    <p:sldId xmlns:r="http://schemas.openxmlformats.org/officeDocument/2006/relationships" id="256" r:id="Re41a73b539d54f84"/>
    <p:sldId xmlns:r="http://schemas.openxmlformats.org/officeDocument/2006/relationships" id="257" r:id="Ra18aec7051b34248"/>
    <p:sldId xmlns:r="http://schemas.openxmlformats.org/officeDocument/2006/relationships" id="258" r:id="Rb64a5aa16bf1492d"/>
    <p:sldId xmlns:r="http://schemas.openxmlformats.org/officeDocument/2006/relationships" id="259" r:id="Rb7e21c3ee16c4c97"/>
    <p:sldId xmlns:r="http://schemas.openxmlformats.org/officeDocument/2006/relationships" id="260" r:id="R3133b86d743948a9"/>
    <p:sldId xmlns:r="http://schemas.openxmlformats.org/officeDocument/2006/relationships" id="261" r:id="R4d58c195169b49e2"/>
    <p:sldId xmlns:r="http://schemas.openxmlformats.org/officeDocument/2006/relationships" id="262" r:id="R7d34d571c20242df"/>
    <p:sldId xmlns:r="http://schemas.openxmlformats.org/officeDocument/2006/relationships" id="263" r:id="Rd44aba82ac0a4edd"/>
    <p:sldId xmlns:r="http://schemas.openxmlformats.org/officeDocument/2006/relationships" id="264" r:id="R6f37f9cd9285458f"/>
    <p:sldId xmlns:r="http://schemas.openxmlformats.org/officeDocument/2006/relationships" id="265" r:id="R2b9c9da4f39841a3"/>
    <p:sldId xmlns:r="http://schemas.openxmlformats.org/officeDocument/2006/relationships" id="266" r:id="R3310451b2dcd40e5"/>
    <p:sldId xmlns:r="http://schemas.openxmlformats.org/officeDocument/2006/relationships" id="267" r:id="R3a5fd3380e74437a"/>
    <p:sldId xmlns:r="http://schemas.openxmlformats.org/officeDocument/2006/relationships" id="268" r:id="R55d5a5ade8a54787"/>
    <p:sldId xmlns:r="http://schemas.openxmlformats.org/officeDocument/2006/relationships" id="269" r:id="R65981b89e5124fbc"/>
    <p:sldId xmlns:r="http://schemas.openxmlformats.org/officeDocument/2006/relationships" id="270" r:id="Rfc8b7e716c8d47d1"/>
    <p:sldId xmlns:r="http://schemas.openxmlformats.org/officeDocument/2006/relationships" id="271" r:id="R9fcdda964ca54327"/>
    <p:sldId xmlns:r="http://schemas.openxmlformats.org/officeDocument/2006/relationships" id="272" r:id="R38da0a50aeac4edf"/>
    <p:sldId xmlns:r="http://schemas.openxmlformats.org/officeDocument/2006/relationships" id="273" r:id="Re852335f792948fe"/>
    <p:sldId xmlns:r="http://schemas.openxmlformats.org/officeDocument/2006/relationships" id="274" r:id="Rc99cba173f414aab"/>
    <p:sldId xmlns:r="http://schemas.openxmlformats.org/officeDocument/2006/relationships" id="275" r:id="Rf3d70bd0b1af4ed0"/>
    <p:sldId xmlns:r="http://schemas.openxmlformats.org/officeDocument/2006/relationships" id="276" r:id="R6092d784b5d84160"/>
    <p:sldId xmlns:r="http://schemas.openxmlformats.org/officeDocument/2006/relationships" id="277" r:id="Rebd0343270984006"/>
    <p:sldId xmlns:r="http://schemas.openxmlformats.org/officeDocument/2006/relationships" id="278" r:id="Rb3c1abe186fd4d2d"/>
    <p:sldId xmlns:r="http://schemas.openxmlformats.org/officeDocument/2006/relationships" id="279" r:id="Rade1222386ae47b7"/>
    <p:sldId xmlns:r="http://schemas.openxmlformats.org/officeDocument/2006/relationships" id="280" r:id="Ra704d5cfe3164ebf"/>
    <p:sldId xmlns:r="http://schemas.openxmlformats.org/officeDocument/2006/relationships" id="281" r:id="Rf4945592ede6414a"/>
    <p:sldId xmlns:r="http://schemas.openxmlformats.org/officeDocument/2006/relationships" id="282" r:id="Rd9ea7ce10873447c"/>
    <p:sldId xmlns:r="http://schemas.openxmlformats.org/officeDocument/2006/relationships" id="283" r:id="Red9d617fcd8e4c54"/>
    <p:sldId xmlns:r="http://schemas.openxmlformats.org/officeDocument/2006/relationships" id="284" r:id="Rb53daaa905e6455f"/>
    <p:sldId xmlns:r="http://schemas.openxmlformats.org/officeDocument/2006/relationships" id="285" r:id="R0cc0c72fbe144aa9"/>
    <p:sldId xmlns:r="http://schemas.openxmlformats.org/officeDocument/2006/relationships" id="286" r:id="R72bff58c4c1d460c"/>
    <p:sldId xmlns:r="http://schemas.openxmlformats.org/officeDocument/2006/relationships" id="287" r:id="R57ef943a4a3d44a2"/>
    <p:sldId xmlns:r="http://schemas.openxmlformats.org/officeDocument/2006/relationships" id="288" r:id="Rcf941c95542c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3c2329bd61419f" /><Relationship Type="http://schemas.openxmlformats.org/officeDocument/2006/relationships/slideMaster" Target="/ppt/slideMasters/slideMaster1.xml" Id="Recb2ca82da6d4bd0" /><Relationship Type="http://schemas.openxmlformats.org/officeDocument/2006/relationships/notesMaster" Target="/ppt/notesMasters/notesMaster1.xml" Id="R79227f0633a44e39" /><Relationship Type="http://schemas.openxmlformats.org/officeDocument/2006/relationships/presProps" Target="/ppt/presProps.xml" Id="R5c2311b3d4534ba4" /><Relationship Type="http://schemas.openxmlformats.org/officeDocument/2006/relationships/viewProps" Target="/ppt/viewProps.xml" Id="R2f8e8992114c4d20" /><Relationship Type="http://schemas.openxmlformats.org/officeDocument/2006/relationships/tableStyles" Target="/ppt/tableStyles.xml" Id="R8017265f9a1a4b97" /><Relationship Type="http://schemas.openxmlformats.org/officeDocument/2006/relationships/slide" Target="/ppt/slides/slide1.xml" Id="Re41a73b539d54f84" /><Relationship Type="http://schemas.openxmlformats.org/officeDocument/2006/relationships/slide" Target="/ppt/slides/slide2.xml" Id="Ra18aec7051b34248" /><Relationship Type="http://schemas.openxmlformats.org/officeDocument/2006/relationships/slide" Target="/ppt/slides/slide3.xml" Id="Rb64a5aa16bf1492d" /><Relationship Type="http://schemas.openxmlformats.org/officeDocument/2006/relationships/slide" Target="/ppt/slides/slide4.xml" Id="Rb7e21c3ee16c4c97" /><Relationship Type="http://schemas.openxmlformats.org/officeDocument/2006/relationships/slide" Target="/ppt/slides/slide5.xml" Id="R3133b86d743948a9" /><Relationship Type="http://schemas.openxmlformats.org/officeDocument/2006/relationships/slide" Target="/ppt/slides/slide6.xml" Id="R4d58c195169b49e2" /><Relationship Type="http://schemas.openxmlformats.org/officeDocument/2006/relationships/slide" Target="/ppt/slides/slide7.xml" Id="R7d34d571c20242df" /><Relationship Type="http://schemas.openxmlformats.org/officeDocument/2006/relationships/slide" Target="/ppt/slides/slide8.xml" Id="Rd44aba82ac0a4edd" /><Relationship Type="http://schemas.openxmlformats.org/officeDocument/2006/relationships/slide" Target="/ppt/slides/slide9.xml" Id="R6f37f9cd9285458f" /><Relationship Type="http://schemas.openxmlformats.org/officeDocument/2006/relationships/slide" Target="/ppt/slides/slide10.xml" Id="R2b9c9da4f39841a3" /><Relationship Type="http://schemas.openxmlformats.org/officeDocument/2006/relationships/slide" Target="/ppt/slides/slide11.xml" Id="R3310451b2dcd40e5" /><Relationship Type="http://schemas.openxmlformats.org/officeDocument/2006/relationships/slide" Target="/ppt/slides/slide12.xml" Id="R3a5fd3380e74437a" /><Relationship Type="http://schemas.openxmlformats.org/officeDocument/2006/relationships/slide" Target="/ppt/slides/slide13.xml" Id="R55d5a5ade8a54787" /><Relationship Type="http://schemas.openxmlformats.org/officeDocument/2006/relationships/slide" Target="/ppt/slides/slide14.xml" Id="R65981b89e5124fbc" /><Relationship Type="http://schemas.openxmlformats.org/officeDocument/2006/relationships/slide" Target="/ppt/slides/slide15.xml" Id="Rfc8b7e716c8d47d1" /><Relationship Type="http://schemas.openxmlformats.org/officeDocument/2006/relationships/slide" Target="/ppt/slides/slide16.xml" Id="R9fcdda964ca54327" /><Relationship Type="http://schemas.openxmlformats.org/officeDocument/2006/relationships/slide" Target="/ppt/slides/slide17.xml" Id="R38da0a50aeac4edf" /><Relationship Type="http://schemas.openxmlformats.org/officeDocument/2006/relationships/slide" Target="/ppt/slides/slide18.xml" Id="Re852335f792948fe" /><Relationship Type="http://schemas.openxmlformats.org/officeDocument/2006/relationships/slide" Target="/ppt/slides/slide19.xml" Id="Rc99cba173f414aab" /><Relationship Type="http://schemas.openxmlformats.org/officeDocument/2006/relationships/slide" Target="/ppt/slides/slide20.xml" Id="Rf3d70bd0b1af4ed0" /><Relationship Type="http://schemas.openxmlformats.org/officeDocument/2006/relationships/slide" Target="/ppt/slides/slide21.xml" Id="R6092d784b5d84160" /><Relationship Type="http://schemas.openxmlformats.org/officeDocument/2006/relationships/slide" Target="/ppt/slides/slide22.xml" Id="Rebd0343270984006" /><Relationship Type="http://schemas.openxmlformats.org/officeDocument/2006/relationships/slide" Target="/ppt/slides/slide23.xml" Id="Rb3c1abe186fd4d2d" /><Relationship Type="http://schemas.openxmlformats.org/officeDocument/2006/relationships/slide" Target="/ppt/slides/slide24.xml" Id="Rade1222386ae47b7" /><Relationship Type="http://schemas.openxmlformats.org/officeDocument/2006/relationships/slide" Target="/ppt/slides/slide25.xml" Id="Ra704d5cfe3164ebf" /><Relationship Type="http://schemas.openxmlformats.org/officeDocument/2006/relationships/slide" Target="/ppt/slides/slide26.xml" Id="Rf4945592ede6414a" /><Relationship Type="http://schemas.openxmlformats.org/officeDocument/2006/relationships/slide" Target="/ppt/slides/slide27.xml" Id="Rd9ea7ce10873447c" /><Relationship Type="http://schemas.openxmlformats.org/officeDocument/2006/relationships/slide" Target="/ppt/slides/slide28.xml" Id="Red9d617fcd8e4c54" /><Relationship Type="http://schemas.openxmlformats.org/officeDocument/2006/relationships/slide" Target="/ppt/slides/slide29.xml" Id="Rb53daaa905e6455f" /><Relationship Type="http://schemas.openxmlformats.org/officeDocument/2006/relationships/slide" Target="/ppt/slides/slide30.xml" Id="R0cc0c72fbe144aa9" /><Relationship Type="http://schemas.openxmlformats.org/officeDocument/2006/relationships/slide" Target="/ppt/slides/slide31.xml" Id="R72bff58c4c1d460c" /><Relationship Type="http://schemas.openxmlformats.org/officeDocument/2006/relationships/slide" Target="/ppt/slides/slide32.xml" Id="R57ef943a4a3d44a2" /><Relationship Type="http://schemas.openxmlformats.org/officeDocument/2006/relationships/slide" Target="/ppt/slides/slide33.xml" Id="Rcf941c95542c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4ba13ab30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ce6a17f2e04f60" /><Relationship Type="http://schemas.openxmlformats.org/officeDocument/2006/relationships/notesMaster" Target="/ppt/notesMasters/notesMaster1.xml" Id="Rd933cd4c59de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1cc67cefa84154" /><Relationship Type="http://schemas.openxmlformats.org/officeDocument/2006/relationships/notesMaster" Target="/ppt/notesMasters/notesMaster1.xml" Id="R1857037b8cfb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c984a6650428c" /><Relationship Type="http://schemas.openxmlformats.org/officeDocument/2006/relationships/notesMaster" Target="/ppt/notesMasters/notesMaster1.xml" Id="R9a4903b65a4e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722c250ea24c27" /><Relationship Type="http://schemas.openxmlformats.org/officeDocument/2006/relationships/notesMaster" Target="/ppt/notesMasters/notesMaster1.xml" Id="R5323c28111524b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1bc1ac60644ba" /><Relationship Type="http://schemas.openxmlformats.org/officeDocument/2006/relationships/notesMaster" Target="/ppt/notesMasters/notesMaster1.xml" Id="Rbae190b7909f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bf462e50f4bf1" /><Relationship Type="http://schemas.openxmlformats.org/officeDocument/2006/relationships/notesMaster" Target="/ppt/notesMasters/notesMaster1.xml" Id="Rc467c1d6dd7b4f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38f6498ba142cb" /><Relationship Type="http://schemas.openxmlformats.org/officeDocument/2006/relationships/notesMaster" Target="/ppt/notesMasters/notesMaster1.xml" Id="R80b5f3e6df514a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2302a7436d4a33" /><Relationship Type="http://schemas.openxmlformats.org/officeDocument/2006/relationships/notesMaster" Target="/ppt/notesMasters/notesMaster1.xml" Id="R499403ff420649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48ed09da9c4e3c" /><Relationship Type="http://schemas.openxmlformats.org/officeDocument/2006/relationships/notesMaster" Target="/ppt/notesMasters/notesMaster1.xml" Id="Rb4dedcfaec3941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4df1cb095e47d5" /><Relationship Type="http://schemas.openxmlformats.org/officeDocument/2006/relationships/notesMaster" Target="/ppt/notesMasters/notesMaster1.xml" Id="R46cae3fa526f47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be503dbfc04761" /><Relationship Type="http://schemas.openxmlformats.org/officeDocument/2006/relationships/notesMaster" Target="/ppt/notesMasters/notesMaster1.xml" Id="R08a93f014f5a40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2eca9d2154dd1" /><Relationship Type="http://schemas.openxmlformats.org/officeDocument/2006/relationships/notesMaster" Target="/ppt/notesMasters/notesMaster1.xml" Id="R433257e3c43e41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23bf01281c4293" /><Relationship Type="http://schemas.openxmlformats.org/officeDocument/2006/relationships/notesMaster" Target="/ppt/notesMasters/notesMaster1.xml" Id="Rf86fd536d94b48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b164975f04422b" /><Relationship Type="http://schemas.openxmlformats.org/officeDocument/2006/relationships/notesMaster" Target="/ppt/notesMasters/notesMaster1.xml" Id="Ra0f6fbca11ce4d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5323ae14ac4d76" /><Relationship Type="http://schemas.openxmlformats.org/officeDocument/2006/relationships/notesMaster" Target="/ppt/notesMasters/notesMaster1.xml" Id="Ra353e180f8da4b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4cec885bf74a2b" /><Relationship Type="http://schemas.openxmlformats.org/officeDocument/2006/relationships/notesMaster" Target="/ppt/notesMasters/notesMaster1.xml" Id="R9bcb27e5139246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06a50d5220452c" /><Relationship Type="http://schemas.openxmlformats.org/officeDocument/2006/relationships/notesMaster" Target="/ppt/notesMasters/notesMaster1.xml" Id="R23b46b9a94ed45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2d56e89ffff423f" /><Relationship Type="http://schemas.openxmlformats.org/officeDocument/2006/relationships/notesMaster" Target="/ppt/notesMasters/notesMaster1.xml" Id="Re4dc737d6a5a43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be77a4dbf049c3" /><Relationship Type="http://schemas.openxmlformats.org/officeDocument/2006/relationships/notesMaster" Target="/ppt/notesMasters/notesMaster1.xml" Id="R9562c813abc54d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64850b4845457a" /><Relationship Type="http://schemas.openxmlformats.org/officeDocument/2006/relationships/notesMaster" Target="/ppt/notesMasters/notesMaster1.xml" Id="R45f7b93d535f4f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d69e257d964fb4" /><Relationship Type="http://schemas.openxmlformats.org/officeDocument/2006/relationships/notesMaster" Target="/ppt/notesMasters/notesMaster1.xml" Id="R44cd8ff31d824d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65bc1b74d54418" /><Relationship Type="http://schemas.openxmlformats.org/officeDocument/2006/relationships/notesMaster" Target="/ppt/notesMasters/notesMaster1.xml" Id="Rb53da263da7e41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72073fa2e144a5" /><Relationship Type="http://schemas.openxmlformats.org/officeDocument/2006/relationships/notesMaster" Target="/ppt/notesMasters/notesMaster1.xml" Id="R35ed62d4bfc748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4bee0ae0a945dc" /><Relationship Type="http://schemas.openxmlformats.org/officeDocument/2006/relationships/notesMaster" Target="/ppt/notesMasters/notesMaster1.xml" Id="R465539d6af3941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29312ce87b64741" /><Relationship Type="http://schemas.openxmlformats.org/officeDocument/2006/relationships/notesMaster" Target="/ppt/notesMasters/notesMaster1.xml" Id="Rdcee78ab47d74e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6fe8e417768483a" /><Relationship Type="http://schemas.openxmlformats.org/officeDocument/2006/relationships/notesMaster" Target="/ppt/notesMasters/notesMaster1.xml" Id="R3b9654a159434b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2626061a0f45a1" /><Relationship Type="http://schemas.openxmlformats.org/officeDocument/2006/relationships/notesMaster" Target="/ppt/notesMasters/notesMaster1.xml" Id="Rbcb59898334b4af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8d09dfe04d6486e" /><Relationship Type="http://schemas.openxmlformats.org/officeDocument/2006/relationships/notesMaster" Target="/ppt/notesMasters/notesMaster1.xml" Id="Ra7ab16857b4446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49bed7ce9a4e6b" /><Relationship Type="http://schemas.openxmlformats.org/officeDocument/2006/relationships/notesMaster" Target="/ppt/notesMasters/notesMaster1.xml" Id="R0cc3d91fd0604ab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51eccea397465e" /><Relationship Type="http://schemas.openxmlformats.org/officeDocument/2006/relationships/notesMaster" Target="/ppt/notesMasters/notesMaster1.xml" Id="R556bd2c103004bf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1e78f8e96314e5c" /><Relationship Type="http://schemas.openxmlformats.org/officeDocument/2006/relationships/notesMaster" Target="/ppt/notesMasters/notesMaster1.xml" Id="R2f4a68b780034c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e3901b08b64133" /><Relationship Type="http://schemas.openxmlformats.org/officeDocument/2006/relationships/notesMaster" Target="/ppt/notesMasters/notesMaster1.xml" Id="R76edccc1eb8141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34cfe438b04414c" /><Relationship Type="http://schemas.openxmlformats.org/officeDocument/2006/relationships/notesMaster" Target="/ppt/notesMasters/notesMaster1.xml" Id="R158526e8cfb24d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27eaa03d646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68fc3b6f94a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d789c07f54d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80f183b9d49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e5921b93f42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eec18c3d4d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f2343d3244b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13bd86ad641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263172eab432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6b4c43d9b41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0c20eb2534af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e5ada8f2544ea" /><Relationship Type="http://schemas.openxmlformats.org/officeDocument/2006/relationships/image" Target="/ppt/media/image.png" Id="R0f156c5e465247e9" /><Relationship Type="http://schemas.openxmlformats.org/officeDocument/2006/relationships/image" Target="/ppt/media/image2.png" Id="Rf841fd4e91854681" /><Relationship Type="http://schemas.openxmlformats.org/officeDocument/2006/relationships/image" Target="/ppt/media/image3.png" Id="Ra3f9dcd4e250414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6D0BDD-F7D6-4E1E-A551-A40A9FFDAA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D9CD83E-CA91-4E3B-9A4E-B24A266619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BC46AA-7042-4FC0-9DD8-B66524B0E6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2C08CA-7A2E-4787-A534-75F99F8BC6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9E5312-0748-4CB2-B48E-4C4812A07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531063-5E0F-4211-9F6D-5E325A945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8127EA-CABB-41A7-830B-A15A54251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1E8841-743C-4156-8F5E-175286E6E4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186B79-5ECC-45DE-BE7A-28609DBF57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CD9655-9E85-4BDA-86A7-0ABAF1D694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3DE8F5-7340-45B1-A214-0297E9B1C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CDA1EB-070E-47CD-8B25-FE8AB1DC8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3414D81-1299-4A29-B4F5-144F539860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BED85B-7A54-4E89-AF77-91144BE9A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35A762-1EA9-446F-BE03-1A2FE9F50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6358B2-DEDD-40CC-B032-FA8BA4B0B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896BDA-12C0-49AC-8F15-35951C2E82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E1315A-D97D-4E9E-88EC-3BD8FE6180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13D20F0-E9E8-4603-9524-FF3589A78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02B6F7-FCB6-4992-960B-BBFCE92053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670CC0-8444-42BC-B1CD-253D6A1F19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95290-A3BA-4955-9419-31EF8D463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48BB85-4F09-4DA4-9D82-4ABC4FCA1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5BEB99-BAC7-4D80-A1BE-86846C56D9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AB367E-7E7A-4EE1-9C35-97080742E4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2B87A2E-B876-418E-8897-9FDD7A5A735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FBA602A-DAA5-4546-AF55-B2252769E5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1B4D401-E604-44FC-B833-B5D614AF5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1A5900F-C5B2-4476-96FB-F46770704E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4CD83-6FEC-474D-8517-BBC50F97B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2B17FC8-F751-4EC8-A735-0B8C6F1D1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49FDE10-A592-42A9-B907-BB57910AAC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BCA8A59-1470-4FC9-8178-3F67FF661F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F6B5DAC-B31B-41EB-991A-7BAA7E773B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937910E-2A2F-4A9B-A15D-4FF56BBD1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4BBE7CB-0CCA-481F-BB08-420FE3EAA9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AA269D-D4A6-496D-A573-8EFE12035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6FBBF2-DE09-4ACB-AD2B-5F49858DC2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4F0660-4923-4EE2-B702-EA33FA4ED1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2B362E-5B24-4BF1-A87F-D13F0A4C3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593CF5-73CB-42BF-82AA-02AB98ADA5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163B090-560B-49BF-A4A6-27277F58E2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8270AE-7F86-41BF-BACE-6D1AD213B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D8D509F-B760-4C44-9147-56D544BF80F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929B2FD-1A5D-47F3-A8D6-6525A242EF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C0478E7-4643-41D3-81E7-8FE057B494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9E3C81-52F4-4001-9AA3-05C7B2579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E5B276-F2CF-4CE6-A798-EDEAA5F094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623032-C346-4904-8994-403E93B64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0DD2F1-ECA8-4625-9771-B3C740542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4215A0-2C88-4503-81C5-BA893AD3C6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F56225-BE8C-4643-BE8D-BBE7C39F4E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1AF5BC-3858-485D-B264-770767602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AC7CBFC-5150-4C1A-AB1D-27FDE31952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D0DC31-1172-40F7-80A5-2BEEA5601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E24A98-C682-4C61-AF05-E119CAB1D4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FD66E-E99E-42C5-83B1-028596C179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99BF10-DD02-4467-9FAE-2A2571A041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Content slide 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56c5e465247e9">
            <a:alphaModFix amt="3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8129" y="0"/>
            <a:ext cx="4873871" cy="7395883"/>
          </a:xfrm>
          <a:prstGeom xmlns:a="http://schemas.openxmlformats.org/drawingml/2006/main" prst="rect">
            <a:avLst/>
          </a:prstGeom>
        </p:spPr>
      </p:pic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1BDBEA7-E1C0-4478-AA75-A3C1B3AC556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03659" y="373404"/>
            <a:ext cx="11176000" cy="6339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>
            <a:normAutofit/>
          </a:bodyPr>
          <a:lstStyle xmlns:a="http://schemas.openxmlformats.org/drawingml/2006/main">
            <a:lvl1pPr marL="0" indent="0">
              <a:buNone/>
              <a:defRPr sz="3200" b="1" baseline="0">
                <a:solidFill>
                  <a:srgbClr val="235EE2"/>
                </a:solidFill>
                <a:latin typeface="Helvetica"/>
                <a:ea typeface="Helvetica"/>
                <a:cs typeface="Helvetica"/>
              </a:defRPr>
            </a:lvl1pPr>
            <a:lvl2pPr>
              <a:buNone/>
              <a:defRPr>
                <a:latin typeface="Avenir Heavy"/>
                <a:ea typeface="Avenir Heavy"/>
                <a:cs typeface="Avenir Heavy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 xmlns:a="http://schemas.openxmlformats.org/drawingml/2006/main">
            <a:pPr lvl="0">
              <a:buNone/>
            </a:pPr>
            <a:r>
              <a:t>Slide title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8FF138BA-895B-4F41-844A-EA086C0E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9" y="1071268"/>
            <a:ext cx="11176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1F5A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C351B8F-B13C-4D14-B42A-D274156121F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3659" y="1146008"/>
            <a:ext cx="11176000" cy="5994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>
            <a:normAutofit/>
          </a:bodyPr>
          <a:lstStyle xmlns:a="http://schemas.openxmlformats.org/drawingml/2006/main">
            <a:lvl1pPr marL="0" indent="0">
              <a:buNone/>
              <a:defRPr sz="2667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Helvetica"/>
                <a:cs typeface="Helvetica"/>
              </a:defRPr>
            </a:lvl1pPr>
            <a:lvl2pPr>
              <a:buNone/>
              <a:defRPr>
                <a:latin typeface="Avenir Heavy"/>
                <a:ea typeface="Avenir Heavy"/>
                <a:cs typeface="Avenir Heavy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 xmlns:a="http://schemas.openxmlformats.org/drawingml/2006/main">
            <a:pPr lvl="0">
              <a:buNone/>
            </a:pPr>
            <a:r>
              <a:t>Sub-title</a:t>
            </a:r>
          </a:p>
        </p:txBody>
      </p:sp>
      <p:sp>
        <p:nvSpPr>
          <p:cNvPr id="1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078533B-4AD1-478C-AA31-2B9192BC0FD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3659" y="1867010"/>
            <a:ext cx="11176000" cy="39945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380990" indent="-380990">
              <a:buClr>
                <a:srgbClr val="235EE2"/>
              </a:buClr>
              <a:buSzPct val="70000"/>
              <a:buFont typeface="Courier New"/>
              <a:buChar char="o"/>
              <a:defRPr sz="1867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Helvetica"/>
                <a:cs typeface="Helvetica"/>
              </a:defRPr>
            </a:lvl1pPr>
            <a:lvl2pPr>
              <a:buClr>
                <a:srgbClr val="235EE2"/>
              </a:buClr>
              <a:buSzPct val="70000"/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Helvetica Light"/>
                <a:cs typeface="Helvetica Light"/>
              </a:defRPr>
            </a:lvl2pPr>
            <a:lvl3pPr>
              <a:buNone/>
              <a:defRPr>
                <a:latin typeface="Avenir Heavy"/>
                <a:ea typeface="Avenir Heavy"/>
                <a:cs typeface="Avenir Heavy"/>
              </a:defRPr>
            </a:lvl3pPr>
            <a:lvl4pPr>
              <a:buNone/>
              <a:defRPr>
                <a:latin typeface="Avenir Heavy"/>
                <a:ea typeface="Avenir Heavy"/>
                <a:cs typeface="Avenir Heavy"/>
              </a:defRPr>
            </a:lvl4pPr>
            <a:lvl5pPr>
              <a:buNone/>
              <a:defRPr>
                <a:latin typeface="Avenir Heavy"/>
                <a:ea typeface="Avenir Heavy"/>
                <a:cs typeface="Avenir Heavy"/>
              </a:defRPr>
            </a:lvl5pPr>
          </a:lstStyle>
          <a:p xmlns:a="http://schemas.openxmlformats.org/drawingml/2006/main">
            <a:pPr lvl="0">
              <a:buNone/>
            </a:pPr>
            <a:r>
              <a:t>Body text</a:t>
            </a:r>
          </a:p>
          <a:p xmlns:a="http://schemas.openxmlformats.org/drawingml/2006/main">
            <a:pPr lvl="1">
              <a:buNone/>
            </a:pPr>
            <a:r>
              <a:rPr>
                <a:latin typeface="Avenir Book"/>
                <a:ea typeface="Avenir Book"/>
                <a:cs typeface="Avenir Book"/>
              </a:rPr>
              <a:t>Sub text</a:t>
            </a: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1fd4e9185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19" y="6042840"/>
            <a:ext cx="1719725" cy="514429"/>
          </a:xfrm>
          <a:prstGeom xmlns:a="http://schemas.openxmlformats.org/drawingml/2006/main" prst="rect">
            <a:avLst/>
          </a:prstGeom>
        </p:spPr>
      </p:pic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9dcd4e250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17034" y="6042839"/>
            <a:ext cx="1162612" cy="514431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8ea6d783114f0a" /><Relationship Type="http://schemas.openxmlformats.org/officeDocument/2006/relationships/slideLayout" Target="/ppt/slideLayouts/slideLayout1.xml" Id="R345d033ba7a2427e" /><Relationship Type="http://schemas.openxmlformats.org/officeDocument/2006/relationships/slideLayout" Target="/ppt/slideLayouts/slideLayout2.xml" Id="R1838702200994035" /><Relationship Type="http://schemas.openxmlformats.org/officeDocument/2006/relationships/slideLayout" Target="/ppt/slideLayouts/slideLayout3.xml" Id="Rd71e997598674ebc" /><Relationship Type="http://schemas.openxmlformats.org/officeDocument/2006/relationships/slideLayout" Target="/ppt/slideLayouts/slideLayout4.xml" Id="R2ca29445145d4b1b" /><Relationship Type="http://schemas.openxmlformats.org/officeDocument/2006/relationships/slideLayout" Target="/ppt/slideLayouts/slideLayout5.xml" Id="R2c0134ef49104e84" /><Relationship Type="http://schemas.openxmlformats.org/officeDocument/2006/relationships/slideLayout" Target="/ppt/slideLayouts/slideLayout6.xml" Id="R984eb1be5a124584" /><Relationship Type="http://schemas.openxmlformats.org/officeDocument/2006/relationships/slideLayout" Target="/ppt/slideLayouts/slideLayout7.xml" Id="R396949ea628741cc" /><Relationship Type="http://schemas.openxmlformats.org/officeDocument/2006/relationships/slideLayout" Target="/ppt/slideLayouts/slideLayout8.xml" Id="R58628fac6bf14a13" /><Relationship Type="http://schemas.openxmlformats.org/officeDocument/2006/relationships/slideLayout" Target="/ppt/slideLayouts/slideLayout9.xml" Id="Rc1cbf7d2795d4017" /><Relationship Type="http://schemas.openxmlformats.org/officeDocument/2006/relationships/slideLayout" Target="/ppt/slideLayouts/slideLayout10.xml" Id="Ra7e940dd2b03443c" /><Relationship Type="http://schemas.openxmlformats.org/officeDocument/2006/relationships/slideLayout" Target="/ppt/slideLayouts/slideLayout11.xml" Id="Rd27b786a7de84bd5" /><Relationship Type="http://schemas.openxmlformats.org/officeDocument/2006/relationships/slideLayout" Target="/ppt/slideLayouts/slideLayout12.xml" Id="R1b00702bf0de40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4179FBE-09EC-4D1F-97CE-F87304717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567B9C-4C5D-45C8-900C-769E38851A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D9233C-CAE8-4ABF-B2C9-72B347172E2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6CE7D5-CF57-46EF-B807-FDD0502418D4}" type="datetimeFigureOut">
              <a:t>9/22/26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926474-0699-4EEC-A7B2-C2616DA7B8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9CACA-ADB3-4A41-948E-7E5FA2F1AA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d033ba7a2427e"/>
    <p:sldLayoutId xmlns:r="http://schemas.openxmlformats.org/officeDocument/2006/relationships" id="2147483650" r:id="R1838702200994035"/>
    <p:sldLayoutId xmlns:r="http://schemas.openxmlformats.org/officeDocument/2006/relationships" id="2147483651" r:id="Rd71e997598674ebc"/>
    <p:sldLayoutId xmlns:r="http://schemas.openxmlformats.org/officeDocument/2006/relationships" id="2147483652" r:id="R2ca29445145d4b1b"/>
    <p:sldLayoutId xmlns:r="http://schemas.openxmlformats.org/officeDocument/2006/relationships" id="2147483653" r:id="R2c0134ef49104e84"/>
    <p:sldLayoutId xmlns:r="http://schemas.openxmlformats.org/officeDocument/2006/relationships" id="2147483654" r:id="R984eb1be5a124584"/>
    <p:sldLayoutId xmlns:r="http://schemas.openxmlformats.org/officeDocument/2006/relationships" id="2147483655" r:id="R396949ea628741cc"/>
    <p:sldLayoutId xmlns:r="http://schemas.openxmlformats.org/officeDocument/2006/relationships" id="2147483656" r:id="R58628fac6bf14a13"/>
    <p:sldLayoutId xmlns:r="http://schemas.openxmlformats.org/officeDocument/2006/relationships" id="2147483657" r:id="Rc1cbf7d2795d4017"/>
    <p:sldLayoutId xmlns:r="http://schemas.openxmlformats.org/officeDocument/2006/relationships" id="2147483658" r:id="Ra7e940dd2b03443c"/>
    <p:sldLayoutId xmlns:r="http://schemas.openxmlformats.org/officeDocument/2006/relationships" id="2147483659" r:id="Rd27b786a7de84bd5"/>
    <p:sldLayoutId xmlns:r="http://schemas.openxmlformats.org/officeDocument/2006/relationships" id="2147483660" r:id="R1b00702bf0de408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45c386f7469e" /><Relationship Type="http://schemas.openxmlformats.org/officeDocument/2006/relationships/image" Target="/ppt/media/image4.png" Id="Rbd9f364b687d46ec" /><Relationship Type="http://schemas.openxmlformats.org/officeDocument/2006/relationships/notesSlide" Target="/ppt/notesSlides/notesSlide1.xml" Id="Rf4fd41ec5903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56b8ffa614905" /><Relationship Type="http://schemas.openxmlformats.org/officeDocument/2006/relationships/notesSlide" Target="/ppt/notesSlides/notesSlide2.xml" Id="R522e3a8229f1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40550c09934ecd" /><Relationship Type="http://schemas.openxmlformats.org/officeDocument/2006/relationships/image" Target="/ppt/media/image5.png" Id="R2a5c544f734545d6" /><Relationship Type="http://schemas.openxmlformats.org/officeDocument/2006/relationships/notesSlide" Target="/ppt/notesSlides/notesSlide3.xml" Id="Re9161274c93f4f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c0924282da471e" /><Relationship Type="http://schemas.openxmlformats.org/officeDocument/2006/relationships/image" Target="/ppt/media/image6.png" Id="Rf9fff2d26b544d6c" /><Relationship Type="http://schemas.openxmlformats.org/officeDocument/2006/relationships/notesSlide" Target="/ppt/notesSlides/notesSlide4.xml" Id="Rc7c6c7abedf8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68060c3f9b42d8" /><Relationship Type="http://schemas.openxmlformats.org/officeDocument/2006/relationships/image" Target="/ppt/media/image7.png" Id="R6cb2b382dccd45d0" /><Relationship Type="http://schemas.openxmlformats.org/officeDocument/2006/relationships/image" Target="/ppt/media/image8.png" Id="Rbc063224126d4825" /><Relationship Type="http://schemas.openxmlformats.org/officeDocument/2006/relationships/notesSlide" Target="/ppt/notesSlides/notesSlide5.xml" Id="R8855c2eb787140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f11234dd94746" /><Relationship Type="http://schemas.openxmlformats.org/officeDocument/2006/relationships/notesSlide" Target="/ppt/notesSlides/notesSlide6.xml" Id="Rfeb855b4bd2147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641f0fd134e23" /><Relationship Type="http://schemas.openxmlformats.org/officeDocument/2006/relationships/notesSlide" Target="/ppt/notesSlides/notesSlide7.xml" Id="R380c6863f97049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2cb1d8403049b5" /><Relationship Type="http://schemas.openxmlformats.org/officeDocument/2006/relationships/notesSlide" Target="/ppt/notesSlides/notesSlide8.xml" Id="R349ee6205c0c43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49b0b6b4d4378" /><Relationship Type="http://schemas.openxmlformats.org/officeDocument/2006/relationships/notesSlide" Target="/ppt/notesSlides/notesSlide9.xml" Id="R0fd40e1fd8b0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12a54547b3457f" /><Relationship Type="http://schemas.openxmlformats.org/officeDocument/2006/relationships/notesSlide" Target="/ppt/notesSlides/notesSlide10.xml" Id="Rb0682de3eea942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f6401b75245d5" /><Relationship Type="http://schemas.openxmlformats.org/officeDocument/2006/relationships/notesSlide" Target="/ppt/notesSlides/notesSlide11.xml" Id="Rbba9dfca5cf440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649cd5f44499e" /><Relationship Type="http://schemas.openxmlformats.org/officeDocument/2006/relationships/notesSlide" Target="/ppt/notesSlides/notesSlide12.xml" Id="R089cb89daae741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c9e1170174e8d" /><Relationship Type="http://schemas.openxmlformats.org/officeDocument/2006/relationships/notesSlide" Target="/ppt/notesSlides/notesSlide13.xml" Id="R3bf2696655ae44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403bbef4d54cc1" /><Relationship Type="http://schemas.openxmlformats.org/officeDocument/2006/relationships/notesSlide" Target="/ppt/notesSlides/notesSlide14.xml" Id="R228fd1de50e048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bed90b66843c0" /><Relationship Type="http://schemas.openxmlformats.org/officeDocument/2006/relationships/notesSlide" Target="/ppt/notesSlides/notesSlide15.xml" Id="R9f44a68c6c2f47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565e5ad7040e6" /><Relationship Type="http://schemas.openxmlformats.org/officeDocument/2006/relationships/notesSlide" Target="/ppt/notesSlides/notesSlide16.xml" Id="R67d6c25a4f1f49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0f83924844150" /><Relationship Type="http://schemas.openxmlformats.org/officeDocument/2006/relationships/notesSlide" Target="/ppt/notesSlides/notesSlide17.xml" Id="R38c241e89c164d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319a15946449f" /><Relationship Type="http://schemas.openxmlformats.org/officeDocument/2006/relationships/notesSlide" Target="/ppt/notesSlides/notesSlide18.xml" Id="Ra7f1b839e8f744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aa71cf3af4d27" /><Relationship Type="http://schemas.openxmlformats.org/officeDocument/2006/relationships/notesSlide" Target="/ppt/notesSlides/notesSlide19.xml" Id="Ra2620459f71140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29bb9325d4502" /><Relationship Type="http://schemas.openxmlformats.org/officeDocument/2006/relationships/notesSlide" Target="/ppt/notesSlides/notesSlide20.xml" Id="R31e7a2d53f7d4c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cb1f3538d44e7" /><Relationship Type="http://schemas.openxmlformats.org/officeDocument/2006/relationships/notesSlide" Target="/ppt/notesSlides/notesSlide21.xml" Id="R5f3870096de641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59453e00b496a" /><Relationship Type="http://schemas.openxmlformats.org/officeDocument/2006/relationships/notesSlide" Target="/ppt/notesSlides/notesSlide22.xml" Id="R7ecde8a6d2784f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a541a2a714978" /><Relationship Type="http://schemas.openxmlformats.org/officeDocument/2006/relationships/image" Target="/ppt/media/image.gif" Id="R25b99d0ab7b648e0" /><Relationship Type="http://schemas.openxmlformats.org/officeDocument/2006/relationships/notesSlide" Target="/ppt/notesSlides/notesSlide23.xml" Id="R491866d258834a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e55d8798c4c67" /><Relationship Type="http://schemas.openxmlformats.org/officeDocument/2006/relationships/notesSlide" Target="/ppt/notesSlides/notesSlide24.xml" Id="R99e86baf855242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fa89e44c544cf" /><Relationship Type="http://schemas.openxmlformats.org/officeDocument/2006/relationships/notesSlide" Target="/ppt/notesSlides/notesSlide25.xml" Id="R5a9de4da029d4be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70974e02b4698" /><Relationship Type="http://schemas.openxmlformats.org/officeDocument/2006/relationships/image" Target="/ppt/media/image9.png" Id="R8587dd65a5c14579" /><Relationship Type="http://schemas.openxmlformats.org/officeDocument/2006/relationships/image" Target="/ppt/media/image10.png" Id="Rc16fd1dcf67b400e" /><Relationship Type="http://schemas.openxmlformats.org/officeDocument/2006/relationships/image" Target="/ppt/media/image11.png" Id="Rf3e81b9e5dd446de" /><Relationship Type="http://schemas.openxmlformats.org/officeDocument/2006/relationships/notesSlide" Target="/ppt/notesSlides/notesSlide26.xml" Id="Rea8033b491cd4d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adbaef9b547d1" /><Relationship Type="http://schemas.openxmlformats.org/officeDocument/2006/relationships/image" Target="/ppt/media/image12.png" Id="Rc2915cdf70ef466a" /><Relationship Type="http://schemas.openxmlformats.org/officeDocument/2006/relationships/notesSlide" Target="/ppt/notesSlides/notesSlide27.xml" Id="R41b1f617d17049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3ded40bd8014289" /><Relationship Type="http://schemas.openxmlformats.org/officeDocument/2006/relationships/image" Target="/ppt/media/image13.png" Id="R9b0bfd889df243b2" /><Relationship Type="http://schemas.openxmlformats.org/officeDocument/2006/relationships/notesSlide" Target="/ppt/notesSlides/notesSlide28.xml" Id="R61f7e43f46bd43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421b52bdbc4df6" /><Relationship Type="http://schemas.openxmlformats.org/officeDocument/2006/relationships/image" Target="/ppt/media/image14.png" Id="Rb0a9122dcc824b16" /><Relationship Type="http://schemas.openxmlformats.org/officeDocument/2006/relationships/notesSlide" Target="/ppt/notesSlides/notesSlide29.xml" Id="R934dcb13ba2d4e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54603a9c4314005" /><Relationship Type="http://schemas.openxmlformats.org/officeDocument/2006/relationships/image" Target="/ppt/media/image15.png" Id="R2a6c18181b0b4b94" /><Relationship Type="http://schemas.openxmlformats.org/officeDocument/2006/relationships/notesSlide" Target="/ppt/notesSlides/notesSlide30.xml" Id="Ra529a5f78e6a43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3cb225212b4f76" /><Relationship Type="http://schemas.openxmlformats.org/officeDocument/2006/relationships/image" Target="/ppt/media/image16.png" Id="Re446f1ae0ece430a" /><Relationship Type="http://schemas.openxmlformats.org/officeDocument/2006/relationships/notesSlide" Target="/ppt/notesSlides/notesSlide31.xml" Id="R9fa7d6e6bf96487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a8840b2a14bba" /><Relationship Type="http://schemas.openxmlformats.org/officeDocument/2006/relationships/notesSlide" Target="/ppt/notesSlides/notesSlide32.xml" Id="R4a8bee26fb3841b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ef5d63cc0a460b" /><Relationship Type="http://schemas.openxmlformats.org/officeDocument/2006/relationships/notesSlide" Target="/ppt/notesSlides/notesSlide33.xml" Id="R4993487379224e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D05D9E-F84C-4A08-9922-5FEEEF13BA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Tokenization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8BF49F8-A2FC-4753-85B6-A8E8B34984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Back at the beginning</a:t>
            </a:r>
          </a:p>
        </p:txBody>
      </p:sp>
      <p:pic>
        <p:nvPicPr>
          <p:cNvPr id="43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f364b687d46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2536" y="3467771"/>
            <a:ext cx="2018744" cy="3084347"/>
          </a:xfrm>
          <a:prstGeom xmlns:a="http://schemas.openxmlformats.org/drawingml/2006/main" prst="rect">
            <a:avLst/>
          </a:prstGeom>
        </p:spPr>
      </p:pic>
      <p:sp>
        <p:nvSpPr>
          <p:cNvPr id="28" name="Flowchart: Connector 27">
            <a:extLst xmlns:a="http://schemas.openxmlformats.org/drawingml/2006/main">
              <a:ext uri="{FF2B5EF4-FFF2-40B4-BE49-F238E27FC236}">
                <a16:creationId xmlns:a16="http://schemas.microsoft.com/office/drawing/2014/main" id="{666E5423-C6DB-43D0-96CF-089AF83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493" y="6145388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29" name="TextBox 33">
            <a:extLst xmlns:a="http://schemas.openxmlformats.org/drawingml/2006/main">
              <a:ext uri="{FF2B5EF4-FFF2-40B4-BE49-F238E27FC236}">
                <a16:creationId xmlns:a16="http://schemas.microsoft.com/office/drawing/2014/main" id="{E222AB3C-5B7F-6D58-8079-1A371AD7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849" y="4502621"/>
            <a:ext cx="1351719" cy="338554"/>
          </a:xfrm>
          <a:custGeom xmlns:a="http://schemas.openxmlformats.org/drawingml/2006/main">
            <a:gdLst>
              <a:gd name="csX0" fmla="*/ 0 w 1351719"/>
              <a:gd name="csY0" fmla="*/ 0 h 338554"/>
              <a:gd name="csX1" fmla="*/ 635308 w 1351719"/>
              <a:gd name="csY1" fmla="*/ 0 h 338554"/>
              <a:gd name="csX2" fmla="*/ 1351719 w 1351719"/>
              <a:gd name="csY2" fmla="*/ 0 h 338554"/>
              <a:gd name="csX3" fmla="*/ 1351719 w 1351719"/>
              <a:gd name="csY3" fmla="*/ 338554 h 338554"/>
              <a:gd name="csX4" fmla="*/ 648825 w 1351719"/>
              <a:gd name="csY4" fmla="*/ 338554 h 338554"/>
              <a:gd name="csX5" fmla="*/ 0 w 1351719"/>
              <a:gd name="csY5" fmla="*/ 338554 h 338554"/>
              <a:gd name="csX6" fmla="*/ 0 w 1351719"/>
              <a:gd name="csY6" fmla="*/ 0 h 338554"/>
            </a:gdLst>
            <a:rect l="l" t="t" r="r" b="b"/>
            <a:pathLst>
              <a:path w="1351719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6608" y="-35665"/>
                  <a:pt x="1351719" y="0"/>
                </a:cubicBezTo>
                <a:cubicBezTo>
                  <a:pt x="1354532" y="77488"/>
                  <a:pt x="1351383" y="251748"/>
                  <a:pt x="1351719" y="338554"/>
                </a:cubicBezTo>
                <a:cubicBezTo>
                  <a:pt x="1126928" y="310424"/>
                  <a:pt x="985852" y="342082"/>
                  <a:pt x="648825" y="338554"/>
                </a:cubicBezTo>
                <a:cubicBezTo>
                  <a:pt x="311798" y="335026"/>
                  <a:pt x="265888" y="356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19" h="338554">
                <a:moveTo>
                  <a:pt x="0" y="0"/>
                </a:moveTo>
                <a:cubicBezTo>
                  <a:pt x="159753" y="-29741"/>
                  <a:pt x="436147" y="14046"/>
                  <a:pt x="648825" y="0"/>
                </a:cubicBezTo>
                <a:cubicBezTo>
                  <a:pt x="861503" y="-14046"/>
                  <a:pt x="1171552" y="-28184"/>
                  <a:pt x="1351719" y="0"/>
                </a:cubicBezTo>
                <a:cubicBezTo>
                  <a:pt x="1366704" y="126099"/>
                  <a:pt x="1367511" y="215826"/>
                  <a:pt x="1351719" y="338554"/>
                </a:cubicBezTo>
                <a:cubicBezTo>
                  <a:pt x="1031547" y="314607"/>
                  <a:pt x="1003531" y="318399"/>
                  <a:pt x="662342" y="338554"/>
                </a:cubicBezTo>
                <a:cubicBezTo>
                  <a:pt x="321153" y="358709"/>
                  <a:pt x="164641" y="35830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xmlns:a="http://schemas.openxmlformats.org/drawingml/2006/main" w="28575">
            <a:solidFill>
              <a:srgbClr val="FF0000"/>
            </a:solidFill>
          </a:ln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600"/>
              <a:t>Tokenization</a:t>
            </a:r>
          </a:p>
        </p:txBody>
      </p:sp>
      <p:sp>
        <p:nvSpPr>
          <p:cNvPr id="33" name="TextBox 7">
            <a:extLst xmlns:a="http://schemas.openxmlformats.org/drawingml/2006/main">
              <a:ext uri="{FF2B5EF4-FFF2-40B4-BE49-F238E27FC236}">
                <a16:creationId xmlns:a16="http://schemas.microsoft.com/office/drawing/2014/main" id="{BCC5FE95-2FF8-7809-29D7-EE6C05F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570" y="3989047"/>
            <a:ext cx="1351720" cy="338554"/>
          </a:xfrm>
          <a:custGeom xmlns:a="http://schemas.openxmlformats.org/drawingml/2006/main"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600"/>
              <a:t>Hardware</a:t>
            </a:r>
          </a:p>
        </p:txBody>
      </p:sp>
      <p:sp>
        <p:nvSpPr>
          <p:cNvPr id="34" name="Flowchart: Connector 33">
            <a:extLst xmlns:a="http://schemas.openxmlformats.org/drawingml/2006/main">
              <a:ext uri="{FF2B5EF4-FFF2-40B4-BE49-F238E27FC236}">
                <a16:creationId xmlns:a16="http://schemas.microsoft.com/office/drawing/2014/main" id="{3B67FE26-BA0B-EB7C-E6DF-06FE5560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03" y="4350341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>
            <a:solidFill>
              <a:srgbClr val="FF0000"/>
            </a:solidFill>
          </a:ln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38" name="Flowchart: Connector 37">
            <a:extLst xmlns:a="http://schemas.openxmlformats.org/drawingml/2006/main">
              <a:ext uri="{FF2B5EF4-FFF2-40B4-BE49-F238E27FC236}">
                <a16:creationId xmlns:a16="http://schemas.microsoft.com/office/drawing/2014/main" id="{A23D6165-3F28-EF25-0D10-05FC78F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59" y="4028152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/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39" name="Flowchart: Connector 38">
            <a:extLst xmlns:a="http://schemas.openxmlformats.org/drawingml/2006/main">
              <a:ext uri="{FF2B5EF4-FFF2-40B4-BE49-F238E27FC236}">
                <a16:creationId xmlns:a16="http://schemas.microsoft.com/office/drawing/2014/main" id="{071CFCA2-49B3-8FF2-8AFB-2051C9A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58" y="4554904"/>
            <a:ext cx="221952" cy="237294"/>
          </a:xfrm>
          <a:custGeom xmlns:a="http://schemas.openxmlformats.org/drawingml/2006/main"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xmlns:a="http://schemas.openxmlformats.org/drawingml/2006/main" w="28575">
            <a:solidFill>
              <a:srgbClr val="FF0000"/>
            </a:solidFill>
          </a:ln>
        </p:spPr>
        <p:style>
          <a:lnRef xmlns:a="http://schemas.openxmlformats.org/drawingml/2006/main" idx="2">
            <a:schemeClr val="accent5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46FCC42-B7FA-0DEE-24E4-172B1C7AAE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4125"/>
            <a:ext cx="10515600" cy="4351338"/>
          </a:xfr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b="1" i="1"/>
              <a:t>Think about what happens when you see or hear something...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57914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84734B-7677-E838-D201-9D401753E9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Humans are pretty good at this...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3D8335-A71E-B6A6-EA11-3A8DB16546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"the cat sat on the mat"</a:t>
            </a:r>
          </a:p>
        </p:txBody>
      </p:sp>
      <p:pic>
        <p:nvPicPr>
          <p:cNvPr id="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c544f734545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5225" y="2659049"/>
            <a:ext cx="4781550" cy="2686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578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8F5978-E841-9C9B-B4F5-3A7FCC402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machine needs to do the same thing</a:t>
            </a:r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ff2d26b54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392" y="0"/>
            <a:ext cx="12188405" cy="69011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37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289E3A-5EFD-69F8-DFF3-ED26E26BD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Machines have to start from scratch...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FE417D-DD8E-F187-D67B-D77B1AA5E5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As we saw earlier, machine learning models take in as input arrays of numbers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So, how do we convert human language into numbers?</a:t>
            </a:r>
          </a:p>
        </p:txBody>
      </p:sp>
      <p:pic>
        <p:nvPicPr>
          <p:cNvPr id="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2b382dccd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77" y="2285998"/>
            <a:ext cx="2166379" cy="3143957"/>
          </a:xfrm>
          <a:prstGeom xmlns:a="http://schemas.openxmlformats.org/drawingml/2006/main" prst="rect">
            <a:avLst/>
          </a:prstGeom>
        </p:spPr>
      </p:pic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63224126d4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2180" y="3243262"/>
            <a:ext cx="8250226" cy="12251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377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1F7E6D-DB6D-14D6-C848-A0696BD0B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dictionary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4F0A8E-7751-A87E-DB9B-3687CDD2AA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latin typeface="Source Code Pro"/>
                <a:ea typeface="Source Code Pro"/>
                <a:cs typeface="Source Code Pro"/>
              </a:rPr>
              <a:t>{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    "aardvark"</a:t>
            </a:r>
            <a:r>
              <a:rPr>
                <a:latin typeface="Source Code Pro"/>
                <a:ea typeface="Source Code Pro"/>
                <a:cs typeface="Source Code Pro"/>
              </a:rPr>
              <a:t> : 1,</a:t>
            </a:r>
          </a:p>
          <a:p xmlns:a="http://schemas.openxmlformats.org/drawingml/2006/main">
            <a:pPr marL="0" indent="0">
              <a:buNone/>
            </a:pPr>
            <a:endParaRPr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Source Code Pro"/>
                <a:ea typeface="Source Code Pro"/>
                <a:cs typeface="Source Code Pro"/>
              </a:rPr>
              <a:t>    ...</a:t>
            </a:r>
          </a:p>
          <a:p xmlns:a="http://schemas.openxmlformats.org/drawingml/2006/main">
            <a:pPr marL="0" indent="0">
              <a:buNone/>
            </a:pPr>
            <a:endParaRPr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    ”kitten"</a:t>
            </a:r>
            <a:r>
              <a:rPr>
                <a:latin typeface="Source Code Pro"/>
                <a:ea typeface="Source Code Pro"/>
                <a:cs typeface="Source Code Pro"/>
              </a:rPr>
              <a:t> : 79,398,</a:t>
            </a:r>
          </a:p>
          <a:p xmlns:a="http://schemas.openxmlformats.org/drawingml/2006/main">
            <a:pPr marL="0" indent="0">
              <a:buNone/>
            </a:pPr>
            <a:endParaRPr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Source Code Pro"/>
                <a:ea typeface="Source Code Pro"/>
                <a:cs typeface="Source Code Pro"/>
              </a:rPr>
              <a:t>    ...</a:t>
            </a:r>
          </a:p>
          <a:p xmlns:a="http://schemas.openxmlformats.org/drawingml/2006/main">
            <a:pPr marL="0" indent="0">
              <a:buNone/>
            </a:pPr>
            <a:endParaRPr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    "zyzzyva"</a:t>
            </a:r>
            <a:r>
              <a:rPr>
                <a:latin typeface="Source Code Pro"/>
                <a:ea typeface="Source Code Pro"/>
                <a:cs typeface="Source Code Pro"/>
              </a:rPr>
              <a:t> : 219,254</a:t>
            </a:r>
          </a:p>
          <a:p xmlns:a="http://schemas.openxmlformats.org/drawingml/2006/main">
            <a:pPr marL="0" indent="0">
              <a:buNone/>
            </a:pPr>
            <a:r>
              <a:rPr>
                <a:latin typeface="Source Code Pro"/>
                <a:ea typeface="Source Code Pro"/>
                <a:cs typeface="Source Code Pro"/>
              </a:rPr>
              <a:t>}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FD83B-357C-B143-70F0-0D7927B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21" y="2016605"/>
            <a:ext cx="4987636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t>What if you encounter words in your training data that are not in the dictionary...?</a:t>
            </a:r>
          </a:p>
        </p:txBody>
      </p:sp>
    </p:spTree>
    <p:extLst>
      <p:ext uri="{BB962C8B-B14F-4D97-AF65-F5344CB8AC3E}">
        <p14:creationId xmlns:p14="http://schemas.microsoft.com/office/powerpoint/2010/main" val="29711529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6DD30B-B291-B76E-0E06-426D9117F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your training data to build your dictionary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009E67-1F91-3077-8FF0-85865C73AC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text =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"the cat sat on the mat"</a:t>
            </a:r>
            <a:endParaRPr>
              <a:solidFill>
                <a:srgbClr val="9325A5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>
              <a:buNone/>
            </a:pPr>
            <a:endParaRPr sz="1800">
              <a:solidFill>
                <a:srgbClr val="9325A5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>
              <a:buNone/>
            </a:pP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tokens = [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'on'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]</a:t>
            </a:r>
            <a:endParaRPr>
              <a:solidFill>
                <a:srgbClr val="666666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>
              <a:buNone/>
            </a:pPr>
            <a:endParaRPr sz="1800">
              <a:solidFill>
                <a:srgbClr val="000000"/>
              </a:solidFill>
            </a:endParaRPr>
          </a:p>
          <a:p xmlns:a="http://schemas.openxmlformats.org/drawingml/2006/main">
            <a:pPr>
              <a:buNone/>
            </a:pP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map 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= {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8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0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8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'on'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8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8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3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8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8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4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}</a:t>
            </a:r>
            <a:endParaRPr>
              <a:solidFill>
                <a:srgbClr val="666666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br/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encoded 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= [</a:t>
            </a:r>
            <a:r>
              <a:rPr sz="18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</a:rPr>
              <a:t>map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[token] </a:t>
            </a:r>
            <a:r>
              <a:rPr sz="1800">
                <a:solidFill>
                  <a:srgbClr val="0070C0"/>
                </a:solidFill>
                <a:latin typeface="Source Code Pro"/>
                <a:ea typeface="Source Code Pro"/>
                <a:cs typeface="Source Code Pro"/>
              </a:rPr>
              <a:t>for 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token </a:t>
            </a:r>
            <a:r>
              <a:rPr sz="1800">
                <a:solidFill>
                  <a:srgbClr val="0070C0"/>
                </a:solidFill>
                <a:latin typeface="Source Code Pro"/>
                <a:ea typeface="Source Code Pro"/>
                <a:cs typeface="Source Code Pro"/>
              </a:rPr>
              <a:t>in 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tokens]</a:t>
            </a:r>
          </a:p>
          <a:p xmlns:a="http://schemas.openxmlformats.org/drawingml/2006/main">
            <a:pPr marL="0" indent="0">
              <a:buNone/>
            </a:pPr>
            <a:endParaRPr sz="1800">
              <a:solidFill>
                <a:srgbClr val="666666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print</a:t>
            </a:r>
            <a:r>
              <a:rPr sz="18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(encoded)</a:t>
            </a:r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# [4, 0, 3, 2, 4, 1]</a:t>
            </a:r>
          </a:p>
        </p:txBody>
      </p:sp>
    </p:spTree>
    <p:extLst>
      <p:ext uri="{BB962C8B-B14F-4D97-AF65-F5344CB8AC3E}">
        <p14:creationId xmlns:p14="http://schemas.microsoft.com/office/powerpoint/2010/main" val="15914260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4E80E2-1DF1-8525-8073-4F7FD4A97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Character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E9788B-26F2-B887-D740-4A0BFA7DE1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text = </a:t>
            </a:r>
            <a:r>
              <a:rPr sz="18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"the cat sat on the mat"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tokens = </a:t>
            </a: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list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(text)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print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(tokens)</a:t>
            </a:r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# ['t', 'h', 'e', ' ', 'c', 'a', 't', ' ', 's', 'a', 't', ' ', 'o', 'n', ' ', 't', 'h', 'e', ' ', 'm', 'a', 't']</a:t>
            </a:r>
            <a:endParaRPr sz="18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endParaRPr sz="1800">
              <a:solidFill>
                <a:srgbClr val="9325A5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125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C5182C-042E-7B57-1FBF-E1E5D277D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EE695E-F2F7-36A4-BFC4-A39B78FB53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Byte-pair encoding</a:t>
            </a:r>
            <a:endParaRPr/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BPE recursively merges frequently occurring pairs of consecutive bytes within a corpus of text.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Although technically it acts on bytes, but we will start with characters...</a:t>
            </a:r>
          </a:p>
        </p:txBody>
      </p:sp>
    </p:spTree>
    <p:extLst>
      <p:ext uri="{BB962C8B-B14F-4D97-AF65-F5344CB8AC3E}">
        <p14:creationId xmlns:p14="http://schemas.microsoft.com/office/powerpoint/2010/main" val="11027747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D06ECB-F38C-A9A0-DF04-04D512189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 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10DDC7-33C5-C8BB-693D-3CDAB68A7F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text = </a:t>
            </a:r>
            <a:r>
              <a:rPr sz="18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"the cat sat on the mat"</a:t>
            </a:r>
            <a:endParaRPr sz="1800"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tokens = </a:t>
            </a: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list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(text)</a:t>
            </a:r>
          </a:p>
          <a:p xmlns:a="http://schemas.openxmlformats.org/drawingml/2006/main">
            <a:pPr marL="0" indent="0">
              <a:buNone/>
            </a:pPr>
            <a:endParaRPr sz="18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print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(tokens)</a:t>
            </a:r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# ['t', 'h', 'e', ' ', 'c', 'a', 't', ' ', 's', 'a', 't', ' ', 'o', 'n',' ', 't', 'h', 'e', ' ', 'm', 'a', 't']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vocab = </a:t>
            </a: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set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(tokens)</a:t>
            </a:r>
          </a:p>
          <a:p xmlns:a="http://schemas.openxmlformats.org/drawingml/2006/main">
            <a:pPr marL="0" indent="0">
              <a:buNone/>
            </a:pPr>
            <a:endParaRPr sz="18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00000"/>
                </a:solidFill>
                <a:latin typeface="Source Code Pro"/>
                <a:ea typeface="Source Code Pro"/>
                <a:cs typeface="Source Code Pro"/>
              </a:rPr>
              <a:t>print</a:t>
            </a:r>
            <a:r>
              <a:rPr sz="18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(vocab)</a:t>
            </a:r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# ('h', 'n', 'm', 'o', 't', 'e', 'a', 's', 'c', ' ')</a:t>
            </a:r>
            <a:endParaRPr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9969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C03AB4-C347-3815-10F1-2905294105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0C2DB49-D272-B76A-BDC4-55DAE48E80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then look at pairs of characters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['t', 'h', 'e', ' ', 'c', 'a', 't', ' ', 's', 'a', 't', ' ', 'o', 'n',' ', 't', 'h', 'e', ' ', 'm', 'a', 't']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>
                <a:latin typeface="Aptos"/>
                <a:ea typeface="Aptos"/>
                <a:cs typeface="Aptos"/>
              </a:rPr>
              <a:t> occurs 3 times in this sequence.</a:t>
            </a:r>
          </a:p>
          <a:p xmlns:a="http://schemas.openxmlformats.org/drawingml/2006/main">
            <a:pPr marL="0" indent="0">
              <a:buNone/>
            </a:pPr>
            <a:endParaRPr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>
                <a:latin typeface="Aptos"/>
                <a:ea typeface="Aptos"/>
                <a:cs typeface="Aptos"/>
              </a:rPr>
              <a:t> and 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'he'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r>
              <a:rPr>
                <a:solidFill>
                  <a:srgbClr val="000000"/>
                </a:solidFill>
                <a:latin typeface="Aptos"/>
                <a:ea typeface="Aptos"/>
                <a:cs typeface="Aptos"/>
              </a:rPr>
              <a:t>occur</a:t>
            </a:r>
            <a:r>
              <a:rPr>
                <a:latin typeface="Aptos"/>
                <a:ea typeface="Aptos"/>
                <a:cs typeface="Aptos"/>
              </a:rPr>
              <a:t> twice, as do 'e ' and 't '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Everything else occurs once.</a:t>
            </a:r>
          </a:p>
        </p:txBody>
      </p:sp>
    </p:spTree>
    <p:extLst>
      <p:ext uri="{BB962C8B-B14F-4D97-AF65-F5344CB8AC3E}">
        <p14:creationId xmlns:p14="http://schemas.microsoft.com/office/powerpoint/2010/main" val="40220357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FCC5F5-EC3B-9DC0-5DE8-FA817E0E0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E5FBAD-CE41-9209-F06C-1719DF2AE5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build up a frequency map:</a:t>
            </a:r>
          </a:p>
          <a:p xmlns:a="http://schemas.openxmlformats.org/drawingml/2006/main">
            <a:pPr marL="0" indent="0">
              <a:buNone/>
            </a:pPr>
            <a:endParaRPr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3,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2,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'he'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2,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'ca'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1, ...}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And add the most frequent pairs to the vocab: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vocab = [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'n'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'o'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 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]</a:t>
            </a:r>
            <a:endParaRPr sz="2000">
              <a:solidFill>
                <a:schemeClr val="bg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041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B27D75-A0A9-D13F-B276-1F68CE890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2E47823-1AAD-80CC-96B9-D18CC853C4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But importantly, we have learnt a </a:t>
            </a:r>
            <a:r>
              <a:rPr b="1" i="1"/>
              <a:t>merge rule</a:t>
            </a:r>
            <a:r>
              <a:t>: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658D98-69E9-9C4E-CDEA-CC591C3B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092" y="3090223"/>
            <a:ext cx="2313460" cy="678170"/>
          </a:xfrm>
          <a:custGeom xmlns:a="http://schemas.openxmlformats.org/drawingml/2006/main">
            <a:gdLst>
              <a:gd name="csX0" fmla="*/ 0 w 2313460"/>
              <a:gd name="csY0" fmla="*/ 113031 h 678170"/>
              <a:gd name="csX1" fmla="*/ 113031 w 2313460"/>
              <a:gd name="csY1" fmla="*/ 0 h 678170"/>
              <a:gd name="csX2" fmla="*/ 614007 w 2313460"/>
              <a:gd name="csY2" fmla="*/ 0 h 678170"/>
              <a:gd name="csX3" fmla="*/ 1135856 w 2313460"/>
              <a:gd name="csY3" fmla="*/ 0 h 678170"/>
              <a:gd name="csX4" fmla="*/ 1636832 w 2313460"/>
              <a:gd name="csY4" fmla="*/ 0 h 678170"/>
              <a:gd name="csX5" fmla="*/ 2200429 w 2313460"/>
              <a:gd name="csY5" fmla="*/ 0 h 678170"/>
              <a:gd name="csX6" fmla="*/ 2313460 w 2313460"/>
              <a:gd name="csY6" fmla="*/ 113031 h 678170"/>
              <a:gd name="csX7" fmla="*/ 2313460 w 2313460"/>
              <a:gd name="csY7" fmla="*/ 565139 h 678170"/>
              <a:gd name="csX8" fmla="*/ 2200429 w 2313460"/>
              <a:gd name="csY8" fmla="*/ 678170 h 678170"/>
              <a:gd name="csX9" fmla="*/ 1678580 w 2313460"/>
              <a:gd name="csY9" fmla="*/ 678170 h 678170"/>
              <a:gd name="csX10" fmla="*/ 1219352 w 2313460"/>
              <a:gd name="csY10" fmla="*/ 678170 h 678170"/>
              <a:gd name="csX11" fmla="*/ 760124 w 2313460"/>
              <a:gd name="csY11" fmla="*/ 678170 h 678170"/>
              <a:gd name="csX12" fmla="*/ 113031 w 2313460"/>
              <a:gd name="csY12" fmla="*/ 678170 h 678170"/>
              <a:gd name="csX13" fmla="*/ 0 w 2313460"/>
              <a:gd name="csY13" fmla="*/ 565139 h 678170"/>
              <a:gd name="csX14" fmla="*/ 0 w 2313460"/>
              <a:gd name="csY14" fmla="*/ 113031 h 678170"/>
            </a:gdLst>
            <a:rect l="l" t="t" r="r" b="b"/>
            <a:pathLst>
              <a:path w="2313460" h="678170">
                <a:moveTo>
                  <a:pt x="0" y="113031"/>
                </a:moveTo>
                <a:cubicBezTo>
                  <a:pt x="-13861" y="40159"/>
                  <a:pt x="50533" y="16255"/>
                  <a:pt x="113031" y="0"/>
                </a:cubicBezTo>
                <a:cubicBezTo>
                  <a:pt x="336079" y="-16657"/>
                  <a:pt x="385368" y="8199"/>
                  <a:pt x="614007" y="0"/>
                </a:cubicBezTo>
                <a:cubicBezTo>
                  <a:pt x="842646" y="-8199"/>
                  <a:pt x="879026" y="17716"/>
                  <a:pt x="1135856" y="0"/>
                </a:cubicBezTo>
                <a:cubicBezTo>
                  <a:pt x="1392686" y="-17716"/>
                  <a:pt x="1512761" y="59957"/>
                  <a:pt x="1636832" y="0"/>
                </a:cubicBezTo>
                <a:cubicBezTo>
                  <a:pt x="1760903" y="-59957"/>
                  <a:pt x="2047738" y="28727"/>
                  <a:pt x="2200429" y="0"/>
                </a:cubicBezTo>
                <a:cubicBezTo>
                  <a:pt x="2270961" y="764"/>
                  <a:pt x="2310683" y="50153"/>
                  <a:pt x="2313460" y="113031"/>
                </a:cubicBezTo>
                <a:cubicBezTo>
                  <a:pt x="2355330" y="204755"/>
                  <a:pt x="2279312" y="444717"/>
                  <a:pt x="2313460" y="565139"/>
                </a:cubicBezTo>
                <a:cubicBezTo>
                  <a:pt x="2306362" y="631149"/>
                  <a:pt x="2260805" y="683066"/>
                  <a:pt x="2200429" y="678170"/>
                </a:cubicBezTo>
                <a:cubicBezTo>
                  <a:pt x="2073764" y="696972"/>
                  <a:pt x="1842749" y="674770"/>
                  <a:pt x="1678580" y="678170"/>
                </a:cubicBezTo>
                <a:cubicBezTo>
                  <a:pt x="1514411" y="681570"/>
                  <a:pt x="1342387" y="630820"/>
                  <a:pt x="1219352" y="678170"/>
                </a:cubicBezTo>
                <a:cubicBezTo>
                  <a:pt x="1096317" y="725520"/>
                  <a:pt x="950290" y="629514"/>
                  <a:pt x="760124" y="678170"/>
                </a:cubicBezTo>
                <a:cubicBezTo>
                  <a:pt x="569958" y="726826"/>
                  <a:pt x="430833" y="659030"/>
                  <a:pt x="113031" y="678170"/>
                </a:cubicBezTo>
                <a:cubicBezTo>
                  <a:pt x="62162" y="689557"/>
                  <a:pt x="3188" y="621968"/>
                  <a:pt x="0" y="565139"/>
                </a:cubicBezTo>
                <a:cubicBezTo>
                  <a:pt x="-6482" y="364297"/>
                  <a:pt x="14663" y="290987"/>
                  <a:pt x="0" y="113031"/>
                </a:cubicBezTo>
                <a:close/>
              </a:path>
              <a:path w="2313460" h="678170">
                <a:moveTo>
                  <a:pt x="0" y="113031"/>
                </a:moveTo>
                <a:cubicBezTo>
                  <a:pt x="-5052" y="34748"/>
                  <a:pt x="45542" y="436"/>
                  <a:pt x="113031" y="0"/>
                </a:cubicBezTo>
                <a:cubicBezTo>
                  <a:pt x="226306" y="-49943"/>
                  <a:pt x="414066" y="30386"/>
                  <a:pt x="676628" y="0"/>
                </a:cubicBezTo>
                <a:cubicBezTo>
                  <a:pt x="939190" y="-30386"/>
                  <a:pt x="984361" y="25521"/>
                  <a:pt x="1219352" y="0"/>
                </a:cubicBezTo>
                <a:cubicBezTo>
                  <a:pt x="1454343" y="-25521"/>
                  <a:pt x="1554324" y="44792"/>
                  <a:pt x="1678580" y="0"/>
                </a:cubicBezTo>
                <a:cubicBezTo>
                  <a:pt x="1802836" y="-44792"/>
                  <a:pt x="1940465" y="15634"/>
                  <a:pt x="2200429" y="0"/>
                </a:cubicBezTo>
                <a:cubicBezTo>
                  <a:pt x="2255305" y="-6762"/>
                  <a:pt x="2323553" y="39090"/>
                  <a:pt x="2313460" y="113031"/>
                </a:cubicBezTo>
                <a:cubicBezTo>
                  <a:pt x="2333493" y="307167"/>
                  <a:pt x="2284206" y="453215"/>
                  <a:pt x="2313460" y="565139"/>
                </a:cubicBezTo>
                <a:cubicBezTo>
                  <a:pt x="2322995" y="617151"/>
                  <a:pt x="2252485" y="671034"/>
                  <a:pt x="2200429" y="678170"/>
                </a:cubicBezTo>
                <a:cubicBezTo>
                  <a:pt x="1961562" y="726514"/>
                  <a:pt x="1822684" y="642842"/>
                  <a:pt x="1720327" y="678170"/>
                </a:cubicBezTo>
                <a:cubicBezTo>
                  <a:pt x="1617970" y="713498"/>
                  <a:pt x="1409214" y="662180"/>
                  <a:pt x="1261100" y="678170"/>
                </a:cubicBezTo>
                <a:cubicBezTo>
                  <a:pt x="1112986" y="694160"/>
                  <a:pt x="844712" y="630056"/>
                  <a:pt x="718376" y="678170"/>
                </a:cubicBezTo>
                <a:cubicBezTo>
                  <a:pt x="592040" y="726284"/>
                  <a:pt x="390920" y="609614"/>
                  <a:pt x="113031" y="678170"/>
                </a:cubicBezTo>
                <a:cubicBezTo>
                  <a:pt x="53407" y="685268"/>
                  <a:pt x="1183" y="630103"/>
                  <a:pt x="0" y="565139"/>
                </a:cubicBezTo>
                <a:cubicBezTo>
                  <a:pt x="-27589" y="434776"/>
                  <a:pt x="53689" y="293622"/>
                  <a:pt x="0" y="113031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'a' + 't' → 'at'</a:t>
            </a:r>
          </a:p>
        </p:txBody>
      </p:sp>
    </p:spTree>
    <p:extLst>
      <p:ext uri="{BB962C8B-B14F-4D97-AF65-F5344CB8AC3E}">
        <p14:creationId xmlns:p14="http://schemas.microsoft.com/office/powerpoint/2010/main" val="6793754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0B0D11-4EAA-A37C-E0EC-521F6F09F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6A1635-DD4F-2EA3-6280-68FE2DEF4F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merge the most frequent pairs,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['t', 'h', 'e', ' ', 'c', 'at', ' ', 's', 'at', ' ', 'o', 'n',' ','t', 'h', 'e', ' ', 'm', 'at']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so that 'a' and 't' have now been combined into 'at'</a:t>
            </a:r>
          </a:p>
          <a:p xmlns:a="http://schemas.openxmlformats.org/drawingml/2006/main">
            <a:pPr marL="0" indent="0">
              <a:buNone/>
            </a:pPr>
            <a:endParaRPr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We now apply the same process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'he'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 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 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 b="1">
                <a:solidFill>
                  <a:srgbClr val="AA22FF"/>
                </a:solidFill>
                <a:latin typeface="Source Code Pro"/>
                <a:ea typeface="Source Code Pro"/>
                <a:cs typeface="Source Code Pro"/>
              </a:rPr>
              <a:t>...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</a:t>
            </a:r>
            <a:r>
              <a:rPr sz="2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</a:rPr>
              <a:t>etc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. }</a:t>
            </a:r>
            <a:endParaRPr sz="2000">
              <a:solidFill>
                <a:srgbClr val="000000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700"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7595167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F0C6ED-F86C-D5CE-82F5-651B9AB3E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509DC1-317D-225F-71A9-DB3396C10F2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</a:t>
            </a:r>
            <a:r>
              <a:rPr>
                <a:latin typeface="Aptos"/>
                <a:ea typeface="Aptos"/>
                <a:cs typeface="Aptos"/>
              </a:rPr>
              <a:t>have a tie: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'he'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 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2,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 sz="2000">
                <a:solidFill>
                  <a:srgbClr val="008800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 b="1">
                <a:solidFill>
                  <a:srgbClr val="AA22FF"/>
                </a:solidFill>
                <a:latin typeface="Source Code Pro"/>
                <a:ea typeface="Source Code Pro"/>
                <a:cs typeface="Source Code Pro"/>
              </a:rPr>
              <a:t>...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 </a:t>
            </a:r>
            <a:r>
              <a:rPr sz="2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</a:rPr>
              <a:t>etc</a:t>
            </a:r>
            <a:r>
              <a:rPr sz="2000">
                <a:solidFill>
                  <a:srgbClr val="404040"/>
                </a:solidFill>
                <a:latin typeface="Source Code Pro"/>
                <a:ea typeface="Source Code Pro"/>
                <a:cs typeface="Source Code Pro"/>
              </a:rPr>
              <a:t>. }</a:t>
            </a:r>
            <a:endParaRPr sz="2000">
              <a:solidFill>
                <a:srgbClr val="000000"/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>
                <a:solidFill>
                  <a:srgbClr val="000000"/>
                </a:solidFill>
                <a:latin typeface="Aptos"/>
                <a:ea typeface="Aptos"/>
                <a:cs typeface="Aptos"/>
              </a:rPr>
              <a:t>We can break the tie in a number of ways, but one method is to pick the first occurrence.</a:t>
            </a: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9274404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C5B795-509B-E6A4-FAB9-3E866C81F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3D5472-6CC3-751E-E9BB-7581335F08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add 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>
                <a:solidFill>
                  <a:srgbClr val="7030A0"/>
                </a:solidFill>
                <a:latin typeface="Aptos"/>
                <a:ea typeface="Aptos"/>
                <a:cs typeface="Aptos"/>
              </a:rPr>
              <a:t> </a:t>
            </a:r>
            <a:r>
              <a:t>to the vocabulary: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vocab = [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'n'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'o'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'th'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]</a:t>
            </a: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And learn another merge rule: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403F20-6C81-038C-3CA2-F80B2F26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24" y="4537474"/>
            <a:ext cx="2576596" cy="678170"/>
          </a:xfrm>
          <a:custGeom xmlns:a="http://schemas.openxmlformats.org/drawingml/2006/main">
            <a:gdLst>
              <a:gd name="csX0" fmla="*/ 0 w 2576596"/>
              <a:gd name="csY0" fmla="*/ 113031 h 678170"/>
              <a:gd name="csX1" fmla="*/ 113031 w 2576596"/>
              <a:gd name="csY1" fmla="*/ 0 h 678170"/>
              <a:gd name="csX2" fmla="*/ 677159 w 2576596"/>
              <a:gd name="csY2" fmla="*/ 0 h 678170"/>
              <a:gd name="csX3" fmla="*/ 1264793 w 2576596"/>
              <a:gd name="csY3" fmla="*/ 0 h 678170"/>
              <a:gd name="csX4" fmla="*/ 1828921 w 2576596"/>
              <a:gd name="csY4" fmla="*/ 0 h 678170"/>
              <a:gd name="csX5" fmla="*/ 2463565 w 2576596"/>
              <a:gd name="csY5" fmla="*/ 0 h 678170"/>
              <a:gd name="csX6" fmla="*/ 2576596 w 2576596"/>
              <a:gd name="csY6" fmla="*/ 113031 h 678170"/>
              <a:gd name="csX7" fmla="*/ 2576596 w 2576596"/>
              <a:gd name="csY7" fmla="*/ 565139 h 678170"/>
              <a:gd name="csX8" fmla="*/ 2463565 w 2576596"/>
              <a:gd name="csY8" fmla="*/ 678170 h 678170"/>
              <a:gd name="csX9" fmla="*/ 1875932 w 2576596"/>
              <a:gd name="csY9" fmla="*/ 678170 h 678170"/>
              <a:gd name="csX10" fmla="*/ 1358814 w 2576596"/>
              <a:gd name="csY10" fmla="*/ 678170 h 678170"/>
              <a:gd name="csX11" fmla="*/ 841697 w 2576596"/>
              <a:gd name="csY11" fmla="*/ 678170 h 678170"/>
              <a:gd name="csX12" fmla="*/ 113031 w 2576596"/>
              <a:gd name="csY12" fmla="*/ 678170 h 678170"/>
              <a:gd name="csX13" fmla="*/ 0 w 2576596"/>
              <a:gd name="csY13" fmla="*/ 565139 h 678170"/>
              <a:gd name="csX14" fmla="*/ 0 w 2576596"/>
              <a:gd name="csY14" fmla="*/ 113031 h 678170"/>
            </a:gdLst>
            <a:rect l="l" t="t" r="r" b="b"/>
            <a:pathLst>
              <a:path w="2576596" h="678170">
                <a:moveTo>
                  <a:pt x="0" y="113031"/>
                </a:moveTo>
                <a:cubicBezTo>
                  <a:pt x="-13861" y="40159"/>
                  <a:pt x="50533" y="16255"/>
                  <a:pt x="113031" y="0"/>
                </a:cubicBezTo>
                <a:cubicBezTo>
                  <a:pt x="254173" y="-41189"/>
                  <a:pt x="413432" y="4722"/>
                  <a:pt x="677159" y="0"/>
                </a:cubicBezTo>
                <a:cubicBezTo>
                  <a:pt x="940886" y="-4722"/>
                  <a:pt x="1043602" y="846"/>
                  <a:pt x="1264793" y="0"/>
                </a:cubicBezTo>
                <a:cubicBezTo>
                  <a:pt x="1485984" y="-846"/>
                  <a:pt x="1648844" y="42427"/>
                  <a:pt x="1828921" y="0"/>
                </a:cubicBezTo>
                <a:cubicBezTo>
                  <a:pt x="2008998" y="-42427"/>
                  <a:pt x="2231810" y="76019"/>
                  <a:pt x="2463565" y="0"/>
                </a:cubicBezTo>
                <a:cubicBezTo>
                  <a:pt x="2534097" y="764"/>
                  <a:pt x="2573819" y="50153"/>
                  <a:pt x="2576596" y="113031"/>
                </a:cubicBezTo>
                <a:cubicBezTo>
                  <a:pt x="2618466" y="204755"/>
                  <a:pt x="2542448" y="444717"/>
                  <a:pt x="2576596" y="565139"/>
                </a:cubicBezTo>
                <a:cubicBezTo>
                  <a:pt x="2569498" y="631149"/>
                  <a:pt x="2523941" y="683066"/>
                  <a:pt x="2463565" y="678170"/>
                </a:cubicBezTo>
                <a:cubicBezTo>
                  <a:pt x="2203686" y="747090"/>
                  <a:pt x="2150119" y="630517"/>
                  <a:pt x="1875932" y="678170"/>
                </a:cubicBezTo>
                <a:cubicBezTo>
                  <a:pt x="1601745" y="725823"/>
                  <a:pt x="1496827" y="677139"/>
                  <a:pt x="1358814" y="678170"/>
                </a:cubicBezTo>
                <a:cubicBezTo>
                  <a:pt x="1220801" y="679201"/>
                  <a:pt x="1060450" y="665149"/>
                  <a:pt x="841697" y="678170"/>
                </a:cubicBezTo>
                <a:cubicBezTo>
                  <a:pt x="622944" y="691191"/>
                  <a:pt x="347846" y="635272"/>
                  <a:pt x="113031" y="678170"/>
                </a:cubicBezTo>
                <a:cubicBezTo>
                  <a:pt x="62162" y="689557"/>
                  <a:pt x="3188" y="621968"/>
                  <a:pt x="0" y="565139"/>
                </a:cubicBezTo>
                <a:cubicBezTo>
                  <a:pt x="-6482" y="364297"/>
                  <a:pt x="14663" y="290987"/>
                  <a:pt x="0" y="113031"/>
                </a:cubicBezTo>
                <a:close/>
              </a:path>
              <a:path w="2576596" h="678170">
                <a:moveTo>
                  <a:pt x="0" y="113031"/>
                </a:moveTo>
                <a:cubicBezTo>
                  <a:pt x="-5052" y="34748"/>
                  <a:pt x="45542" y="436"/>
                  <a:pt x="113031" y="0"/>
                </a:cubicBezTo>
                <a:cubicBezTo>
                  <a:pt x="418140" y="-33276"/>
                  <a:pt x="544604" y="25143"/>
                  <a:pt x="747675" y="0"/>
                </a:cubicBezTo>
                <a:cubicBezTo>
                  <a:pt x="950746" y="-25143"/>
                  <a:pt x="1138220" y="24712"/>
                  <a:pt x="1358814" y="0"/>
                </a:cubicBezTo>
                <a:cubicBezTo>
                  <a:pt x="1579408" y="-24712"/>
                  <a:pt x="1741229" y="42109"/>
                  <a:pt x="1875932" y="0"/>
                </a:cubicBezTo>
                <a:cubicBezTo>
                  <a:pt x="2010635" y="-42109"/>
                  <a:pt x="2333724" y="21501"/>
                  <a:pt x="2463565" y="0"/>
                </a:cubicBezTo>
                <a:cubicBezTo>
                  <a:pt x="2518441" y="-6762"/>
                  <a:pt x="2586689" y="39090"/>
                  <a:pt x="2576596" y="113031"/>
                </a:cubicBezTo>
                <a:cubicBezTo>
                  <a:pt x="2596629" y="307167"/>
                  <a:pt x="2547342" y="453215"/>
                  <a:pt x="2576596" y="565139"/>
                </a:cubicBezTo>
                <a:cubicBezTo>
                  <a:pt x="2586131" y="617151"/>
                  <a:pt x="2515621" y="671034"/>
                  <a:pt x="2463565" y="678170"/>
                </a:cubicBezTo>
                <a:cubicBezTo>
                  <a:pt x="2281010" y="705286"/>
                  <a:pt x="2093468" y="632591"/>
                  <a:pt x="1922942" y="678170"/>
                </a:cubicBezTo>
                <a:cubicBezTo>
                  <a:pt x="1752416" y="723749"/>
                  <a:pt x="1647586" y="627695"/>
                  <a:pt x="1405825" y="678170"/>
                </a:cubicBezTo>
                <a:cubicBezTo>
                  <a:pt x="1164064" y="728645"/>
                  <a:pt x="1024826" y="605607"/>
                  <a:pt x="794686" y="678170"/>
                </a:cubicBezTo>
                <a:cubicBezTo>
                  <a:pt x="564546" y="750733"/>
                  <a:pt x="369833" y="660127"/>
                  <a:pt x="113031" y="678170"/>
                </a:cubicBezTo>
                <a:cubicBezTo>
                  <a:pt x="53407" y="685268"/>
                  <a:pt x="1183" y="630103"/>
                  <a:pt x="0" y="565139"/>
                </a:cubicBezTo>
                <a:cubicBezTo>
                  <a:pt x="-27589" y="434776"/>
                  <a:pt x="53689" y="293622"/>
                  <a:pt x="0" y="113031"/>
                </a:cubicBezTo>
                <a:close/>
              </a:path>
            </a:pathLst>
          </a:cu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'a' + 't' → 'at'</a:t>
            </a:r>
          </a:p>
        </p:txBody>
      </p:sp>
      <p:sp>
        <p:nvSpPr>
          <p:cNvPr id="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24118F-4D20-5E33-8A3D-3CC18A8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524" y="5211762"/>
            <a:ext cx="2576596" cy="650760"/>
          </a:xfrm>
          <a:custGeom xmlns:a="http://schemas.openxmlformats.org/drawingml/2006/main">
            <a:gdLst>
              <a:gd name="csX0" fmla="*/ 0 w 2576596"/>
              <a:gd name="csY0" fmla="*/ 108462 h 650760"/>
              <a:gd name="csX1" fmla="*/ 108462 w 2576596"/>
              <a:gd name="csY1" fmla="*/ 0 h 650760"/>
              <a:gd name="csX2" fmla="*/ 674783 w 2576596"/>
              <a:gd name="csY2" fmla="*/ 0 h 650760"/>
              <a:gd name="csX3" fmla="*/ 1264701 w 2576596"/>
              <a:gd name="csY3" fmla="*/ 0 h 650760"/>
              <a:gd name="csX4" fmla="*/ 1831023 w 2576596"/>
              <a:gd name="csY4" fmla="*/ 0 h 650760"/>
              <a:gd name="csX5" fmla="*/ 2468134 w 2576596"/>
              <a:gd name="csY5" fmla="*/ 0 h 650760"/>
              <a:gd name="csX6" fmla="*/ 2576596 w 2576596"/>
              <a:gd name="csY6" fmla="*/ 108462 h 650760"/>
              <a:gd name="csX7" fmla="*/ 2576596 w 2576596"/>
              <a:gd name="csY7" fmla="*/ 542298 h 650760"/>
              <a:gd name="csX8" fmla="*/ 2468134 w 2576596"/>
              <a:gd name="csY8" fmla="*/ 650760 h 650760"/>
              <a:gd name="csX9" fmla="*/ 1878216 w 2576596"/>
              <a:gd name="csY9" fmla="*/ 650760 h 650760"/>
              <a:gd name="csX10" fmla="*/ 1359088 w 2576596"/>
              <a:gd name="csY10" fmla="*/ 650760 h 650760"/>
              <a:gd name="csX11" fmla="*/ 839960 w 2576596"/>
              <a:gd name="csY11" fmla="*/ 650760 h 650760"/>
              <a:gd name="csX12" fmla="*/ 108462 w 2576596"/>
              <a:gd name="csY12" fmla="*/ 650760 h 650760"/>
              <a:gd name="csX13" fmla="*/ 0 w 2576596"/>
              <a:gd name="csY13" fmla="*/ 542298 h 650760"/>
              <a:gd name="csX14" fmla="*/ 0 w 2576596"/>
              <a:gd name="csY14" fmla="*/ 108462 h 650760"/>
            </a:gdLst>
            <a:rect l="l" t="t" r="r" b="b"/>
            <a:pathLst>
              <a:path w="2576596" h="650760">
                <a:moveTo>
                  <a:pt x="0" y="108462"/>
                </a:moveTo>
                <a:cubicBezTo>
                  <a:pt x="-11968" y="39541"/>
                  <a:pt x="48554" y="1300"/>
                  <a:pt x="108462" y="0"/>
                </a:cubicBezTo>
                <a:cubicBezTo>
                  <a:pt x="247437" y="-15815"/>
                  <a:pt x="400736" y="24873"/>
                  <a:pt x="674783" y="0"/>
                </a:cubicBezTo>
                <a:cubicBezTo>
                  <a:pt x="948830" y="-24873"/>
                  <a:pt x="1087967" y="15494"/>
                  <a:pt x="1264701" y="0"/>
                </a:cubicBezTo>
                <a:cubicBezTo>
                  <a:pt x="1441435" y="-15494"/>
                  <a:pt x="1556218" y="43103"/>
                  <a:pt x="1831023" y="0"/>
                </a:cubicBezTo>
                <a:cubicBezTo>
                  <a:pt x="2105828" y="-43103"/>
                  <a:pt x="2223135" y="32976"/>
                  <a:pt x="2468134" y="0"/>
                </a:cubicBezTo>
                <a:cubicBezTo>
                  <a:pt x="2544697" y="1570"/>
                  <a:pt x="2562291" y="46227"/>
                  <a:pt x="2576596" y="108462"/>
                </a:cubicBezTo>
                <a:cubicBezTo>
                  <a:pt x="2592320" y="283390"/>
                  <a:pt x="2561381" y="345271"/>
                  <a:pt x="2576596" y="542298"/>
                </a:cubicBezTo>
                <a:cubicBezTo>
                  <a:pt x="2563351" y="608890"/>
                  <a:pt x="2522555" y="663853"/>
                  <a:pt x="2468134" y="650760"/>
                </a:cubicBezTo>
                <a:cubicBezTo>
                  <a:pt x="2272065" y="716250"/>
                  <a:pt x="2004580" y="632700"/>
                  <a:pt x="1878216" y="650760"/>
                </a:cubicBezTo>
                <a:cubicBezTo>
                  <a:pt x="1751852" y="668820"/>
                  <a:pt x="1585575" y="594783"/>
                  <a:pt x="1359088" y="650760"/>
                </a:cubicBezTo>
                <a:cubicBezTo>
                  <a:pt x="1132601" y="706737"/>
                  <a:pt x="1001034" y="619900"/>
                  <a:pt x="839960" y="650760"/>
                </a:cubicBezTo>
                <a:cubicBezTo>
                  <a:pt x="678886" y="681620"/>
                  <a:pt x="387046" y="622805"/>
                  <a:pt x="108462" y="650760"/>
                </a:cubicBezTo>
                <a:cubicBezTo>
                  <a:pt x="50547" y="652718"/>
                  <a:pt x="1681" y="599249"/>
                  <a:pt x="0" y="542298"/>
                </a:cubicBezTo>
                <a:cubicBezTo>
                  <a:pt x="-4473" y="363727"/>
                  <a:pt x="39066" y="204056"/>
                  <a:pt x="0" y="108462"/>
                </a:cubicBezTo>
                <a:close/>
              </a:path>
              <a:path w="2576596" h="650760">
                <a:moveTo>
                  <a:pt x="0" y="108462"/>
                </a:moveTo>
                <a:cubicBezTo>
                  <a:pt x="-2537" y="40597"/>
                  <a:pt x="39994" y="738"/>
                  <a:pt x="108462" y="0"/>
                </a:cubicBezTo>
                <a:cubicBezTo>
                  <a:pt x="240133" y="-66688"/>
                  <a:pt x="538650" y="68721"/>
                  <a:pt x="745573" y="0"/>
                </a:cubicBezTo>
                <a:cubicBezTo>
                  <a:pt x="952496" y="-68721"/>
                  <a:pt x="1066897" y="21293"/>
                  <a:pt x="1359088" y="0"/>
                </a:cubicBezTo>
                <a:cubicBezTo>
                  <a:pt x="1651279" y="-21293"/>
                  <a:pt x="1639009" y="45548"/>
                  <a:pt x="1878216" y="0"/>
                </a:cubicBezTo>
                <a:cubicBezTo>
                  <a:pt x="2117423" y="-45548"/>
                  <a:pt x="2321460" y="58259"/>
                  <a:pt x="2468134" y="0"/>
                </a:cubicBezTo>
                <a:cubicBezTo>
                  <a:pt x="2514821" y="-11837"/>
                  <a:pt x="2583824" y="40313"/>
                  <a:pt x="2576596" y="108462"/>
                </a:cubicBezTo>
                <a:cubicBezTo>
                  <a:pt x="2622074" y="204536"/>
                  <a:pt x="2544911" y="362397"/>
                  <a:pt x="2576596" y="542298"/>
                </a:cubicBezTo>
                <a:cubicBezTo>
                  <a:pt x="2587304" y="590506"/>
                  <a:pt x="2516225" y="642632"/>
                  <a:pt x="2468134" y="650760"/>
                </a:cubicBezTo>
                <a:cubicBezTo>
                  <a:pt x="2248349" y="666746"/>
                  <a:pt x="2165598" y="628734"/>
                  <a:pt x="1925409" y="650760"/>
                </a:cubicBezTo>
                <a:cubicBezTo>
                  <a:pt x="1685221" y="672786"/>
                  <a:pt x="1533374" y="588784"/>
                  <a:pt x="1406282" y="650760"/>
                </a:cubicBezTo>
                <a:cubicBezTo>
                  <a:pt x="1279190" y="712736"/>
                  <a:pt x="929263" y="609125"/>
                  <a:pt x="792767" y="650760"/>
                </a:cubicBezTo>
                <a:cubicBezTo>
                  <a:pt x="656271" y="692395"/>
                  <a:pt x="291676" y="626985"/>
                  <a:pt x="108462" y="650760"/>
                </a:cubicBezTo>
                <a:cubicBezTo>
                  <a:pt x="52065" y="659642"/>
                  <a:pt x="7341" y="617959"/>
                  <a:pt x="0" y="542298"/>
                </a:cubicBezTo>
                <a:cubicBezTo>
                  <a:pt x="-12794" y="335806"/>
                  <a:pt x="46152" y="200588"/>
                  <a:pt x="0" y="108462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't' + 'h' → 'th'</a:t>
            </a:r>
          </a:p>
        </p:txBody>
      </p:sp>
    </p:spTree>
    <p:extLst>
      <p:ext uri="{BB962C8B-B14F-4D97-AF65-F5344CB8AC3E}">
        <p14:creationId xmlns:p14="http://schemas.microsoft.com/office/powerpoint/2010/main" val="223211823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1C0C9-02DB-341E-1DD4-01FBF62AA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E6CE44-3C46-5B05-6CBB-9CF115AE79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merge the most frequent pairs again,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['th', 'e', ' ', 'c', 'at', ' ', 's', 'at', ' ', 'o', 'n',' ','th', 'e', ' ', 'm', 'at']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t>Again, if there are conflicting merge rules, we apply the first one.</a:t>
            </a: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rgbClr val="72727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3704596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1DFF3A-1F07-AB4B-7A1F-5F094641E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08EFDB-A14B-2161-2D1F-041118722C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['th', 'e', ' ', 'c', 'at', ' ', 's', 'at', ' ', 'o', 'n',' ','th', 'e', ' ', 'm', 'at']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t>Next frequency map: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2,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 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...}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700"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8105029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603626-2F66-2009-5031-6FB353CE9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9B9554-05C2-5814-6EE9-EA5222D4E8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add 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>
                <a:solidFill>
                  <a:srgbClr val="7030A0"/>
                </a:solidFill>
                <a:latin typeface="Aptos"/>
                <a:ea typeface="Aptos"/>
                <a:cs typeface="Aptos"/>
              </a:rPr>
              <a:t> </a:t>
            </a:r>
            <a:r>
              <a:t>to the vocabulary: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vocab = [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'n'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'o'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'th'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  'the'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]</a:t>
            </a: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And learn another merge rule: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C981F0B-6595-FD53-CBE8-1C4B5EC5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94" y="4537474"/>
            <a:ext cx="2741056" cy="1061911"/>
          </a:xfrm>
          <a:custGeom xmlns:a="http://schemas.openxmlformats.org/drawingml/2006/main">
            <a:gdLst>
              <a:gd name="csX0" fmla="*/ 0 w 2741056"/>
              <a:gd name="csY0" fmla="*/ 176989 h 1061911"/>
              <a:gd name="csX1" fmla="*/ 176989 w 2741056"/>
              <a:gd name="csY1" fmla="*/ 0 h 1061911"/>
              <a:gd name="csX2" fmla="*/ 726017 w 2741056"/>
              <a:gd name="csY2" fmla="*/ 0 h 1061911"/>
              <a:gd name="csX3" fmla="*/ 1251174 w 2741056"/>
              <a:gd name="csY3" fmla="*/ 0 h 1061911"/>
              <a:gd name="csX4" fmla="*/ 1847944 w 2741056"/>
              <a:gd name="csY4" fmla="*/ 0 h 1061911"/>
              <a:gd name="csX5" fmla="*/ 2564067 w 2741056"/>
              <a:gd name="csY5" fmla="*/ 0 h 1061911"/>
              <a:gd name="csX6" fmla="*/ 2741056 w 2741056"/>
              <a:gd name="csY6" fmla="*/ 176989 h 1061911"/>
              <a:gd name="csX7" fmla="*/ 2741056 w 2741056"/>
              <a:gd name="csY7" fmla="*/ 509718 h 1061911"/>
              <a:gd name="csX8" fmla="*/ 2741056 w 2741056"/>
              <a:gd name="csY8" fmla="*/ 884922 h 1061911"/>
              <a:gd name="csX9" fmla="*/ 2564067 w 2741056"/>
              <a:gd name="csY9" fmla="*/ 1061911 h 1061911"/>
              <a:gd name="csX10" fmla="*/ 1943427 w 2741056"/>
              <a:gd name="csY10" fmla="*/ 1061911 h 1061911"/>
              <a:gd name="csX11" fmla="*/ 1418270 w 2741056"/>
              <a:gd name="csY11" fmla="*/ 1061911 h 1061911"/>
              <a:gd name="csX12" fmla="*/ 845371 w 2741056"/>
              <a:gd name="csY12" fmla="*/ 1061911 h 1061911"/>
              <a:gd name="csX13" fmla="*/ 176989 w 2741056"/>
              <a:gd name="csY13" fmla="*/ 1061911 h 1061911"/>
              <a:gd name="csX14" fmla="*/ 0 w 2741056"/>
              <a:gd name="csY14" fmla="*/ 884922 h 1061911"/>
              <a:gd name="csX15" fmla="*/ 0 w 2741056"/>
              <a:gd name="csY15" fmla="*/ 516797 h 1061911"/>
              <a:gd name="csX16" fmla="*/ 0 w 2741056"/>
              <a:gd name="csY16" fmla="*/ 176989 h 1061911"/>
            </a:gdLst>
            <a:rect l="l" t="t" r="r" b="b"/>
            <a:pathLst>
              <a:path w="2741056" h="1061911">
                <a:moveTo>
                  <a:pt x="0" y="176989"/>
                </a:moveTo>
                <a:cubicBezTo>
                  <a:pt x="10032" y="63535"/>
                  <a:pt x="71995" y="16843"/>
                  <a:pt x="176989" y="0"/>
                </a:cubicBezTo>
                <a:cubicBezTo>
                  <a:pt x="394470" y="-4272"/>
                  <a:pt x="472378" y="22782"/>
                  <a:pt x="726017" y="0"/>
                </a:cubicBezTo>
                <a:cubicBezTo>
                  <a:pt x="979656" y="-22782"/>
                  <a:pt x="1106071" y="2434"/>
                  <a:pt x="1251174" y="0"/>
                </a:cubicBezTo>
                <a:cubicBezTo>
                  <a:pt x="1396277" y="-2434"/>
                  <a:pt x="1556436" y="18322"/>
                  <a:pt x="1847944" y="0"/>
                </a:cubicBezTo>
                <a:cubicBezTo>
                  <a:pt x="2139452" y="-18322"/>
                  <a:pt x="2347484" y="44364"/>
                  <a:pt x="2564067" y="0"/>
                </a:cubicBezTo>
                <a:cubicBezTo>
                  <a:pt x="2633761" y="-2921"/>
                  <a:pt x="2734059" y="81220"/>
                  <a:pt x="2741056" y="176989"/>
                </a:cubicBezTo>
                <a:cubicBezTo>
                  <a:pt x="2766048" y="308818"/>
                  <a:pt x="2701785" y="397856"/>
                  <a:pt x="2741056" y="509718"/>
                </a:cubicBezTo>
                <a:cubicBezTo>
                  <a:pt x="2780327" y="621580"/>
                  <a:pt x="2701659" y="734430"/>
                  <a:pt x="2741056" y="884922"/>
                </a:cubicBezTo>
                <a:cubicBezTo>
                  <a:pt x="2742095" y="979359"/>
                  <a:pt x="2676702" y="1069497"/>
                  <a:pt x="2564067" y="1061911"/>
                </a:cubicBezTo>
                <a:cubicBezTo>
                  <a:pt x="2429572" y="1103887"/>
                  <a:pt x="2077180" y="1054486"/>
                  <a:pt x="1943427" y="1061911"/>
                </a:cubicBezTo>
                <a:cubicBezTo>
                  <a:pt x="1809674" y="1069336"/>
                  <a:pt x="1555996" y="1036315"/>
                  <a:pt x="1418270" y="1061911"/>
                </a:cubicBezTo>
                <a:cubicBezTo>
                  <a:pt x="1280544" y="1087507"/>
                  <a:pt x="1038793" y="1004037"/>
                  <a:pt x="845371" y="1061911"/>
                </a:cubicBezTo>
                <a:cubicBezTo>
                  <a:pt x="651949" y="1119785"/>
                  <a:pt x="480755" y="997517"/>
                  <a:pt x="176989" y="1061911"/>
                </a:cubicBezTo>
                <a:cubicBezTo>
                  <a:pt x="67778" y="1051694"/>
                  <a:pt x="19279" y="997285"/>
                  <a:pt x="0" y="884922"/>
                </a:cubicBezTo>
                <a:cubicBezTo>
                  <a:pt x="-26900" y="744153"/>
                  <a:pt x="14501" y="593238"/>
                  <a:pt x="0" y="516797"/>
                </a:cubicBezTo>
                <a:cubicBezTo>
                  <a:pt x="-14501" y="440357"/>
                  <a:pt x="36977" y="261877"/>
                  <a:pt x="0" y="176989"/>
                </a:cubicBezTo>
                <a:close/>
              </a:path>
              <a:path w="2741056" h="1061911">
                <a:moveTo>
                  <a:pt x="0" y="176989"/>
                </a:moveTo>
                <a:cubicBezTo>
                  <a:pt x="-5156" y="63055"/>
                  <a:pt x="56981" y="1917"/>
                  <a:pt x="176989" y="0"/>
                </a:cubicBezTo>
                <a:cubicBezTo>
                  <a:pt x="438602" y="-27533"/>
                  <a:pt x="619398" y="23768"/>
                  <a:pt x="821500" y="0"/>
                </a:cubicBezTo>
                <a:cubicBezTo>
                  <a:pt x="1023602" y="-23768"/>
                  <a:pt x="1253177" y="16645"/>
                  <a:pt x="1442140" y="0"/>
                </a:cubicBezTo>
                <a:cubicBezTo>
                  <a:pt x="1631103" y="-16645"/>
                  <a:pt x="1819797" y="32840"/>
                  <a:pt x="1967298" y="0"/>
                </a:cubicBezTo>
                <a:cubicBezTo>
                  <a:pt x="2114799" y="-32840"/>
                  <a:pt x="2392635" y="15056"/>
                  <a:pt x="2564067" y="0"/>
                </a:cubicBezTo>
                <a:cubicBezTo>
                  <a:pt x="2656596" y="-4675"/>
                  <a:pt x="2753666" y="64853"/>
                  <a:pt x="2741056" y="176989"/>
                </a:cubicBezTo>
                <a:cubicBezTo>
                  <a:pt x="2776695" y="308140"/>
                  <a:pt x="2737794" y="425684"/>
                  <a:pt x="2741056" y="509718"/>
                </a:cubicBezTo>
                <a:cubicBezTo>
                  <a:pt x="2744318" y="593752"/>
                  <a:pt x="2708965" y="744466"/>
                  <a:pt x="2741056" y="884922"/>
                </a:cubicBezTo>
                <a:cubicBezTo>
                  <a:pt x="2737489" y="1007171"/>
                  <a:pt x="2636814" y="1054653"/>
                  <a:pt x="2564067" y="1061911"/>
                </a:cubicBezTo>
                <a:cubicBezTo>
                  <a:pt x="2314894" y="1098887"/>
                  <a:pt x="2268755" y="1018087"/>
                  <a:pt x="2015039" y="1061911"/>
                </a:cubicBezTo>
                <a:cubicBezTo>
                  <a:pt x="1761323" y="1105735"/>
                  <a:pt x="1629517" y="1032234"/>
                  <a:pt x="1394399" y="1061911"/>
                </a:cubicBezTo>
                <a:cubicBezTo>
                  <a:pt x="1159281" y="1091588"/>
                  <a:pt x="1098987" y="1050547"/>
                  <a:pt x="845371" y="1061911"/>
                </a:cubicBezTo>
                <a:cubicBezTo>
                  <a:pt x="591755" y="1073275"/>
                  <a:pt x="410546" y="1000570"/>
                  <a:pt x="176989" y="1061911"/>
                </a:cubicBezTo>
                <a:cubicBezTo>
                  <a:pt x="80384" y="1058669"/>
                  <a:pt x="5911" y="993022"/>
                  <a:pt x="0" y="884922"/>
                </a:cubicBezTo>
                <a:cubicBezTo>
                  <a:pt x="-34802" y="763631"/>
                  <a:pt x="14095" y="654728"/>
                  <a:pt x="0" y="552193"/>
                </a:cubicBezTo>
                <a:cubicBezTo>
                  <a:pt x="-14095" y="449658"/>
                  <a:pt x="14171" y="339115"/>
                  <a:pt x="0" y="176989"/>
                </a:cubicBezTo>
                <a:close/>
              </a:path>
            </a:pathLst>
          </a:cu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'a' + 't' → 'at'</a:t>
            </a:r>
          </a:p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't' + 'h' → 'th'</a:t>
            </a:r>
            <a:endParaRPr/>
          </a:p>
        </p:txBody>
      </p:sp>
      <p:sp>
        <p:nvSpPr>
          <p:cNvPr id="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384790-A2A0-5E77-A0C1-8E968877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294" y="5595503"/>
            <a:ext cx="2741056" cy="639796"/>
          </a:xfrm>
          <a:custGeom xmlns:a="http://schemas.openxmlformats.org/drawingml/2006/main">
            <a:gdLst>
              <a:gd name="csX0" fmla="*/ 0 w 2741056"/>
              <a:gd name="csY0" fmla="*/ 106635 h 639796"/>
              <a:gd name="csX1" fmla="*/ 106635 w 2741056"/>
              <a:gd name="csY1" fmla="*/ 0 h 639796"/>
              <a:gd name="csX2" fmla="*/ 561636 w 2741056"/>
              <a:gd name="csY2" fmla="*/ 0 h 639796"/>
              <a:gd name="csX3" fmla="*/ 991360 w 2741056"/>
              <a:gd name="csY3" fmla="*/ 0 h 639796"/>
              <a:gd name="csX4" fmla="*/ 1496917 w 2741056"/>
              <a:gd name="csY4" fmla="*/ 0 h 639796"/>
              <a:gd name="csX5" fmla="*/ 2002475 w 2741056"/>
              <a:gd name="csY5" fmla="*/ 0 h 639796"/>
              <a:gd name="csX6" fmla="*/ 2634421 w 2741056"/>
              <a:gd name="csY6" fmla="*/ 0 h 639796"/>
              <a:gd name="csX7" fmla="*/ 2741056 w 2741056"/>
              <a:gd name="csY7" fmla="*/ 106635 h 639796"/>
              <a:gd name="csX8" fmla="*/ 2741056 w 2741056"/>
              <a:gd name="csY8" fmla="*/ 533161 h 639796"/>
              <a:gd name="csX9" fmla="*/ 2634421 w 2741056"/>
              <a:gd name="csY9" fmla="*/ 639796 h 639796"/>
              <a:gd name="csX10" fmla="*/ 2103586 w 2741056"/>
              <a:gd name="csY10" fmla="*/ 639796 h 639796"/>
              <a:gd name="csX11" fmla="*/ 1673862 w 2741056"/>
              <a:gd name="csY11" fmla="*/ 639796 h 639796"/>
              <a:gd name="csX12" fmla="*/ 1193583 w 2741056"/>
              <a:gd name="csY12" fmla="*/ 639796 h 639796"/>
              <a:gd name="csX13" fmla="*/ 763859 w 2741056"/>
              <a:gd name="csY13" fmla="*/ 639796 h 639796"/>
              <a:gd name="csX14" fmla="*/ 106635 w 2741056"/>
              <a:gd name="csY14" fmla="*/ 639796 h 639796"/>
              <a:gd name="csX15" fmla="*/ 0 w 2741056"/>
              <a:gd name="csY15" fmla="*/ 533161 h 639796"/>
              <a:gd name="csX16" fmla="*/ 0 w 2741056"/>
              <a:gd name="csY16" fmla="*/ 106635 h 639796"/>
            </a:gdLst>
            <a:rect l="l" t="t" r="r" b="b"/>
            <a:pathLst>
              <a:path w="2741056" h="639796">
                <a:moveTo>
                  <a:pt x="0" y="106635"/>
                </a:moveTo>
                <a:cubicBezTo>
                  <a:pt x="5907" y="38494"/>
                  <a:pt x="46299" y="3355"/>
                  <a:pt x="106635" y="0"/>
                </a:cubicBezTo>
                <a:cubicBezTo>
                  <a:pt x="279260" y="-53040"/>
                  <a:pt x="376721" y="29000"/>
                  <a:pt x="561636" y="0"/>
                </a:cubicBezTo>
                <a:cubicBezTo>
                  <a:pt x="746551" y="-29000"/>
                  <a:pt x="800637" y="6684"/>
                  <a:pt x="991360" y="0"/>
                </a:cubicBezTo>
                <a:cubicBezTo>
                  <a:pt x="1182083" y="-6684"/>
                  <a:pt x="1244669" y="60318"/>
                  <a:pt x="1496917" y="0"/>
                </a:cubicBezTo>
                <a:cubicBezTo>
                  <a:pt x="1749165" y="-60318"/>
                  <a:pt x="1822594" y="12456"/>
                  <a:pt x="2002475" y="0"/>
                </a:cubicBezTo>
                <a:cubicBezTo>
                  <a:pt x="2182356" y="-12456"/>
                  <a:pt x="2436445" y="39818"/>
                  <a:pt x="2634421" y="0"/>
                </a:cubicBezTo>
                <a:cubicBezTo>
                  <a:pt x="2679533" y="6961"/>
                  <a:pt x="2736994" y="57446"/>
                  <a:pt x="2741056" y="106635"/>
                </a:cubicBezTo>
                <a:cubicBezTo>
                  <a:pt x="2785319" y="237759"/>
                  <a:pt x="2737898" y="326427"/>
                  <a:pt x="2741056" y="533161"/>
                </a:cubicBezTo>
                <a:cubicBezTo>
                  <a:pt x="2743109" y="585515"/>
                  <a:pt x="2700934" y="643679"/>
                  <a:pt x="2634421" y="639796"/>
                </a:cubicBezTo>
                <a:cubicBezTo>
                  <a:pt x="2443571" y="687357"/>
                  <a:pt x="2322406" y="631266"/>
                  <a:pt x="2103586" y="639796"/>
                </a:cubicBezTo>
                <a:cubicBezTo>
                  <a:pt x="1884767" y="648326"/>
                  <a:pt x="1869945" y="633395"/>
                  <a:pt x="1673862" y="639796"/>
                </a:cubicBezTo>
                <a:cubicBezTo>
                  <a:pt x="1477779" y="646197"/>
                  <a:pt x="1409771" y="596597"/>
                  <a:pt x="1193583" y="639796"/>
                </a:cubicBezTo>
                <a:cubicBezTo>
                  <a:pt x="977395" y="682995"/>
                  <a:pt x="869333" y="631517"/>
                  <a:pt x="763859" y="639796"/>
                </a:cubicBezTo>
                <a:cubicBezTo>
                  <a:pt x="658385" y="648075"/>
                  <a:pt x="347434" y="609100"/>
                  <a:pt x="106635" y="639796"/>
                </a:cubicBezTo>
                <a:cubicBezTo>
                  <a:pt x="54987" y="627072"/>
                  <a:pt x="-1205" y="593320"/>
                  <a:pt x="0" y="533161"/>
                </a:cubicBezTo>
                <a:cubicBezTo>
                  <a:pt x="-6887" y="438319"/>
                  <a:pt x="9241" y="231001"/>
                  <a:pt x="0" y="106635"/>
                </a:cubicBezTo>
                <a:close/>
              </a:path>
              <a:path w="2741056" h="639796">
                <a:moveTo>
                  <a:pt x="0" y="106635"/>
                </a:moveTo>
                <a:cubicBezTo>
                  <a:pt x="-1807" y="42071"/>
                  <a:pt x="33514" y="1225"/>
                  <a:pt x="106635" y="0"/>
                </a:cubicBezTo>
                <a:cubicBezTo>
                  <a:pt x="246713" y="-29877"/>
                  <a:pt x="432899" y="5532"/>
                  <a:pt x="662748" y="0"/>
                </a:cubicBezTo>
                <a:cubicBezTo>
                  <a:pt x="892597" y="-5532"/>
                  <a:pt x="993236" y="33621"/>
                  <a:pt x="1193583" y="0"/>
                </a:cubicBezTo>
                <a:cubicBezTo>
                  <a:pt x="1393930" y="-33621"/>
                  <a:pt x="1446177" y="36929"/>
                  <a:pt x="1623307" y="0"/>
                </a:cubicBezTo>
                <a:cubicBezTo>
                  <a:pt x="1800437" y="-36929"/>
                  <a:pt x="1852948" y="50529"/>
                  <a:pt x="2078308" y="0"/>
                </a:cubicBezTo>
                <a:cubicBezTo>
                  <a:pt x="2303668" y="-50529"/>
                  <a:pt x="2456427" y="47053"/>
                  <a:pt x="2634421" y="0"/>
                </a:cubicBezTo>
                <a:cubicBezTo>
                  <a:pt x="2690573" y="3957"/>
                  <a:pt x="2743166" y="55479"/>
                  <a:pt x="2741056" y="106635"/>
                </a:cubicBezTo>
                <a:cubicBezTo>
                  <a:pt x="2766612" y="314979"/>
                  <a:pt x="2740047" y="364802"/>
                  <a:pt x="2741056" y="533161"/>
                </a:cubicBezTo>
                <a:cubicBezTo>
                  <a:pt x="2738699" y="608243"/>
                  <a:pt x="2684066" y="637111"/>
                  <a:pt x="2634421" y="639796"/>
                </a:cubicBezTo>
                <a:cubicBezTo>
                  <a:pt x="2522150" y="679786"/>
                  <a:pt x="2365540" y="634835"/>
                  <a:pt x="2179420" y="639796"/>
                </a:cubicBezTo>
                <a:cubicBezTo>
                  <a:pt x="1993300" y="644757"/>
                  <a:pt x="1831161" y="608173"/>
                  <a:pt x="1648584" y="639796"/>
                </a:cubicBezTo>
                <a:cubicBezTo>
                  <a:pt x="1466007" y="671419"/>
                  <a:pt x="1378787" y="607230"/>
                  <a:pt x="1193583" y="639796"/>
                </a:cubicBezTo>
                <a:cubicBezTo>
                  <a:pt x="1008379" y="672362"/>
                  <a:pt x="770566" y="589742"/>
                  <a:pt x="662748" y="639796"/>
                </a:cubicBezTo>
                <a:cubicBezTo>
                  <a:pt x="554930" y="689850"/>
                  <a:pt x="306375" y="635625"/>
                  <a:pt x="106635" y="639796"/>
                </a:cubicBezTo>
                <a:cubicBezTo>
                  <a:pt x="49554" y="636140"/>
                  <a:pt x="2987" y="594990"/>
                  <a:pt x="0" y="533161"/>
                </a:cubicBezTo>
                <a:cubicBezTo>
                  <a:pt x="-5939" y="438110"/>
                  <a:pt x="49875" y="284578"/>
                  <a:pt x="0" y="106635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'th' + 'e' → 'the'</a:t>
            </a:r>
          </a:p>
        </p:txBody>
      </p:sp>
    </p:spTree>
    <p:extLst>
      <p:ext uri="{BB962C8B-B14F-4D97-AF65-F5344CB8AC3E}">
        <p14:creationId xmlns:p14="http://schemas.microsoft.com/office/powerpoint/2010/main" val="39443380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DDEC9A-9293-203B-E1CC-F51AF0CDC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D205D0-14FA-A5DE-8816-2A4429B18C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merge the most frequent pairs again,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['the', ' ', 'c', 'at', ' ', 's', 'at', ' ', 'o', 'n',' ','the', ' ', 'm', 'at']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endParaRPr sz="1700"/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rgbClr val="72727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05309225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CE796C-8D2F-71C2-0221-60B034AC9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3AC42D-E7B5-0CA5-002A-8D0855EF2F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['the', ' ', 'c', 'at', ' ', 's', 'at', ' ', 'o', 'n',' ','the', ' ', 'm', 'at']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t>Next frequency map: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 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2,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 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'he'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'ca'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 : </a:t>
            </a:r>
            <a:r>
              <a:rPr>
                <a:solidFill>
                  <a:schemeClr val="accent6">
                    <a:lumMod val="76000"/>
                  </a:schemeClr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...}</a:t>
            </a:r>
            <a:endParaRPr>
              <a:solidFill>
                <a:schemeClr val="bg2">
                  <a:lumMod val="49000"/>
                </a:schemeClr>
              </a:solidFill>
            </a:endParaRPr>
          </a:p>
          <a:p xmlns:a="http://schemas.openxmlformats.org/drawingml/2006/main">
            <a:pPr marL="0" indent="0">
              <a:buNone/>
            </a:pPr>
            <a:endParaRPr sz="1700"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70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1800" i="1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67329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B8111A-3F77-CCF6-74EC-4F4592B4E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9ADF0E-086F-E6AA-DE44-86446C678A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We add </a:t>
            </a:r>
            <a:r>
              <a:rPr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 '</a:t>
            </a:r>
            <a:r>
              <a:rPr>
                <a:solidFill>
                  <a:srgbClr val="7030A0"/>
                </a:solidFill>
                <a:latin typeface="Aptos"/>
                <a:ea typeface="Aptos"/>
                <a:cs typeface="Aptos"/>
              </a:rPr>
              <a:t> </a:t>
            </a:r>
            <a:r>
              <a:t>to the vocabulary: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vocab = [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'n'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'o'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'th'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  'the'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20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 '</a:t>
            </a:r>
            <a:r>
              <a:rPr sz="20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]</a:t>
            </a: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  <a:p xmlns:a="http://schemas.openxmlformats.org/drawingml/2006/main">
            <a:pPr marL="0" indent="0">
              <a:buNone/>
            </a:pPr>
            <a:r>
              <a:rPr>
                <a:latin typeface="Aptos"/>
                <a:ea typeface="Aptos"/>
                <a:cs typeface="Aptos"/>
              </a:rPr>
              <a:t>And learn another merge rule:</a:t>
            </a: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0" indent="0">
              <a:buNone/>
            </a:pPr>
            <a:endParaRPr sz="2000">
              <a:solidFill>
                <a:schemeClr val="bg2">
                  <a:lumMod val="49000"/>
                </a:schemeClr>
              </a:solidFill>
              <a:latin typeface="Source Code Pro"/>
              <a:ea typeface="Source Code Pro"/>
              <a:cs typeface="Source Code Pro"/>
            </a:endParaRP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9311A4D-C515-6713-2B4D-559358C9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15" y="4427833"/>
            <a:ext cx="3069977" cy="1626558"/>
          </a:xfrm>
          <a:custGeom xmlns:a="http://schemas.openxmlformats.org/drawingml/2006/main">
            <a:gdLst>
              <a:gd name="csX0" fmla="*/ 0 w 3069977"/>
              <a:gd name="csY0" fmla="*/ 271098 h 1626558"/>
              <a:gd name="csX1" fmla="*/ 271098 w 3069977"/>
              <a:gd name="csY1" fmla="*/ 0 h 1626558"/>
              <a:gd name="csX2" fmla="*/ 751376 w 3069977"/>
              <a:gd name="csY2" fmla="*/ 0 h 1626558"/>
              <a:gd name="csX3" fmla="*/ 1256933 w 3069977"/>
              <a:gd name="csY3" fmla="*/ 0 h 1626558"/>
              <a:gd name="csX4" fmla="*/ 1787767 w 3069977"/>
              <a:gd name="csY4" fmla="*/ 0 h 1626558"/>
              <a:gd name="csX5" fmla="*/ 2343878 w 3069977"/>
              <a:gd name="csY5" fmla="*/ 0 h 1626558"/>
              <a:gd name="csX6" fmla="*/ 2798879 w 3069977"/>
              <a:gd name="csY6" fmla="*/ 0 h 1626558"/>
              <a:gd name="csX7" fmla="*/ 3069977 w 3069977"/>
              <a:gd name="csY7" fmla="*/ 271098 h 1626558"/>
              <a:gd name="csX8" fmla="*/ 3069977 w 3069977"/>
              <a:gd name="csY8" fmla="*/ 791592 h 1626558"/>
              <a:gd name="csX9" fmla="*/ 3069977 w 3069977"/>
              <a:gd name="csY9" fmla="*/ 1355460 h 1626558"/>
              <a:gd name="csX10" fmla="*/ 2798879 w 3069977"/>
              <a:gd name="csY10" fmla="*/ 1626558 h 1626558"/>
              <a:gd name="csX11" fmla="*/ 2343878 w 3069977"/>
              <a:gd name="csY11" fmla="*/ 1626558 h 1626558"/>
              <a:gd name="csX12" fmla="*/ 1914156 w 3069977"/>
              <a:gd name="csY12" fmla="*/ 1626558 h 1626558"/>
              <a:gd name="csX13" fmla="*/ 1383322 w 3069977"/>
              <a:gd name="csY13" fmla="*/ 1626558 h 1626558"/>
              <a:gd name="csX14" fmla="*/ 852488 w 3069977"/>
              <a:gd name="csY14" fmla="*/ 1626558 h 1626558"/>
              <a:gd name="csX15" fmla="*/ 271098 w 3069977"/>
              <a:gd name="csY15" fmla="*/ 1626558 h 1626558"/>
              <a:gd name="csX16" fmla="*/ 0 w 3069977"/>
              <a:gd name="csY16" fmla="*/ 1355460 h 1626558"/>
              <a:gd name="csX17" fmla="*/ 0 w 3069977"/>
              <a:gd name="csY17" fmla="*/ 824123 h 1626558"/>
              <a:gd name="csX18" fmla="*/ 0 w 3069977"/>
              <a:gd name="csY18" fmla="*/ 271098 h 1626558"/>
            </a:gdLst>
            <a:rect l="l" t="t" r="r" b="b"/>
            <a:pathLst>
              <a:path w="3069977" h="1626558">
                <a:moveTo>
                  <a:pt x="0" y="271098"/>
                </a:moveTo>
                <a:cubicBezTo>
                  <a:pt x="30830" y="149208"/>
                  <a:pt x="91086" y="-24658"/>
                  <a:pt x="271098" y="0"/>
                </a:cubicBezTo>
                <a:cubicBezTo>
                  <a:pt x="485090" y="-12648"/>
                  <a:pt x="641959" y="11199"/>
                  <a:pt x="751376" y="0"/>
                </a:cubicBezTo>
                <a:cubicBezTo>
                  <a:pt x="860793" y="-11199"/>
                  <a:pt x="1079653" y="16651"/>
                  <a:pt x="1256933" y="0"/>
                </a:cubicBezTo>
                <a:cubicBezTo>
                  <a:pt x="1434213" y="-16651"/>
                  <a:pt x="1557014" y="29827"/>
                  <a:pt x="1787767" y="0"/>
                </a:cubicBezTo>
                <a:cubicBezTo>
                  <a:pt x="2018520" y="-29827"/>
                  <a:pt x="2101018" y="1565"/>
                  <a:pt x="2343878" y="0"/>
                </a:cubicBezTo>
                <a:cubicBezTo>
                  <a:pt x="2586738" y="-1565"/>
                  <a:pt x="2580634" y="16896"/>
                  <a:pt x="2798879" y="0"/>
                </a:cubicBezTo>
                <a:cubicBezTo>
                  <a:pt x="2963834" y="-32797"/>
                  <a:pt x="3054188" y="116320"/>
                  <a:pt x="3069977" y="271098"/>
                </a:cubicBezTo>
                <a:cubicBezTo>
                  <a:pt x="3108221" y="483381"/>
                  <a:pt x="3051554" y="666754"/>
                  <a:pt x="3069977" y="791592"/>
                </a:cubicBezTo>
                <a:cubicBezTo>
                  <a:pt x="3088400" y="916430"/>
                  <a:pt x="3019987" y="1077090"/>
                  <a:pt x="3069977" y="1355460"/>
                </a:cubicBezTo>
                <a:cubicBezTo>
                  <a:pt x="3073922" y="1509071"/>
                  <a:pt x="2960223" y="1606161"/>
                  <a:pt x="2798879" y="1626558"/>
                </a:cubicBezTo>
                <a:cubicBezTo>
                  <a:pt x="2587384" y="1663222"/>
                  <a:pt x="2483744" y="1592947"/>
                  <a:pt x="2343878" y="1626558"/>
                </a:cubicBezTo>
                <a:cubicBezTo>
                  <a:pt x="2204012" y="1660169"/>
                  <a:pt x="2100620" y="1581234"/>
                  <a:pt x="1914156" y="1626558"/>
                </a:cubicBezTo>
                <a:cubicBezTo>
                  <a:pt x="1727692" y="1671882"/>
                  <a:pt x="1494392" y="1603248"/>
                  <a:pt x="1383322" y="1626558"/>
                </a:cubicBezTo>
                <a:cubicBezTo>
                  <a:pt x="1272252" y="1649868"/>
                  <a:pt x="988066" y="1610832"/>
                  <a:pt x="852488" y="1626558"/>
                </a:cubicBezTo>
                <a:cubicBezTo>
                  <a:pt x="716910" y="1642284"/>
                  <a:pt x="471595" y="1575384"/>
                  <a:pt x="271098" y="1626558"/>
                </a:cubicBezTo>
                <a:cubicBezTo>
                  <a:pt x="118007" y="1622935"/>
                  <a:pt x="-20185" y="1496840"/>
                  <a:pt x="0" y="1355460"/>
                </a:cubicBezTo>
                <a:cubicBezTo>
                  <a:pt x="-2186" y="1187054"/>
                  <a:pt x="7785" y="986830"/>
                  <a:pt x="0" y="824123"/>
                </a:cubicBezTo>
                <a:cubicBezTo>
                  <a:pt x="-7785" y="661416"/>
                  <a:pt x="55475" y="459112"/>
                  <a:pt x="0" y="271098"/>
                </a:cubicBezTo>
                <a:close/>
              </a:path>
              <a:path w="3069977" h="1626558">
                <a:moveTo>
                  <a:pt x="0" y="271098"/>
                </a:moveTo>
                <a:cubicBezTo>
                  <a:pt x="-9042" y="92992"/>
                  <a:pt x="108970" y="1068"/>
                  <a:pt x="271098" y="0"/>
                </a:cubicBezTo>
                <a:cubicBezTo>
                  <a:pt x="415765" y="-23141"/>
                  <a:pt x="601342" y="12938"/>
                  <a:pt x="827210" y="0"/>
                </a:cubicBezTo>
                <a:cubicBezTo>
                  <a:pt x="1053078" y="-12938"/>
                  <a:pt x="1159069" y="38974"/>
                  <a:pt x="1358044" y="0"/>
                </a:cubicBezTo>
                <a:cubicBezTo>
                  <a:pt x="1557019" y="-38974"/>
                  <a:pt x="1615921" y="43938"/>
                  <a:pt x="1787767" y="0"/>
                </a:cubicBezTo>
                <a:cubicBezTo>
                  <a:pt x="1959613" y="-43938"/>
                  <a:pt x="2019817" y="51228"/>
                  <a:pt x="2242767" y="0"/>
                </a:cubicBezTo>
                <a:cubicBezTo>
                  <a:pt x="2465717" y="-51228"/>
                  <a:pt x="2623432" y="49663"/>
                  <a:pt x="2798879" y="0"/>
                </a:cubicBezTo>
                <a:cubicBezTo>
                  <a:pt x="2928808" y="28575"/>
                  <a:pt x="3075317" y="140958"/>
                  <a:pt x="3069977" y="271098"/>
                </a:cubicBezTo>
                <a:cubicBezTo>
                  <a:pt x="3121224" y="421405"/>
                  <a:pt x="3053734" y="663443"/>
                  <a:pt x="3069977" y="780748"/>
                </a:cubicBezTo>
                <a:cubicBezTo>
                  <a:pt x="3086220" y="898053"/>
                  <a:pt x="3052730" y="1087252"/>
                  <a:pt x="3069977" y="1355460"/>
                </a:cubicBezTo>
                <a:cubicBezTo>
                  <a:pt x="3035688" y="1484183"/>
                  <a:pt x="2982286" y="1636467"/>
                  <a:pt x="2798879" y="1626558"/>
                </a:cubicBezTo>
                <a:cubicBezTo>
                  <a:pt x="2575318" y="1632380"/>
                  <a:pt x="2436006" y="1624409"/>
                  <a:pt x="2343878" y="1626558"/>
                </a:cubicBezTo>
                <a:cubicBezTo>
                  <a:pt x="2251750" y="1628707"/>
                  <a:pt x="2074008" y="1588703"/>
                  <a:pt x="1888878" y="1626558"/>
                </a:cubicBezTo>
                <a:cubicBezTo>
                  <a:pt x="1703748" y="1664413"/>
                  <a:pt x="1617917" y="1570601"/>
                  <a:pt x="1358044" y="1626558"/>
                </a:cubicBezTo>
                <a:cubicBezTo>
                  <a:pt x="1098171" y="1682515"/>
                  <a:pt x="1001131" y="1592677"/>
                  <a:pt x="827210" y="1626558"/>
                </a:cubicBezTo>
                <a:cubicBezTo>
                  <a:pt x="653289" y="1660439"/>
                  <a:pt x="489295" y="1568536"/>
                  <a:pt x="271098" y="1626558"/>
                </a:cubicBezTo>
                <a:cubicBezTo>
                  <a:pt x="116935" y="1623212"/>
                  <a:pt x="-116" y="1531091"/>
                  <a:pt x="0" y="1355460"/>
                </a:cubicBezTo>
                <a:cubicBezTo>
                  <a:pt x="-31183" y="1098218"/>
                  <a:pt x="29489" y="945767"/>
                  <a:pt x="0" y="824123"/>
                </a:cubicBezTo>
                <a:cubicBezTo>
                  <a:pt x="-29489" y="702479"/>
                  <a:pt x="4785" y="399686"/>
                  <a:pt x="0" y="271098"/>
                </a:cubicBezTo>
                <a:close/>
              </a:path>
            </a:pathLst>
          </a:cu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'a' + 't' → 'at'</a:t>
            </a:r>
          </a:p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't' + 'h' → 'th'</a:t>
            </a:r>
          </a:p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'th' + 'e' → 'the'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8B1741-0F3C-3D1D-4DED-E5AC7098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16" y="6050510"/>
            <a:ext cx="3064494" cy="617868"/>
          </a:xfrm>
          <a:custGeom xmlns:a="http://schemas.openxmlformats.org/drawingml/2006/main">
            <a:gdLst>
              <a:gd name="csX0" fmla="*/ 0 w 3064494"/>
              <a:gd name="csY0" fmla="*/ 102980 h 617868"/>
              <a:gd name="csX1" fmla="*/ 102980 w 3064494"/>
              <a:gd name="csY1" fmla="*/ 0 h 617868"/>
              <a:gd name="csX2" fmla="*/ 617516 w 3064494"/>
              <a:gd name="csY2" fmla="*/ 0 h 617868"/>
              <a:gd name="csX3" fmla="*/ 1103467 w 3064494"/>
              <a:gd name="csY3" fmla="*/ 0 h 617868"/>
              <a:gd name="csX4" fmla="*/ 1675174 w 3064494"/>
              <a:gd name="csY4" fmla="*/ 0 h 617868"/>
              <a:gd name="csX5" fmla="*/ 2246881 w 3064494"/>
              <a:gd name="csY5" fmla="*/ 0 h 617868"/>
              <a:gd name="csX6" fmla="*/ 2961514 w 3064494"/>
              <a:gd name="csY6" fmla="*/ 0 h 617868"/>
              <a:gd name="csX7" fmla="*/ 3064494 w 3064494"/>
              <a:gd name="csY7" fmla="*/ 102980 h 617868"/>
              <a:gd name="csX8" fmla="*/ 3064494 w 3064494"/>
              <a:gd name="csY8" fmla="*/ 514888 h 617868"/>
              <a:gd name="csX9" fmla="*/ 2961514 w 3064494"/>
              <a:gd name="csY9" fmla="*/ 617868 h 617868"/>
              <a:gd name="csX10" fmla="*/ 2361222 w 3064494"/>
              <a:gd name="csY10" fmla="*/ 617868 h 617868"/>
              <a:gd name="csX11" fmla="*/ 1875271 w 3064494"/>
              <a:gd name="csY11" fmla="*/ 617868 h 617868"/>
              <a:gd name="csX12" fmla="*/ 1332150 w 3064494"/>
              <a:gd name="csY12" fmla="*/ 617868 h 617868"/>
              <a:gd name="csX13" fmla="*/ 846199 w 3064494"/>
              <a:gd name="csY13" fmla="*/ 617868 h 617868"/>
              <a:gd name="csX14" fmla="*/ 102980 w 3064494"/>
              <a:gd name="csY14" fmla="*/ 617868 h 617868"/>
              <a:gd name="csX15" fmla="*/ 0 w 3064494"/>
              <a:gd name="csY15" fmla="*/ 514888 h 617868"/>
              <a:gd name="csX16" fmla="*/ 0 w 3064494"/>
              <a:gd name="csY16" fmla="*/ 102980 h 617868"/>
            </a:gdLst>
            <a:rect l="l" t="t" r="r" b="b"/>
            <a:pathLst>
              <a:path w="3064494" h="617868">
                <a:moveTo>
                  <a:pt x="0" y="102980"/>
                </a:moveTo>
                <a:cubicBezTo>
                  <a:pt x="8816" y="32304"/>
                  <a:pt x="43908" y="5109"/>
                  <a:pt x="102980" y="0"/>
                </a:cubicBezTo>
                <a:cubicBezTo>
                  <a:pt x="222673" y="-23230"/>
                  <a:pt x="459283" y="6628"/>
                  <a:pt x="617516" y="0"/>
                </a:cubicBezTo>
                <a:cubicBezTo>
                  <a:pt x="775749" y="-6628"/>
                  <a:pt x="973975" y="36235"/>
                  <a:pt x="1103467" y="0"/>
                </a:cubicBezTo>
                <a:cubicBezTo>
                  <a:pt x="1232959" y="-36235"/>
                  <a:pt x="1454384" y="48619"/>
                  <a:pt x="1675174" y="0"/>
                </a:cubicBezTo>
                <a:cubicBezTo>
                  <a:pt x="1895964" y="-48619"/>
                  <a:pt x="2047705" y="47602"/>
                  <a:pt x="2246881" y="0"/>
                </a:cubicBezTo>
                <a:cubicBezTo>
                  <a:pt x="2446057" y="-47602"/>
                  <a:pt x="2678482" y="77600"/>
                  <a:pt x="2961514" y="0"/>
                </a:cubicBezTo>
                <a:cubicBezTo>
                  <a:pt x="3007547" y="5476"/>
                  <a:pt x="3063938" y="47435"/>
                  <a:pt x="3064494" y="102980"/>
                </a:cubicBezTo>
                <a:cubicBezTo>
                  <a:pt x="3096369" y="260307"/>
                  <a:pt x="3047980" y="399757"/>
                  <a:pt x="3064494" y="514888"/>
                </a:cubicBezTo>
                <a:cubicBezTo>
                  <a:pt x="3067204" y="563130"/>
                  <a:pt x="3027736" y="622632"/>
                  <a:pt x="2961514" y="617868"/>
                </a:cubicBezTo>
                <a:cubicBezTo>
                  <a:pt x="2804842" y="657456"/>
                  <a:pt x="2579465" y="588117"/>
                  <a:pt x="2361222" y="617868"/>
                </a:cubicBezTo>
                <a:cubicBezTo>
                  <a:pt x="2142979" y="647619"/>
                  <a:pt x="2006233" y="586459"/>
                  <a:pt x="1875271" y="617868"/>
                </a:cubicBezTo>
                <a:cubicBezTo>
                  <a:pt x="1744309" y="649277"/>
                  <a:pt x="1555657" y="613430"/>
                  <a:pt x="1332150" y="617868"/>
                </a:cubicBezTo>
                <a:cubicBezTo>
                  <a:pt x="1108643" y="622306"/>
                  <a:pt x="1025226" y="579179"/>
                  <a:pt x="846199" y="617868"/>
                </a:cubicBezTo>
                <a:cubicBezTo>
                  <a:pt x="667172" y="656557"/>
                  <a:pt x="426374" y="557836"/>
                  <a:pt x="102980" y="617868"/>
                </a:cubicBezTo>
                <a:cubicBezTo>
                  <a:pt x="47937" y="614651"/>
                  <a:pt x="-1727" y="573576"/>
                  <a:pt x="0" y="514888"/>
                </a:cubicBezTo>
                <a:cubicBezTo>
                  <a:pt x="-40794" y="425664"/>
                  <a:pt x="30983" y="195990"/>
                  <a:pt x="0" y="102980"/>
                </a:cubicBezTo>
                <a:close/>
              </a:path>
              <a:path w="3064494" h="617868">
                <a:moveTo>
                  <a:pt x="0" y="102980"/>
                </a:moveTo>
                <a:cubicBezTo>
                  <a:pt x="-4649" y="31511"/>
                  <a:pt x="39107" y="603"/>
                  <a:pt x="102980" y="0"/>
                </a:cubicBezTo>
                <a:cubicBezTo>
                  <a:pt x="394972" y="-32880"/>
                  <a:pt x="457023" y="24059"/>
                  <a:pt x="731857" y="0"/>
                </a:cubicBezTo>
                <a:cubicBezTo>
                  <a:pt x="1006691" y="-24059"/>
                  <a:pt x="1074672" y="26191"/>
                  <a:pt x="1332150" y="0"/>
                </a:cubicBezTo>
                <a:cubicBezTo>
                  <a:pt x="1589628" y="-26191"/>
                  <a:pt x="1649031" y="3420"/>
                  <a:pt x="1818100" y="0"/>
                </a:cubicBezTo>
                <a:cubicBezTo>
                  <a:pt x="1987169" y="-3420"/>
                  <a:pt x="2158455" y="29184"/>
                  <a:pt x="2332637" y="0"/>
                </a:cubicBezTo>
                <a:cubicBezTo>
                  <a:pt x="2506819" y="-29184"/>
                  <a:pt x="2663547" y="26632"/>
                  <a:pt x="2961514" y="0"/>
                </a:cubicBezTo>
                <a:cubicBezTo>
                  <a:pt x="3014825" y="5143"/>
                  <a:pt x="3068062" y="59188"/>
                  <a:pt x="3064494" y="102980"/>
                </a:cubicBezTo>
                <a:cubicBezTo>
                  <a:pt x="3097961" y="272012"/>
                  <a:pt x="3016608" y="429409"/>
                  <a:pt x="3064494" y="514888"/>
                </a:cubicBezTo>
                <a:cubicBezTo>
                  <a:pt x="3062243" y="587225"/>
                  <a:pt x="3010180" y="615485"/>
                  <a:pt x="2961514" y="617868"/>
                </a:cubicBezTo>
                <a:cubicBezTo>
                  <a:pt x="2711903" y="620974"/>
                  <a:pt x="2687394" y="615454"/>
                  <a:pt x="2446978" y="617868"/>
                </a:cubicBezTo>
                <a:cubicBezTo>
                  <a:pt x="2206562" y="620282"/>
                  <a:pt x="1977235" y="556264"/>
                  <a:pt x="1846686" y="617868"/>
                </a:cubicBezTo>
                <a:cubicBezTo>
                  <a:pt x="1716137" y="679472"/>
                  <a:pt x="1464313" y="569885"/>
                  <a:pt x="1332150" y="617868"/>
                </a:cubicBezTo>
                <a:cubicBezTo>
                  <a:pt x="1199987" y="665851"/>
                  <a:pt x="954420" y="612401"/>
                  <a:pt x="731857" y="617868"/>
                </a:cubicBezTo>
                <a:cubicBezTo>
                  <a:pt x="509294" y="623335"/>
                  <a:pt x="369399" y="550989"/>
                  <a:pt x="102980" y="617868"/>
                </a:cubicBezTo>
                <a:cubicBezTo>
                  <a:pt x="52223" y="605527"/>
                  <a:pt x="9821" y="581417"/>
                  <a:pt x="0" y="514888"/>
                </a:cubicBezTo>
                <a:cubicBezTo>
                  <a:pt x="-28178" y="363512"/>
                  <a:pt x="41550" y="189391"/>
                  <a:pt x="0" y="102980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>
                <a:solidFill>
                  <a:schemeClr val="tx1"/>
                </a:solidFill>
              </a:rPr>
              <a:t>'the' + ' ' → 'the '</a:t>
            </a:r>
          </a:p>
        </p:txBody>
      </p:sp>
    </p:spTree>
    <p:extLst>
      <p:ext uri="{BB962C8B-B14F-4D97-AF65-F5344CB8AC3E}">
        <p14:creationId xmlns:p14="http://schemas.microsoft.com/office/powerpoint/2010/main" val="36322509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0D24DA-1314-A931-7D69-26F5699C6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pic>
        <p:nvPicPr>
          <p:cNvPr id="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99d0ab7b6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24" y="1897163"/>
            <a:ext cx="6403951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4381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E20331-B9EA-EA67-2E67-44CA6DFAE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Subword tokenization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6F42EF-1867-CB40-EA11-EE7C56E9FD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Obviously, we have to stop at some point: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 algn="ctr">
              <a:buNone/>
            </a:pPr>
            <a:r>
              <a:t>tiktoken     50k – 128k</a:t>
            </a:r>
          </a:p>
          <a:p xmlns:a="http://schemas.openxmlformats.org/drawingml/2006/main">
            <a:pPr marL="0" indent="0">
              <a:buNone/>
            </a:pPr>
            <a:endParaRPr/>
          </a:p>
          <a:p xmlns:a="http://schemas.openxmlformats.org/drawingml/2006/main">
            <a:pPr marL="0" indent="0">
              <a:buNone/>
            </a:pPr>
            <a:r>
              <a:t>Now to tokenize a new piece of text, we just apply the merge rules</a:t>
            </a:r>
          </a:p>
        </p:txBody>
      </p:sp>
    </p:spTree>
    <p:extLst>
      <p:ext uri="{BB962C8B-B14F-4D97-AF65-F5344CB8AC3E}">
        <p14:creationId xmlns:p14="http://schemas.microsoft.com/office/powerpoint/2010/main" val="342071903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381575-A181-BDB7-A211-70A6B9C63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we end up with?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C569EC-F9BE-FE13-BE03-7891401C1E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3201988"/>
          </a:xfrm>
        </p:spPr>
        <p:txBody>
          <a:bodyPr xmlns:a="http://schemas.openxmlformats.org/drawingml/2006/main" vert="horz" lIns="91440" tIns="45720" rIns="91440" bIns="4572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514350" indent="-514350">
              <a:buAutoNum type="arabicPeriod"/>
            </a:pPr>
            <a:r>
              <a:t>A set of merge rules</a:t>
            </a:r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r>
              <a:t>A vocabulary of tokens</a:t>
            </a:r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endParaRPr/>
          </a:p>
          <a:p xmlns:a="http://schemas.openxmlformats.org/drawingml/2006/main">
            <a:pPr marL="514350" indent="-514350">
              <a:buAutoNum type="arabicPeriod"/>
            </a:pPr>
            <a:r>
              <a:t>A mapping from tokens to indices (and the inverse)</a:t>
            </a: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10BAB6-2FAD-8A84-01FD-72347B8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865" y="2071983"/>
            <a:ext cx="1120527" cy="991558"/>
          </a:xfrm>
          <a:custGeom xmlns:a="http://schemas.openxmlformats.org/drawingml/2006/main">
            <a:gdLst>
              <a:gd name="csX0" fmla="*/ 0 w 1120527"/>
              <a:gd name="csY0" fmla="*/ 165263 h 991558"/>
              <a:gd name="csX1" fmla="*/ 165263 w 1120527"/>
              <a:gd name="csY1" fmla="*/ 0 h 991558"/>
              <a:gd name="csX2" fmla="*/ 536563 w 1120527"/>
              <a:gd name="csY2" fmla="*/ 0 h 991558"/>
              <a:gd name="csX3" fmla="*/ 955264 w 1120527"/>
              <a:gd name="csY3" fmla="*/ 0 h 991558"/>
              <a:gd name="csX4" fmla="*/ 1120527 w 1120527"/>
              <a:gd name="csY4" fmla="*/ 165263 h 991558"/>
              <a:gd name="csX5" fmla="*/ 1120527 w 1120527"/>
              <a:gd name="csY5" fmla="*/ 482558 h 991558"/>
              <a:gd name="csX6" fmla="*/ 1120527 w 1120527"/>
              <a:gd name="csY6" fmla="*/ 826295 h 991558"/>
              <a:gd name="csX7" fmla="*/ 955264 w 1120527"/>
              <a:gd name="csY7" fmla="*/ 991558 h 991558"/>
              <a:gd name="csX8" fmla="*/ 560264 w 1120527"/>
              <a:gd name="csY8" fmla="*/ 991558 h 991558"/>
              <a:gd name="csX9" fmla="*/ 165263 w 1120527"/>
              <a:gd name="csY9" fmla="*/ 991558 h 991558"/>
              <a:gd name="csX10" fmla="*/ 0 w 1120527"/>
              <a:gd name="csY10" fmla="*/ 826295 h 991558"/>
              <a:gd name="csX11" fmla="*/ 0 w 1120527"/>
              <a:gd name="csY11" fmla="*/ 509000 h 991558"/>
              <a:gd name="csX12" fmla="*/ 0 w 1120527"/>
              <a:gd name="csY12" fmla="*/ 165263 h 991558"/>
            </a:gdLst>
            <a:rect l="l" t="t" r="r" b="b"/>
            <a:pathLst>
              <a:path w="1120527" h="991558">
                <a:moveTo>
                  <a:pt x="0" y="165263"/>
                </a:moveTo>
                <a:cubicBezTo>
                  <a:pt x="1018" y="71104"/>
                  <a:pt x="81181" y="12592"/>
                  <a:pt x="165263" y="0"/>
                </a:cubicBezTo>
                <a:cubicBezTo>
                  <a:pt x="311506" y="-34693"/>
                  <a:pt x="438542" y="1349"/>
                  <a:pt x="536563" y="0"/>
                </a:cubicBezTo>
                <a:cubicBezTo>
                  <a:pt x="634584" y="-1349"/>
                  <a:pt x="764228" y="29431"/>
                  <a:pt x="955264" y="0"/>
                </a:cubicBezTo>
                <a:cubicBezTo>
                  <a:pt x="1047881" y="-2106"/>
                  <a:pt x="1110062" y="98317"/>
                  <a:pt x="1120527" y="165263"/>
                </a:cubicBezTo>
                <a:cubicBezTo>
                  <a:pt x="1128931" y="260785"/>
                  <a:pt x="1099782" y="374896"/>
                  <a:pt x="1120527" y="482558"/>
                </a:cubicBezTo>
                <a:cubicBezTo>
                  <a:pt x="1141272" y="590220"/>
                  <a:pt x="1080074" y="662562"/>
                  <a:pt x="1120527" y="826295"/>
                </a:cubicBezTo>
                <a:cubicBezTo>
                  <a:pt x="1138044" y="919217"/>
                  <a:pt x="1022058" y="987567"/>
                  <a:pt x="955264" y="991558"/>
                </a:cubicBezTo>
                <a:cubicBezTo>
                  <a:pt x="872119" y="1027356"/>
                  <a:pt x="652976" y="961399"/>
                  <a:pt x="560264" y="991558"/>
                </a:cubicBezTo>
                <a:cubicBezTo>
                  <a:pt x="467552" y="1021717"/>
                  <a:pt x="343731" y="975859"/>
                  <a:pt x="165263" y="991558"/>
                </a:cubicBezTo>
                <a:cubicBezTo>
                  <a:pt x="71964" y="993308"/>
                  <a:pt x="4001" y="943572"/>
                  <a:pt x="0" y="826295"/>
                </a:cubicBezTo>
                <a:cubicBezTo>
                  <a:pt x="-12793" y="725400"/>
                  <a:pt x="38056" y="595161"/>
                  <a:pt x="0" y="509000"/>
                </a:cubicBezTo>
                <a:cubicBezTo>
                  <a:pt x="-38056" y="422839"/>
                  <a:pt x="40287" y="314939"/>
                  <a:pt x="0" y="165263"/>
                </a:cubicBezTo>
                <a:close/>
              </a:path>
              <a:path w="1120527" h="991558">
                <a:moveTo>
                  <a:pt x="0" y="165263"/>
                </a:moveTo>
                <a:cubicBezTo>
                  <a:pt x="-5963" y="55272"/>
                  <a:pt x="61595" y="1067"/>
                  <a:pt x="165263" y="0"/>
                </a:cubicBezTo>
                <a:cubicBezTo>
                  <a:pt x="276443" y="-11989"/>
                  <a:pt x="403742" y="31890"/>
                  <a:pt x="576064" y="0"/>
                </a:cubicBezTo>
                <a:cubicBezTo>
                  <a:pt x="748386" y="-31890"/>
                  <a:pt x="789922" y="20274"/>
                  <a:pt x="955264" y="0"/>
                </a:cubicBezTo>
                <a:cubicBezTo>
                  <a:pt x="1044570" y="1364"/>
                  <a:pt x="1108492" y="63161"/>
                  <a:pt x="1120527" y="165263"/>
                </a:cubicBezTo>
                <a:cubicBezTo>
                  <a:pt x="1157003" y="270252"/>
                  <a:pt x="1109296" y="408970"/>
                  <a:pt x="1120527" y="482558"/>
                </a:cubicBezTo>
                <a:cubicBezTo>
                  <a:pt x="1131758" y="556147"/>
                  <a:pt x="1081052" y="687346"/>
                  <a:pt x="1120527" y="826295"/>
                </a:cubicBezTo>
                <a:cubicBezTo>
                  <a:pt x="1114501" y="920070"/>
                  <a:pt x="1054539" y="975599"/>
                  <a:pt x="955264" y="991558"/>
                </a:cubicBezTo>
                <a:cubicBezTo>
                  <a:pt x="786538" y="1009832"/>
                  <a:pt x="655370" y="957259"/>
                  <a:pt x="552363" y="991558"/>
                </a:cubicBezTo>
                <a:cubicBezTo>
                  <a:pt x="449356" y="1025857"/>
                  <a:pt x="311271" y="975328"/>
                  <a:pt x="165263" y="991558"/>
                </a:cubicBezTo>
                <a:cubicBezTo>
                  <a:pt x="84908" y="999420"/>
                  <a:pt x="3817" y="921633"/>
                  <a:pt x="0" y="826295"/>
                </a:cubicBezTo>
                <a:cubicBezTo>
                  <a:pt x="-6394" y="756365"/>
                  <a:pt x="6197" y="653237"/>
                  <a:pt x="0" y="495779"/>
                </a:cubicBezTo>
                <a:cubicBezTo>
                  <a:pt x="-6197" y="338321"/>
                  <a:pt x="12564" y="283542"/>
                  <a:pt x="0" y="165263"/>
                </a:cubicBezTo>
                <a:close/>
              </a:path>
            </a:pathLst>
          </a:cu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'a' + 't' → 'at'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't' + 'h' → 'th'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'th' + 'e' → 'the'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'the' + ' ' → 'the '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D9E898-E9AC-DA79-B4C2-1D01A61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090" y="3714517"/>
            <a:ext cx="728152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[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'h'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'n'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'm'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'o'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'e'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's'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'c'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'at'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'th'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 'the'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200">
                <a:solidFill>
                  <a:srgbClr val="7030A0"/>
                </a:solidFill>
                <a:latin typeface="Source Code Pro"/>
                <a:ea typeface="Source Code Pro"/>
                <a:cs typeface="Source Code Pro"/>
              </a:rPr>
              <a:t>'the ', ...</a:t>
            </a:r>
            <a:r>
              <a:rPr sz="1200">
                <a:solidFill>
                  <a:schemeClr val="bg2">
                    <a:lumMod val="49000"/>
                  </a:schemeClr>
                </a:solidFill>
                <a:latin typeface="Source Code Pro"/>
                <a:ea typeface="Source Code Pro"/>
                <a:cs typeface="Source Code Pro"/>
              </a:rPr>
              <a:t>]</a:t>
            </a:r>
            <a:endParaRPr sz="120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37CA6A1-CC95-C982-4F60-83EB7D05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965" y="5252207"/>
            <a:ext cx="473820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0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'on'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3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 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 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4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}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66762855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7dd65a5c1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8876" y="181173"/>
            <a:ext cx="7172666" cy="3265226"/>
          </a:xfrm>
          <a:prstGeom xmlns:a="http://schemas.openxmlformats.org/drawingml/2006/main" prst="rect">
            <a:avLst/>
          </a:prstGeom>
        </p:spPr>
      </p:pic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fd1dcf67b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487" y="3504404"/>
            <a:ext cx="3345371" cy="23531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81b9e5dd446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458" y="1739437"/>
            <a:ext cx="3345371" cy="3413924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ED453D-1B6F-A5BA-1AE5-17EE0CAC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" y="5857504"/>
            <a:ext cx="735303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2">
                    <a:lumMod val="75000"/>
                  </a:schemeClr>
                </a:solidFill>
                <a:latin typeface="CMU Serif Roman"/>
                <a:ea typeface="CMU Serif Roman"/>
                <a:cs typeface="CMU Serif Roman"/>
              </a:rPr>
              <a:t>Ahia, O., Kumar, S., Gonen, H., Kasai, J., Mortensen, D., Smith, N. A., &amp; Tsvetkov, Y. (2023)</a:t>
            </a:r>
          </a:p>
        </p:txBody>
      </p:sp>
    </p:spTree>
    <p:extLst>
      <p:ext uri="{BB962C8B-B14F-4D97-AF65-F5344CB8AC3E}">
        <p14:creationId xmlns:p14="http://schemas.microsoft.com/office/powerpoint/2010/main" val="162776365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4B73EF-B2E8-6A88-B798-38608D643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MU Serif Roman"/>
                <a:ea typeface="CMU Serif Roman"/>
                <a:cs typeface="CMU Serif Roman"/>
              </a:rPr>
              <a:t>OpenAI tokenizer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3DB361-FC17-2ED7-F8B6-11BAC0B0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335"/>
            <a:ext cx="6097384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>
                <a:solidFill>
                  <a:schemeClr val="tx1">
                    <a:lumMod val="50000"/>
                    <a:lumOff val="50000"/>
                  </a:schemeClr>
                </a:solidFill>
                <a:latin typeface="CMU Serif Roman"/>
                <a:ea typeface="CMU Serif Roman"/>
                <a:cs typeface="CMU Serif Roman"/>
              </a:rPr>
              <a:t>platform.openai.com/tokenizer</a:t>
            </a:r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15cdf70ef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2455" y="2249129"/>
            <a:ext cx="6727089" cy="36745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6370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B3E5601-57FF-E52D-CD62-086BC25DBDC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B89ABD-85E4-CCB2-A7D9-D9F88BD11C5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1F2D3B4-9615-376A-8B11-043CB45A2DB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bfd889df243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9"/>
            <a:ext cx="12219410" cy="68615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4891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D140046-3AB4-524C-BD25-457FF14664AA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C86BC-22C8-626A-55AD-EB0C062712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3BCC56-B59E-8DA1-3E1B-7D0799D97001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9122dcc82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9"/>
            <a:ext cx="12235856" cy="6878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2251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EC139FCF-CF01-6C50-152F-9EAD7762D73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674619-3940-7A0F-D423-5E7427AB951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624-8C2A-75E9-9A0D-C726D438D401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c18181b0b4b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9"/>
            <a:ext cx="12219410" cy="68615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1686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112BBD9-FA16-560E-4777-545ECD5FAE1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6143F0-07E7-6F8E-968A-E4DD85AB5F6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31F121-FCAF-AD09-0D22-4E483AD9A13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6f1ae0ece43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916" y="885"/>
            <a:ext cx="12219410" cy="68615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1648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D531063-5E0F-4211-9F6D-5E325A945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Activity: Tokenization detective</a:t>
            </a:r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8127EA-CABB-41A7-830B-A15A54251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Work in pairs</a:t>
            </a:r>
            <a:r>
              <a:t>/groups</a:t>
            </a:r>
            <a:endParaRPr/>
          </a:p>
          <a:p xmlns:a="http://schemas.openxmlformats.org/drawingml/2006/main">
            <a:pPr lvl="1">
              <a:buNone/>
            </a:pPr>
            <a:endParaRPr/>
          </a:p>
          <a:p xmlns:a="http://schemas.openxmlformats.org/drawingml/2006/main">
            <a:pPr lvl="2">
              <a:buNone/>
            </a:pPr>
            <a:r>
              <a:t>Predict which example will use the most tokens:</a:t>
            </a:r>
          </a:p>
          <a:p xmlns:a="http://schemas.openxmlformats.org/drawingml/2006/main">
            <a:pPr lvl="3">
              <a:buNone/>
            </a:pPr>
            <a:r>
              <a:t>1. Unbelievable</a:t>
            </a:r>
          </a:p>
          <a:p xmlns:a="http://schemas.openxmlformats.org/drawingml/2006/main">
            <a:pPr lvl="3">
              <a:buNone/>
            </a:pPr>
            <a:r>
              <a:t>2. un-believable!</a:t>
            </a:r>
          </a:p>
          <a:p xmlns:a="http://schemas.openxmlformats.org/drawingml/2006/main">
            <a:pPr lvl="3">
              <a:buNone/>
            </a:pPr>
            <a:r>
              <a:t>3. LLM_course2026</a:t>
            </a:r>
          </a:p>
          <a:p xmlns:a="http://schemas.openxmlformats.org/drawingml/2006/main">
            <a:pPr lvl="3">
              <a:buNone/>
            </a:pPr>
            <a:r>
              <a:t>4. </a:t>
            </a:r>
            <a:r>
              <a:t>こんにちは</a:t>
            </a:r>
            <a:endParaRPr/>
          </a:p>
          <a:p xmlns:a="http://schemas.openxmlformats.org/drawingml/2006/main">
            <a:pPr lvl="3">
              <a:buNone/>
            </a:pPr>
            <a:endParaRPr/>
          </a:p>
          <a:p xmlns:a="http://schemas.openxmlformats.org/drawingml/2006/main">
            <a:pPr lvl="3">
              <a:buNone/>
            </a:pPr>
            <a:r>
              <a:t>Mark the token boundaries you expect. Then test them with a tokenizer.</a:t>
            </a:r>
          </a:p>
          <a:p xmlns:a="http://schemas.openxmlformats.org/drawingml/2006/main">
            <a:pPr lvl="3">
              <a:buNone/>
            </a:pPr>
            <a:endParaRPr/>
          </a:p>
          <a:p xmlns:a="http://schemas.openxmlformats.org/drawingml/2006/main">
            <a:pPr lvl="3">
              <a:buNone/>
            </a:pPr>
            <a:r>
              <a:t>Share one result that surprised you and explain why tokenization matters for cost or context</a:t>
            </a:r>
            <a:r>
              <a:t> </a:t>
            </a:r>
            <a:r>
              <a:t>length.</a:t>
            </a:r>
          </a:p>
        </p:txBody>
      </p:sp>
    </p:spTree>
    <p:extLst>
      <p:ext uri="{BB962C8B-B14F-4D97-AF65-F5344CB8AC3E}">
        <p14:creationId xmlns:p14="http://schemas.microsoft.com/office/powerpoint/2010/main" val="188441819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D531063-5E0F-4211-9F6D-5E325A945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 answers: Tokenization detective</a:t>
            </a:r>
          </a:p>
        </p:txBody>
      </p:sp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B8127EA-CABB-41A7-830B-A15A54251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Expected result</a:t>
            </a:r>
          </a:p>
          <a:p xmlns:a="http://schemas.openxmlformats.org/drawingml/2006/main">
            <a:pPr lvl="1">
              <a:buNone/>
            </a:pPr>
            <a:r>
              <a:t>The exact boundaries depend on the tokenizer. The Japanese example often uses the most tokens, but a code-like string can also split heavily.</a:t>
            </a:r>
          </a:p>
          <a:p xmlns:a="http://schemas.openxmlformats.org/drawingml/2006/main">
            <a:pPr lvl="2">
              <a:buNone/>
            </a:pPr>
            <a:endParaRPr/>
          </a:p>
          <a:p xmlns:a="http://schemas.openxmlformats.org/drawingml/2006/main">
            <a:pPr lvl="3">
              <a:buNone/>
            </a:pPr>
            <a:r>
              <a:t>What to notice</a:t>
            </a:r>
          </a:p>
          <a:p xmlns:a="http://schemas.openxmlformats.org/drawingml/2006/main">
            <a:pPr lvl="4">
              <a:buNone/>
            </a:pPr>
            <a:r>
              <a:t>• Tokens are not the same as words or characters.</a:t>
            </a:r>
          </a:p>
          <a:p xmlns:a="http://schemas.openxmlformats.org/drawingml/2006/main">
            <a:pPr lvl="4">
              <a:buNone/>
            </a:pPr>
            <a:r>
              <a:t>• Punctuation, capitalization, rare strings, and writing systems affect token count.</a:t>
            </a:r>
          </a:p>
          <a:p xmlns:a="http://schemas.openxmlformats.org/drawingml/2006/main">
            <a:pPr lvl="4">
              <a:buNone/>
            </a:pPr>
            <a:r>
              <a:t>• More tokens increase cost and consume more of the context window.</a:t>
            </a:r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r>
              <a:t>Check the four examples with the same tokenizer before comparing them.</a:t>
            </a:r>
          </a:p>
        </p:txBody>
      </p:sp>
    </p:spTree>
    <p:extLst>
      <p:ext uri="{BB962C8B-B14F-4D97-AF65-F5344CB8AC3E}">
        <p14:creationId xmlns:p14="http://schemas.microsoft.com/office/powerpoint/2010/main" val="12431833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2026-09-25T12:54:12.1270000Z</dcterms:created>
  <dcterms:modified xsi:type="dcterms:W3CDTF">2026-09-25T12:54:12.1270000Z</dcterms:modified>
</coreProperties>
</file>