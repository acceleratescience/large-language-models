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b433d6deb8e4f7e" /><Relationship Type="http://schemas.openxmlformats.org/officeDocument/2006/relationships/extended-properties" Target="/docProps/app.xml" Id="Ref5c6d32576e4d88" /><Relationship Type="http://schemas.openxmlformats.org/officeDocument/2006/relationships/officeDocument" Target="/ppt/presentation.xml" Id="R608b929233ae45f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d00e3fa47224417"/>
  </p:sldMasterIdLst>
  <p:notesMasterIdLst>
    <p:notesMasterId xmlns:r="http://schemas.openxmlformats.org/officeDocument/2006/relationships" r:id="R41dd011ba5634fd6"/>
  </p:notesMasterIdLst>
  <p:sldIdLst>
    <p:sldId xmlns:r="http://schemas.openxmlformats.org/officeDocument/2006/relationships" id="256" r:id="Re049dc824ffd400e"/>
    <p:sldId xmlns:r="http://schemas.openxmlformats.org/officeDocument/2006/relationships" id="257" r:id="R3d5e60ef60124f1a"/>
    <p:sldId xmlns:r="http://schemas.openxmlformats.org/officeDocument/2006/relationships" id="258" r:id="Rd8a709d9a7994e29"/>
    <p:sldId xmlns:r="http://schemas.openxmlformats.org/officeDocument/2006/relationships" id="259" r:id="Rb681ce5095a340e0"/>
    <p:sldId xmlns:r="http://schemas.openxmlformats.org/officeDocument/2006/relationships" id="260" r:id="Rd2fc93471609471f"/>
    <p:sldId xmlns:r="http://schemas.openxmlformats.org/officeDocument/2006/relationships" id="261" r:id="R21617d0e8e0347bf"/>
    <p:sldId xmlns:r="http://schemas.openxmlformats.org/officeDocument/2006/relationships" id="262" r:id="Rd6e5c3c30b9642a9"/>
    <p:sldId xmlns:r="http://schemas.openxmlformats.org/officeDocument/2006/relationships" id="263" r:id="R28447ab8446649a0"/>
    <p:sldId xmlns:r="http://schemas.openxmlformats.org/officeDocument/2006/relationships" id="264" r:id="R39b7d7effcb848c1"/>
    <p:sldId xmlns:r="http://schemas.openxmlformats.org/officeDocument/2006/relationships" id="265" r:id="Ra82ff8238045481b"/>
    <p:sldId xmlns:r="http://schemas.openxmlformats.org/officeDocument/2006/relationships" id="266" r:id="R9470beab67264043"/>
    <p:sldId xmlns:r="http://schemas.openxmlformats.org/officeDocument/2006/relationships" id="267" r:id="R8cb4bbef421e4548"/>
    <p:sldId xmlns:r="http://schemas.openxmlformats.org/officeDocument/2006/relationships" id="268" r:id="R216a017b01fb4624"/>
    <p:sldId xmlns:r="http://schemas.openxmlformats.org/officeDocument/2006/relationships" id="269" r:id="R69fa3a1e476448db"/>
    <p:sldId xmlns:r="http://schemas.openxmlformats.org/officeDocument/2006/relationships" id="270" r:id="Rd242905487fb4214"/>
    <p:sldId xmlns:r="http://schemas.openxmlformats.org/officeDocument/2006/relationships" id="271" r:id="Rbd00d3f8badf4a56"/>
    <p:sldId xmlns:r="http://schemas.openxmlformats.org/officeDocument/2006/relationships" id="272" r:id="Rdf81bf6e151547e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4c48c65de0c4d10" /><Relationship Type="http://schemas.openxmlformats.org/officeDocument/2006/relationships/slideMaster" Target="/ppt/slideMasters/slideMaster1.xml" Id="R3d00e3fa47224417" /><Relationship Type="http://schemas.openxmlformats.org/officeDocument/2006/relationships/notesMaster" Target="/ppt/notesMasters/notesMaster1.xml" Id="R41dd011ba5634fd6" /><Relationship Type="http://schemas.openxmlformats.org/officeDocument/2006/relationships/presProps" Target="/ppt/presProps.xml" Id="R4a8f1892dec24769" /><Relationship Type="http://schemas.openxmlformats.org/officeDocument/2006/relationships/viewProps" Target="/ppt/viewProps.xml" Id="R127eece789274b9b" /><Relationship Type="http://schemas.openxmlformats.org/officeDocument/2006/relationships/tableStyles" Target="/ppt/tableStyles.xml" Id="Re124542dc0934f3f" /><Relationship Type="http://schemas.openxmlformats.org/officeDocument/2006/relationships/slide" Target="/ppt/slides/slide1.xml" Id="Re049dc824ffd400e" /><Relationship Type="http://schemas.openxmlformats.org/officeDocument/2006/relationships/slide" Target="/ppt/slides/slide2.xml" Id="R3d5e60ef60124f1a" /><Relationship Type="http://schemas.openxmlformats.org/officeDocument/2006/relationships/slide" Target="/ppt/slides/slide3.xml" Id="Rd8a709d9a7994e29" /><Relationship Type="http://schemas.openxmlformats.org/officeDocument/2006/relationships/slide" Target="/ppt/slides/slide4.xml" Id="Rb681ce5095a340e0" /><Relationship Type="http://schemas.openxmlformats.org/officeDocument/2006/relationships/slide" Target="/ppt/slides/slide5.xml" Id="Rd2fc93471609471f" /><Relationship Type="http://schemas.openxmlformats.org/officeDocument/2006/relationships/slide" Target="/ppt/slides/slide6.xml" Id="R21617d0e8e0347bf" /><Relationship Type="http://schemas.openxmlformats.org/officeDocument/2006/relationships/slide" Target="/ppt/slides/slide7.xml" Id="Rd6e5c3c30b9642a9" /><Relationship Type="http://schemas.openxmlformats.org/officeDocument/2006/relationships/slide" Target="/ppt/slides/slide8.xml" Id="R28447ab8446649a0" /><Relationship Type="http://schemas.openxmlformats.org/officeDocument/2006/relationships/slide" Target="/ppt/slides/slide9.xml" Id="R39b7d7effcb848c1" /><Relationship Type="http://schemas.openxmlformats.org/officeDocument/2006/relationships/slide" Target="/ppt/slides/slide10.xml" Id="Ra82ff8238045481b" /><Relationship Type="http://schemas.openxmlformats.org/officeDocument/2006/relationships/slide" Target="/ppt/slides/slide11.xml" Id="R9470beab67264043" /><Relationship Type="http://schemas.openxmlformats.org/officeDocument/2006/relationships/slide" Target="/ppt/slides/slide12.xml" Id="R8cb4bbef421e4548" /><Relationship Type="http://schemas.openxmlformats.org/officeDocument/2006/relationships/slide" Target="/ppt/slides/slide13.xml" Id="R216a017b01fb4624" /><Relationship Type="http://schemas.openxmlformats.org/officeDocument/2006/relationships/slide" Target="/ppt/slides/slide14.xml" Id="R69fa3a1e476448db" /><Relationship Type="http://schemas.openxmlformats.org/officeDocument/2006/relationships/slide" Target="/ppt/slides/slide15.xml" Id="Rd242905487fb4214" /><Relationship Type="http://schemas.openxmlformats.org/officeDocument/2006/relationships/slide" Target="/ppt/slides/slide16.xml" Id="Rbd00d3f8badf4a56" /><Relationship Type="http://schemas.openxmlformats.org/officeDocument/2006/relationships/slide" Target="/ppt/slides/slide17.xml" Id="Rdf81bf6e151547e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bf8ee25add64ab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6e28e2e45e4c19" /><Relationship Type="http://schemas.openxmlformats.org/officeDocument/2006/relationships/notesMaster" Target="/ppt/notesMasters/notesMaster1.xml" Id="Rfbd6df5cfdd04bf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560b6ff72924bb1" /><Relationship Type="http://schemas.openxmlformats.org/officeDocument/2006/relationships/notesMaster" Target="/ppt/notesMasters/notesMaster1.xml" Id="R0c0b2ba6a82f4c9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09313dc8bbf41c2" /><Relationship Type="http://schemas.openxmlformats.org/officeDocument/2006/relationships/notesMaster" Target="/ppt/notesMasters/notesMaster1.xml" Id="R89b0f3f8a4dd483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2452fa92bdf4472" /><Relationship Type="http://schemas.openxmlformats.org/officeDocument/2006/relationships/notesMaster" Target="/ppt/notesMasters/notesMaster1.xml" Id="R6afebec886bd496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4c89db8b4894301" /><Relationship Type="http://schemas.openxmlformats.org/officeDocument/2006/relationships/notesMaster" Target="/ppt/notesMasters/notesMaster1.xml" Id="Ra28838185c0d456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131fc208e174450" /><Relationship Type="http://schemas.openxmlformats.org/officeDocument/2006/relationships/notesMaster" Target="/ppt/notesMasters/notesMaster1.xml" Id="R5896ee39cb8f405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c03f5c40a324c3c" /><Relationship Type="http://schemas.openxmlformats.org/officeDocument/2006/relationships/notesMaster" Target="/ppt/notesMasters/notesMaster1.xml" Id="Rc5ae7c22aade48e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883ca9dc7474775" /><Relationship Type="http://schemas.openxmlformats.org/officeDocument/2006/relationships/notesMaster" Target="/ppt/notesMasters/notesMaster1.xml" Id="Rd00a8710e1ac432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5f7c328bce44a99" /><Relationship Type="http://schemas.openxmlformats.org/officeDocument/2006/relationships/notesMaster" Target="/ppt/notesMasters/notesMaster1.xml" Id="R03909c27ba1d4f1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b0a4b6488804024" /><Relationship Type="http://schemas.openxmlformats.org/officeDocument/2006/relationships/notesMaster" Target="/ppt/notesMasters/notesMaster1.xml" Id="Rccdbab6f4cd8413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a265743152549cb" /><Relationship Type="http://schemas.openxmlformats.org/officeDocument/2006/relationships/notesMaster" Target="/ppt/notesMasters/notesMaster1.xml" Id="Rf09b017bf17b4c5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d3add9149f44d03" /><Relationship Type="http://schemas.openxmlformats.org/officeDocument/2006/relationships/notesMaster" Target="/ppt/notesMasters/notesMaster1.xml" Id="R98764bc111da454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f607cf86ee34700" /><Relationship Type="http://schemas.openxmlformats.org/officeDocument/2006/relationships/notesMaster" Target="/ppt/notesMasters/notesMaster1.xml" Id="Rf4e3385f0087487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713dff767d14a3d" /><Relationship Type="http://schemas.openxmlformats.org/officeDocument/2006/relationships/notesMaster" Target="/ppt/notesMasters/notesMaster1.xml" Id="Rfcf0372922fb48a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6d3336e323f4e8c" /><Relationship Type="http://schemas.openxmlformats.org/officeDocument/2006/relationships/notesMaster" Target="/ppt/notesMasters/notesMaster1.xml" Id="Rf38b5440c6f9425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96b817fcb9f42fe" /><Relationship Type="http://schemas.openxmlformats.org/officeDocument/2006/relationships/notesMaster" Target="/ppt/notesMasters/notesMaster1.xml" Id="Rbb75601654b644d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2926fafbed24bb3" /><Relationship Type="http://schemas.openxmlformats.org/officeDocument/2006/relationships/notesMaster" Target="/ppt/notesMasters/notesMaster1.xml" Id="Rb28074cc054f47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0c85f8a20a4f8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2d144d3100499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469fe144da48d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0d5ba3686c42d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67d24a048f47a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d4dd117b4d41f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7a010992b34f3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b2c38dd79f4c3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f3119c1d0f40d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eba994194d4ea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d7792dff7d4d9d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DA53141-C164-4D55-BD9D-F5DE7C92888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226B1710-B872-4B2C-8571-991A2544249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1127261-F475-41BB-82CB-877BADFD1EE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764DE79-268F-4C1A-8933-263129D2AF90}" type="datetimeFigureOut">
              <a:t>9/17/26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FF77298-3484-4F65-AB62-917A9116FA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F69DBD1-D418-4ABD-B4D2-FF5DC909010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8F63A3B-78C7-47BE-AE5E-E10140E04643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2457027-9040-4FE2-8403-78820EEA6D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07C597E-0FC1-4669-BF56-FF736CFA566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FB94346-0D18-4A80-8C43-F1D57EA026C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764DE79-268F-4C1A-8933-263129D2AF90}" type="datetimeFigureOut">
              <a:t>9/17/26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32C78B1-FE00-4A5C-B99A-501E139C970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333CD2D-E89D-4015-9EBE-1BE4FA53DF2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8F63A3B-78C7-47BE-AE5E-E10140E04643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84E265D-A149-4EB9-8519-A5F0FE863D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E626C69-4637-4D67-A35B-7ABA163079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B105726-9FFB-4C94-824F-313434C223F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764DE79-268F-4C1A-8933-263129D2AF90}" type="datetimeFigureOut">
              <a:t>9/17/26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766A11C-9622-4B03-BCDD-521E225111D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CAB79AB-AE80-4591-B03D-6012B50FF03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8F63A3B-78C7-47BE-AE5E-E10140E04643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A497567-BADE-48CC-86BA-C42E61498C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1E04EF3-C22D-4EB1-B053-E768B692B70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B59510B7-7CD9-425C-9B5E-94EF979D2A6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C11A9EC-6663-4765-816F-DAD2D4C8AF9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764DE79-268F-4C1A-8933-263129D2AF90}" type="datetimeFigureOut">
              <a:t>9/17/26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DBD27E4-3EFE-4026-A511-74EF9382F0F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08D7069-CC69-4CE7-BADB-2FF6FC6AED2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8F63A3B-78C7-47BE-AE5E-E10140E04643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08AED60-EB6B-407B-85B2-68EFF28322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5E8EBCB-8080-4004-B1F5-593801F7B2F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D9C9116-FD19-4DCB-B4D4-D60055C6905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767CBA6E-2392-4873-9699-81AADF8AD7E5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3D376B8B-5F82-4CD4-9D56-03AF4D38EC43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C760C21C-8C6F-4A69-9221-F3CF7D38384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764DE79-268F-4C1A-8933-263129D2AF90}" type="datetimeFigureOut">
              <a:t>9/17/26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DCE4C836-701C-48BB-90DE-0E54B5F5BC8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E151A376-705A-421D-B865-32300D50901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8F63A3B-78C7-47BE-AE5E-E10140E04643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EBAB69B-A5F4-4AD1-BC01-BE3EAA6D67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25238D1C-D771-4CB3-A2B0-56B138E481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764DE79-268F-4C1A-8933-263129D2AF90}" type="datetimeFigureOut">
              <a:t>9/17/26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E63DD54C-34EF-4D17-88A5-64AA03FDEE6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0890F4F4-05FC-4544-8FB1-25F9B40090B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8F63A3B-78C7-47BE-AE5E-E10140E04643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889FB826-E481-48C1-B5A2-475AEC379D3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764DE79-268F-4C1A-8933-263129D2AF90}" type="datetimeFigureOut">
              <a:t>9/17/26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C5839391-4C3D-4ED6-8527-194F546B5AD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E01F3942-418B-4FCF-A2D4-839923FC86C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8F63A3B-78C7-47BE-AE5E-E10140E04643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E1138CF-B6AD-49F9-ADC8-58B1B6B491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A9AC1F9-12E0-421F-ADC5-4948044ABF2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C3CC1102-2BFF-4DD1-AEE7-1890A9AD64C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3C93A8A-CABD-42D5-841A-309DF774E8B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764DE79-268F-4C1A-8933-263129D2AF90}" type="datetimeFigureOut">
              <a:t>9/17/26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B41206D-7B94-4E74-A18D-89BDF7106CE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CF4FCA5-5227-4CC4-A792-79129A2F1F9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8F63A3B-78C7-47BE-AE5E-E10140E04643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68C7927-41CD-49CC-818E-D94DEFB1DE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3681B4FC-8683-4B31-AE22-343520762274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5A163D94-F3F5-45B0-ACE7-B2EF6226DC4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D9A316E-5E13-42DA-8ADC-36CFE9B84E4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764DE79-268F-4C1A-8933-263129D2AF90}" type="datetimeFigureOut">
              <a:t>9/17/26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B1C6109-82E3-45CA-8C40-8DC9B7D7F8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7913666-5F35-49CC-BA9B-646E49A0F87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8F63A3B-78C7-47BE-AE5E-E10140E04643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01C713B-1D0B-49AE-AAFC-7B58607399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83E1FB87-CEB0-4C52-BCA7-BCAFC553B5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1D80B42-F703-4602-87C1-18E9680EB27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764DE79-268F-4C1A-8933-263129D2AF90}" type="datetimeFigureOut">
              <a:t>9/17/26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CD52735-10AB-4430-B4AF-73092D933C9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0F19F06-F470-45E3-A8FD-EA724169DFB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8F63A3B-78C7-47BE-AE5E-E10140E04643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E9A50F42-A452-480F-A4B9-BDA1862D17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BCCC3BA0-0057-41B7-A1A6-D0797ED9D51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1FED9C3-1E10-465D-9103-39806273C7D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764DE79-268F-4C1A-8933-263129D2AF90}" type="datetimeFigureOut">
              <a:t>9/17/26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59CF566-232F-409D-815F-AA485C8EA44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90069E1-063E-4398-9710-61C888B0D83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8F63A3B-78C7-47BE-AE5E-E10140E04643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3c0a6a44b8840f4" /><Relationship Type="http://schemas.openxmlformats.org/officeDocument/2006/relationships/slideLayout" Target="/ppt/slideLayouts/slideLayout1.xml" Id="R79a00cac4a394225" /><Relationship Type="http://schemas.openxmlformats.org/officeDocument/2006/relationships/slideLayout" Target="/ppt/slideLayouts/slideLayout2.xml" Id="Rb7001a8ffd1548d4" /><Relationship Type="http://schemas.openxmlformats.org/officeDocument/2006/relationships/slideLayout" Target="/ppt/slideLayouts/slideLayout3.xml" Id="R03db10b29f7f4c8d" /><Relationship Type="http://schemas.openxmlformats.org/officeDocument/2006/relationships/slideLayout" Target="/ppt/slideLayouts/slideLayout4.xml" Id="R15de68abca7749dc" /><Relationship Type="http://schemas.openxmlformats.org/officeDocument/2006/relationships/slideLayout" Target="/ppt/slideLayouts/slideLayout5.xml" Id="R55cfbeeb68834ff8" /><Relationship Type="http://schemas.openxmlformats.org/officeDocument/2006/relationships/slideLayout" Target="/ppt/slideLayouts/slideLayout6.xml" Id="Rfaf0ee8df89d42e4" /><Relationship Type="http://schemas.openxmlformats.org/officeDocument/2006/relationships/slideLayout" Target="/ppt/slideLayouts/slideLayout7.xml" Id="R2aafbdadf38748fc" /><Relationship Type="http://schemas.openxmlformats.org/officeDocument/2006/relationships/slideLayout" Target="/ppt/slideLayouts/slideLayout8.xml" Id="R2338c76bdea34b89" /><Relationship Type="http://schemas.openxmlformats.org/officeDocument/2006/relationships/slideLayout" Target="/ppt/slideLayouts/slideLayout9.xml" Id="Raacf80aa63164ee9" /><Relationship Type="http://schemas.openxmlformats.org/officeDocument/2006/relationships/slideLayout" Target="/ppt/slideLayouts/slideLayout10.xml" Id="R9ecd150f9e20410f" /><Relationship Type="http://schemas.openxmlformats.org/officeDocument/2006/relationships/slideLayout" Target="/ppt/slideLayouts/slideLayout11.xml" Id="R592c5efe530e438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A7BD9759-EC08-4F08-9D25-539DB01B2B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73E402B-E944-4A50-83FD-2ED668EE20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68219AB-E39C-464A-BCEA-B8A125418612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C764DE79-268F-4C1A-8933-263129D2AF90}" type="datetimeFigureOut">
              <a:t>9/17/26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64CCD1A-7666-438C-895F-B2103174F7A5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46675D5-B6AA-4DF0-B07E-7E8E1BAE905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48F63A3B-78C7-47BE-AE5E-E10140E04643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9a00cac4a394225"/>
    <p:sldLayoutId xmlns:r="http://schemas.openxmlformats.org/officeDocument/2006/relationships" id="2147483650" r:id="Rb7001a8ffd1548d4"/>
    <p:sldLayoutId xmlns:r="http://schemas.openxmlformats.org/officeDocument/2006/relationships" id="2147483651" r:id="R03db10b29f7f4c8d"/>
    <p:sldLayoutId xmlns:r="http://schemas.openxmlformats.org/officeDocument/2006/relationships" id="2147483652" r:id="R15de68abca7749dc"/>
    <p:sldLayoutId xmlns:r="http://schemas.openxmlformats.org/officeDocument/2006/relationships" id="2147483653" r:id="R55cfbeeb68834ff8"/>
    <p:sldLayoutId xmlns:r="http://schemas.openxmlformats.org/officeDocument/2006/relationships" id="2147483654" r:id="Rfaf0ee8df89d42e4"/>
    <p:sldLayoutId xmlns:r="http://schemas.openxmlformats.org/officeDocument/2006/relationships" id="2147483655" r:id="R2aafbdadf38748fc"/>
    <p:sldLayoutId xmlns:r="http://schemas.openxmlformats.org/officeDocument/2006/relationships" id="2147483656" r:id="R2338c76bdea34b89"/>
    <p:sldLayoutId xmlns:r="http://schemas.openxmlformats.org/officeDocument/2006/relationships" id="2147483657" r:id="Raacf80aa63164ee9"/>
    <p:sldLayoutId xmlns:r="http://schemas.openxmlformats.org/officeDocument/2006/relationships" id="2147483658" r:id="R9ecd150f9e20410f"/>
    <p:sldLayoutId xmlns:r="http://schemas.openxmlformats.org/officeDocument/2006/relationships" id="2147483659" r:id="R592c5efe530e4382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0d4507d6764662" /><Relationship Type="http://schemas.openxmlformats.org/officeDocument/2006/relationships/notesSlide" Target="/ppt/notesSlides/notesSlide1.xml" Id="R8325d39c3ac4430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bd4ab4ba025485a" /><Relationship Type="http://schemas.openxmlformats.org/officeDocument/2006/relationships/notesSlide" Target="/ppt/notesSlides/notesSlide2.xml" Id="Rd725ccb845584db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b9ec2b08ae84aeb" /><Relationship Type="http://schemas.openxmlformats.org/officeDocument/2006/relationships/notesSlide" Target="/ppt/notesSlides/notesSlide3.xml" Id="Ref248a0965e249e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471eb118b9f4b58" /><Relationship Type="http://schemas.openxmlformats.org/officeDocument/2006/relationships/notesSlide" Target="/ppt/notesSlides/notesSlide4.xml" Id="R54b8f9d5c76c41f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2d51ba257ea4849" /><Relationship Type="http://schemas.openxmlformats.org/officeDocument/2006/relationships/notesSlide" Target="/ppt/notesSlides/notesSlide5.xml" Id="Ra2f9035436af487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9c4885be15440d3" /><Relationship Type="http://schemas.openxmlformats.org/officeDocument/2006/relationships/notesSlide" Target="/ppt/notesSlides/notesSlide6.xml" Id="R795225c61b1f40a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e67ae862c914cb6" /><Relationship Type="http://schemas.openxmlformats.org/officeDocument/2006/relationships/notesSlide" Target="/ppt/notesSlides/notesSlide7.xml" Id="Re3b7c892553c417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ef8061b05834e84" /><Relationship Type="http://schemas.openxmlformats.org/officeDocument/2006/relationships/notesSlide" Target="/ppt/notesSlides/notesSlide8.xml" Id="Ra5786f7ce251428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16bcf0a9e5c438c" /><Relationship Type="http://schemas.openxmlformats.org/officeDocument/2006/relationships/notesSlide" Target="/ppt/notesSlides/notesSlide9.xml" Id="R0d80f82544994ea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3334c3e701429b" /><Relationship Type="http://schemas.openxmlformats.org/officeDocument/2006/relationships/image" Target="/ppt/media/image.png" Id="R849fe08d239d4f2d" /><Relationship Type="http://schemas.openxmlformats.org/officeDocument/2006/relationships/notesSlide" Target="/ppt/notesSlides/notesSlide10.xml" Id="Refa34341032b446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d9b4a8e12e4f46" /><Relationship Type="http://schemas.openxmlformats.org/officeDocument/2006/relationships/image" Target="/ppt/media/image2.png" Id="R54649b5bd39a41c5" /><Relationship Type="http://schemas.openxmlformats.org/officeDocument/2006/relationships/notesSlide" Target="/ppt/notesSlides/notesSlide11.xml" Id="R583310a229694ac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6c8a3978b84b9c" /><Relationship Type="http://schemas.openxmlformats.org/officeDocument/2006/relationships/notesSlide" Target="/ppt/notesSlides/notesSlide12.xml" Id="R154dd7eb0e514ae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b9f05f74beb443f" /><Relationship Type="http://schemas.openxmlformats.org/officeDocument/2006/relationships/notesSlide" Target="/ppt/notesSlides/notesSlide13.xml" Id="R757247133f3c418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58ff96aec034816" /><Relationship Type="http://schemas.openxmlformats.org/officeDocument/2006/relationships/notesSlide" Target="/ppt/notesSlides/notesSlide14.xml" Id="R56736339bb274cc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b19bd840e4a4947" /><Relationship Type="http://schemas.openxmlformats.org/officeDocument/2006/relationships/notesSlide" Target="/ppt/notesSlides/notesSlide15.xml" Id="R0d8f1ee1c0c543f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c5a9a7f6ffd4121" /><Relationship Type="http://schemas.openxmlformats.org/officeDocument/2006/relationships/hyperlink" Target="https://artificialintelligenceact.eu/ai-act-explorer/" TargetMode="External" Id="R29929af8fba24aa7" /><Relationship Type="http://schemas.openxmlformats.org/officeDocument/2006/relationships/hyperlink" Target="https://ico.org.uk/for-organisations/advice-and-services/audits/data-protection-audit-framework/toolkits/artificial-intelligence/" TargetMode="External" Id="R349d563903094782" /><Relationship Type="http://schemas.openxmlformats.org/officeDocument/2006/relationships/hyperlink" Target="https://ico.org.uk/for-organisations/uk-gdpr-guidance-and-resources/artificial-intelligence/guidance-on-ai-and-data-protection/" TargetMode="External" Id="R9c1ac4df78fc4901" /><Relationship Type="http://schemas.openxmlformats.org/officeDocument/2006/relationships/hyperlink" Target="https://ico.org.uk/for-organisations/uk-gdpr-guidance-and-resources/artificial-intelligence/explaining-decisions-made-with-artificial-intelligence/" TargetMode="External" Id="R6ead8c169e174cf8" /><Relationship Type="http://schemas.openxmlformats.org/officeDocument/2006/relationships/notesSlide" Target="/ppt/notesSlides/notesSlide16.xml" Id="R67627c8384754c7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738fff2a1e340d2" /><Relationship Type="http://schemas.openxmlformats.org/officeDocument/2006/relationships/image" Target="/ppt/media/image.png" Id="R3360f22b8ae64d39" /><Relationship Type="http://schemas.openxmlformats.org/officeDocument/2006/relationships/notesSlide" Target="/ppt/notesSlides/notesSlide17.xml" Id="R6e726cd2f23c4ff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C303E78-FFD8-44F6-BE38-E5439FB3C49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Introduction to LLMs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4071E110-4AEA-4081-A841-68371673D8A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 vert="horz" lIns="91440" tIns="45720" rIns="91440" bIns="4572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Accelerate Programme for Scientific Discovery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F760AD0-4539-F7BD-07C7-86CA4C742B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About Us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23B4CFB-C5F1-DC47-AED8-80D7FE89AAB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vert="horz" lIns="91440" tIns="45720" rIns="91440" bIns="4572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i="1"/>
              <a:t>"</a:t>
            </a:r>
            <a:r>
              <a:rPr i="1">
                <a:solidFill>
                  <a:srgbClr val="7030A0"/>
                </a:solidFill>
              </a:rPr>
              <a:t>Accelerate Science pursues research at the interface of AI and the sciences, generating new scientific insights and developing AI methods that can be deployed to advance scientific knowledge.</a:t>
            </a:r>
            <a:r>
              <a:rPr i="1"/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277698473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3838369-8553-1A55-B265-3F27C53A81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Our goals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8D918F4-C557-96D2-9BF3-A1F98CF87E2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vert="horz" lIns="91440" tIns="45720" rIns="91440" bIns="45720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b="1"/>
              <a:t>We want to:</a:t>
            </a:r>
          </a:p>
          <a:p xmlns:a="http://schemas.openxmlformats.org/drawingml/2006/main">
            <a:r>
              <a:t>Support researchers across the university to use AI – that's LLMs in this group.</a:t>
            </a:r>
          </a:p>
          <a:p xmlns:a="http://schemas.openxmlformats.org/drawingml/2006/main">
            <a:r>
              <a:t>Better understand the challenges that researchers face.</a:t>
            </a:r>
          </a:p>
          <a:p xmlns:a="http://schemas.openxmlformats.org/drawingml/2006/main">
            <a:r>
              <a:t>Identify what training courses or software resources we might want the Accelerate Science Programme to create.</a:t>
            </a:r>
          </a:p>
          <a:p xmlns:a="http://schemas.openxmlformats.org/drawingml/2006/main">
            <a:pPr lvl="1">
              <a:buFont typeface="Courier New"/>
              <a:buChar char="o"/>
            </a:pPr>
            <a:r>
              <a:t>Including shared code</a:t>
            </a:r>
          </a:p>
          <a:p xmlns:a="http://schemas.openxmlformats.org/drawingml/2006/main">
            <a:r>
              <a:t>Start to build a community of like-minded researchers across the university.</a:t>
            </a:r>
          </a:p>
        </p:txBody>
      </p:sp>
    </p:spTree>
    <p:extLst>
      <p:ext uri="{BB962C8B-B14F-4D97-AF65-F5344CB8AC3E}">
        <p14:creationId xmlns:p14="http://schemas.microsoft.com/office/powerpoint/2010/main" val="140969183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6907A1A-BBA2-EE55-28CA-B2544E559B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Schedule</a:t>
            </a:r>
          </a:p>
        </p:txBody>
      </p:sp>
      <p:graphicFrame>
        <p:nvGraphicFramePr>
          <p:cNvPr id="5" name="Content Placeholder 3"/>
          <p:cNvGraphicFramePr/>
          <p:nvPr/>
        </p:nvGraphicFramePr>
        <p:xfrm>
          <a:off xmlns:a="http://schemas.openxmlformats.org/drawingml/2006/main" x="838200" y="1825625"/>
          <a:ext xmlns:a="http://schemas.openxmlformats.org/drawingml/2006/main" cx="10515600" cy="2966716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370840">
                <a:tc>
                  <a:txBody>
                    <a:bodyPr/>
                    <a:lstStyle/>
                    <a:p>
                      <a:r>
                        <a:t>Session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Time</a:t>
                      </a:r>
                    </a:p>
                  </a:txBody>
                  <a:tcPr marL="91440" marR="91440" marT="45720" marB="4572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7030A0"/>
                          </a:solidFill>
                        </a:rPr>
                        <a:t>9:30 – 10:30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7030A0"/>
                          </a:solidFill>
                        </a:rPr>
                        <a:t>Session 1</a:t>
                      </a:r>
                    </a:p>
                  </a:txBody>
                  <a:tcPr marL="91440" marR="91440" marT="45720" marB="4572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/>
                        <a:t>10:30 – 11:00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1"/>
                        <a:t>Break</a:t>
                      </a:r>
                    </a:p>
                  </a:txBody>
                  <a:tcPr marL="91440" marR="91440" marT="45720" marB="4572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7030A0"/>
                          </a:solidFill>
                        </a:rPr>
                        <a:t>11:00 – 12:30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7030A0"/>
                          </a:solidFill>
                        </a:rPr>
                        <a:t>Session 2</a:t>
                      </a:r>
                    </a:p>
                  </a:txBody>
                  <a:tcPr marL="91440" marR="91440" marT="45720" marB="45720"/>
                </a:tc>
              </a:tr>
              <a:tr h="370839">
                <a:tc>
                  <a:txBody>
                    <a:bodyPr/>
                    <a:lstStyle/>
                    <a:p>
                      <a:r>
                        <a:rPr b="1"/>
                        <a:t>12:30 – 13:30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1"/>
                        <a:t>Lunch</a:t>
                      </a:r>
                    </a:p>
                  </a:txBody>
                  <a:tcPr marL="91440" marR="91440" marT="45720" marB="4572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7030A0"/>
                          </a:solidFill>
                        </a:rPr>
                        <a:t>13:30 – 15:00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7030A0"/>
                          </a:solidFill>
                        </a:rPr>
                        <a:t>Session 3</a:t>
                      </a:r>
                    </a:p>
                  </a:txBody>
                  <a:tcPr marL="91440" marR="91440" marT="45720" marB="45720"/>
                </a:tc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b="1"/>
                        <a:t>15:00 – 15:30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b="1"/>
                        <a:t>Break</a:t>
                      </a:r>
                    </a:p>
                  </a:txBody>
                  <a:tcPr marL="91440" marR="91440" marT="45720" marB="45720"/>
                </a:tc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>
                          <a:solidFill>
                            <a:srgbClr val="7030A0"/>
                          </a:solidFill>
                        </a:rPr>
                        <a:t>15:30 – 17:00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solidFill>
                            <a:srgbClr val="7030A0"/>
                          </a:solidFill>
                        </a:rPr>
                        <a:t>Session 4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563945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81E374D-7A21-28E7-7122-63EDD76953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Before we begin...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2FFB990-1B10-587D-D853-7278325EB36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vert="horz" lIns="91440" tIns="45720" rIns="91440" bIns="4572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t>What do you know about LLMs...?</a:t>
            </a:r>
          </a:p>
          <a:p xmlns:a="http://schemas.openxmlformats.org/drawingml/2006/main">
            <a:pPr marL="0" indent="0">
              <a:buNone/>
            </a:pPr>
            <a:endParaRPr/>
          </a:p>
          <a:p xmlns:a="http://schemas.openxmlformats.org/drawingml/2006/main">
            <a:pPr>
              <a:buFont typeface="Calibri"/>
              <a:buChar char="-"/>
            </a:pPr>
            <a:r>
              <a:rPr i="1"/>
              <a:t>How do they work?</a:t>
            </a:r>
          </a:p>
          <a:p xmlns:a="http://schemas.openxmlformats.org/drawingml/2006/main">
            <a:pPr>
              <a:buFont typeface="Calibri"/>
              <a:buChar char="-"/>
            </a:pPr>
            <a:r>
              <a:rPr i="1"/>
              <a:t>Can you name any?</a:t>
            </a:r>
          </a:p>
          <a:p xmlns:a="http://schemas.openxmlformats.org/drawingml/2006/main">
            <a:pPr>
              <a:buFont typeface="Calibri"/>
              <a:buChar char="-"/>
            </a:pPr>
            <a:r>
              <a:rPr i="1"/>
              <a:t>What can you use them for?</a:t>
            </a:r>
          </a:p>
          <a:p xmlns:a="http://schemas.openxmlformats.org/drawingml/2006/main">
            <a:pPr>
              <a:buFont typeface="Calibri"/>
              <a:buChar char="-"/>
            </a:pPr>
            <a:r>
              <a:rPr i="1"/>
              <a:t>What are potential problems?</a:t>
            </a:r>
          </a:p>
          <a:p xmlns:a="http://schemas.openxmlformats.org/drawingml/2006/main">
            <a:pPr>
              <a:buFont typeface="Calibri"/>
              <a:buChar char="-"/>
            </a:pPr>
            <a:r>
              <a:rPr i="1"/>
              <a:t>What do </a:t>
            </a:r>
            <a:r>
              <a:rPr b="1" i="1"/>
              <a:t>you </a:t>
            </a:r>
            <a:r>
              <a:rPr i="1"/>
              <a:t>want to use them for?</a:t>
            </a:r>
          </a:p>
        </p:txBody>
      </p:sp>
    </p:spTree>
    <p:extLst>
      <p:ext uri="{BB962C8B-B14F-4D97-AF65-F5344CB8AC3E}">
        <p14:creationId xmlns:p14="http://schemas.microsoft.com/office/powerpoint/2010/main" val="18342750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- What is an LLM">
            <a:extLst xmlns:a="http://schemas.openxmlformats.org/drawingml/2006/main">
              <a:ext uri="{FF2B5EF4-FFF2-40B4-BE49-F238E27FC236}">
                <a16:creationId xmlns:a16="http://schemas.microsoft.com/office/drawing/2014/main" id="{06EE3E6B-DE26-45D8-9298-AC7605DC5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093"/>
            <a:ext cx="10515600" cy="13255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400" b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 b="0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What is an LLM?</a:t>
            </a:r>
          </a:p>
        </p:txBody>
      </p:sp>
      <p:sp>
        <p:nvSpPr>
          <p:cNvPr id="5" name="Hugging Face source">
            <a:extLst xmlns:a="http://schemas.openxmlformats.org/drawingml/2006/main">
              <a:ext uri="{FF2B5EF4-FFF2-40B4-BE49-F238E27FC236}">
                <a16:creationId xmlns:a16="http://schemas.microsoft.com/office/drawing/2014/main" id="{1D851BBD-502D-4A99-9863-B458E615C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38875"/>
            <a:ext cx="1051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00" b="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666666"/>
                </a:solidFill>
                <a:latin typeface="Aptos"/>
                <a:ea typeface="Aptos"/>
                <a:cs typeface="Aptos"/>
              </a:rPr>
              <a:t>Source: Hugging Face LLM Course, Natural Language Processing and Large Language Models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5040726-D19C-9CB8-6A08-81560B8E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939" y="1690687"/>
            <a:ext cx="9720470" cy="18158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285750" indent="-285750">
              <a:buFont typeface="Arial"/>
              <a:buChar char="•"/>
            </a:pPr>
            <a:r>
              <a:rPr sz="2800"/>
              <a:t>Large amounts of text</a:t>
            </a:r>
          </a:p>
          <a:p xmlns:a="http://schemas.openxmlformats.org/drawingml/2006/main">
            <a:pPr marL="285750" indent="-285750">
              <a:buFont typeface="Arial"/>
              <a:buChar char="•"/>
            </a:pPr>
            <a:r>
              <a:rPr sz="2800"/>
              <a:t>Generate human like text</a:t>
            </a:r>
          </a:p>
          <a:p xmlns:a="http://schemas.openxmlformats.org/drawingml/2006/main">
            <a:pPr marL="285750" indent="-285750">
              <a:buFont typeface="Arial"/>
              <a:buChar char="•"/>
            </a:pPr>
            <a:r>
              <a:rPr sz="2800"/>
              <a:t>Recognize patterns in language</a:t>
            </a:r>
          </a:p>
          <a:p xmlns:a="http://schemas.openxmlformats.org/drawingml/2006/main">
            <a:pPr marL="285750" indent="-285750">
              <a:buFont typeface="Arial"/>
              <a:buChar char="•"/>
            </a:pPr>
            <a:r>
              <a:rPr sz="2800"/>
              <a:t>No need to task-specific training</a:t>
            </a:r>
          </a:p>
        </p:txBody>
      </p:sp>
    </p:spTree>
    <p:extLst>
      <p:ext uri="{BB962C8B-B14F-4D97-AF65-F5344CB8AC3E}">
        <p14:creationId xmlns:p14="http://schemas.microsoft.com/office/powerpoint/2010/main" val="7906225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- LLM characteristics">
            <a:extLst xmlns:a="http://schemas.openxmlformats.org/drawingml/2006/main">
              <a:ext uri="{FF2B5EF4-FFF2-40B4-BE49-F238E27FC236}">
                <a16:creationId xmlns:a16="http://schemas.microsoft.com/office/drawing/2014/main" id="{1114221C-E920-4094-A5D1-4A39F1CC0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093"/>
            <a:ext cx="10515600" cy="13255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400" b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 b="0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LLM characteristics</a:t>
            </a:r>
          </a:p>
        </p:txBody>
      </p:sp>
      <p:sp>
        <p:nvSpPr>
          <p:cNvPr id="2" name="LLM characteristics list">
            <a:extLst xmlns:a="http://schemas.openxmlformats.org/drawingml/2006/main">
              <a:ext uri="{FF2B5EF4-FFF2-40B4-BE49-F238E27FC236}">
                <a16:creationId xmlns:a16="http://schemas.microsoft.com/office/drawing/2014/main" id="{A6CEEE5F-07E4-4910-808B-E90CC22AF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25657"/>
            <a:ext cx="10515600" cy="43513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28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8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• Scale: millions, billions, or hundreds of billions of parameters</a:t>
            </a:r>
          </a:p>
          <a:p xmlns:a="http://schemas.openxmlformats.org/drawingml/2006/main">
            <a:pPr>
              <a:buNone/>
              <a:defRPr sz="28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8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• General capabilities: multiple tasks without task-specific training</a:t>
            </a:r>
          </a:p>
          <a:p xmlns:a="http://schemas.openxmlformats.org/drawingml/2006/main">
            <a:pPr>
              <a:buNone/>
              <a:defRPr sz="28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8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• In-context learning: learns from examples provided in the prompt</a:t>
            </a:r>
          </a:p>
          <a:p xmlns:a="http://schemas.openxmlformats.org/drawingml/2006/main">
            <a:pPr>
              <a:buNone/>
              <a:defRPr sz="28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8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• Emergent abilities: new capabilities can appear as models grow</a:t>
            </a:r>
          </a:p>
          <a:p xmlns:a="http://schemas.openxmlformats.org/drawingml/2006/main">
            <a:pPr>
              <a:buNone/>
              <a:defRPr sz="187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endParaRPr sz="2800" b="0">
              <a:solidFill>
                <a:srgbClr val="000000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>
              <a:buNone/>
              <a:defRPr sz="28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8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Key idea: scale changes both capability and </a:t>
            </a:r>
            <a:r>
              <a:rPr sz="28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behaviour</a:t>
            </a:r>
            <a:r>
              <a:rPr sz="28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3" name="LLM characteristics takeaway">
            <a:extLst xmlns:a="http://schemas.openxmlformats.org/drawingml/2006/main">
              <a:ext uri="{FF2B5EF4-FFF2-40B4-BE49-F238E27FC236}">
                <a16:creationId xmlns:a16="http://schemas.microsoft.com/office/drawing/2014/main" id="{D7D92742-A8F6-424B-867E-08CB07B08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53125"/>
            <a:ext cx="1051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00" b="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666666"/>
                </a:solidFill>
                <a:latin typeface="Aptos"/>
                <a:ea typeface="Aptos"/>
                <a:cs typeface="Aptos"/>
              </a:rPr>
              <a:t>Source: Hugging Face LLM Course, Natural Language Processing and Large Language Models</a:t>
            </a:r>
          </a:p>
        </p:txBody>
      </p:sp>
    </p:spTree>
    <p:extLst>
      <p:ext uri="{BB962C8B-B14F-4D97-AF65-F5344CB8AC3E}">
        <p14:creationId xmlns:p14="http://schemas.microsoft.com/office/powerpoint/2010/main" val="20145027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- LLM limitations">
            <a:extLst xmlns:a="http://schemas.openxmlformats.org/drawingml/2006/main">
              <a:ext uri="{FF2B5EF4-FFF2-40B4-BE49-F238E27FC236}">
                <a16:creationId xmlns:a16="http://schemas.microsoft.com/office/drawing/2014/main" id="{33646469-5583-4CDD-84EC-7D46A98E4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093"/>
            <a:ext cx="10515600" cy="13255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400" b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 b="0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LLM limitations</a:t>
            </a:r>
          </a:p>
        </p:txBody>
      </p:sp>
      <p:sp>
        <p:nvSpPr>
          <p:cNvPr id="2" name="LLM limitations bullets">
            <a:extLst xmlns:a="http://schemas.openxmlformats.org/drawingml/2006/main">
              <a:ext uri="{FF2B5EF4-FFF2-40B4-BE49-F238E27FC236}">
                <a16:creationId xmlns:a16="http://schemas.microsoft.com/office/drawing/2014/main" id="{115F698D-6DC7-43A4-A082-99D99AE3F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25657"/>
            <a:ext cx="10515600" cy="43513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28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8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• Hallucinations: They can generate incorrect information</a:t>
            </a:r>
          </a:p>
          <a:p xmlns:a="http://schemas.openxmlformats.org/drawingml/2006/main">
            <a:pPr>
              <a:buNone/>
              <a:defRPr sz="28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8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• Lack of true understanding: They operate on statistical patterns</a:t>
            </a:r>
          </a:p>
          <a:p xmlns:a="http://schemas.openxmlformats.org/drawingml/2006/main">
            <a:pPr>
              <a:buNone/>
              <a:defRPr sz="28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8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• Bias: They may reproduce biases in training data or inputs</a:t>
            </a:r>
          </a:p>
          <a:p xmlns:a="http://schemas.openxmlformats.org/drawingml/2006/main">
            <a:pPr>
              <a:buNone/>
              <a:defRPr sz="28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8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• Context windows: They have limited context windows</a:t>
            </a:r>
          </a:p>
          <a:p xmlns:a="http://schemas.openxmlformats.org/drawingml/2006/main">
            <a:pPr>
              <a:buNone/>
              <a:defRPr sz="28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8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• Computational resources: They require significant compute</a:t>
            </a:r>
          </a:p>
          <a:p xmlns:a="http://schemas.openxmlformats.org/drawingml/2006/main">
            <a:endParaRPr sz="2800" b="0"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LLM limitations takeaway">
            <a:extLst xmlns:a="http://schemas.openxmlformats.org/drawingml/2006/main">
              <a:ext uri="{FF2B5EF4-FFF2-40B4-BE49-F238E27FC236}">
                <a16:creationId xmlns:a16="http://schemas.microsoft.com/office/drawing/2014/main" id="{51C83CD8-F9AA-4CD9-9FC2-97FAC7844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38875"/>
            <a:ext cx="1051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00" b="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666666"/>
                </a:solidFill>
                <a:latin typeface="Aptos"/>
                <a:ea typeface="Aptos"/>
                <a:cs typeface="Aptos"/>
              </a:rPr>
              <a:t>Source: Hugging Face LLM Course, Natural Language Processing and Large Language Models</a:t>
            </a:r>
          </a:p>
        </p:txBody>
      </p:sp>
    </p:spTree>
    <p:extLst>
      <p:ext uri="{BB962C8B-B14F-4D97-AF65-F5344CB8AC3E}">
        <p14:creationId xmlns:p14="http://schemas.microsoft.com/office/powerpoint/2010/main" val="13396424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- Language processing challenge">
            <a:extLst xmlns:a="http://schemas.openxmlformats.org/drawingml/2006/main">
              <a:ext uri="{FF2B5EF4-FFF2-40B4-BE49-F238E27FC236}">
                <a16:creationId xmlns:a16="http://schemas.microsoft.com/office/drawing/2014/main" id="{9585C3B7-A151-4904-ACA5-EB367914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093"/>
            <a:ext cx="10515600" cy="13255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400" b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 b="0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Why is language processing challenging?</a:t>
            </a:r>
          </a:p>
        </p:txBody>
      </p:sp>
      <p:sp>
        <p:nvSpPr>
          <p:cNvPr id="2" name="Language processing challenge body">
            <a:extLst xmlns:a="http://schemas.openxmlformats.org/drawingml/2006/main">
              <a:ext uri="{FF2B5EF4-FFF2-40B4-BE49-F238E27FC236}">
                <a16:creationId xmlns:a16="http://schemas.microsoft.com/office/drawing/2014/main" id="{48490009-C9D0-4B95-831A-7A5B1FFF2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25657"/>
            <a:ext cx="10515600" cy="43513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28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8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• Humans easily infer meaning and similarity from text</a:t>
            </a:r>
            <a:endParaRPr sz="2800" b="0">
              <a:solidFill>
                <a:srgbClr val="000000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>
              <a:buNone/>
              <a:defRPr sz="28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endParaRPr sz="2800" b="0">
              <a:solidFill>
                <a:srgbClr val="000000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>
              <a:buNone/>
              <a:defRPr sz="28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8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• ML models need text converted into learnable representations</a:t>
            </a:r>
            <a:endParaRPr sz="2800" b="0">
              <a:solidFill>
                <a:srgbClr val="000000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>
              <a:buNone/>
              <a:defRPr sz="28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endParaRPr sz="2800" b="0">
              <a:solidFill>
                <a:srgbClr val="000000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>
              <a:buNone/>
              <a:defRPr sz="28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8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• Language depends on ambiguity, context, culture, sarcasm, and </a:t>
            </a:r>
            <a:r>
              <a:rPr sz="28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humour</a:t>
            </a:r>
            <a:endParaRPr sz="2800" b="0">
              <a:solidFill>
                <a:srgbClr val="000000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>
              <a:buNone/>
              <a:defRPr sz="28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endParaRPr sz="2800" b="0">
              <a:solidFill>
                <a:srgbClr val="000000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>
              <a:buNone/>
              <a:defRPr sz="28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8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• </a:t>
            </a:r>
            <a:r>
              <a:rPr sz="28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LLMs learn from massive datasets, but still fall </a:t>
            </a:r>
            <a:r>
              <a:rPr sz="28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short in complex scenarios</a:t>
            </a:r>
          </a:p>
          <a:p xmlns:a="http://schemas.openxmlformats.org/drawingml/2006/main">
            <a:pPr>
              <a:buNone/>
              <a:defRPr sz="187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endParaRPr sz="2800" b="0"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Language processing challenge takeaway">
            <a:extLst xmlns:a="http://schemas.openxmlformats.org/drawingml/2006/main">
              <a:ext uri="{FF2B5EF4-FFF2-40B4-BE49-F238E27FC236}">
                <a16:creationId xmlns:a16="http://schemas.microsoft.com/office/drawing/2014/main" id="{03E720F6-875F-4B6A-8154-27E342D1C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53125"/>
            <a:ext cx="1051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00" b="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666666"/>
                </a:solidFill>
                <a:latin typeface="Aptos"/>
                <a:ea typeface="Aptos"/>
                <a:cs typeface="Aptos"/>
              </a:rPr>
              <a:t>Source: Hugging Face LLM Course, Natural Language Processing and Large Language Models</a:t>
            </a:r>
          </a:p>
        </p:txBody>
      </p:sp>
    </p:spTree>
    <p:extLst>
      <p:ext uri="{BB962C8B-B14F-4D97-AF65-F5344CB8AC3E}">
        <p14:creationId xmlns:p14="http://schemas.microsoft.com/office/powerpoint/2010/main" val="170662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9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9fe08d239d4f2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53518" y="659947"/>
            <a:ext cx="4401911" cy="6613071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9428D2F-F725-B3EE-D39E-56A5B729FF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Here is a Llama...</a:t>
            </a:r>
          </a:p>
        </p:txBody>
      </p:sp>
      <p:sp>
        <p:nvSpPr>
          <p:cNvPr id="15" name="Flowchart: Connector 14">
            <a:extLst xmlns:a="http://schemas.openxmlformats.org/drawingml/2006/main">
              <a:ext uri="{FF2B5EF4-FFF2-40B4-BE49-F238E27FC236}">
                <a16:creationId xmlns:a16="http://schemas.microsoft.com/office/drawing/2014/main" id="{C9BAAFC0-B1D0-6CC7-7910-C53F7B9D4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3290" y="2504332"/>
            <a:ext cx="457200" cy="457200"/>
          </a:xfrm>
          <a:custGeom xmlns:a="http://schemas.openxmlformats.org/drawingml/2006/main">
            <a:gdLst>
              <a:gd name="connsiteX0" fmla="*/ 0 w 457200"/>
              <a:gd name="connsiteY0" fmla="*/ 228600 h 457200"/>
              <a:gd name="connsiteX1" fmla="*/ 228600 w 457200"/>
              <a:gd name="connsiteY1" fmla="*/ 0 h 457200"/>
              <a:gd name="connsiteX2" fmla="*/ 457200 w 457200"/>
              <a:gd name="connsiteY2" fmla="*/ 228600 h 457200"/>
              <a:gd name="connsiteX3" fmla="*/ 228600 w 457200"/>
              <a:gd name="connsiteY3" fmla="*/ 457200 h 457200"/>
              <a:gd name="connsiteX4" fmla="*/ 0 w 457200"/>
              <a:gd name="connsiteY4" fmla="*/ 228600 h 457200"/>
            </a:gdLst>
            <a:rect l="l" t="t" r="r" b="b"/>
            <a:pathLst>
              <a:path w="457200" h="457200">
                <a:moveTo>
                  <a:pt x="0" y="228600"/>
                </a:moveTo>
                <a:cubicBezTo>
                  <a:pt x="-6286" y="94269"/>
                  <a:pt x="85347" y="-15228"/>
                  <a:pt x="228600" y="0"/>
                </a:cubicBezTo>
                <a:cubicBezTo>
                  <a:pt x="356756" y="-2173"/>
                  <a:pt x="460728" y="106247"/>
                  <a:pt x="457200" y="228600"/>
                </a:cubicBezTo>
                <a:cubicBezTo>
                  <a:pt x="445791" y="359591"/>
                  <a:pt x="356223" y="454466"/>
                  <a:pt x="228600" y="457200"/>
                </a:cubicBezTo>
                <a:cubicBezTo>
                  <a:pt x="127866" y="459443"/>
                  <a:pt x="-3812" y="381036"/>
                  <a:pt x="0" y="228600"/>
                </a:cubicBezTo>
                <a:close/>
              </a:path>
              <a:path w="457200" h="457200">
                <a:moveTo>
                  <a:pt x="0" y="228600"/>
                </a:moveTo>
                <a:cubicBezTo>
                  <a:pt x="-1737" y="96896"/>
                  <a:pt x="82315" y="1725"/>
                  <a:pt x="228600" y="0"/>
                </a:cubicBezTo>
                <a:cubicBezTo>
                  <a:pt x="351560" y="4587"/>
                  <a:pt x="451890" y="96767"/>
                  <a:pt x="457200" y="228600"/>
                </a:cubicBezTo>
                <a:cubicBezTo>
                  <a:pt x="464530" y="367244"/>
                  <a:pt x="372760" y="462027"/>
                  <a:pt x="228600" y="457200"/>
                </a:cubicBezTo>
                <a:cubicBezTo>
                  <a:pt x="93201" y="463549"/>
                  <a:pt x="-7249" y="348329"/>
                  <a:pt x="0" y="228600"/>
                </a:cubicBezTo>
                <a:close/>
              </a:path>
            </a:pathLst>
          </a:custGeom>
          <a:ln xmlns:a="http://schemas.openxmlformats.org/drawingml/2006/main" w="57150"/>
        </p:spPr>
        <p:style>
          <a:lnRef xmlns:a="http://schemas.openxmlformats.org/drawingml/2006/main" idx="2">
            <a:schemeClr val="accent5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5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1</a:t>
            </a:r>
          </a:p>
        </p:txBody>
      </p:sp>
      <p:cxnSp>
        <p:nvCxnSpPr>
          <p:cNvPr id="112" name="Connector: Curved 16"/>
          <p:cNvCxnSpPr/>
          <p:nvPr/>
        </p:nvCxnSpPr>
        <p:spPr>
          <a:xfrm xmlns:a="http://schemas.openxmlformats.org/drawingml/2006/main">
            <a:off x="4368511" y="2734417"/>
            <a:ext cx="620485" cy="920339"/>
          </a:xfrm>
          <a:prstGeom xmlns:a="http://schemas.openxmlformats.org/drawingml/2006/main" prst="curvedConnector3">
            <a:avLst/>
          </a:prstGeom>
          <a:ln xmlns:a="http://schemas.openxmlformats.org/drawingml/2006/main" w="28575">
            <a:tailEnd type="triangle"/>
          </a:ln>
        </p:spPr>
        <p:style>
          <a:lnRef xmlns:a="http://schemas.openxmlformats.org/drawingml/2006/main" idx="3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2">
            <a:schemeClr val="dk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13" name="Connector: Curved 19"/>
          <p:cNvCxnSpPr/>
          <p:nvPr/>
        </p:nvCxnSpPr>
        <p:spPr>
          <a:xfrm xmlns:a="http://schemas.openxmlformats.org/drawingml/2006/main">
            <a:off x="5443475" y="3666506"/>
            <a:ext cx="409574" cy="838695"/>
          </a:xfrm>
          <a:prstGeom xmlns:a="http://schemas.openxmlformats.org/drawingml/2006/main" prst="curvedConnector3">
            <a:avLst/>
          </a:prstGeom>
          <a:ln xmlns:a="http://schemas.openxmlformats.org/drawingml/2006/main" w="28575">
            <a:tailEnd type="triangle"/>
          </a:ln>
        </p:spPr>
        <p:style>
          <a:lnRef xmlns:a="http://schemas.openxmlformats.org/drawingml/2006/main" idx="3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2">
            <a:schemeClr val="dk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14" name="Connector: Curved 20"/>
          <p:cNvCxnSpPr/>
          <p:nvPr/>
        </p:nvCxnSpPr>
        <p:spPr>
          <a:xfrm xmlns:a="http://schemas.openxmlformats.org/drawingml/2006/main">
            <a:off x="6307528" y="4496542"/>
            <a:ext cx="810985" cy="8660"/>
          </a:xfrm>
          <a:prstGeom xmlns:a="http://schemas.openxmlformats.org/drawingml/2006/main" prst="curvedConnector3">
            <a:avLst/>
          </a:prstGeom>
          <a:ln xmlns:a="http://schemas.openxmlformats.org/drawingml/2006/main" w="28575">
            <a:tailEnd type="triangle"/>
          </a:ln>
        </p:spPr>
        <p:style>
          <a:lnRef xmlns:a="http://schemas.openxmlformats.org/drawingml/2006/main" idx="3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2">
            <a:schemeClr val="dk1"/>
          </a:effectRef>
          <a:fontRef xmlns:a="http://schemas.openxmlformats.org/drawingml/2006/main" idx="minor">
            <a:schemeClr val="tx1"/>
          </a:fontRef>
        </p:style>
      </p:cxnSp>
      <p:sp>
        <p:nvSpPr>
          <p:cNvPr id="22" name="Flowchart: Connector 21">
            <a:extLst xmlns:a="http://schemas.openxmlformats.org/drawingml/2006/main">
              <a:ext uri="{FF2B5EF4-FFF2-40B4-BE49-F238E27FC236}">
                <a16:creationId xmlns:a16="http://schemas.microsoft.com/office/drawing/2014/main" id="{48EC56BF-C941-EF14-B6E9-042D0195F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8253" y="3429617"/>
            <a:ext cx="457200" cy="457200"/>
          </a:xfrm>
          <a:custGeom xmlns:a="http://schemas.openxmlformats.org/drawingml/2006/main">
            <a:gdLst>
              <a:gd name="connsiteX0" fmla="*/ 0 w 457200"/>
              <a:gd name="connsiteY0" fmla="*/ 228600 h 457200"/>
              <a:gd name="connsiteX1" fmla="*/ 228600 w 457200"/>
              <a:gd name="connsiteY1" fmla="*/ 0 h 457200"/>
              <a:gd name="connsiteX2" fmla="*/ 457200 w 457200"/>
              <a:gd name="connsiteY2" fmla="*/ 228600 h 457200"/>
              <a:gd name="connsiteX3" fmla="*/ 228600 w 457200"/>
              <a:gd name="connsiteY3" fmla="*/ 457200 h 457200"/>
              <a:gd name="connsiteX4" fmla="*/ 0 w 457200"/>
              <a:gd name="connsiteY4" fmla="*/ 228600 h 457200"/>
            </a:gdLst>
            <a:rect l="l" t="t" r="r" b="b"/>
            <a:pathLst>
              <a:path w="457200" h="457200">
                <a:moveTo>
                  <a:pt x="0" y="228600"/>
                </a:moveTo>
                <a:cubicBezTo>
                  <a:pt x="-6286" y="94269"/>
                  <a:pt x="85347" y="-15228"/>
                  <a:pt x="228600" y="0"/>
                </a:cubicBezTo>
                <a:cubicBezTo>
                  <a:pt x="356756" y="-2173"/>
                  <a:pt x="460728" y="106247"/>
                  <a:pt x="457200" y="228600"/>
                </a:cubicBezTo>
                <a:cubicBezTo>
                  <a:pt x="445791" y="359591"/>
                  <a:pt x="356223" y="454466"/>
                  <a:pt x="228600" y="457200"/>
                </a:cubicBezTo>
                <a:cubicBezTo>
                  <a:pt x="127866" y="459443"/>
                  <a:pt x="-3812" y="381036"/>
                  <a:pt x="0" y="228600"/>
                </a:cubicBezTo>
                <a:close/>
              </a:path>
              <a:path w="457200" h="457200">
                <a:moveTo>
                  <a:pt x="0" y="228600"/>
                </a:moveTo>
                <a:cubicBezTo>
                  <a:pt x="-1737" y="96896"/>
                  <a:pt x="82315" y="1725"/>
                  <a:pt x="228600" y="0"/>
                </a:cubicBezTo>
                <a:cubicBezTo>
                  <a:pt x="351560" y="4587"/>
                  <a:pt x="451890" y="96767"/>
                  <a:pt x="457200" y="228600"/>
                </a:cubicBezTo>
                <a:cubicBezTo>
                  <a:pt x="464530" y="367244"/>
                  <a:pt x="372760" y="462027"/>
                  <a:pt x="228600" y="457200"/>
                </a:cubicBezTo>
                <a:cubicBezTo>
                  <a:pt x="93201" y="463549"/>
                  <a:pt x="-7249" y="348329"/>
                  <a:pt x="0" y="228600"/>
                </a:cubicBezTo>
                <a:close/>
              </a:path>
            </a:pathLst>
          </a:custGeom>
          <a:ln xmlns:a="http://schemas.openxmlformats.org/drawingml/2006/main" w="57150"/>
        </p:spPr>
        <p:style>
          <a:lnRef xmlns:a="http://schemas.openxmlformats.org/drawingml/2006/main" idx="2">
            <a:schemeClr val="accent5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5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2</a:t>
            </a:r>
          </a:p>
        </p:txBody>
      </p:sp>
      <p:sp>
        <p:nvSpPr>
          <p:cNvPr id="23" name="Flowchart: Connector 22">
            <a:extLst xmlns:a="http://schemas.openxmlformats.org/drawingml/2006/main">
              <a:ext uri="{FF2B5EF4-FFF2-40B4-BE49-F238E27FC236}">
                <a16:creationId xmlns:a16="http://schemas.microsoft.com/office/drawing/2014/main" id="{5CD1E691-ADB4-B39D-7B93-AFA9A2A1C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306" y="4266456"/>
            <a:ext cx="457200" cy="457200"/>
          </a:xfrm>
          <a:custGeom xmlns:a="http://schemas.openxmlformats.org/drawingml/2006/main">
            <a:gdLst>
              <a:gd name="connsiteX0" fmla="*/ 0 w 457200"/>
              <a:gd name="connsiteY0" fmla="*/ 228600 h 457200"/>
              <a:gd name="connsiteX1" fmla="*/ 228600 w 457200"/>
              <a:gd name="connsiteY1" fmla="*/ 0 h 457200"/>
              <a:gd name="connsiteX2" fmla="*/ 457200 w 457200"/>
              <a:gd name="connsiteY2" fmla="*/ 228600 h 457200"/>
              <a:gd name="connsiteX3" fmla="*/ 228600 w 457200"/>
              <a:gd name="connsiteY3" fmla="*/ 457200 h 457200"/>
              <a:gd name="connsiteX4" fmla="*/ 0 w 457200"/>
              <a:gd name="connsiteY4" fmla="*/ 228600 h 457200"/>
            </a:gdLst>
            <a:rect l="l" t="t" r="r" b="b"/>
            <a:pathLst>
              <a:path w="457200" h="457200">
                <a:moveTo>
                  <a:pt x="0" y="228600"/>
                </a:moveTo>
                <a:cubicBezTo>
                  <a:pt x="-6286" y="94269"/>
                  <a:pt x="85347" y="-15228"/>
                  <a:pt x="228600" y="0"/>
                </a:cubicBezTo>
                <a:cubicBezTo>
                  <a:pt x="356756" y="-2173"/>
                  <a:pt x="460728" y="106247"/>
                  <a:pt x="457200" y="228600"/>
                </a:cubicBezTo>
                <a:cubicBezTo>
                  <a:pt x="445791" y="359591"/>
                  <a:pt x="356223" y="454466"/>
                  <a:pt x="228600" y="457200"/>
                </a:cubicBezTo>
                <a:cubicBezTo>
                  <a:pt x="127866" y="459443"/>
                  <a:pt x="-3812" y="381036"/>
                  <a:pt x="0" y="228600"/>
                </a:cubicBezTo>
                <a:close/>
              </a:path>
              <a:path w="457200" h="457200">
                <a:moveTo>
                  <a:pt x="0" y="228600"/>
                </a:moveTo>
                <a:cubicBezTo>
                  <a:pt x="-1737" y="96896"/>
                  <a:pt x="82315" y="1725"/>
                  <a:pt x="228600" y="0"/>
                </a:cubicBezTo>
                <a:cubicBezTo>
                  <a:pt x="351560" y="4587"/>
                  <a:pt x="451890" y="96767"/>
                  <a:pt x="457200" y="228600"/>
                </a:cubicBezTo>
                <a:cubicBezTo>
                  <a:pt x="464530" y="367244"/>
                  <a:pt x="372760" y="462027"/>
                  <a:pt x="228600" y="457200"/>
                </a:cubicBezTo>
                <a:cubicBezTo>
                  <a:pt x="93201" y="463549"/>
                  <a:pt x="-7249" y="348329"/>
                  <a:pt x="0" y="228600"/>
                </a:cubicBezTo>
                <a:close/>
              </a:path>
            </a:pathLst>
          </a:custGeom>
          <a:ln xmlns:a="http://schemas.openxmlformats.org/drawingml/2006/main" w="57150"/>
        </p:spPr>
        <p:style>
          <a:lnRef xmlns:a="http://schemas.openxmlformats.org/drawingml/2006/main" idx="2">
            <a:schemeClr val="accent5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5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3</a:t>
            </a:r>
          </a:p>
        </p:txBody>
      </p:sp>
      <p:sp>
        <p:nvSpPr>
          <p:cNvPr id="24" name="Flowchart: Connector 23">
            <a:extLst xmlns:a="http://schemas.openxmlformats.org/drawingml/2006/main">
              <a:ext uri="{FF2B5EF4-FFF2-40B4-BE49-F238E27FC236}">
                <a16:creationId xmlns:a16="http://schemas.microsoft.com/office/drawing/2014/main" id="{13162B3D-EBD1-BFAC-98F0-3E1B74B22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7770" y="4266456"/>
            <a:ext cx="457200" cy="457200"/>
          </a:xfrm>
          <a:custGeom xmlns:a="http://schemas.openxmlformats.org/drawingml/2006/main">
            <a:gdLst>
              <a:gd name="connsiteX0" fmla="*/ 0 w 457200"/>
              <a:gd name="connsiteY0" fmla="*/ 228600 h 457200"/>
              <a:gd name="connsiteX1" fmla="*/ 228600 w 457200"/>
              <a:gd name="connsiteY1" fmla="*/ 0 h 457200"/>
              <a:gd name="connsiteX2" fmla="*/ 457200 w 457200"/>
              <a:gd name="connsiteY2" fmla="*/ 228600 h 457200"/>
              <a:gd name="connsiteX3" fmla="*/ 228600 w 457200"/>
              <a:gd name="connsiteY3" fmla="*/ 457200 h 457200"/>
              <a:gd name="connsiteX4" fmla="*/ 0 w 457200"/>
              <a:gd name="connsiteY4" fmla="*/ 228600 h 457200"/>
            </a:gdLst>
            <a:rect l="l" t="t" r="r" b="b"/>
            <a:pathLst>
              <a:path w="457200" h="457200">
                <a:moveTo>
                  <a:pt x="0" y="228600"/>
                </a:moveTo>
                <a:cubicBezTo>
                  <a:pt x="-6286" y="94269"/>
                  <a:pt x="85347" y="-15228"/>
                  <a:pt x="228600" y="0"/>
                </a:cubicBezTo>
                <a:cubicBezTo>
                  <a:pt x="356756" y="-2173"/>
                  <a:pt x="460728" y="106247"/>
                  <a:pt x="457200" y="228600"/>
                </a:cubicBezTo>
                <a:cubicBezTo>
                  <a:pt x="445791" y="359591"/>
                  <a:pt x="356223" y="454466"/>
                  <a:pt x="228600" y="457200"/>
                </a:cubicBezTo>
                <a:cubicBezTo>
                  <a:pt x="127866" y="459443"/>
                  <a:pt x="-3812" y="381036"/>
                  <a:pt x="0" y="228600"/>
                </a:cubicBezTo>
                <a:close/>
              </a:path>
              <a:path w="457200" h="457200">
                <a:moveTo>
                  <a:pt x="0" y="228600"/>
                </a:moveTo>
                <a:cubicBezTo>
                  <a:pt x="-1737" y="96896"/>
                  <a:pt x="82315" y="1725"/>
                  <a:pt x="228600" y="0"/>
                </a:cubicBezTo>
                <a:cubicBezTo>
                  <a:pt x="351560" y="4587"/>
                  <a:pt x="451890" y="96767"/>
                  <a:pt x="457200" y="228600"/>
                </a:cubicBezTo>
                <a:cubicBezTo>
                  <a:pt x="464530" y="367244"/>
                  <a:pt x="372760" y="462027"/>
                  <a:pt x="228600" y="457200"/>
                </a:cubicBezTo>
                <a:cubicBezTo>
                  <a:pt x="93201" y="463549"/>
                  <a:pt x="-7249" y="348329"/>
                  <a:pt x="0" y="228600"/>
                </a:cubicBezTo>
                <a:close/>
              </a:path>
            </a:pathLst>
          </a:custGeom>
          <a:ln xmlns:a="http://schemas.openxmlformats.org/drawingml/2006/main" w="57150"/>
        </p:spPr>
        <p:style>
          <a:lnRef xmlns:a="http://schemas.openxmlformats.org/drawingml/2006/main" idx="2">
            <a:schemeClr val="accent5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5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4</a:t>
            </a:r>
          </a:p>
        </p:txBody>
      </p:sp>
      <p:sp>
        <p:nvSpPr>
          <p:cNvPr id="27" name="Flowchart: Connector 26">
            <a:extLst xmlns:a="http://schemas.openxmlformats.org/drawingml/2006/main">
              <a:ext uri="{FF2B5EF4-FFF2-40B4-BE49-F238E27FC236}">
                <a16:creationId xmlns:a16="http://schemas.microsoft.com/office/drawing/2014/main" id="{D48EE0A8-2231-2314-5A63-6A74CEF6A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6868" y="2098839"/>
            <a:ext cx="457200" cy="457200"/>
          </a:xfrm>
          <a:custGeom xmlns:a="http://schemas.openxmlformats.org/drawingml/2006/main">
            <a:gdLst>
              <a:gd name="connsiteX0" fmla="*/ 0 w 457200"/>
              <a:gd name="connsiteY0" fmla="*/ 228600 h 457200"/>
              <a:gd name="connsiteX1" fmla="*/ 228600 w 457200"/>
              <a:gd name="connsiteY1" fmla="*/ 0 h 457200"/>
              <a:gd name="connsiteX2" fmla="*/ 457200 w 457200"/>
              <a:gd name="connsiteY2" fmla="*/ 228600 h 457200"/>
              <a:gd name="connsiteX3" fmla="*/ 228600 w 457200"/>
              <a:gd name="connsiteY3" fmla="*/ 457200 h 457200"/>
              <a:gd name="connsiteX4" fmla="*/ 0 w 457200"/>
              <a:gd name="connsiteY4" fmla="*/ 228600 h 457200"/>
            </a:gdLst>
            <a:rect l="l" t="t" r="r" b="b"/>
            <a:pathLst>
              <a:path w="457200" h="457200">
                <a:moveTo>
                  <a:pt x="0" y="228600"/>
                </a:moveTo>
                <a:cubicBezTo>
                  <a:pt x="-6286" y="94269"/>
                  <a:pt x="85347" y="-15228"/>
                  <a:pt x="228600" y="0"/>
                </a:cubicBezTo>
                <a:cubicBezTo>
                  <a:pt x="356756" y="-2173"/>
                  <a:pt x="460728" y="106247"/>
                  <a:pt x="457200" y="228600"/>
                </a:cubicBezTo>
                <a:cubicBezTo>
                  <a:pt x="445791" y="359591"/>
                  <a:pt x="356223" y="454466"/>
                  <a:pt x="228600" y="457200"/>
                </a:cubicBezTo>
                <a:cubicBezTo>
                  <a:pt x="127866" y="459443"/>
                  <a:pt x="-3812" y="381036"/>
                  <a:pt x="0" y="228600"/>
                </a:cubicBezTo>
                <a:close/>
              </a:path>
              <a:path w="457200" h="457200">
                <a:moveTo>
                  <a:pt x="0" y="228600"/>
                </a:moveTo>
                <a:cubicBezTo>
                  <a:pt x="-1737" y="96896"/>
                  <a:pt x="82315" y="1725"/>
                  <a:pt x="228600" y="0"/>
                </a:cubicBezTo>
                <a:cubicBezTo>
                  <a:pt x="351560" y="4587"/>
                  <a:pt x="451890" y="96767"/>
                  <a:pt x="457200" y="228600"/>
                </a:cubicBezTo>
                <a:cubicBezTo>
                  <a:pt x="464530" y="367244"/>
                  <a:pt x="372760" y="462027"/>
                  <a:pt x="228600" y="457200"/>
                </a:cubicBezTo>
                <a:cubicBezTo>
                  <a:pt x="93201" y="463549"/>
                  <a:pt x="-7249" y="348329"/>
                  <a:pt x="0" y="228600"/>
                </a:cubicBezTo>
                <a:close/>
              </a:path>
            </a:pathLst>
          </a:custGeom>
          <a:ln xmlns:a="http://schemas.openxmlformats.org/drawingml/2006/main" w="57150"/>
        </p:spPr>
        <p:style>
          <a:lnRef xmlns:a="http://schemas.openxmlformats.org/drawingml/2006/main" idx="2">
            <a:schemeClr val="accent5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5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1</a:t>
            </a:r>
          </a:p>
        </p:txBody>
      </p:sp>
      <p:sp>
        <p:nvSpPr>
          <p:cNvPr id="29" name="Flowchart: Connector 28">
            <a:extLst xmlns:a="http://schemas.openxmlformats.org/drawingml/2006/main">
              <a:ext uri="{FF2B5EF4-FFF2-40B4-BE49-F238E27FC236}">
                <a16:creationId xmlns:a16="http://schemas.microsoft.com/office/drawing/2014/main" id="{C36047C0-85CB-BA7B-6BD7-F642638AE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6867" y="2915267"/>
            <a:ext cx="457200" cy="457200"/>
          </a:xfrm>
          <a:custGeom xmlns:a="http://schemas.openxmlformats.org/drawingml/2006/main">
            <a:gdLst>
              <a:gd name="connsiteX0" fmla="*/ 0 w 457200"/>
              <a:gd name="connsiteY0" fmla="*/ 228600 h 457200"/>
              <a:gd name="connsiteX1" fmla="*/ 228600 w 457200"/>
              <a:gd name="connsiteY1" fmla="*/ 0 h 457200"/>
              <a:gd name="connsiteX2" fmla="*/ 457200 w 457200"/>
              <a:gd name="connsiteY2" fmla="*/ 228600 h 457200"/>
              <a:gd name="connsiteX3" fmla="*/ 228600 w 457200"/>
              <a:gd name="connsiteY3" fmla="*/ 457200 h 457200"/>
              <a:gd name="connsiteX4" fmla="*/ 0 w 457200"/>
              <a:gd name="connsiteY4" fmla="*/ 228600 h 457200"/>
            </a:gdLst>
            <a:rect l="l" t="t" r="r" b="b"/>
            <a:pathLst>
              <a:path w="457200" h="457200">
                <a:moveTo>
                  <a:pt x="0" y="228600"/>
                </a:moveTo>
                <a:cubicBezTo>
                  <a:pt x="-6286" y="94269"/>
                  <a:pt x="85347" y="-15228"/>
                  <a:pt x="228600" y="0"/>
                </a:cubicBezTo>
                <a:cubicBezTo>
                  <a:pt x="356756" y="-2173"/>
                  <a:pt x="460728" y="106247"/>
                  <a:pt x="457200" y="228600"/>
                </a:cubicBezTo>
                <a:cubicBezTo>
                  <a:pt x="445791" y="359591"/>
                  <a:pt x="356223" y="454466"/>
                  <a:pt x="228600" y="457200"/>
                </a:cubicBezTo>
                <a:cubicBezTo>
                  <a:pt x="127866" y="459443"/>
                  <a:pt x="-3812" y="381036"/>
                  <a:pt x="0" y="228600"/>
                </a:cubicBezTo>
                <a:close/>
              </a:path>
              <a:path w="457200" h="457200">
                <a:moveTo>
                  <a:pt x="0" y="228600"/>
                </a:moveTo>
                <a:cubicBezTo>
                  <a:pt x="-1737" y="96896"/>
                  <a:pt x="82315" y="1725"/>
                  <a:pt x="228600" y="0"/>
                </a:cubicBezTo>
                <a:cubicBezTo>
                  <a:pt x="351560" y="4587"/>
                  <a:pt x="451890" y="96767"/>
                  <a:pt x="457200" y="228600"/>
                </a:cubicBezTo>
                <a:cubicBezTo>
                  <a:pt x="464530" y="367244"/>
                  <a:pt x="372760" y="462027"/>
                  <a:pt x="228600" y="457200"/>
                </a:cubicBezTo>
                <a:cubicBezTo>
                  <a:pt x="93201" y="463549"/>
                  <a:pt x="-7249" y="348329"/>
                  <a:pt x="0" y="228600"/>
                </a:cubicBezTo>
                <a:close/>
              </a:path>
            </a:pathLst>
          </a:custGeom>
          <a:ln xmlns:a="http://schemas.openxmlformats.org/drawingml/2006/main" w="57150"/>
        </p:spPr>
        <p:style>
          <a:lnRef xmlns:a="http://schemas.openxmlformats.org/drawingml/2006/main" idx="2">
            <a:schemeClr val="accent5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5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2</a:t>
            </a:r>
          </a:p>
        </p:txBody>
      </p:sp>
      <p:sp>
        <p:nvSpPr>
          <p:cNvPr id="31" name="Flowchart: Connector 30">
            <a:extLst xmlns:a="http://schemas.openxmlformats.org/drawingml/2006/main">
              <a:ext uri="{FF2B5EF4-FFF2-40B4-BE49-F238E27FC236}">
                <a16:creationId xmlns:a16="http://schemas.microsoft.com/office/drawing/2014/main" id="{DDEFADCE-B113-6739-3FC5-E14B02A84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6866" y="3731695"/>
            <a:ext cx="457200" cy="457200"/>
          </a:xfrm>
          <a:custGeom xmlns:a="http://schemas.openxmlformats.org/drawingml/2006/main">
            <a:gdLst>
              <a:gd name="connsiteX0" fmla="*/ 0 w 457200"/>
              <a:gd name="connsiteY0" fmla="*/ 228600 h 457200"/>
              <a:gd name="connsiteX1" fmla="*/ 228600 w 457200"/>
              <a:gd name="connsiteY1" fmla="*/ 0 h 457200"/>
              <a:gd name="connsiteX2" fmla="*/ 457200 w 457200"/>
              <a:gd name="connsiteY2" fmla="*/ 228600 h 457200"/>
              <a:gd name="connsiteX3" fmla="*/ 228600 w 457200"/>
              <a:gd name="connsiteY3" fmla="*/ 457200 h 457200"/>
              <a:gd name="connsiteX4" fmla="*/ 0 w 457200"/>
              <a:gd name="connsiteY4" fmla="*/ 228600 h 457200"/>
            </a:gdLst>
            <a:rect l="l" t="t" r="r" b="b"/>
            <a:pathLst>
              <a:path w="457200" h="457200">
                <a:moveTo>
                  <a:pt x="0" y="228600"/>
                </a:moveTo>
                <a:cubicBezTo>
                  <a:pt x="-6286" y="94269"/>
                  <a:pt x="85347" y="-15228"/>
                  <a:pt x="228600" y="0"/>
                </a:cubicBezTo>
                <a:cubicBezTo>
                  <a:pt x="356756" y="-2173"/>
                  <a:pt x="460728" y="106247"/>
                  <a:pt x="457200" y="228600"/>
                </a:cubicBezTo>
                <a:cubicBezTo>
                  <a:pt x="445791" y="359591"/>
                  <a:pt x="356223" y="454466"/>
                  <a:pt x="228600" y="457200"/>
                </a:cubicBezTo>
                <a:cubicBezTo>
                  <a:pt x="127866" y="459443"/>
                  <a:pt x="-3812" y="381036"/>
                  <a:pt x="0" y="228600"/>
                </a:cubicBezTo>
                <a:close/>
              </a:path>
              <a:path w="457200" h="457200">
                <a:moveTo>
                  <a:pt x="0" y="228600"/>
                </a:moveTo>
                <a:cubicBezTo>
                  <a:pt x="-1737" y="96896"/>
                  <a:pt x="82315" y="1725"/>
                  <a:pt x="228600" y="0"/>
                </a:cubicBezTo>
                <a:cubicBezTo>
                  <a:pt x="351560" y="4587"/>
                  <a:pt x="451890" y="96767"/>
                  <a:pt x="457200" y="228600"/>
                </a:cubicBezTo>
                <a:cubicBezTo>
                  <a:pt x="464530" y="367244"/>
                  <a:pt x="372760" y="462027"/>
                  <a:pt x="228600" y="457200"/>
                </a:cubicBezTo>
                <a:cubicBezTo>
                  <a:pt x="93201" y="463549"/>
                  <a:pt x="-7249" y="348329"/>
                  <a:pt x="0" y="228600"/>
                </a:cubicBezTo>
                <a:close/>
              </a:path>
            </a:pathLst>
          </a:custGeom>
          <a:ln xmlns:a="http://schemas.openxmlformats.org/drawingml/2006/main" w="57150"/>
        </p:spPr>
        <p:style>
          <a:lnRef xmlns:a="http://schemas.openxmlformats.org/drawingml/2006/main" idx="2">
            <a:schemeClr val="accent5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5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3</a:t>
            </a:r>
          </a:p>
        </p:txBody>
      </p:sp>
      <p:sp>
        <p:nvSpPr>
          <p:cNvPr id="33" name="Flowchart: Connector 32">
            <a:extLst xmlns:a="http://schemas.openxmlformats.org/drawingml/2006/main">
              <a:ext uri="{FF2B5EF4-FFF2-40B4-BE49-F238E27FC236}">
                <a16:creationId xmlns:a16="http://schemas.microsoft.com/office/drawing/2014/main" id="{FC159739-3DF5-1A3C-C129-3C2DFD8BC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6866" y="4534517"/>
            <a:ext cx="457200" cy="457200"/>
          </a:xfrm>
          <a:custGeom xmlns:a="http://schemas.openxmlformats.org/drawingml/2006/main">
            <a:gdLst>
              <a:gd name="connsiteX0" fmla="*/ 0 w 457200"/>
              <a:gd name="connsiteY0" fmla="*/ 228600 h 457200"/>
              <a:gd name="connsiteX1" fmla="*/ 228600 w 457200"/>
              <a:gd name="connsiteY1" fmla="*/ 0 h 457200"/>
              <a:gd name="connsiteX2" fmla="*/ 457200 w 457200"/>
              <a:gd name="connsiteY2" fmla="*/ 228600 h 457200"/>
              <a:gd name="connsiteX3" fmla="*/ 228600 w 457200"/>
              <a:gd name="connsiteY3" fmla="*/ 457200 h 457200"/>
              <a:gd name="connsiteX4" fmla="*/ 0 w 457200"/>
              <a:gd name="connsiteY4" fmla="*/ 228600 h 457200"/>
            </a:gdLst>
            <a:rect l="l" t="t" r="r" b="b"/>
            <a:pathLst>
              <a:path w="457200" h="457200">
                <a:moveTo>
                  <a:pt x="0" y="228600"/>
                </a:moveTo>
                <a:cubicBezTo>
                  <a:pt x="-6286" y="94269"/>
                  <a:pt x="85347" y="-15228"/>
                  <a:pt x="228600" y="0"/>
                </a:cubicBezTo>
                <a:cubicBezTo>
                  <a:pt x="356756" y="-2173"/>
                  <a:pt x="460728" y="106247"/>
                  <a:pt x="457200" y="228600"/>
                </a:cubicBezTo>
                <a:cubicBezTo>
                  <a:pt x="445791" y="359591"/>
                  <a:pt x="356223" y="454466"/>
                  <a:pt x="228600" y="457200"/>
                </a:cubicBezTo>
                <a:cubicBezTo>
                  <a:pt x="127866" y="459443"/>
                  <a:pt x="-3812" y="381036"/>
                  <a:pt x="0" y="228600"/>
                </a:cubicBezTo>
                <a:close/>
              </a:path>
              <a:path w="457200" h="457200">
                <a:moveTo>
                  <a:pt x="0" y="228600"/>
                </a:moveTo>
                <a:cubicBezTo>
                  <a:pt x="-1737" y="96896"/>
                  <a:pt x="82315" y="1725"/>
                  <a:pt x="228600" y="0"/>
                </a:cubicBezTo>
                <a:cubicBezTo>
                  <a:pt x="351560" y="4587"/>
                  <a:pt x="451890" y="96767"/>
                  <a:pt x="457200" y="228600"/>
                </a:cubicBezTo>
                <a:cubicBezTo>
                  <a:pt x="464530" y="367244"/>
                  <a:pt x="372760" y="462027"/>
                  <a:pt x="228600" y="457200"/>
                </a:cubicBezTo>
                <a:cubicBezTo>
                  <a:pt x="93201" y="463549"/>
                  <a:pt x="-7249" y="348329"/>
                  <a:pt x="0" y="228600"/>
                </a:cubicBezTo>
                <a:close/>
              </a:path>
            </a:pathLst>
          </a:custGeom>
          <a:ln xmlns:a="http://schemas.openxmlformats.org/drawingml/2006/main" w="57150"/>
        </p:spPr>
        <p:style>
          <a:lnRef xmlns:a="http://schemas.openxmlformats.org/drawingml/2006/main" idx="2">
            <a:schemeClr val="accent5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5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4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779DC3C3-FBE7-E9E9-0482-A68A5BA47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427" y="2139723"/>
            <a:ext cx="2333625" cy="369332"/>
          </a:xfrm>
          <a:custGeom xmlns:a="http://schemas.openxmlformats.org/drawingml/2006/main">
            <a:gdLst>
              <a:gd name="connsiteX0" fmla="*/ 0 w 2333625"/>
              <a:gd name="connsiteY0" fmla="*/ 0 h 369332"/>
              <a:gd name="connsiteX1" fmla="*/ 583406 w 2333625"/>
              <a:gd name="connsiteY1" fmla="*/ 0 h 369332"/>
              <a:gd name="connsiteX2" fmla="*/ 1213485 w 2333625"/>
              <a:gd name="connsiteY2" fmla="*/ 0 h 369332"/>
              <a:gd name="connsiteX3" fmla="*/ 1773555 w 2333625"/>
              <a:gd name="connsiteY3" fmla="*/ 0 h 369332"/>
              <a:gd name="connsiteX4" fmla="*/ 2333625 w 2333625"/>
              <a:gd name="connsiteY4" fmla="*/ 0 h 369332"/>
              <a:gd name="connsiteX5" fmla="*/ 2333625 w 2333625"/>
              <a:gd name="connsiteY5" fmla="*/ 369332 h 369332"/>
              <a:gd name="connsiteX6" fmla="*/ 1703546 w 2333625"/>
              <a:gd name="connsiteY6" fmla="*/ 369332 h 369332"/>
              <a:gd name="connsiteX7" fmla="*/ 1143476 w 2333625"/>
              <a:gd name="connsiteY7" fmla="*/ 369332 h 369332"/>
              <a:gd name="connsiteX8" fmla="*/ 583406 w 2333625"/>
              <a:gd name="connsiteY8" fmla="*/ 369332 h 369332"/>
              <a:gd name="connsiteX9" fmla="*/ 0 w 2333625"/>
              <a:gd name="connsiteY9" fmla="*/ 369332 h 369332"/>
              <a:gd name="connsiteX10" fmla="*/ 0 w 2333625"/>
              <a:gd name="connsiteY10" fmla="*/ 0 h 369332"/>
            </a:gdLst>
            <a:rect l="l" t="t" r="r" b="b"/>
            <a:pathLst>
              <a:path w="2333625" h="369332">
                <a:moveTo>
                  <a:pt x="0" y="0"/>
                </a:moveTo>
                <a:cubicBezTo>
                  <a:pt x="245286" y="5736"/>
                  <a:pt x="297030" y="11623"/>
                  <a:pt x="583406" y="0"/>
                </a:cubicBezTo>
                <a:cubicBezTo>
                  <a:pt x="869782" y="-11623"/>
                  <a:pt x="937660" y="16695"/>
                  <a:pt x="1213485" y="0"/>
                </a:cubicBezTo>
                <a:cubicBezTo>
                  <a:pt x="1489310" y="-16695"/>
                  <a:pt x="1542847" y="20924"/>
                  <a:pt x="1773555" y="0"/>
                </a:cubicBezTo>
                <a:cubicBezTo>
                  <a:pt x="2004263" y="-20924"/>
                  <a:pt x="2182579" y="-21382"/>
                  <a:pt x="2333625" y="0"/>
                </a:cubicBezTo>
                <a:cubicBezTo>
                  <a:pt x="2337252" y="75109"/>
                  <a:pt x="2349962" y="234559"/>
                  <a:pt x="2333625" y="369332"/>
                </a:cubicBezTo>
                <a:cubicBezTo>
                  <a:pt x="2069355" y="359916"/>
                  <a:pt x="1935929" y="394132"/>
                  <a:pt x="1703546" y="369332"/>
                </a:cubicBezTo>
                <a:cubicBezTo>
                  <a:pt x="1471163" y="344532"/>
                  <a:pt x="1329274" y="365822"/>
                  <a:pt x="1143476" y="369332"/>
                </a:cubicBezTo>
                <a:cubicBezTo>
                  <a:pt x="957678" y="372843"/>
                  <a:pt x="831305" y="374022"/>
                  <a:pt x="583406" y="369332"/>
                </a:cubicBezTo>
                <a:cubicBezTo>
                  <a:pt x="335507" y="364643"/>
                  <a:pt x="272252" y="350793"/>
                  <a:pt x="0" y="369332"/>
                </a:cubicBezTo>
                <a:cubicBezTo>
                  <a:pt x="-10156" y="282015"/>
                  <a:pt x="15390" y="87716"/>
                  <a:pt x="0" y="0"/>
                </a:cubicBezTo>
                <a:close/>
              </a:path>
              <a:path w="2333625" h="369332">
                <a:moveTo>
                  <a:pt x="0" y="0"/>
                </a:moveTo>
                <a:cubicBezTo>
                  <a:pt x="239755" y="-8249"/>
                  <a:pt x="342871" y="-19915"/>
                  <a:pt x="536734" y="0"/>
                </a:cubicBezTo>
                <a:cubicBezTo>
                  <a:pt x="730597" y="19915"/>
                  <a:pt x="840094" y="22340"/>
                  <a:pt x="1096804" y="0"/>
                </a:cubicBezTo>
                <a:cubicBezTo>
                  <a:pt x="1353514" y="-22340"/>
                  <a:pt x="1497339" y="11109"/>
                  <a:pt x="1633538" y="0"/>
                </a:cubicBezTo>
                <a:cubicBezTo>
                  <a:pt x="1769737" y="-11109"/>
                  <a:pt x="2174563" y="20709"/>
                  <a:pt x="2333625" y="0"/>
                </a:cubicBezTo>
                <a:cubicBezTo>
                  <a:pt x="2329907" y="138875"/>
                  <a:pt x="2321892" y="201024"/>
                  <a:pt x="2333625" y="369332"/>
                </a:cubicBezTo>
                <a:cubicBezTo>
                  <a:pt x="2156139" y="341013"/>
                  <a:pt x="2037090" y="345370"/>
                  <a:pt x="1750219" y="369332"/>
                </a:cubicBezTo>
                <a:cubicBezTo>
                  <a:pt x="1463348" y="393294"/>
                  <a:pt x="1400953" y="368246"/>
                  <a:pt x="1213485" y="369332"/>
                </a:cubicBezTo>
                <a:cubicBezTo>
                  <a:pt x="1026017" y="370418"/>
                  <a:pt x="909812" y="382789"/>
                  <a:pt x="676751" y="369332"/>
                </a:cubicBezTo>
                <a:cubicBezTo>
                  <a:pt x="443690" y="355875"/>
                  <a:pt x="279106" y="335772"/>
                  <a:pt x="0" y="369332"/>
                </a:cubicBezTo>
                <a:cubicBezTo>
                  <a:pt x="-6712" y="232751"/>
                  <a:pt x="-840" y="78663"/>
                  <a:pt x="0" y="0"/>
                </a:cubicBezTo>
                <a:close/>
              </a:path>
            </a:pathLst>
          </a:custGeom>
          <a:ln xmlns:a="http://schemas.openxmlformats.org/drawingml/2006/main" w="28575"/>
        </p:spPr>
        <p:style>
          <a:lnRef xmlns:a="http://schemas.openxmlformats.org/drawingml/2006/main" idx="2">
            <a:schemeClr val="accent5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5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rot="0" spcFirstLastPara="0" vert="horz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Tokenization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6716EF06-87BC-A8BB-B7A9-6BBF50CF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426" y="2956151"/>
            <a:ext cx="2333625" cy="369332"/>
          </a:xfrm>
          <a:custGeom xmlns:a="http://schemas.openxmlformats.org/drawingml/2006/main">
            <a:gdLst>
              <a:gd name="connsiteX0" fmla="*/ 0 w 2333625"/>
              <a:gd name="connsiteY0" fmla="*/ 0 h 369332"/>
              <a:gd name="connsiteX1" fmla="*/ 583406 w 2333625"/>
              <a:gd name="connsiteY1" fmla="*/ 0 h 369332"/>
              <a:gd name="connsiteX2" fmla="*/ 1213485 w 2333625"/>
              <a:gd name="connsiteY2" fmla="*/ 0 h 369332"/>
              <a:gd name="connsiteX3" fmla="*/ 1773555 w 2333625"/>
              <a:gd name="connsiteY3" fmla="*/ 0 h 369332"/>
              <a:gd name="connsiteX4" fmla="*/ 2333625 w 2333625"/>
              <a:gd name="connsiteY4" fmla="*/ 0 h 369332"/>
              <a:gd name="connsiteX5" fmla="*/ 2333625 w 2333625"/>
              <a:gd name="connsiteY5" fmla="*/ 369332 h 369332"/>
              <a:gd name="connsiteX6" fmla="*/ 1703546 w 2333625"/>
              <a:gd name="connsiteY6" fmla="*/ 369332 h 369332"/>
              <a:gd name="connsiteX7" fmla="*/ 1143476 w 2333625"/>
              <a:gd name="connsiteY7" fmla="*/ 369332 h 369332"/>
              <a:gd name="connsiteX8" fmla="*/ 583406 w 2333625"/>
              <a:gd name="connsiteY8" fmla="*/ 369332 h 369332"/>
              <a:gd name="connsiteX9" fmla="*/ 0 w 2333625"/>
              <a:gd name="connsiteY9" fmla="*/ 369332 h 369332"/>
              <a:gd name="connsiteX10" fmla="*/ 0 w 2333625"/>
              <a:gd name="connsiteY10" fmla="*/ 0 h 369332"/>
            </a:gdLst>
            <a:rect l="l" t="t" r="r" b="b"/>
            <a:pathLst>
              <a:path w="2333625" h="369332">
                <a:moveTo>
                  <a:pt x="0" y="0"/>
                </a:moveTo>
                <a:cubicBezTo>
                  <a:pt x="245286" y="5736"/>
                  <a:pt x="297030" y="11623"/>
                  <a:pt x="583406" y="0"/>
                </a:cubicBezTo>
                <a:cubicBezTo>
                  <a:pt x="869782" y="-11623"/>
                  <a:pt x="937660" y="16695"/>
                  <a:pt x="1213485" y="0"/>
                </a:cubicBezTo>
                <a:cubicBezTo>
                  <a:pt x="1489310" y="-16695"/>
                  <a:pt x="1542847" y="20924"/>
                  <a:pt x="1773555" y="0"/>
                </a:cubicBezTo>
                <a:cubicBezTo>
                  <a:pt x="2004263" y="-20924"/>
                  <a:pt x="2182579" y="-21382"/>
                  <a:pt x="2333625" y="0"/>
                </a:cubicBezTo>
                <a:cubicBezTo>
                  <a:pt x="2337252" y="75109"/>
                  <a:pt x="2349962" y="234559"/>
                  <a:pt x="2333625" y="369332"/>
                </a:cubicBezTo>
                <a:cubicBezTo>
                  <a:pt x="2069355" y="359916"/>
                  <a:pt x="1935929" y="394132"/>
                  <a:pt x="1703546" y="369332"/>
                </a:cubicBezTo>
                <a:cubicBezTo>
                  <a:pt x="1471163" y="344532"/>
                  <a:pt x="1329274" y="365822"/>
                  <a:pt x="1143476" y="369332"/>
                </a:cubicBezTo>
                <a:cubicBezTo>
                  <a:pt x="957678" y="372843"/>
                  <a:pt x="831305" y="374022"/>
                  <a:pt x="583406" y="369332"/>
                </a:cubicBezTo>
                <a:cubicBezTo>
                  <a:pt x="335507" y="364643"/>
                  <a:pt x="272252" y="350793"/>
                  <a:pt x="0" y="369332"/>
                </a:cubicBezTo>
                <a:cubicBezTo>
                  <a:pt x="-10156" y="282015"/>
                  <a:pt x="15390" y="87716"/>
                  <a:pt x="0" y="0"/>
                </a:cubicBezTo>
                <a:close/>
              </a:path>
              <a:path w="2333625" h="369332">
                <a:moveTo>
                  <a:pt x="0" y="0"/>
                </a:moveTo>
                <a:cubicBezTo>
                  <a:pt x="239755" y="-8249"/>
                  <a:pt x="342871" y="-19915"/>
                  <a:pt x="536734" y="0"/>
                </a:cubicBezTo>
                <a:cubicBezTo>
                  <a:pt x="730597" y="19915"/>
                  <a:pt x="840094" y="22340"/>
                  <a:pt x="1096804" y="0"/>
                </a:cubicBezTo>
                <a:cubicBezTo>
                  <a:pt x="1353514" y="-22340"/>
                  <a:pt x="1497339" y="11109"/>
                  <a:pt x="1633538" y="0"/>
                </a:cubicBezTo>
                <a:cubicBezTo>
                  <a:pt x="1769737" y="-11109"/>
                  <a:pt x="2174563" y="20709"/>
                  <a:pt x="2333625" y="0"/>
                </a:cubicBezTo>
                <a:cubicBezTo>
                  <a:pt x="2329907" y="138875"/>
                  <a:pt x="2321892" y="201024"/>
                  <a:pt x="2333625" y="369332"/>
                </a:cubicBezTo>
                <a:cubicBezTo>
                  <a:pt x="2156139" y="341013"/>
                  <a:pt x="2037090" y="345370"/>
                  <a:pt x="1750219" y="369332"/>
                </a:cubicBezTo>
                <a:cubicBezTo>
                  <a:pt x="1463348" y="393294"/>
                  <a:pt x="1400953" y="368246"/>
                  <a:pt x="1213485" y="369332"/>
                </a:cubicBezTo>
                <a:cubicBezTo>
                  <a:pt x="1026017" y="370418"/>
                  <a:pt x="909812" y="382789"/>
                  <a:pt x="676751" y="369332"/>
                </a:cubicBezTo>
                <a:cubicBezTo>
                  <a:pt x="443690" y="355875"/>
                  <a:pt x="279106" y="335772"/>
                  <a:pt x="0" y="369332"/>
                </a:cubicBezTo>
                <a:cubicBezTo>
                  <a:pt x="-6712" y="232751"/>
                  <a:pt x="-840" y="78663"/>
                  <a:pt x="0" y="0"/>
                </a:cubicBezTo>
                <a:close/>
              </a:path>
            </a:pathLst>
          </a:custGeom>
          <a:ln xmlns:a="http://schemas.openxmlformats.org/drawingml/2006/main" w="28575"/>
        </p:spPr>
        <p:style>
          <a:lnRef xmlns:a="http://schemas.openxmlformats.org/drawingml/2006/main" idx="2">
            <a:schemeClr val="accent5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5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rot="0" spcFirstLastPara="0" vert="horz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Embeddings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A2CC3B54-57C0-1BE6-8F58-B03F2D0FB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426" y="3772580"/>
            <a:ext cx="2333625" cy="369332"/>
          </a:xfrm>
          <a:custGeom xmlns:a="http://schemas.openxmlformats.org/drawingml/2006/main">
            <a:gdLst>
              <a:gd name="connsiteX0" fmla="*/ 0 w 2333625"/>
              <a:gd name="connsiteY0" fmla="*/ 0 h 369332"/>
              <a:gd name="connsiteX1" fmla="*/ 583406 w 2333625"/>
              <a:gd name="connsiteY1" fmla="*/ 0 h 369332"/>
              <a:gd name="connsiteX2" fmla="*/ 1213485 w 2333625"/>
              <a:gd name="connsiteY2" fmla="*/ 0 h 369332"/>
              <a:gd name="connsiteX3" fmla="*/ 1773555 w 2333625"/>
              <a:gd name="connsiteY3" fmla="*/ 0 h 369332"/>
              <a:gd name="connsiteX4" fmla="*/ 2333625 w 2333625"/>
              <a:gd name="connsiteY4" fmla="*/ 0 h 369332"/>
              <a:gd name="connsiteX5" fmla="*/ 2333625 w 2333625"/>
              <a:gd name="connsiteY5" fmla="*/ 369332 h 369332"/>
              <a:gd name="connsiteX6" fmla="*/ 1703546 w 2333625"/>
              <a:gd name="connsiteY6" fmla="*/ 369332 h 369332"/>
              <a:gd name="connsiteX7" fmla="*/ 1143476 w 2333625"/>
              <a:gd name="connsiteY7" fmla="*/ 369332 h 369332"/>
              <a:gd name="connsiteX8" fmla="*/ 583406 w 2333625"/>
              <a:gd name="connsiteY8" fmla="*/ 369332 h 369332"/>
              <a:gd name="connsiteX9" fmla="*/ 0 w 2333625"/>
              <a:gd name="connsiteY9" fmla="*/ 369332 h 369332"/>
              <a:gd name="connsiteX10" fmla="*/ 0 w 2333625"/>
              <a:gd name="connsiteY10" fmla="*/ 0 h 369332"/>
            </a:gdLst>
            <a:rect l="l" t="t" r="r" b="b"/>
            <a:pathLst>
              <a:path w="2333625" h="369332">
                <a:moveTo>
                  <a:pt x="0" y="0"/>
                </a:moveTo>
                <a:cubicBezTo>
                  <a:pt x="245286" y="5736"/>
                  <a:pt x="297030" y="11623"/>
                  <a:pt x="583406" y="0"/>
                </a:cubicBezTo>
                <a:cubicBezTo>
                  <a:pt x="869782" y="-11623"/>
                  <a:pt x="937660" y="16695"/>
                  <a:pt x="1213485" y="0"/>
                </a:cubicBezTo>
                <a:cubicBezTo>
                  <a:pt x="1489310" y="-16695"/>
                  <a:pt x="1542847" y="20924"/>
                  <a:pt x="1773555" y="0"/>
                </a:cubicBezTo>
                <a:cubicBezTo>
                  <a:pt x="2004263" y="-20924"/>
                  <a:pt x="2182579" y="-21382"/>
                  <a:pt x="2333625" y="0"/>
                </a:cubicBezTo>
                <a:cubicBezTo>
                  <a:pt x="2337252" y="75109"/>
                  <a:pt x="2349962" y="234559"/>
                  <a:pt x="2333625" y="369332"/>
                </a:cubicBezTo>
                <a:cubicBezTo>
                  <a:pt x="2069355" y="359916"/>
                  <a:pt x="1935929" y="394132"/>
                  <a:pt x="1703546" y="369332"/>
                </a:cubicBezTo>
                <a:cubicBezTo>
                  <a:pt x="1471163" y="344532"/>
                  <a:pt x="1329274" y="365822"/>
                  <a:pt x="1143476" y="369332"/>
                </a:cubicBezTo>
                <a:cubicBezTo>
                  <a:pt x="957678" y="372843"/>
                  <a:pt x="831305" y="374022"/>
                  <a:pt x="583406" y="369332"/>
                </a:cubicBezTo>
                <a:cubicBezTo>
                  <a:pt x="335507" y="364643"/>
                  <a:pt x="272252" y="350793"/>
                  <a:pt x="0" y="369332"/>
                </a:cubicBezTo>
                <a:cubicBezTo>
                  <a:pt x="-10156" y="282015"/>
                  <a:pt x="15390" y="87716"/>
                  <a:pt x="0" y="0"/>
                </a:cubicBezTo>
                <a:close/>
              </a:path>
              <a:path w="2333625" h="369332">
                <a:moveTo>
                  <a:pt x="0" y="0"/>
                </a:moveTo>
                <a:cubicBezTo>
                  <a:pt x="239755" y="-8249"/>
                  <a:pt x="342871" y="-19915"/>
                  <a:pt x="536734" y="0"/>
                </a:cubicBezTo>
                <a:cubicBezTo>
                  <a:pt x="730597" y="19915"/>
                  <a:pt x="840094" y="22340"/>
                  <a:pt x="1096804" y="0"/>
                </a:cubicBezTo>
                <a:cubicBezTo>
                  <a:pt x="1353514" y="-22340"/>
                  <a:pt x="1497339" y="11109"/>
                  <a:pt x="1633538" y="0"/>
                </a:cubicBezTo>
                <a:cubicBezTo>
                  <a:pt x="1769737" y="-11109"/>
                  <a:pt x="2174563" y="20709"/>
                  <a:pt x="2333625" y="0"/>
                </a:cubicBezTo>
                <a:cubicBezTo>
                  <a:pt x="2329907" y="138875"/>
                  <a:pt x="2321892" y="201024"/>
                  <a:pt x="2333625" y="369332"/>
                </a:cubicBezTo>
                <a:cubicBezTo>
                  <a:pt x="2156139" y="341013"/>
                  <a:pt x="2037090" y="345370"/>
                  <a:pt x="1750219" y="369332"/>
                </a:cubicBezTo>
                <a:cubicBezTo>
                  <a:pt x="1463348" y="393294"/>
                  <a:pt x="1400953" y="368246"/>
                  <a:pt x="1213485" y="369332"/>
                </a:cubicBezTo>
                <a:cubicBezTo>
                  <a:pt x="1026017" y="370418"/>
                  <a:pt x="909812" y="382789"/>
                  <a:pt x="676751" y="369332"/>
                </a:cubicBezTo>
                <a:cubicBezTo>
                  <a:pt x="443690" y="355875"/>
                  <a:pt x="279106" y="335772"/>
                  <a:pt x="0" y="369332"/>
                </a:cubicBezTo>
                <a:cubicBezTo>
                  <a:pt x="-6712" y="232751"/>
                  <a:pt x="-840" y="78663"/>
                  <a:pt x="0" y="0"/>
                </a:cubicBezTo>
                <a:close/>
              </a:path>
            </a:pathLst>
          </a:custGeom>
          <a:ln xmlns:a="http://schemas.openxmlformats.org/drawingml/2006/main" w="28575"/>
        </p:spPr>
        <p:style>
          <a:lnRef xmlns:a="http://schemas.openxmlformats.org/drawingml/2006/main" idx="2">
            <a:schemeClr val="accent5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5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rot="0" spcFirstLastPara="0" vert="horz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Attention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0A83DA7D-9981-194C-5CD0-443FA0BD8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426" y="4568598"/>
            <a:ext cx="2333625" cy="369332"/>
          </a:xfrm>
          <a:custGeom xmlns:a="http://schemas.openxmlformats.org/drawingml/2006/main">
            <a:gdLst>
              <a:gd name="connsiteX0" fmla="*/ 0 w 2333625"/>
              <a:gd name="connsiteY0" fmla="*/ 0 h 369332"/>
              <a:gd name="connsiteX1" fmla="*/ 583406 w 2333625"/>
              <a:gd name="connsiteY1" fmla="*/ 0 h 369332"/>
              <a:gd name="connsiteX2" fmla="*/ 1213485 w 2333625"/>
              <a:gd name="connsiteY2" fmla="*/ 0 h 369332"/>
              <a:gd name="connsiteX3" fmla="*/ 1773555 w 2333625"/>
              <a:gd name="connsiteY3" fmla="*/ 0 h 369332"/>
              <a:gd name="connsiteX4" fmla="*/ 2333625 w 2333625"/>
              <a:gd name="connsiteY4" fmla="*/ 0 h 369332"/>
              <a:gd name="connsiteX5" fmla="*/ 2333625 w 2333625"/>
              <a:gd name="connsiteY5" fmla="*/ 369332 h 369332"/>
              <a:gd name="connsiteX6" fmla="*/ 1703546 w 2333625"/>
              <a:gd name="connsiteY6" fmla="*/ 369332 h 369332"/>
              <a:gd name="connsiteX7" fmla="*/ 1143476 w 2333625"/>
              <a:gd name="connsiteY7" fmla="*/ 369332 h 369332"/>
              <a:gd name="connsiteX8" fmla="*/ 583406 w 2333625"/>
              <a:gd name="connsiteY8" fmla="*/ 369332 h 369332"/>
              <a:gd name="connsiteX9" fmla="*/ 0 w 2333625"/>
              <a:gd name="connsiteY9" fmla="*/ 369332 h 369332"/>
              <a:gd name="connsiteX10" fmla="*/ 0 w 2333625"/>
              <a:gd name="connsiteY10" fmla="*/ 0 h 369332"/>
            </a:gdLst>
            <a:rect l="l" t="t" r="r" b="b"/>
            <a:pathLst>
              <a:path w="2333625" h="369332">
                <a:moveTo>
                  <a:pt x="0" y="0"/>
                </a:moveTo>
                <a:cubicBezTo>
                  <a:pt x="245286" y="5736"/>
                  <a:pt x="297030" y="11623"/>
                  <a:pt x="583406" y="0"/>
                </a:cubicBezTo>
                <a:cubicBezTo>
                  <a:pt x="869782" y="-11623"/>
                  <a:pt x="937660" y="16695"/>
                  <a:pt x="1213485" y="0"/>
                </a:cubicBezTo>
                <a:cubicBezTo>
                  <a:pt x="1489310" y="-16695"/>
                  <a:pt x="1542847" y="20924"/>
                  <a:pt x="1773555" y="0"/>
                </a:cubicBezTo>
                <a:cubicBezTo>
                  <a:pt x="2004263" y="-20924"/>
                  <a:pt x="2182579" y="-21382"/>
                  <a:pt x="2333625" y="0"/>
                </a:cubicBezTo>
                <a:cubicBezTo>
                  <a:pt x="2337252" y="75109"/>
                  <a:pt x="2349962" y="234559"/>
                  <a:pt x="2333625" y="369332"/>
                </a:cubicBezTo>
                <a:cubicBezTo>
                  <a:pt x="2069355" y="359916"/>
                  <a:pt x="1935929" y="394132"/>
                  <a:pt x="1703546" y="369332"/>
                </a:cubicBezTo>
                <a:cubicBezTo>
                  <a:pt x="1471163" y="344532"/>
                  <a:pt x="1329274" y="365822"/>
                  <a:pt x="1143476" y="369332"/>
                </a:cubicBezTo>
                <a:cubicBezTo>
                  <a:pt x="957678" y="372843"/>
                  <a:pt x="831305" y="374022"/>
                  <a:pt x="583406" y="369332"/>
                </a:cubicBezTo>
                <a:cubicBezTo>
                  <a:pt x="335507" y="364643"/>
                  <a:pt x="272252" y="350793"/>
                  <a:pt x="0" y="369332"/>
                </a:cubicBezTo>
                <a:cubicBezTo>
                  <a:pt x="-10156" y="282015"/>
                  <a:pt x="15390" y="87716"/>
                  <a:pt x="0" y="0"/>
                </a:cubicBezTo>
                <a:close/>
              </a:path>
              <a:path w="2333625" h="369332">
                <a:moveTo>
                  <a:pt x="0" y="0"/>
                </a:moveTo>
                <a:cubicBezTo>
                  <a:pt x="239755" y="-8249"/>
                  <a:pt x="342871" y="-19915"/>
                  <a:pt x="536734" y="0"/>
                </a:cubicBezTo>
                <a:cubicBezTo>
                  <a:pt x="730597" y="19915"/>
                  <a:pt x="840094" y="22340"/>
                  <a:pt x="1096804" y="0"/>
                </a:cubicBezTo>
                <a:cubicBezTo>
                  <a:pt x="1353514" y="-22340"/>
                  <a:pt x="1497339" y="11109"/>
                  <a:pt x="1633538" y="0"/>
                </a:cubicBezTo>
                <a:cubicBezTo>
                  <a:pt x="1769737" y="-11109"/>
                  <a:pt x="2174563" y="20709"/>
                  <a:pt x="2333625" y="0"/>
                </a:cubicBezTo>
                <a:cubicBezTo>
                  <a:pt x="2329907" y="138875"/>
                  <a:pt x="2321892" y="201024"/>
                  <a:pt x="2333625" y="369332"/>
                </a:cubicBezTo>
                <a:cubicBezTo>
                  <a:pt x="2156139" y="341013"/>
                  <a:pt x="2037090" y="345370"/>
                  <a:pt x="1750219" y="369332"/>
                </a:cubicBezTo>
                <a:cubicBezTo>
                  <a:pt x="1463348" y="393294"/>
                  <a:pt x="1400953" y="368246"/>
                  <a:pt x="1213485" y="369332"/>
                </a:cubicBezTo>
                <a:cubicBezTo>
                  <a:pt x="1026017" y="370418"/>
                  <a:pt x="909812" y="382789"/>
                  <a:pt x="676751" y="369332"/>
                </a:cubicBezTo>
                <a:cubicBezTo>
                  <a:pt x="443690" y="355875"/>
                  <a:pt x="279106" y="335772"/>
                  <a:pt x="0" y="369332"/>
                </a:cubicBezTo>
                <a:cubicBezTo>
                  <a:pt x="-6712" y="232751"/>
                  <a:pt x="-840" y="78663"/>
                  <a:pt x="0" y="0"/>
                </a:cubicBezTo>
                <a:close/>
              </a:path>
            </a:pathLst>
          </a:custGeom>
          <a:ln xmlns:a="http://schemas.openxmlformats.org/drawingml/2006/main" w="28575"/>
        </p:spPr>
        <p:style>
          <a:lnRef xmlns:a="http://schemas.openxmlformats.org/drawingml/2006/main" idx="2">
            <a:schemeClr val="accent5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5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rot="0" spcFirstLastPara="0" vert="horz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Sampling</a:t>
            </a:r>
          </a:p>
        </p:txBody>
      </p:sp>
    </p:spTree>
    <p:extLst>
      <p:ext uri="{BB962C8B-B14F-4D97-AF65-F5344CB8AC3E}">
        <p14:creationId xmlns:p14="http://schemas.microsoft.com/office/powerpoint/2010/main" val="380211730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649b5bd39a41c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03917" y="1396915"/>
            <a:ext cx="3797300" cy="569595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0D6147D-3AF1-B627-DC49-BB083443A8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How can we augment them?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83C43F5-34A7-8640-01DC-E67800E0C47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vert="horz" lIns="91440" tIns="45720" rIns="91440" bIns="45720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Session states</a:t>
            </a:r>
          </a:p>
          <a:p xmlns:a="http://schemas.openxmlformats.org/drawingml/2006/main">
            <a:pPr marL="0" indent="0">
              <a:buNone/>
            </a:pPr>
            <a:r>
              <a:t>RAG</a:t>
            </a:r>
          </a:p>
          <a:p xmlns:a="http://schemas.openxmlformats.org/drawingml/2006/main">
            <a:pPr marL="0" indent="0">
              <a:buNone/>
            </a:pPr>
            <a:r>
              <a:t>Prompting</a:t>
            </a:r>
          </a:p>
          <a:p xmlns:a="http://schemas.openxmlformats.org/drawingml/2006/main">
            <a:pPr marL="0" indent="0">
              <a:buNone/>
            </a:pPr>
            <a:r>
              <a:t>Tools</a:t>
            </a:r>
          </a:p>
          <a:p xmlns:a="http://schemas.openxmlformats.org/drawingml/2006/main">
            <a:pPr marL="0" indent="0">
              <a:buNone/>
            </a:pPr>
            <a:r>
              <a:t>Finetuning</a:t>
            </a:r>
          </a:p>
        </p:txBody>
      </p:sp>
    </p:spTree>
    <p:extLst>
      <p:ext uri="{BB962C8B-B14F-4D97-AF65-F5344CB8AC3E}">
        <p14:creationId xmlns:p14="http://schemas.microsoft.com/office/powerpoint/2010/main" val="57058933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6041BF3-F107-F9B0-5EDB-4373BB4196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Some definitions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ACC3A7C-33D4-2896-0AC9-9DA08F6ED35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vert="horz" lIns="91440" tIns="45720" rIns="91440" bIns="45720" anchor="t">
            <a:normAutofit fontScale="62500" lnSpcReduction="2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b="1">
                <a:solidFill>
                  <a:srgbClr val="7030A0"/>
                </a:solidFill>
              </a:rPr>
              <a:t>Model </a:t>
            </a:r>
            <a:r>
              <a:t>The thing you train and use to generate text.</a:t>
            </a:r>
          </a:p>
          <a:p xmlns:a="http://schemas.openxmlformats.org/drawingml/2006/main">
            <a:pPr marL="0" indent="0">
              <a:buNone/>
            </a:pPr>
            <a:r>
              <a:rPr b="1">
                <a:solidFill>
                  <a:srgbClr val="7030A0"/>
                </a:solidFill>
              </a:rPr>
              <a:t>Architecture </a:t>
            </a:r>
            <a:r>
              <a:t>The high-level structure of the model.</a:t>
            </a:r>
          </a:p>
          <a:p xmlns:a="http://schemas.openxmlformats.org/drawingml/2006/main">
            <a:pPr marL="0" indent="0">
              <a:buNone/>
            </a:pPr>
            <a:r>
              <a:rPr b="1">
                <a:solidFill>
                  <a:srgbClr val="7030A0"/>
                </a:solidFill>
              </a:rPr>
              <a:t>Parameters </a:t>
            </a:r>
            <a:r>
              <a:t>(or weights) The internal knobs and dials that get altered during the course of training.</a:t>
            </a:r>
          </a:p>
          <a:p xmlns:a="http://schemas.openxmlformats.org/drawingml/2006/main">
            <a:pPr marL="0" indent="0">
              <a:buNone/>
            </a:pPr>
            <a:r>
              <a:rPr b="1">
                <a:solidFill>
                  <a:srgbClr val="7030A0"/>
                </a:solidFill>
              </a:rPr>
              <a:t>Context </a:t>
            </a:r>
            <a:r>
              <a:t>The input to the LLM.</a:t>
            </a:r>
          </a:p>
          <a:p xmlns:a="http://schemas.openxmlformats.org/drawingml/2006/main">
            <a:pPr marL="0" indent="0">
              <a:buNone/>
            </a:pPr>
            <a:r>
              <a:rPr b="1">
                <a:solidFill>
                  <a:srgbClr val="7030A0"/>
                </a:solidFill>
              </a:rPr>
              <a:t>Embedding </a:t>
            </a:r>
            <a:r>
              <a:t>A high-dimensional representation of text.</a:t>
            </a:r>
          </a:p>
          <a:p xmlns:a="http://schemas.openxmlformats.org/drawingml/2006/main">
            <a:pPr marL="0" indent="0">
              <a:buNone/>
            </a:pPr>
            <a:r>
              <a:rPr b="1">
                <a:solidFill>
                  <a:srgbClr val="7030A0"/>
                </a:solidFill>
              </a:rPr>
              <a:t>Token </a:t>
            </a:r>
            <a:r>
              <a:t>The smallest unit of text fed into a model.</a:t>
            </a:r>
          </a:p>
          <a:p xmlns:a="http://schemas.openxmlformats.org/drawingml/2006/main">
            <a:pPr marL="0" indent="0">
              <a:buNone/>
            </a:pPr>
            <a:r>
              <a:rPr b="1">
                <a:solidFill>
                  <a:srgbClr val="7030A0"/>
                </a:solidFill>
              </a:rPr>
              <a:t>Pretraining </a:t>
            </a:r>
            <a:r>
              <a:t>The first stage of training the LLM, and usually the most expensive.</a:t>
            </a:r>
          </a:p>
          <a:p xmlns:a="http://schemas.openxmlformats.org/drawingml/2006/main">
            <a:pPr marL="0" indent="0">
              <a:buNone/>
            </a:pPr>
            <a:r>
              <a:t> </a:t>
            </a:r>
            <a:r>
              <a:rPr b="1">
                <a:solidFill>
                  <a:srgbClr val="7030A0"/>
                </a:solidFill>
              </a:rPr>
              <a:t>Finetuning </a:t>
            </a:r>
            <a:r>
              <a:t>Training the LLM to do a particular task.</a:t>
            </a:r>
          </a:p>
          <a:p xmlns:a="http://schemas.openxmlformats.org/drawingml/2006/main">
            <a:pPr marL="0" indent="0">
              <a:buNone/>
            </a:pPr>
            <a:r>
              <a:rPr b="1">
                <a:solidFill>
                  <a:srgbClr val="7030A0"/>
                </a:solidFill>
              </a:rPr>
              <a:t>Inference </a:t>
            </a:r>
            <a:r>
              <a:t>The act of calling the model for text generation.</a:t>
            </a:r>
          </a:p>
          <a:p xmlns:a="http://schemas.openxmlformats.org/drawingml/2006/main">
            <a:pPr marL="0" indent="0">
              <a:buNone/>
            </a:pPr>
            <a:r>
              <a:rPr b="1">
                <a:solidFill>
                  <a:srgbClr val="7030A0"/>
                </a:solidFill>
              </a:rPr>
              <a:t>Quantization </a:t>
            </a:r>
            <a:r>
              <a:t>Reducing the size of a model.</a:t>
            </a:r>
          </a:p>
          <a:p xmlns:a="http://schemas.openxmlformats.org/drawingml/2006/main">
            <a:pPr marL="0" indent="0">
              <a:buNone/>
            </a:pPr>
            <a:r>
              <a:rPr b="1">
                <a:solidFill>
                  <a:srgbClr val="7030A0"/>
                </a:solidFill>
              </a:rPr>
              <a:t>Source </a:t>
            </a:r>
            <a:r>
              <a:t>The availability of the model (can be open or closed).</a:t>
            </a:r>
          </a:p>
          <a:p xmlns:a="http://schemas.openxmlformats.org/drawingml/2006/main">
            <a:pPr marL="0" indent="0">
              <a:buNone/>
            </a:pPr>
            <a:r>
              <a:rPr b="1">
                <a:solidFill>
                  <a:srgbClr val="7030A0"/>
                </a:solidFill>
              </a:rPr>
              <a:t>Modality </a:t>
            </a:r>
            <a:r>
              <a:t>Defined by the type of data the model is trained on (e.g. text or images).</a:t>
            </a:r>
          </a:p>
          <a:p xmlns:a="http://schemas.openxmlformats.org/drawingml/2006/main">
            <a:pPr marL="0" indent="0">
              <a:buNone/>
            </a:pPr>
            <a:r>
              <a:rPr b="1">
                <a:solidFill>
                  <a:srgbClr val="7030A0"/>
                </a:solidFill>
              </a:rPr>
              <a:t>API </a:t>
            </a:r>
            <a:r>
              <a:t>(Application Programming Interface) The means by which you can interact with a model.</a:t>
            </a:r>
          </a:p>
        </p:txBody>
      </p:sp>
    </p:spTree>
    <p:extLst>
      <p:ext uri="{BB962C8B-B14F-4D97-AF65-F5344CB8AC3E}">
        <p14:creationId xmlns:p14="http://schemas.microsoft.com/office/powerpoint/2010/main" val="282824340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F8FFBF8-A696-6775-4F1A-763C5095ED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General Purpose AI Model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9593BBD-E291-3768-2FDE-E0BA2F410DF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vert="horz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514350" indent="-514350">
              <a:buAutoNum type="alphaLcPeriod"/>
            </a:pPr>
            <a:r>
              <a:t>The number of parameters of the model;</a:t>
            </a:r>
          </a:p>
          <a:p xmlns:a="http://schemas.openxmlformats.org/drawingml/2006/main">
            <a:pPr marL="514350" indent="-514350">
              <a:buAutoNum type="alphaLcPeriod"/>
            </a:pPr>
            <a:r>
              <a:t>The quality or size of the data set, for example measured through tokens;</a:t>
            </a:r>
          </a:p>
          <a:p xmlns:a="http://schemas.openxmlformats.org/drawingml/2006/main">
            <a:pPr marL="514350" indent="-514350">
              <a:buAutoNum type="alphaLcPeriod"/>
            </a:pPr>
            <a:r>
              <a:t>The amount of computation used for training the model, measured in:</a:t>
            </a:r>
          </a:p>
          <a:p xmlns:a="http://schemas.openxmlformats.org/drawingml/2006/main">
            <a:pPr marL="971550" lvl="1" indent="-514350">
              <a:buFont typeface="Courier New"/>
              <a:buChar char="o"/>
            </a:pPr>
            <a:r>
              <a:t>Floating point ops</a:t>
            </a:r>
          </a:p>
          <a:p xmlns:a="http://schemas.openxmlformats.org/drawingml/2006/main">
            <a:pPr marL="971550" lvl="1" indent="-514350">
              <a:buFont typeface="Courier New"/>
              <a:buChar char="o"/>
            </a:pPr>
            <a:r>
              <a:t>Cost of training</a:t>
            </a:r>
          </a:p>
          <a:p xmlns:a="http://schemas.openxmlformats.org/drawingml/2006/main">
            <a:pPr marL="971550" lvl="1" indent="-514350">
              <a:buFont typeface="Courier New"/>
              <a:buChar char="o"/>
            </a:pPr>
            <a:r>
              <a:t>Training time</a:t>
            </a:r>
          </a:p>
          <a:p xmlns:a="http://schemas.openxmlformats.org/drawingml/2006/main">
            <a:pPr marL="971550" lvl="1" indent="-514350">
              <a:buFont typeface="Courier New"/>
              <a:buChar char="o"/>
            </a:pPr>
            <a:r>
              <a:t>Energy consumption</a:t>
            </a:r>
          </a:p>
          <a:p xmlns:a="http://schemas.openxmlformats.org/drawingml/2006/main"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6038418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41C1BFA-C543-0795-068D-73F38A5EB0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General Purpose AI Model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7E0EA96-25AD-64DE-88A5-B407DAD7727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vert="horz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514350" indent="-514350">
              <a:buAutoNum type="alphaLcPeriod"/>
            </a:pPr>
            <a:r>
              <a:t>The input and output modalities of the model, such as text to text(large language models)</a:t>
            </a:r>
          </a:p>
          <a:p xmlns:a="http://schemas.openxmlformats.org/drawingml/2006/main">
            <a:pPr marL="514350" indent="-514350">
              <a:buAutoNum type="alphaLcPeriod"/>
            </a:pPr>
            <a:r>
              <a:t>Impact:</a:t>
            </a:r>
          </a:p>
          <a:p xmlns:a="http://schemas.openxmlformats.org/drawingml/2006/main">
            <a:pPr marL="971550" lvl="1" indent="-514350">
              <a:buFont typeface="Courier New"/>
              <a:buChar char="o"/>
            </a:pPr>
            <a:r>
              <a:t>Business users</a:t>
            </a:r>
          </a:p>
          <a:p xmlns:a="http://schemas.openxmlformats.org/drawingml/2006/main">
            <a:pPr marL="971550" lvl="1" indent="-514350">
              <a:buFont typeface="Courier New"/>
              <a:buChar char="o"/>
            </a:pPr>
            <a:r>
              <a:t>Registered end-users</a:t>
            </a:r>
          </a:p>
          <a:p xmlns:a="http://schemas.openxmlformats.org/drawingml/2006/main">
            <a:pPr marL="514350" indent="-514350">
              <a:buAutoNum type="alphaLcPeriod"/>
            </a:pPr>
            <a:r>
              <a:t>The benchmarks and evaluations of capabilities of the model</a:t>
            </a:r>
          </a:p>
          <a:p xmlns:a="http://schemas.openxmlformats.org/drawingml/2006/main">
            <a:pPr marL="971550" lvl="1" indent="-514350">
              <a:buFont typeface="Courier New"/>
              <a:buChar char="o"/>
            </a:pPr>
            <a:r>
              <a:t>Tasks without additional training</a:t>
            </a:r>
          </a:p>
          <a:p xmlns:a="http://schemas.openxmlformats.org/drawingml/2006/main">
            <a:pPr marL="971550" lvl="1" indent="-514350">
              <a:buFont typeface="Courier New"/>
              <a:buChar char="o"/>
            </a:pPr>
            <a:r>
              <a:t>Adaptability to distinct tasks</a:t>
            </a:r>
          </a:p>
          <a:p xmlns:a="http://schemas.openxmlformats.org/drawingml/2006/main">
            <a:pPr marL="971550" lvl="1" indent="-514350">
              <a:buFont typeface="Courier New"/>
              <a:buChar char="o"/>
            </a:pPr>
            <a:r>
              <a:t>Autonomy and scalability</a:t>
            </a:r>
          </a:p>
          <a:p xmlns:a="http://schemas.openxmlformats.org/drawingml/2006/main">
            <a:pPr marL="971550" lvl="1" indent="-514350">
              <a:buFont typeface="Courier New"/>
              <a:buChar char="o"/>
            </a:pPr>
            <a:r>
              <a:t>Tool access</a:t>
            </a:r>
            <a:endParaRPr sz="2800"/>
          </a:p>
          <a:p xmlns:a="http://schemas.openxmlformats.org/drawingml/2006/main"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1636954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C2E63CC-2009-9150-9883-7D6A5D7654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 Systems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E3982A0-7BFF-76E6-00A2-2D4A08CAC85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vert="horz" lIns="91440" tIns="45720" rIns="91440" bIns="45720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There is a clear distinction between AI </a:t>
            </a:r>
            <a:r>
              <a:rPr i="1">
                <a:solidFill>
                  <a:srgbClr val="7030A0"/>
                </a:solidFill>
              </a:rPr>
              <a:t>models </a:t>
            </a:r>
            <a:r>
              <a:t>and AI </a:t>
            </a:r>
            <a:r>
              <a:rPr i="1">
                <a:solidFill>
                  <a:srgbClr val="7030A0"/>
                </a:solidFill>
              </a:rPr>
              <a:t>Systems</a:t>
            </a:r>
          </a:p>
          <a:p xmlns:a="http://schemas.openxmlformats.org/drawingml/2006/main">
            <a:pPr marL="0" indent="0">
              <a:buNone/>
            </a:pPr>
            <a:endParaRPr/>
          </a:p>
          <a:p xmlns:a="http://schemas.openxmlformats.org/drawingml/2006/main">
            <a:pPr marL="0" indent="0">
              <a:buNone/>
            </a:pPr>
            <a:r>
              <a:rPr i="1">
                <a:solidFill>
                  <a:srgbClr val="7030A0"/>
                </a:solidFill>
              </a:rPr>
              <a:t>"...AI models require the addition of further components, such as for example a user interface, to become AI systems..."</a:t>
            </a:r>
          </a:p>
          <a:p xmlns:a="http://schemas.openxmlformats.org/drawingml/2006/main"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19520842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BA11F7C-A98A-5154-DCC0-C955628300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Further reading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0BDD31A-73BA-6424-5AC5-D11B0A152AC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vert="horz" lIns="91440" tIns="45720" rIns="91440" bIns="45720" anchor="t">
            <a:normAutofit fontScale="85000" lnSpcReduction="2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Raphaël Millière and Charles Rathkopf, </a:t>
            </a:r>
            <a:r>
              <a:rPr i="1"/>
              <a:t>Anthropocentric bias and the possibility of artificial cognition</a:t>
            </a:r>
            <a:r>
              <a:t>, 2024</a:t>
            </a:r>
          </a:p>
          <a:p xmlns:a="http://schemas.openxmlformats.org/drawingml/2006/main">
            <a:pPr marL="0" indent="0">
              <a:buNone/>
            </a:pPr>
            <a:endParaRPr/>
          </a:p>
          <a:p xmlns:a="http://schemas.openxmlformats.org/drawingml/2006/main">
            <a:pPr marL="0" indent="0">
              <a:buNone/>
            </a:pPr>
            <a:r>
              <a:t>Raphaël Millière and Cameron Buckner, </a:t>
            </a:r>
            <a:r>
              <a:rPr i="1"/>
              <a:t>A Philosophical Introduction to Language Models</a:t>
            </a:r>
            <a:r>
              <a:t>, 2024</a:t>
            </a:r>
          </a:p>
          <a:p xmlns:a="http://schemas.openxmlformats.org/drawingml/2006/main">
            <a:pPr marL="0" indent="0">
              <a:buNone/>
            </a:pPr>
            <a:endParaRPr/>
          </a:p>
          <a:p xmlns:a="http://schemas.openxmlformats.org/drawingml/2006/main">
            <a:pPr marL="0" indent="0">
              <a:buNone/>
            </a:pPr>
            <a:r>
              <a:rPr>
                <a:hlinkClick xmlns:r="http://schemas.openxmlformats.org/officeDocument/2006/relationships" r:id="R29929af8fba24aa7"/>
              </a:rPr>
              <a:t>EU AI Act Explorer</a:t>
            </a:r>
          </a:p>
          <a:p xmlns:a="http://schemas.openxmlformats.org/drawingml/2006/main">
            <a:pPr marL="0" indent="0">
              <a:buNone/>
            </a:pPr>
            <a:endParaRPr/>
          </a:p>
          <a:p xmlns:a="http://schemas.openxmlformats.org/drawingml/2006/main">
            <a:pPr marL="0" indent="0">
              <a:buNone/>
            </a:pPr>
            <a:r>
              <a:t>ICO Information:</a:t>
            </a:r>
          </a:p>
          <a:p xmlns:a="http://schemas.openxmlformats.org/drawingml/2006/main">
            <a:pPr marL="0" indent="0">
              <a:buNone/>
            </a:pPr>
            <a:r>
              <a:t> </a:t>
            </a:r>
            <a:r>
              <a:rPr>
                <a:hlinkClick xmlns:r="http://schemas.openxmlformats.org/officeDocument/2006/relationships" r:id="R349d563903094782"/>
              </a:rPr>
              <a:t>Artificial Intelligence</a:t>
            </a:r>
          </a:p>
          <a:p xmlns:a="http://schemas.openxmlformats.org/drawingml/2006/main">
            <a:pPr marL="0" indent="0">
              <a:buNone/>
            </a:pPr>
            <a:r>
              <a:t> </a:t>
            </a:r>
            <a:r>
              <a:rPr>
                <a:hlinkClick xmlns:r="http://schemas.openxmlformats.org/officeDocument/2006/relationships" r:id="R9c1ac4df78fc4901"/>
              </a:rPr>
              <a:t>Data Protection</a:t>
            </a:r>
          </a:p>
          <a:p xmlns:a="http://schemas.openxmlformats.org/drawingml/2006/main">
            <a:pPr marL="0" indent="0">
              <a:buNone/>
            </a:pPr>
            <a:r>
              <a:t> </a:t>
            </a:r>
            <a:r>
              <a:rPr>
                <a:hlinkClick xmlns:r="http://schemas.openxmlformats.org/officeDocument/2006/relationships" r:id="R6ead8c169e174cf8"/>
              </a:rPr>
              <a:t>Explaining Decisions</a:t>
            </a:r>
          </a:p>
        </p:txBody>
      </p:sp>
    </p:spTree>
    <p:extLst>
      <p:ext uri="{BB962C8B-B14F-4D97-AF65-F5344CB8AC3E}">
        <p14:creationId xmlns:p14="http://schemas.microsoft.com/office/powerpoint/2010/main" val="3011003677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9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60f22b8ae64d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53518" y="659947"/>
            <a:ext cx="4401911" cy="6613071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51FD524-6505-46E4-B48E-05443451B3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Back to the Llama...</a:t>
            </a:r>
          </a:p>
        </p:txBody>
      </p:sp>
      <p:sp>
        <p:nvSpPr>
          <p:cNvPr id="15" name="Flowchart: Connector 14">
            <a:extLst xmlns:a="http://schemas.openxmlformats.org/drawingml/2006/main">
              <a:ext uri="{FF2B5EF4-FFF2-40B4-BE49-F238E27FC236}">
                <a16:creationId xmlns:a16="http://schemas.microsoft.com/office/drawing/2014/main" id="{44BA943E-F75D-70BC-66FA-FCEE37DB2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3290" y="2504332"/>
            <a:ext cx="457200" cy="457200"/>
          </a:xfrm>
          <a:custGeom xmlns:a="http://schemas.openxmlformats.org/drawingml/2006/main">
            <a:gdLst>
              <a:gd name="connsiteX0" fmla="*/ 0 w 457200"/>
              <a:gd name="connsiteY0" fmla="*/ 228600 h 457200"/>
              <a:gd name="connsiteX1" fmla="*/ 228600 w 457200"/>
              <a:gd name="connsiteY1" fmla="*/ 0 h 457200"/>
              <a:gd name="connsiteX2" fmla="*/ 457200 w 457200"/>
              <a:gd name="connsiteY2" fmla="*/ 228600 h 457200"/>
              <a:gd name="connsiteX3" fmla="*/ 228600 w 457200"/>
              <a:gd name="connsiteY3" fmla="*/ 457200 h 457200"/>
              <a:gd name="connsiteX4" fmla="*/ 0 w 457200"/>
              <a:gd name="connsiteY4" fmla="*/ 228600 h 457200"/>
            </a:gdLst>
            <a:rect l="l" t="t" r="r" b="b"/>
            <a:pathLst>
              <a:path w="457200" h="457200">
                <a:moveTo>
                  <a:pt x="0" y="228600"/>
                </a:moveTo>
                <a:cubicBezTo>
                  <a:pt x="-6286" y="94269"/>
                  <a:pt x="85347" y="-15228"/>
                  <a:pt x="228600" y="0"/>
                </a:cubicBezTo>
                <a:cubicBezTo>
                  <a:pt x="356756" y="-2173"/>
                  <a:pt x="460728" y="106247"/>
                  <a:pt x="457200" y="228600"/>
                </a:cubicBezTo>
                <a:cubicBezTo>
                  <a:pt x="445791" y="359591"/>
                  <a:pt x="356223" y="454466"/>
                  <a:pt x="228600" y="457200"/>
                </a:cubicBezTo>
                <a:cubicBezTo>
                  <a:pt x="127866" y="459443"/>
                  <a:pt x="-3812" y="381036"/>
                  <a:pt x="0" y="228600"/>
                </a:cubicBezTo>
                <a:close/>
              </a:path>
              <a:path w="457200" h="457200">
                <a:moveTo>
                  <a:pt x="0" y="228600"/>
                </a:moveTo>
                <a:cubicBezTo>
                  <a:pt x="-1737" y="96896"/>
                  <a:pt x="82315" y="1725"/>
                  <a:pt x="228600" y="0"/>
                </a:cubicBezTo>
                <a:cubicBezTo>
                  <a:pt x="351560" y="4587"/>
                  <a:pt x="451890" y="96767"/>
                  <a:pt x="457200" y="228600"/>
                </a:cubicBezTo>
                <a:cubicBezTo>
                  <a:pt x="464530" y="367244"/>
                  <a:pt x="372760" y="462027"/>
                  <a:pt x="228600" y="457200"/>
                </a:cubicBezTo>
                <a:cubicBezTo>
                  <a:pt x="93201" y="463549"/>
                  <a:pt x="-7249" y="348329"/>
                  <a:pt x="0" y="228600"/>
                </a:cubicBezTo>
                <a:close/>
              </a:path>
            </a:pathLst>
          </a:custGeom>
          <a:ln xmlns:a="http://schemas.openxmlformats.org/drawingml/2006/main" w="57150"/>
        </p:spPr>
        <p:style>
          <a:lnRef xmlns:a="http://schemas.openxmlformats.org/drawingml/2006/main" idx="2">
            <a:schemeClr val="accent5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5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1</a:t>
            </a:r>
          </a:p>
        </p:txBody>
      </p:sp>
      <p:cxnSp>
        <p:nvCxnSpPr>
          <p:cNvPr id="112" name="Connector: Curved 16"/>
          <p:cNvCxnSpPr/>
          <p:nvPr/>
        </p:nvCxnSpPr>
        <p:spPr>
          <a:xfrm xmlns:a="http://schemas.openxmlformats.org/drawingml/2006/main">
            <a:off x="4368511" y="2734417"/>
            <a:ext cx="620485" cy="920339"/>
          </a:xfrm>
          <a:prstGeom xmlns:a="http://schemas.openxmlformats.org/drawingml/2006/main" prst="curvedConnector3">
            <a:avLst/>
          </a:prstGeom>
          <a:ln xmlns:a="http://schemas.openxmlformats.org/drawingml/2006/main" w="28575">
            <a:tailEnd type="triangle"/>
          </a:ln>
        </p:spPr>
        <p:style>
          <a:lnRef xmlns:a="http://schemas.openxmlformats.org/drawingml/2006/main" idx="3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2">
            <a:schemeClr val="dk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13" name="Connector: Curved 19"/>
          <p:cNvCxnSpPr/>
          <p:nvPr/>
        </p:nvCxnSpPr>
        <p:spPr>
          <a:xfrm xmlns:a="http://schemas.openxmlformats.org/drawingml/2006/main">
            <a:off x="5443475" y="3666506"/>
            <a:ext cx="409574" cy="838695"/>
          </a:xfrm>
          <a:prstGeom xmlns:a="http://schemas.openxmlformats.org/drawingml/2006/main" prst="curvedConnector3">
            <a:avLst/>
          </a:prstGeom>
          <a:ln xmlns:a="http://schemas.openxmlformats.org/drawingml/2006/main" w="28575">
            <a:tailEnd type="triangle"/>
          </a:ln>
        </p:spPr>
        <p:style>
          <a:lnRef xmlns:a="http://schemas.openxmlformats.org/drawingml/2006/main" idx="3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2">
            <a:schemeClr val="dk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14" name="Connector: Curved 20"/>
          <p:cNvCxnSpPr/>
          <p:nvPr/>
        </p:nvCxnSpPr>
        <p:spPr>
          <a:xfrm xmlns:a="http://schemas.openxmlformats.org/drawingml/2006/main">
            <a:off x="6307528" y="4496542"/>
            <a:ext cx="810985" cy="8660"/>
          </a:xfrm>
          <a:prstGeom xmlns:a="http://schemas.openxmlformats.org/drawingml/2006/main" prst="curvedConnector3">
            <a:avLst/>
          </a:prstGeom>
          <a:ln xmlns:a="http://schemas.openxmlformats.org/drawingml/2006/main" w="28575">
            <a:tailEnd type="triangle"/>
          </a:ln>
        </p:spPr>
        <p:style>
          <a:lnRef xmlns:a="http://schemas.openxmlformats.org/drawingml/2006/main" idx="3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2">
            <a:schemeClr val="dk1"/>
          </a:effectRef>
          <a:fontRef xmlns:a="http://schemas.openxmlformats.org/drawingml/2006/main" idx="minor">
            <a:schemeClr val="tx1"/>
          </a:fontRef>
        </p:style>
      </p:cxnSp>
      <p:sp>
        <p:nvSpPr>
          <p:cNvPr id="22" name="Flowchart: Connector 21">
            <a:extLst xmlns:a="http://schemas.openxmlformats.org/drawingml/2006/main">
              <a:ext uri="{FF2B5EF4-FFF2-40B4-BE49-F238E27FC236}">
                <a16:creationId xmlns:a16="http://schemas.microsoft.com/office/drawing/2014/main" id="{D5313209-D324-86BD-27B5-6032FA0D6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8253" y="3429617"/>
            <a:ext cx="457200" cy="457200"/>
          </a:xfrm>
          <a:custGeom xmlns:a="http://schemas.openxmlformats.org/drawingml/2006/main">
            <a:gdLst>
              <a:gd name="connsiteX0" fmla="*/ 0 w 457200"/>
              <a:gd name="connsiteY0" fmla="*/ 228600 h 457200"/>
              <a:gd name="connsiteX1" fmla="*/ 228600 w 457200"/>
              <a:gd name="connsiteY1" fmla="*/ 0 h 457200"/>
              <a:gd name="connsiteX2" fmla="*/ 457200 w 457200"/>
              <a:gd name="connsiteY2" fmla="*/ 228600 h 457200"/>
              <a:gd name="connsiteX3" fmla="*/ 228600 w 457200"/>
              <a:gd name="connsiteY3" fmla="*/ 457200 h 457200"/>
              <a:gd name="connsiteX4" fmla="*/ 0 w 457200"/>
              <a:gd name="connsiteY4" fmla="*/ 228600 h 457200"/>
            </a:gdLst>
            <a:rect l="l" t="t" r="r" b="b"/>
            <a:pathLst>
              <a:path w="457200" h="457200">
                <a:moveTo>
                  <a:pt x="0" y="228600"/>
                </a:moveTo>
                <a:cubicBezTo>
                  <a:pt x="-6286" y="94269"/>
                  <a:pt x="85347" y="-15228"/>
                  <a:pt x="228600" y="0"/>
                </a:cubicBezTo>
                <a:cubicBezTo>
                  <a:pt x="356756" y="-2173"/>
                  <a:pt x="460728" y="106247"/>
                  <a:pt x="457200" y="228600"/>
                </a:cubicBezTo>
                <a:cubicBezTo>
                  <a:pt x="445791" y="359591"/>
                  <a:pt x="356223" y="454466"/>
                  <a:pt x="228600" y="457200"/>
                </a:cubicBezTo>
                <a:cubicBezTo>
                  <a:pt x="127866" y="459443"/>
                  <a:pt x="-3812" y="381036"/>
                  <a:pt x="0" y="228600"/>
                </a:cubicBezTo>
                <a:close/>
              </a:path>
              <a:path w="457200" h="457200">
                <a:moveTo>
                  <a:pt x="0" y="228600"/>
                </a:moveTo>
                <a:cubicBezTo>
                  <a:pt x="-1737" y="96896"/>
                  <a:pt x="82315" y="1725"/>
                  <a:pt x="228600" y="0"/>
                </a:cubicBezTo>
                <a:cubicBezTo>
                  <a:pt x="351560" y="4587"/>
                  <a:pt x="451890" y="96767"/>
                  <a:pt x="457200" y="228600"/>
                </a:cubicBezTo>
                <a:cubicBezTo>
                  <a:pt x="464530" y="367244"/>
                  <a:pt x="372760" y="462027"/>
                  <a:pt x="228600" y="457200"/>
                </a:cubicBezTo>
                <a:cubicBezTo>
                  <a:pt x="93201" y="463549"/>
                  <a:pt x="-7249" y="348329"/>
                  <a:pt x="0" y="228600"/>
                </a:cubicBezTo>
                <a:close/>
              </a:path>
            </a:pathLst>
          </a:custGeom>
          <a:ln xmlns:a="http://schemas.openxmlformats.org/drawingml/2006/main" w="57150"/>
        </p:spPr>
        <p:style>
          <a:lnRef xmlns:a="http://schemas.openxmlformats.org/drawingml/2006/main" idx="2">
            <a:schemeClr val="accent5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5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2</a:t>
            </a:r>
          </a:p>
        </p:txBody>
      </p:sp>
      <p:sp>
        <p:nvSpPr>
          <p:cNvPr id="23" name="Flowchart: Connector 22">
            <a:extLst xmlns:a="http://schemas.openxmlformats.org/drawingml/2006/main">
              <a:ext uri="{FF2B5EF4-FFF2-40B4-BE49-F238E27FC236}">
                <a16:creationId xmlns:a16="http://schemas.microsoft.com/office/drawing/2014/main" id="{045B9FB8-EEA7-7105-C244-CB749B77A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306" y="4266456"/>
            <a:ext cx="457200" cy="457200"/>
          </a:xfrm>
          <a:custGeom xmlns:a="http://schemas.openxmlformats.org/drawingml/2006/main">
            <a:gdLst>
              <a:gd name="connsiteX0" fmla="*/ 0 w 457200"/>
              <a:gd name="connsiteY0" fmla="*/ 228600 h 457200"/>
              <a:gd name="connsiteX1" fmla="*/ 228600 w 457200"/>
              <a:gd name="connsiteY1" fmla="*/ 0 h 457200"/>
              <a:gd name="connsiteX2" fmla="*/ 457200 w 457200"/>
              <a:gd name="connsiteY2" fmla="*/ 228600 h 457200"/>
              <a:gd name="connsiteX3" fmla="*/ 228600 w 457200"/>
              <a:gd name="connsiteY3" fmla="*/ 457200 h 457200"/>
              <a:gd name="connsiteX4" fmla="*/ 0 w 457200"/>
              <a:gd name="connsiteY4" fmla="*/ 228600 h 457200"/>
            </a:gdLst>
            <a:rect l="l" t="t" r="r" b="b"/>
            <a:pathLst>
              <a:path w="457200" h="457200">
                <a:moveTo>
                  <a:pt x="0" y="228600"/>
                </a:moveTo>
                <a:cubicBezTo>
                  <a:pt x="-6286" y="94269"/>
                  <a:pt x="85347" y="-15228"/>
                  <a:pt x="228600" y="0"/>
                </a:cubicBezTo>
                <a:cubicBezTo>
                  <a:pt x="356756" y="-2173"/>
                  <a:pt x="460728" y="106247"/>
                  <a:pt x="457200" y="228600"/>
                </a:cubicBezTo>
                <a:cubicBezTo>
                  <a:pt x="445791" y="359591"/>
                  <a:pt x="356223" y="454466"/>
                  <a:pt x="228600" y="457200"/>
                </a:cubicBezTo>
                <a:cubicBezTo>
                  <a:pt x="127866" y="459443"/>
                  <a:pt x="-3812" y="381036"/>
                  <a:pt x="0" y="228600"/>
                </a:cubicBezTo>
                <a:close/>
              </a:path>
              <a:path w="457200" h="457200">
                <a:moveTo>
                  <a:pt x="0" y="228600"/>
                </a:moveTo>
                <a:cubicBezTo>
                  <a:pt x="-1737" y="96896"/>
                  <a:pt x="82315" y="1725"/>
                  <a:pt x="228600" y="0"/>
                </a:cubicBezTo>
                <a:cubicBezTo>
                  <a:pt x="351560" y="4587"/>
                  <a:pt x="451890" y="96767"/>
                  <a:pt x="457200" y="228600"/>
                </a:cubicBezTo>
                <a:cubicBezTo>
                  <a:pt x="464530" y="367244"/>
                  <a:pt x="372760" y="462027"/>
                  <a:pt x="228600" y="457200"/>
                </a:cubicBezTo>
                <a:cubicBezTo>
                  <a:pt x="93201" y="463549"/>
                  <a:pt x="-7249" y="348329"/>
                  <a:pt x="0" y="228600"/>
                </a:cubicBezTo>
                <a:close/>
              </a:path>
            </a:pathLst>
          </a:custGeom>
          <a:ln xmlns:a="http://schemas.openxmlformats.org/drawingml/2006/main" w="57150"/>
        </p:spPr>
        <p:style>
          <a:lnRef xmlns:a="http://schemas.openxmlformats.org/drawingml/2006/main" idx="2">
            <a:schemeClr val="accent5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5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3</a:t>
            </a:r>
          </a:p>
        </p:txBody>
      </p:sp>
      <p:sp>
        <p:nvSpPr>
          <p:cNvPr id="24" name="Flowchart: Connector 23">
            <a:extLst xmlns:a="http://schemas.openxmlformats.org/drawingml/2006/main">
              <a:ext uri="{FF2B5EF4-FFF2-40B4-BE49-F238E27FC236}">
                <a16:creationId xmlns:a16="http://schemas.microsoft.com/office/drawing/2014/main" id="{E1E2630A-5F89-194B-F752-4C1757665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7770" y="4266456"/>
            <a:ext cx="457200" cy="457200"/>
          </a:xfrm>
          <a:custGeom xmlns:a="http://schemas.openxmlformats.org/drawingml/2006/main">
            <a:gdLst>
              <a:gd name="connsiteX0" fmla="*/ 0 w 457200"/>
              <a:gd name="connsiteY0" fmla="*/ 228600 h 457200"/>
              <a:gd name="connsiteX1" fmla="*/ 228600 w 457200"/>
              <a:gd name="connsiteY1" fmla="*/ 0 h 457200"/>
              <a:gd name="connsiteX2" fmla="*/ 457200 w 457200"/>
              <a:gd name="connsiteY2" fmla="*/ 228600 h 457200"/>
              <a:gd name="connsiteX3" fmla="*/ 228600 w 457200"/>
              <a:gd name="connsiteY3" fmla="*/ 457200 h 457200"/>
              <a:gd name="connsiteX4" fmla="*/ 0 w 457200"/>
              <a:gd name="connsiteY4" fmla="*/ 228600 h 457200"/>
            </a:gdLst>
            <a:rect l="l" t="t" r="r" b="b"/>
            <a:pathLst>
              <a:path w="457200" h="457200">
                <a:moveTo>
                  <a:pt x="0" y="228600"/>
                </a:moveTo>
                <a:cubicBezTo>
                  <a:pt x="-6286" y="94269"/>
                  <a:pt x="85347" y="-15228"/>
                  <a:pt x="228600" y="0"/>
                </a:cubicBezTo>
                <a:cubicBezTo>
                  <a:pt x="356756" y="-2173"/>
                  <a:pt x="460728" y="106247"/>
                  <a:pt x="457200" y="228600"/>
                </a:cubicBezTo>
                <a:cubicBezTo>
                  <a:pt x="445791" y="359591"/>
                  <a:pt x="356223" y="454466"/>
                  <a:pt x="228600" y="457200"/>
                </a:cubicBezTo>
                <a:cubicBezTo>
                  <a:pt x="127866" y="459443"/>
                  <a:pt x="-3812" y="381036"/>
                  <a:pt x="0" y="228600"/>
                </a:cubicBezTo>
                <a:close/>
              </a:path>
              <a:path w="457200" h="457200">
                <a:moveTo>
                  <a:pt x="0" y="228600"/>
                </a:moveTo>
                <a:cubicBezTo>
                  <a:pt x="-1737" y="96896"/>
                  <a:pt x="82315" y="1725"/>
                  <a:pt x="228600" y="0"/>
                </a:cubicBezTo>
                <a:cubicBezTo>
                  <a:pt x="351560" y="4587"/>
                  <a:pt x="451890" y="96767"/>
                  <a:pt x="457200" y="228600"/>
                </a:cubicBezTo>
                <a:cubicBezTo>
                  <a:pt x="464530" y="367244"/>
                  <a:pt x="372760" y="462027"/>
                  <a:pt x="228600" y="457200"/>
                </a:cubicBezTo>
                <a:cubicBezTo>
                  <a:pt x="93201" y="463549"/>
                  <a:pt x="-7249" y="348329"/>
                  <a:pt x="0" y="228600"/>
                </a:cubicBezTo>
                <a:close/>
              </a:path>
            </a:pathLst>
          </a:custGeom>
          <a:ln xmlns:a="http://schemas.openxmlformats.org/drawingml/2006/main" w="57150"/>
        </p:spPr>
        <p:style>
          <a:lnRef xmlns:a="http://schemas.openxmlformats.org/drawingml/2006/main" idx="2">
            <a:schemeClr val="accent5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5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4</a:t>
            </a:r>
          </a:p>
        </p:txBody>
      </p:sp>
      <p:sp>
        <p:nvSpPr>
          <p:cNvPr id="27" name="Flowchart: Connector 26">
            <a:extLst xmlns:a="http://schemas.openxmlformats.org/drawingml/2006/main">
              <a:ext uri="{FF2B5EF4-FFF2-40B4-BE49-F238E27FC236}">
                <a16:creationId xmlns:a16="http://schemas.microsoft.com/office/drawing/2014/main" id="{8D48BB32-0742-CC8D-0295-C3631F565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6868" y="2098839"/>
            <a:ext cx="457200" cy="457200"/>
          </a:xfrm>
          <a:custGeom xmlns:a="http://schemas.openxmlformats.org/drawingml/2006/main">
            <a:gdLst>
              <a:gd name="connsiteX0" fmla="*/ 0 w 457200"/>
              <a:gd name="connsiteY0" fmla="*/ 228600 h 457200"/>
              <a:gd name="connsiteX1" fmla="*/ 228600 w 457200"/>
              <a:gd name="connsiteY1" fmla="*/ 0 h 457200"/>
              <a:gd name="connsiteX2" fmla="*/ 457200 w 457200"/>
              <a:gd name="connsiteY2" fmla="*/ 228600 h 457200"/>
              <a:gd name="connsiteX3" fmla="*/ 228600 w 457200"/>
              <a:gd name="connsiteY3" fmla="*/ 457200 h 457200"/>
              <a:gd name="connsiteX4" fmla="*/ 0 w 457200"/>
              <a:gd name="connsiteY4" fmla="*/ 228600 h 457200"/>
            </a:gdLst>
            <a:rect l="l" t="t" r="r" b="b"/>
            <a:pathLst>
              <a:path w="457200" h="457200">
                <a:moveTo>
                  <a:pt x="0" y="228600"/>
                </a:moveTo>
                <a:cubicBezTo>
                  <a:pt x="-6286" y="94269"/>
                  <a:pt x="85347" y="-15228"/>
                  <a:pt x="228600" y="0"/>
                </a:cubicBezTo>
                <a:cubicBezTo>
                  <a:pt x="356756" y="-2173"/>
                  <a:pt x="460728" y="106247"/>
                  <a:pt x="457200" y="228600"/>
                </a:cubicBezTo>
                <a:cubicBezTo>
                  <a:pt x="445791" y="359591"/>
                  <a:pt x="356223" y="454466"/>
                  <a:pt x="228600" y="457200"/>
                </a:cubicBezTo>
                <a:cubicBezTo>
                  <a:pt x="127866" y="459443"/>
                  <a:pt x="-3812" y="381036"/>
                  <a:pt x="0" y="228600"/>
                </a:cubicBezTo>
                <a:close/>
              </a:path>
              <a:path w="457200" h="457200">
                <a:moveTo>
                  <a:pt x="0" y="228600"/>
                </a:moveTo>
                <a:cubicBezTo>
                  <a:pt x="-1737" y="96896"/>
                  <a:pt x="82315" y="1725"/>
                  <a:pt x="228600" y="0"/>
                </a:cubicBezTo>
                <a:cubicBezTo>
                  <a:pt x="351560" y="4587"/>
                  <a:pt x="451890" y="96767"/>
                  <a:pt x="457200" y="228600"/>
                </a:cubicBezTo>
                <a:cubicBezTo>
                  <a:pt x="464530" y="367244"/>
                  <a:pt x="372760" y="462027"/>
                  <a:pt x="228600" y="457200"/>
                </a:cubicBezTo>
                <a:cubicBezTo>
                  <a:pt x="93201" y="463549"/>
                  <a:pt x="-7249" y="348329"/>
                  <a:pt x="0" y="228600"/>
                </a:cubicBezTo>
                <a:close/>
              </a:path>
            </a:pathLst>
          </a:custGeom>
          <a:ln xmlns:a="http://schemas.openxmlformats.org/drawingml/2006/main" w="57150"/>
        </p:spPr>
        <p:style>
          <a:lnRef xmlns:a="http://schemas.openxmlformats.org/drawingml/2006/main" idx="2">
            <a:schemeClr val="accent5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5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1</a:t>
            </a:r>
          </a:p>
        </p:txBody>
      </p:sp>
      <p:sp>
        <p:nvSpPr>
          <p:cNvPr id="29" name="Flowchart: Connector 28">
            <a:extLst xmlns:a="http://schemas.openxmlformats.org/drawingml/2006/main">
              <a:ext uri="{FF2B5EF4-FFF2-40B4-BE49-F238E27FC236}">
                <a16:creationId xmlns:a16="http://schemas.microsoft.com/office/drawing/2014/main" id="{A334D6B2-4575-4248-FDF6-5C5949D1E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6867" y="2915267"/>
            <a:ext cx="457200" cy="457200"/>
          </a:xfrm>
          <a:custGeom xmlns:a="http://schemas.openxmlformats.org/drawingml/2006/main">
            <a:gdLst>
              <a:gd name="connsiteX0" fmla="*/ 0 w 457200"/>
              <a:gd name="connsiteY0" fmla="*/ 228600 h 457200"/>
              <a:gd name="connsiteX1" fmla="*/ 228600 w 457200"/>
              <a:gd name="connsiteY1" fmla="*/ 0 h 457200"/>
              <a:gd name="connsiteX2" fmla="*/ 457200 w 457200"/>
              <a:gd name="connsiteY2" fmla="*/ 228600 h 457200"/>
              <a:gd name="connsiteX3" fmla="*/ 228600 w 457200"/>
              <a:gd name="connsiteY3" fmla="*/ 457200 h 457200"/>
              <a:gd name="connsiteX4" fmla="*/ 0 w 457200"/>
              <a:gd name="connsiteY4" fmla="*/ 228600 h 457200"/>
            </a:gdLst>
            <a:rect l="l" t="t" r="r" b="b"/>
            <a:pathLst>
              <a:path w="457200" h="457200">
                <a:moveTo>
                  <a:pt x="0" y="228600"/>
                </a:moveTo>
                <a:cubicBezTo>
                  <a:pt x="-6286" y="94269"/>
                  <a:pt x="85347" y="-15228"/>
                  <a:pt x="228600" y="0"/>
                </a:cubicBezTo>
                <a:cubicBezTo>
                  <a:pt x="356756" y="-2173"/>
                  <a:pt x="460728" y="106247"/>
                  <a:pt x="457200" y="228600"/>
                </a:cubicBezTo>
                <a:cubicBezTo>
                  <a:pt x="445791" y="359591"/>
                  <a:pt x="356223" y="454466"/>
                  <a:pt x="228600" y="457200"/>
                </a:cubicBezTo>
                <a:cubicBezTo>
                  <a:pt x="127866" y="459443"/>
                  <a:pt x="-3812" y="381036"/>
                  <a:pt x="0" y="228600"/>
                </a:cubicBezTo>
                <a:close/>
              </a:path>
              <a:path w="457200" h="457200">
                <a:moveTo>
                  <a:pt x="0" y="228600"/>
                </a:moveTo>
                <a:cubicBezTo>
                  <a:pt x="-1737" y="96896"/>
                  <a:pt x="82315" y="1725"/>
                  <a:pt x="228600" y="0"/>
                </a:cubicBezTo>
                <a:cubicBezTo>
                  <a:pt x="351560" y="4587"/>
                  <a:pt x="451890" y="96767"/>
                  <a:pt x="457200" y="228600"/>
                </a:cubicBezTo>
                <a:cubicBezTo>
                  <a:pt x="464530" y="367244"/>
                  <a:pt x="372760" y="462027"/>
                  <a:pt x="228600" y="457200"/>
                </a:cubicBezTo>
                <a:cubicBezTo>
                  <a:pt x="93201" y="463549"/>
                  <a:pt x="-7249" y="348329"/>
                  <a:pt x="0" y="228600"/>
                </a:cubicBezTo>
                <a:close/>
              </a:path>
            </a:pathLst>
          </a:custGeom>
          <a:ln xmlns:a="http://schemas.openxmlformats.org/drawingml/2006/main" w="57150"/>
        </p:spPr>
        <p:style>
          <a:lnRef xmlns:a="http://schemas.openxmlformats.org/drawingml/2006/main" idx="2">
            <a:schemeClr val="accent5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5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2</a:t>
            </a:r>
          </a:p>
        </p:txBody>
      </p:sp>
      <p:sp>
        <p:nvSpPr>
          <p:cNvPr id="31" name="Flowchart: Connector 30">
            <a:extLst xmlns:a="http://schemas.openxmlformats.org/drawingml/2006/main">
              <a:ext uri="{FF2B5EF4-FFF2-40B4-BE49-F238E27FC236}">
                <a16:creationId xmlns:a16="http://schemas.microsoft.com/office/drawing/2014/main" id="{698B8E65-1B91-3B68-9EFE-B95DF2CF0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6866" y="3731695"/>
            <a:ext cx="457200" cy="457200"/>
          </a:xfrm>
          <a:custGeom xmlns:a="http://schemas.openxmlformats.org/drawingml/2006/main">
            <a:gdLst>
              <a:gd name="connsiteX0" fmla="*/ 0 w 457200"/>
              <a:gd name="connsiteY0" fmla="*/ 228600 h 457200"/>
              <a:gd name="connsiteX1" fmla="*/ 228600 w 457200"/>
              <a:gd name="connsiteY1" fmla="*/ 0 h 457200"/>
              <a:gd name="connsiteX2" fmla="*/ 457200 w 457200"/>
              <a:gd name="connsiteY2" fmla="*/ 228600 h 457200"/>
              <a:gd name="connsiteX3" fmla="*/ 228600 w 457200"/>
              <a:gd name="connsiteY3" fmla="*/ 457200 h 457200"/>
              <a:gd name="connsiteX4" fmla="*/ 0 w 457200"/>
              <a:gd name="connsiteY4" fmla="*/ 228600 h 457200"/>
            </a:gdLst>
            <a:rect l="l" t="t" r="r" b="b"/>
            <a:pathLst>
              <a:path w="457200" h="457200">
                <a:moveTo>
                  <a:pt x="0" y="228600"/>
                </a:moveTo>
                <a:cubicBezTo>
                  <a:pt x="-6286" y="94269"/>
                  <a:pt x="85347" y="-15228"/>
                  <a:pt x="228600" y="0"/>
                </a:cubicBezTo>
                <a:cubicBezTo>
                  <a:pt x="356756" y="-2173"/>
                  <a:pt x="460728" y="106247"/>
                  <a:pt x="457200" y="228600"/>
                </a:cubicBezTo>
                <a:cubicBezTo>
                  <a:pt x="445791" y="359591"/>
                  <a:pt x="356223" y="454466"/>
                  <a:pt x="228600" y="457200"/>
                </a:cubicBezTo>
                <a:cubicBezTo>
                  <a:pt x="127866" y="459443"/>
                  <a:pt x="-3812" y="381036"/>
                  <a:pt x="0" y="228600"/>
                </a:cubicBezTo>
                <a:close/>
              </a:path>
              <a:path w="457200" h="457200">
                <a:moveTo>
                  <a:pt x="0" y="228600"/>
                </a:moveTo>
                <a:cubicBezTo>
                  <a:pt x="-1737" y="96896"/>
                  <a:pt x="82315" y="1725"/>
                  <a:pt x="228600" y="0"/>
                </a:cubicBezTo>
                <a:cubicBezTo>
                  <a:pt x="351560" y="4587"/>
                  <a:pt x="451890" y="96767"/>
                  <a:pt x="457200" y="228600"/>
                </a:cubicBezTo>
                <a:cubicBezTo>
                  <a:pt x="464530" y="367244"/>
                  <a:pt x="372760" y="462027"/>
                  <a:pt x="228600" y="457200"/>
                </a:cubicBezTo>
                <a:cubicBezTo>
                  <a:pt x="93201" y="463549"/>
                  <a:pt x="-7249" y="348329"/>
                  <a:pt x="0" y="228600"/>
                </a:cubicBezTo>
                <a:close/>
              </a:path>
            </a:pathLst>
          </a:custGeom>
          <a:ln xmlns:a="http://schemas.openxmlformats.org/drawingml/2006/main" w="57150"/>
        </p:spPr>
        <p:style>
          <a:lnRef xmlns:a="http://schemas.openxmlformats.org/drawingml/2006/main" idx="2">
            <a:schemeClr val="accent5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5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3</a:t>
            </a:r>
          </a:p>
        </p:txBody>
      </p:sp>
      <p:sp>
        <p:nvSpPr>
          <p:cNvPr id="33" name="Flowchart: Connector 32">
            <a:extLst xmlns:a="http://schemas.openxmlformats.org/drawingml/2006/main">
              <a:ext uri="{FF2B5EF4-FFF2-40B4-BE49-F238E27FC236}">
                <a16:creationId xmlns:a16="http://schemas.microsoft.com/office/drawing/2014/main" id="{A9E2DD96-8722-E5A8-DA69-8CD81C981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6866" y="4534517"/>
            <a:ext cx="457200" cy="457200"/>
          </a:xfrm>
          <a:custGeom xmlns:a="http://schemas.openxmlformats.org/drawingml/2006/main">
            <a:gdLst>
              <a:gd name="connsiteX0" fmla="*/ 0 w 457200"/>
              <a:gd name="connsiteY0" fmla="*/ 228600 h 457200"/>
              <a:gd name="connsiteX1" fmla="*/ 228600 w 457200"/>
              <a:gd name="connsiteY1" fmla="*/ 0 h 457200"/>
              <a:gd name="connsiteX2" fmla="*/ 457200 w 457200"/>
              <a:gd name="connsiteY2" fmla="*/ 228600 h 457200"/>
              <a:gd name="connsiteX3" fmla="*/ 228600 w 457200"/>
              <a:gd name="connsiteY3" fmla="*/ 457200 h 457200"/>
              <a:gd name="connsiteX4" fmla="*/ 0 w 457200"/>
              <a:gd name="connsiteY4" fmla="*/ 228600 h 457200"/>
            </a:gdLst>
            <a:rect l="l" t="t" r="r" b="b"/>
            <a:pathLst>
              <a:path w="457200" h="457200">
                <a:moveTo>
                  <a:pt x="0" y="228600"/>
                </a:moveTo>
                <a:cubicBezTo>
                  <a:pt x="-6286" y="94269"/>
                  <a:pt x="85347" y="-15228"/>
                  <a:pt x="228600" y="0"/>
                </a:cubicBezTo>
                <a:cubicBezTo>
                  <a:pt x="356756" y="-2173"/>
                  <a:pt x="460728" y="106247"/>
                  <a:pt x="457200" y="228600"/>
                </a:cubicBezTo>
                <a:cubicBezTo>
                  <a:pt x="445791" y="359591"/>
                  <a:pt x="356223" y="454466"/>
                  <a:pt x="228600" y="457200"/>
                </a:cubicBezTo>
                <a:cubicBezTo>
                  <a:pt x="127866" y="459443"/>
                  <a:pt x="-3812" y="381036"/>
                  <a:pt x="0" y="228600"/>
                </a:cubicBezTo>
                <a:close/>
              </a:path>
              <a:path w="457200" h="457200">
                <a:moveTo>
                  <a:pt x="0" y="228600"/>
                </a:moveTo>
                <a:cubicBezTo>
                  <a:pt x="-1737" y="96896"/>
                  <a:pt x="82315" y="1725"/>
                  <a:pt x="228600" y="0"/>
                </a:cubicBezTo>
                <a:cubicBezTo>
                  <a:pt x="351560" y="4587"/>
                  <a:pt x="451890" y="96767"/>
                  <a:pt x="457200" y="228600"/>
                </a:cubicBezTo>
                <a:cubicBezTo>
                  <a:pt x="464530" y="367244"/>
                  <a:pt x="372760" y="462027"/>
                  <a:pt x="228600" y="457200"/>
                </a:cubicBezTo>
                <a:cubicBezTo>
                  <a:pt x="93201" y="463549"/>
                  <a:pt x="-7249" y="348329"/>
                  <a:pt x="0" y="228600"/>
                </a:cubicBezTo>
                <a:close/>
              </a:path>
            </a:pathLst>
          </a:custGeom>
          <a:ln xmlns:a="http://schemas.openxmlformats.org/drawingml/2006/main" w="57150"/>
        </p:spPr>
        <p:style>
          <a:lnRef xmlns:a="http://schemas.openxmlformats.org/drawingml/2006/main" idx="2">
            <a:schemeClr val="accent5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5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4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0F27E98C-85A1-71D9-A20A-7EEEF969E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427" y="2139723"/>
            <a:ext cx="2333625" cy="369332"/>
          </a:xfrm>
          <a:custGeom xmlns:a="http://schemas.openxmlformats.org/drawingml/2006/main">
            <a:gdLst>
              <a:gd name="connsiteX0" fmla="*/ 0 w 2333625"/>
              <a:gd name="connsiteY0" fmla="*/ 0 h 369332"/>
              <a:gd name="connsiteX1" fmla="*/ 583406 w 2333625"/>
              <a:gd name="connsiteY1" fmla="*/ 0 h 369332"/>
              <a:gd name="connsiteX2" fmla="*/ 1213485 w 2333625"/>
              <a:gd name="connsiteY2" fmla="*/ 0 h 369332"/>
              <a:gd name="connsiteX3" fmla="*/ 1773555 w 2333625"/>
              <a:gd name="connsiteY3" fmla="*/ 0 h 369332"/>
              <a:gd name="connsiteX4" fmla="*/ 2333625 w 2333625"/>
              <a:gd name="connsiteY4" fmla="*/ 0 h 369332"/>
              <a:gd name="connsiteX5" fmla="*/ 2333625 w 2333625"/>
              <a:gd name="connsiteY5" fmla="*/ 369332 h 369332"/>
              <a:gd name="connsiteX6" fmla="*/ 1703546 w 2333625"/>
              <a:gd name="connsiteY6" fmla="*/ 369332 h 369332"/>
              <a:gd name="connsiteX7" fmla="*/ 1143476 w 2333625"/>
              <a:gd name="connsiteY7" fmla="*/ 369332 h 369332"/>
              <a:gd name="connsiteX8" fmla="*/ 583406 w 2333625"/>
              <a:gd name="connsiteY8" fmla="*/ 369332 h 369332"/>
              <a:gd name="connsiteX9" fmla="*/ 0 w 2333625"/>
              <a:gd name="connsiteY9" fmla="*/ 369332 h 369332"/>
              <a:gd name="connsiteX10" fmla="*/ 0 w 2333625"/>
              <a:gd name="connsiteY10" fmla="*/ 0 h 369332"/>
            </a:gdLst>
            <a:rect l="l" t="t" r="r" b="b"/>
            <a:pathLst>
              <a:path w="2333625" h="369332">
                <a:moveTo>
                  <a:pt x="0" y="0"/>
                </a:moveTo>
                <a:cubicBezTo>
                  <a:pt x="245286" y="5736"/>
                  <a:pt x="297030" y="11623"/>
                  <a:pt x="583406" y="0"/>
                </a:cubicBezTo>
                <a:cubicBezTo>
                  <a:pt x="869782" y="-11623"/>
                  <a:pt x="937660" y="16695"/>
                  <a:pt x="1213485" y="0"/>
                </a:cubicBezTo>
                <a:cubicBezTo>
                  <a:pt x="1489310" y="-16695"/>
                  <a:pt x="1542847" y="20924"/>
                  <a:pt x="1773555" y="0"/>
                </a:cubicBezTo>
                <a:cubicBezTo>
                  <a:pt x="2004263" y="-20924"/>
                  <a:pt x="2182579" y="-21382"/>
                  <a:pt x="2333625" y="0"/>
                </a:cubicBezTo>
                <a:cubicBezTo>
                  <a:pt x="2337252" y="75109"/>
                  <a:pt x="2349962" y="234559"/>
                  <a:pt x="2333625" y="369332"/>
                </a:cubicBezTo>
                <a:cubicBezTo>
                  <a:pt x="2069355" y="359916"/>
                  <a:pt x="1935929" y="394132"/>
                  <a:pt x="1703546" y="369332"/>
                </a:cubicBezTo>
                <a:cubicBezTo>
                  <a:pt x="1471163" y="344532"/>
                  <a:pt x="1329274" y="365822"/>
                  <a:pt x="1143476" y="369332"/>
                </a:cubicBezTo>
                <a:cubicBezTo>
                  <a:pt x="957678" y="372843"/>
                  <a:pt x="831305" y="374022"/>
                  <a:pt x="583406" y="369332"/>
                </a:cubicBezTo>
                <a:cubicBezTo>
                  <a:pt x="335507" y="364643"/>
                  <a:pt x="272252" y="350793"/>
                  <a:pt x="0" y="369332"/>
                </a:cubicBezTo>
                <a:cubicBezTo>
                  <a:pt x="-10156" y="282015"/>
                  <a:pt x="15390" y="87716"/>
                  <a:pt x="0" y="0"/>
                </a:cubicBezTo>
                <a:close/>
              </a:path>
              <a:path w="2333625" h="369332">
                <a:moveTo>
                  <a:pt x="0" y="0"/>
                </a:moveTo>
                <a:cubicBezTo>
                  <a:pt x="239755" y="-8249"/>
                  <a:pt x="342871" y="-19915"/>
                  <a:pt x="536734" y="0"/>
                </a:cubicBezTo>
                <a:cubicBezTo>
                  <a:pt x="730597" y="19915"/>
                  <a:pt x="840094" y="22340"/>
                  <a:pt x="1096804" y="0"/>
                </a:cubicBezTo>
                <a:cubicBezTo>
                  <a:pt x="1353514" y="-22340"/>
                  <a:pt x="1497339" y="11109"/>
                  <a:pt x="1633538" y="0"/>
                </a:cubicBezTo>
                <a:cubicBezTo>
                  <a:pt x="1769737" y="-11109"/>
                  <a:pt x="2174563" y="20709"/>
                  <a:pt x="2333625" y="0"/>
                </a:cubicBezTo>
                <a:cubicBezTo>
                  <a:pt x="2329907" y="138875"/>
                  <a:pt x="2321892" y="201024"/>
                  <a:pt x="2333625" y="369332"/>
                </a:cubicBezTo>
                <a:cubicBezTo>
                  <a:pt x="2156139" y="341013"/>
                  <a:pt x="2037090" y="345370"/>
                  <a:pt x="1750219" y="369332"/>
                </a:cubicBezTo>
                <a:cubicBezTo>
                  <a:pt x="1463348" y="393294"/>
                  <a:pt x="1400953" y="368246"/>
                  <a:pt x="1213485" y="369332"/>
                </a:cubicBezTo>
                <a:cubicBezTo>
                  <a:pt x="1026017" y="370418"/>
                  <a:pt x="909812" y="382789"/>
                  <a:pt x="676751" y="369332"/>
                </a:cubicBezTo>
                <a:cubicBezTo>
                  <a:pt x="443690" y="355875"/>
                  <a:pt x="279106" y="335772"/>
                  <a:pt x="0" y="369332"/>
                </a:cubicBezTo>
                <a:cubicBezTo>
                  <a:pt x="-6712" y="232751"/>
                  <a:pt x="-840" y="78663"/>
                  <a:pt x="0" y="0"/>
                </a:cubicBezTo>
                <a:close/>
              </a:path>
            </a:pathLst>
          </a:custGeom>
          <a:ln xmlns:a="http://schemas.openxmlformats.org/drawingml/2006/main" w="28575"/>
        </p:spPr>
        <p:style>
          <a:lnRef xmlns:a="http://schemas.openxmlformats.org/drawingml/2006/main" idx="2">
            <a:schemeClr val="accent5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5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rot="0" spcFirstLastPara="0" vert="horz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Tokenization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3668E21C-BDB8-282B-EB4A-0EEA5820E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426" y="2956151"/>
            <a:ext cx="2333625" cy="369332"/>
          </a:xfrm>
          <a:custGeom xmlns:a="http://schemas.openxmlformats.org/drawingml/2006/main">
            <a:gdLst>
              <a:gd name="connsiteX0" fmla="*/ 0 w 2333625"/>
              <a:gd name="connsiteY0" fmla="*/ 0 h 369332"/>
              <a:gd name="connsiteX1" fmla="*/ 583406 w 2333625"/>
              <a:gd name="connsiteY1" fmla="*/ 0 h 369332"/>
              <a:gd name="connsiteX2" fmla="*/ 1213485 w 2333625"/>
              <a:gd name="connsiteY2" fmla="*/ 0 h 369332"/>
              <a:gd name="connsiteX3" fmla="*/ 1773555 w 2333625"/>
              <a:gd name="connsiteY3" fmla="*/ 0 h 369332"/>
              <a:gd name="connsiteX4" fmla="*/ 2333625 w 2333625"/>
              <a:gd name="connsiteY4" fmla="*/ 0 h 369332"/>
              <a:gd name="connsiteX5" fmla="*/ 2333625 w 2333625"/>
              <a:gd name="connsiteY5" fmla="*/ 369332 h 369332"/>
              <a:gd name="connsiteX6" fmla="*/ 1703546 w 2333625"/>
              <a:gd name="connsiteY6" fmla="*/ 369332 h 369332"/>
              <a:gd name="connsiteX7" fmla="*/ 1143476 w 2333625"/>
              <a:gd name="connsiteY7" fmla="*/ 369332 h 369332"/>
              <a:gd name="connsiteX8" fmla="*/ 583406 w 2333625"/>
              <a:gd name="connsiteY8" fmla="*/ 369332 h 369332"/>
              <a:gd name="connsiteX9" fmla="*/ 0 w 2333625"/>
              <a:gd name="connsiteY9" fmla="*/ 369332 h 369332"/>
              <a:gd name="connsiteX10" fmla="*/ 0 w 2333625"/>
              <a:gd name="connsiteY10" fmla="*/ 0 h 369332"/>
            </a:gdLst>
            <a:rect l="l" t="t" r="r" b="b"/>
            <a:pathLst>
              <a:path w="2333625" h="369332">
                <a:moveTo>
                  <a:pt x="0" y="0"/>
                </a:moveTo>
                <a:cubicBezTo>
                  <a:pt x="245286" y="5736"/>
                  <a:pt x="297030" y="11623"/>
                  <a:pt x="583406" y="0"/>
                </a:cubicBezTo>
                <a:cubicBezTo>
                  <a:pt x="869782" y="-11623"/>
                  <a:pt x="937660" y="16695"/>
                  <a:pt x="1213485" y="0"/>
                </a:cubicBezTo>
                <a:cubicBezTo>
                  <a:pt x="1489310" y="-16695"/>
                  <a:pt x="1542847" y="20924"/>
                  <a:pt x="1773555" y="0"/>
                </a:cubicBezTo>
                <a:cubicBezTo>
                  <a:pt x="2004263" y="-20924"/>
                  <a:pt x="2182579" y="-21382"/>
                  <a:pt x="2333625" y="0"/>
                </a:cubicBezTo>
                <a:cubicBezTo>
                  <a:pt x="2337252" y="75109"/>
                  <a:pt x="2349962" y="234559"/>
                  <a:pt x="2333625" y="369332"/>
                </a:cubicBezTo>
                <a:cubicBezTo>
                  <a:pt x="2069355" y="359916"/>
                  <a:pt x="1935929" y="394132"/>
                  <a:pt x="1703546" y="369332"/>
                </a:cubicBezTo>
                <a:cubicBezTo>
                  <a:pt x="1471163" y="344532"/>
                  <a:pt x="1329274" y="365822"/>
                  <a:pt x="1143476" y="369332"/>
                </a:cubicBezTo>
                <a:cubicBezTo>
                  <a:pt x="957678" y="372843"/>
                  <a:pt x="831305" y="374022"/>
                  <a:pt x="583406" y="369332"/>
                </a:cubicBezTo>
                <a:cubicBezTo>
                  <a:pt x="335507" y="364643"/>
                  <a:pt x="272252" y="350793"/>
                  <a:pt x="0" y="369332"/>
                </a:cubicBezTo>
                <a:cubicBezTo>
                  <a:pt x="-10156" y="282015"/>
                  <a:pt x="15390" y="87716"/>
                  <a:pt x="0" y="0"/>
                </a:cubicBezTo>
                <a:close/>
              </a:path>
              <a:path w="2333625" h="369332">
                <a:moveTo>
                  <a:pt x="0" y="0"/>
                </a:moveTo>
                <a:cubicBezTo>
                  <a:pt x="239755" y="-8249"/>
                  <a:pt x="342871" y="-19915"/>
                  <a:pt x="536734" y="0"/>
                </a:cubicBezTo>
                <a:cubicBezTo>
                  <a:pt x="730597" y="19915"/>
                  <a:pt x="840094" y="22340"/>
                  <a:pt x="1096804" y="0"/>
                </a:cubicBezTo>
                <a:cubicBezTo>
                  <a:pt x="1353514" y="-22340"/>
                  <a:pt x="1497339" y="11109"/>
                  <a:pt x="1633538" y="0"/>
                </a:cubicBezTo>
                <a:cubicBezTo>
                  <a:pt x="1769737" y="-11109"/>
                  <a:pt x="2174563" y="20709"/>
                  <a:pt x="2333625" y="0"/>
                </a:cubicBezTo>
                <a:cubicBezTo>
                  <a:pt x="2329907" y="138875"/>
                  <a:pt x="2321892" y="201024"/>
                  <a:pt x="2333625" y="369332"/>
                </a:cubicBezTo>
                <a:cubicBezTo>
                  <a:pt x="2156139" y="341013"/>
                  <a:pt x="2037090" y="345370"/>
                  <a:pt x="1750219" y="369332"/>
                </a:cubicBezTo>
                <a:cubicBezTo>
                  <a:pt x="1463348" y="393294"/>
                  <a:pt x="1400953" y="368246"/>
                  <a:pt x="1213485" y="369332"/>
                </a:cubicBezTo>
                <a:cubicBezTo>
                  <a:pt x="1026017" y="370418"/>
                  <a:pt x="909812" y="382789"/>
                  <a:pt x="676751" y="369332"/>
                </a:cubicBezTo>
                <a:cubicBezTo>
                  <a:pt x="443690" y="355875"/>
                  <a:pt x="279106" y="335772"/>
                  <a:pt x="0" y="369332"/>
                </a:cubicBezTo>
                <a:cubicBezTo>
                  <a:pt x="-6712" y="232751"/>
                  <a:pt x="-840" y="78663"/>
                  <a:pt x="0" y="0"/>
                </a:cubicBezTo>
                <a:close/>
              </a:path>
            </a:pathLst>
          </a:custGeom>
          <a:ln xmlns:a="http://schemas.openxmlformats.org/drawingml/2006/main" w="28575"/>
        </p:spPr>
        <p:style>
          <a:lnRef xmlns:a="http://schemas.openxmlformats.org/drawingml/2006/main" idx="2">
            <a:schemeClr val="accent5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5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rot="0" spcFirstLastPara="0" vert="horz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Embeddings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A2A647F5-B4E3-66EC-BB4E-9EF6ABC78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426" y="3772580"/>
            <a:ext cx="2333625" cy="369332"/>
          </a:xfrm>
          <a:custGeom xmlns:a="http://schemas.openxmlformats.org/drawingml/2006/main">
            <a:gdLst>
              <a:gd name="connsiteX0" fmla="*/ 0 w 2333625"/>
              <a:gd name="connsiteY0" fmla="*/ 0 h 369332"/>
              <a:gd name="connsiteX1" fmla="*/ 583406 w 2333625"/>
              <a:gd name="connsiteY1" fmla="*/ 0 h 369332"/>
              <a:gd name="connsiteX2" fmla="*/ 1213485 w 2333625"/>
              <a:gd name="connsiteY2" fmla="*/ 0 h 369332"/>
              <a:gd name="connsiteX3" fmla="*/ 1773555 w 2333625"/>
              <a:gd name="connsiteY3" fmla="*/ 0 h 369332"/>
              <a:gd name="connsiteX4" fmla="*/ 2333625 w 2333625"/>
              <a:gd name="connsiteY4" fmla="*/ 0 h 369332"/>
              <a:gd name="connsiteX5" fmla="*/ 2333625 w 2333625"/>
              <a:gd name="connsiteY5" fmla="*/ 369332 h 369332"/>
              <a:gd name="connsiteX6" fmla="*/ 1703546 w 2333625"/>
              <a:gd name="connsiteY6" fmla="*/ 369332 h 369332"/>
              <a:gd name="connsiteX7" fmla="*/ 1143476 w 2333625"/>
              <a:gd name="connsiteY7" fmla="*/ 369332 h 369332"/>
              <a:gd name="connsiteX8" fmla="*/ 583406 w 2333625"/>
              <a:gd name="connsiteY8" fmla="*/ 369332 h 369332"/>
              <a:gd name="connsiteX9" fmla="*/ 0 w 2333625"/>
              <a:gd name="connsiteY9" fmla="*/ 369332 h 369332"/>
              <a:gd name="connsiteX10" fmla="*/ 0 w 2333625"/>
              <a:gd name="connsiteY10" fmla="*/ 0 h 369332"/>
            </a:gdLst>
            <a:rect l="l" t="t" r="r" b="b"/>
            <a:pathLst>
              <a:path w="2333625" h="369332">
                <a:moveTo>
                  <a:pt x="0" y="0"/>
                </a:moveTo>
                <a:cubicBezTo>
                  <a:pt x="245286" y="5736"/>
                  <a:pt x="297030" y="11623"/>
                  <a:pt x="583406" y="0"/>
                </a:cubicBezTo>
                <a:cubicBezTo>
                  <a:pt x="869782" y="-11623"/>
                  <a:pt x="937660" y="16695"/>
                  <a:pt x="1213485" y="0"/>
                </a:cubicBezTo>
                <a:cubicBezTo>
                  <a:pt x="1489310" y="-16695"/>
                  <a:pt x="1542847" y="20924"/>
                  <a:pt x="1773555" y="0"/>
                </a:cubicBezTo>
                <a:cubicBezTo>
                  <a:pt x="2004263" y="-20924"/>
                  <a:pt x="2182579" y="-21382"/>
                  <a:pt x="2333625" y="0"/>
                </a:cubicBezTo>
                <a:cubicBezTo>
                  <a:pt x="2337252" y="75109"/>
                  <a:pt x="2349962" y="234559"/>
                  <a:pt x="2333625" y="369332"/>
                </a:cubicBezTo>
                <a:cubicBezTo>
                  <a:pt x="2069355" y="359916"/>
                  <a:pt x="1935929" y="394132"/>
                  <a:pt x="1703546" y="369332"/>
                </a:cubicBezTo>
                <a:cubicBezTo>
                  <a:pt x="1471163" y="344532"/>
                  <a:pt x="1329274" y="365822"/>
                  <a:pt x="1143476" y="369332"/>
                </a:cubicBezTo>
                <a:cubicBezTo>
                  <a:pt x="957678" y="372843"/>
                  <a:pt x="831305" y="374022"/>
                  <a:pt x="583406" y="369332"/>
                </a:cubicBezTo>
                <a:cubicBezTo>
                  <a:pt x="335507" y="364643"/>
                  <a:pt x="272252" y="350793"/>
                  <a:pt x="0" y="369332"/>
                </a:cubicBezTo>
                <a:cubicBezTo>
                  <a:pt x="-10156" y="282015"/>
                  <a:pt x="15390" y="87716"/>
                  <a:pt x="0" y="0"/>
                </a:cubicBezTo>
                <a:close/>
              </a:path>
              <a:path w="2333625" h="369332">
                <a:moveTo>
                  <a:pt x="0" y="0"/>
                </a:moveTo>
                <a:cubicBezTo>
                  <a:pt x="239755" y="-8249"/>
                  <a:pt x="342871" y="-19915"/>
                  <a:pt x="536734" y="0"/>
                </a:cubicBezTo>
                <a:cubicBezTo>
                  <a:pt x="730597" y="19915"/>
                  <a:pt x="840094" y="22340"/>
                  <a:pt x="1096804" y="0"/>
                </a:cubicBezTo>
                <a:cubicBezTo>
                  <a:pt x="1353514" y="-22340"/>
                  <a:pt x="1497339" y="11109"/>
                  <a:pt x="1633538" y="0"/>
                </a:cubicBezTo>
                <a:cubicBezTo>
                  <a:pt x="1769737" y="-11109"/>
                  <a:pt x="2174563" y="20709"/>
                  <a:pt x="2333625" y="0"/>
                </a:cubicBezTo>
                <a:cubicBezTo>
                  <a:pt x="2329907" y="138875"/>
                  <a:pt x="2321892" y="201024"/>
                  <a:pt x="2333625" y="369332"/>
                </a:cubicBezTo>
                <a:cubicBezTo>
                  <a:pt x="2156139" y="341013"/>
                  <a:pt x="2037090" y="345370"/>
                  <a:pt x="1750219" y="369332"/>
                </a:cubicBezTo>
                <a:cubicBezTo>
                  <a:pt x="1463348" y="393294"/>
                  <a:pt x="1400953" y="368246"/>
                  <a:pt x="1213485" y="369332"/>
                </a:cubicBezTo>
                <a:cubicBezTo>
                  <a:pt x="1026017" y="370418"/>
                  <a:pt x="909812" y="382789"/>
                  <a:pt x="676751" y="369332"/>
                </a:cubicBezTo>
                <a:cubicBezTo>
                  <a:pt x="443690" y="355875"/>
                  <a:pt x="279106" y="335772"/>
                  <a:pt x="0" y="369332"/>
                </a:cubicBezTo>
                <a:cubicBezTo>
                  <a:pt x="-6712" y="232751"/>
                  <a:pt x="-840" y="78663"/>
                  <a:pt x="0" y="0"/>
                </a:cubicBezTo>
                <a:close/>
              </a:path>
            </a:pathLst>
          </a:custGeom>
          <a:ln xmlns:a="http://schemas.openxmlformats.org/drawingml/2006/main" w="28575"/>
        </p:spPr>
        <p:style>
          <a:lnRef xmlns:a="http://schemas.openxmlformats.org/drawingml/2006/main" idx="2">
            <a:schemeClr val="accent5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5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rot="0" spcFirstLastPara="0" vert="horz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Attention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DC6D2BB9-FEB8-D63C-66BC-9EF14CA6B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426" y="4568598"/>
            <a:ext cx="2333625" cy="369332"/>
          </a:xfrm>
          <a:custGeom xmlns:a="http://schemas.openxmlformats.org/drawingml/2006/main">
            <a:gdLst>
              <a:gd name="connsiteX0" fmla="*/ 0 w 2333625"/>
              <a:gd name="connsiteY0" fmla="*/ 0 h 369332"/>
              <a:gd name="connsiteX1" fmla="*/ 583406 w 2333625"/>
              <a:gd name="connsiteY1" fmla="*/ 0 h 369332"/>
              <a:gd name="connsiteX2" fmla="*/ 1213485 w 2333625"/>
              <a:gd name="connsiteY2" fmla="*/ 0 h 369332"/>
              <a:gd name="connsiteX3" fmla="*/ 1773555 w 2333625"/>
              <a:gd name="connsiteY3" fmla="*/ 0 h 369332"/>
              <a:gd name="connsiteX4" fmla="*/ 2333625 w 2333625"/>
              <a:gd name="connsiteY4" fmla="*/ 0 h 369332"/>
              <a:gd name="connsiteX5" fmla="*/ 2333625 w 2333625"/>
              <a:gd name="connsiteY5" fmla="*/ 369332 h 369332"/>
              <a:gd name="connsiteX6" fmla="*/ 1703546 w 2333625"/>
              <a:gd name="connsiteY6" fmla="*/ 369332 h 369332"/>
              <a:gd name="connsiteX7" fmla="*/ 1143476 w 2333625"/>
              <a:gd name="connsiteY7" fmla="*/ 369332 h 369332"/>
              <a:gd name="connsiteX8" fmla="*/ 583406 w 2333625"/>
              <a:gd name="connsiteY8" fmla="*/ 369332 h 369332"/>
              <a:gd name="connsiteX9" fmla="*/ 0 w 2333625"/>
              <a:gd name="connsiteY9" fmla="*/ 369332 h 369332"/>
              <a:gd name="connsiteX10" fmla="*/ 0 w 2333625"/>
              <a:gd name="connsiteY10" fmla="*/ 0 h 369332"/>
            </a:gdLst>
            <a:rect l="l" t="t" r="r" b="b"/>
            <a:pathLst>
              <a:path w="2333625" h="369332">
                <a:moveTo>
                  <a:pt x="0" y="0"/>
                </a:moveTo>
                <a:cubicBezTo>
                  <a:pt x="245286" y="5736"/>
                  <a:pt x="297030" y="11623"/>
                  <a:pt x="583406" y="0"/>
                </a:cubicBezTo>
                <a:cubicBezTo>
                  <a:pt x="869782" y="-11623"/>
                  <a:pt x="937660" y="16695"/>
                  <a:pt x="1213485" y="0"/>
                </a:cubicBezTo>
                <a:cubicBezTo>
                  <a:pt x="1489310" y="-16695"/>
                  <a:pt x="1542847" y="20924"/>
                  <a:pt x="1773555" y="0"/>
                </a:cubicBezTo>
                <a:cubicBezTo>
                  <a:pt x="2004263" y="-20924"/>
                  <a:pt x="2182579" y="-21382"/>
                  <a:pt x="2333625" y="0"/>
                </a:cubicBezTo>
                <a:cubicBezTo>
                  <a:pt x="2337252" y="75109"/>
                  <a:pt x="2349962" y="234559"/>
                  <a:pt x="2333625" y="369332"/>
                </a:cubicBezTo>
                <a:cubicBezTo>
                  <a:pt x="2069355" y="359916"/>
                  <a:pt x="1935929" y="394132"/>
                  <a:pt x="1703546" y="369332"/>
                </a:cubicBezTo>
                <a:cubicBezTo>
                  <a:pt x="1471163" y="344532"/>
                  <a:pt x="1329274" y="365822"/>
                  <a:pt x="1143476" y="369332"/>
                </a:cubicBezTo>
                <a:cubicBezTo>
                  <a:pt x="957678" y="372843"/>
                  <a:pt x="831305" y="374022"/>
                  <a:pt x="583406" y="369332"/>
                </a:cubicBezTo>
                <a:cubicBezTo>
                  <a:pt x="335507" y="364643"/>
                  <a:pt x="272252" y="350793"/>
                  <a:pt x="0" y="369332"/>
                </a:cubicBezTo>
                <a:cubicBezTo>
                  <a:pt x="-10156" y="282015"/>
                  <a:pt x="15390" y="87716"/>
                  <a:pt x="0" y="0"/>
                </a:cubicBezTo>
                <a:close/>
              </a:path>
              <a:path w="2333625" h="369332">
                <a:moveTo>
                  <a:pt x="0" y="0"/>
                </a:moveTo>
                <a:cubicBezTo>
                  <a:pt x="239755" y="-8249"/>
                  <a:pt x="342871" y="-19915"/>
                  <a:pt x="536734" y="0"/>
                </a:cubicBezTo>
                <a:cubicBezTo>
                  <a:pt x="730597" y="19915"/>
                  <a:pt x="840094" y="22340"/>
                  <a:pt x="1096804" y="0"/>
                </a:cubicBezTo>
                <a:cubicBezTo>
                  <a:pt x="1353514" y="-22340"/>
                  <a:pt x="1497339" y="11109"/>
                  <a:pt x="1633538" y="0"/>
                </a:cubicBezTo>
                <a:cubicBezTo>
                  <a:pt x="1769737" y="-11109"/>
                  <a:pt x="2174563" y="20709"/>
                  <a:pt x="2333625" y="0"/>
                </a:cubicBezTo>
                <a:cubicBezTo>
                  <a:pt x="2329907" y="138875"/>
                  <a:pt x="2321892" y="201024"/>
                  <a:pt x="2333625" y="369332"/>
                </a:cubicBezTo>
                <a:cubicBezTo>
                  <a:pt x="2156139" y="341013"/>
                  <a:pt x="2037090" y="345370"/>
                  <a:pt x="1750219" y="369332"/>
                </a:cubicBezTo>
                <a:cubicBezTo>
                  <a:pt x="1463348" y="393294"/>
                  <a:pt x="1400953" y="368246"/>
                  <a:pt x="1213485" y="369332"/>
                </a:cubicBezTo>
                <a:cubicBezTo>
                  <a:pt x="1026017" y="370418"/>
                  <a:pt x="909812" y="382789"/>
                  <a:pt x="676751" y="369332"/>
                </a:cubicBezTo>
                <a:cubicBezTo>
                  <a:pt x="443690" y="355875"/>
                  <a:pt x="279106" y="335772"/>
                  <a:pt x="0" y="369332"/>
                </a:cubicBezTo>
                <a:cubicBezTo>
                  <a:pt x="-6712" y="232751"/>
                  <a:pt x="-840" y="78663"/>
                  <a:pt x="0" y="0"/>
                </a:cubicBezTo>
                <a:close/>
              </a:path>
            </a:pathLst>
          </a:custGeom>
          <a:ln xmlns:a="http://schemas.openxmlformats.org/drawingml/2006/main" w="28575"/>
        </p:spPr>
        <p:style>
          <a:lnRef xmlns:a="http://schemas.openxmlformats.org/drawingml/2006/main" idx="2">
            <a:schemeClr val="accent5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5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rot="0" spcFirstLastPara="0" vert="horz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Sampling</a:t>
            </a:r>
          </a:p>
        </p:txBody>
      </p:sp>
      <p:sp>
        <p:nvSpPr>
          <p:cNvPr id="4" name="Flowchart: Connector 3">
            <a:extLst xmlns:a="http://schemas.openxmlformats.org/drawingml/2006/main">
              <a:ext uri="{FF2B5EF4-FFF2-40B4-BE49-F238E27FC236}">
                <a16:creationId xmlns:a16="http://schemas.microsoft.com/office/drawing/2014/main" id="{2B81FEAB-B322-271F-3B23-B688BC735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7565" y="6133357"/>
            <a:ext cx="457200" cy="457200"/>
          </a:xfrm>
          <a:custGeom xmlns:a="http://schemas.openxmlformats.org/drawingml/2006/main">
            <a:gdLst>
              <a:gd name="connsiteX0" fmla="*/ 0 w 457200"/>
              <a:gd name="connsiteY0" fmla="*/ 228600 h 457200"/>
              <a:gd name="connsiteX1" fmla="*/ 228600 w 457200"/>
              <a:gd name="connsiteY1" fmla="*/ 0 h 457200"/>
              <a:gd name="connsiteX2" fmla="*/ 457200 w 457200"/>
              <a:gd name="connsiteY2" fmla="*/ 228600 h 457200"/>
              <a:gd name="connsiteX3" fmla="*/ 228600 w 457200"/>
              <a:gd name="connsiteY3" fmla="*/ 457200 h 457200"/>
              <a:gd name="connsiteX4" fmla="*/ 0 w 457200"/>
              <a:gd name="connsiteY4" fmla="*/ 228600 h 457200"/>
            </a:gdLst>
            <a:rect l="l" t="t" r="r" b="b"/>
            <a:pathLst>
              <a:path w="457200" h="457200">
                <a:moveTo>
                  <a:pt x="0" y="228600"/>
                </a:moveTo>
                <a:cubicBezTo>
                  <a:pt x="-6286" y="94269"/>
                  <a:pt x="85347" y="-15228"/>
                  <a:pt x="228600" y="0"/>
                </a:cubicBezTo>
                <a:cubicBezTo>
                  <a:pt x="356756" y="-2173"/>
                  <a:pt x="460728" y="106247"/>
                  <a:pt x="457200" y="228600"/>
                </a:cubicBezTo>
                <a:cubicBezTo>
                  <a:pt x="445791" y="359591"/>
                  <a:pt x="356223" y="454466"/>
                  <a:pt x="228600" y="457200"/>
                </a:cubicBezTo>
                <a:cubicBezTo>
                  <a:pt x="127866" y="459443"/>
                  <a:pt x="-3812" y="381036"/>
                  <a:pt x="0" y="228600"/>
                </a:cubicBezTo>
                <a:close/>
              </a:path>
              <a:path w="457200" h="457200">
                <a:moveTo>
                  <a:pt x="0" y="228600"/>
                </a:moveTo>
                <a:cubicBezTo>
                  <a:pt x="-1737" y="96896"/>
                  <a:pt x="82315" y="1725"/>
                  <a:pt x="228600" y="0"/>
                </a:cubicBezTo>
                <a:cubicBezTo>
                  <a:pt x="351560" y="4587"/>
                  <a:pt x="451890" y="96767"/>
                  <a:pt x="457200" y="228600"/>
                </a:cubicBezTo>
                <a:cubicBezTo>
                  <a:pt x="464530" y="367244"/>
                  <a:pt x="372760" y="462027"/>
                  <a:pt x="228600" y="457200"/>
                </a:cubicBezTo>
                <a:cubicBezTo>
                  <a:pt x="93201" y="463549"/>
                  <a:pt x="-7249" y="348329"/>
                  <a:pt x="0" y="228600"/>
                </a:cubicBezTo>
                <a:close/>
              </a:path>
            </a:pathLst>
          </a:custGeom>
          <a:ln xmlns:a="http://schemas.openxmlformats.org/drawingml/2006/main" w="57150"/>
        </p:spPr>
        <p:style>
          <a:lnRef xmlns:a="http://schemas.openxmlformats.org/drawingml/2006/main" idx="2">
            <a:schemeClr val="accent5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5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0</a:t>
            </a:r>
          </a:p>
        </p:txBody>
      </p:sp>
      <p:sp>
        <p:nvSpPr>
          <p:cNvPr id="6" name="Flowchart: Connector 5">
            <a:extLst xmlns:a="http://schemas.openxmlformats.org/drawingml/2006/main">
              <a:ext uri="{FF2B5EF4-FFF2-40B4-BE49-F238E27FC236}">
                <a16:creationId xmlns:a16="http://schemas.microsoft.com/office/drawing/2014/main" id="{15B07714-AFC8-705F-A4E1-12559D5C7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9590" y="1237507"/>
            <a:ext cx="457200" cy="457200"/>
          </a:xfrm>
          <a:custGeom xmlns:a="http://schemas.openxmlformats.org/drawingml/2006/main">
            <a:gdLst>
              <a:gd name="connsiteX0" fmla="*/ 0 w 457200"/>
              <a:gd name="connsiteY0" fmla="*/ 228600 h 457200"/>
              <a:gd name="connsiteX1" fmla="*/ 228600 w 457200"/>
              <a:gd name="connsiteY1" fmla="*/ 0 h 457200"/>
              <a:gd name="connsiteX2" fmla="*/ 457200 w 457200"/>
              <a:gd name="connsiteY2" fmla="*/ 228600 h 457200"/>
              <a:gd name="connsiteX3" fmla="*/ 228600 w 457200"/>
              <a:gd name="connsiteY3" fmla="*/ 457200 h 457200"/>
              <a:gd name="connsiteX4" fmla="*/ 0 w 457200"/>
              <a:gd name="connsiteY4" fmla="*/ 228600 h 457200"/>
            </a:gdLst>
            <a:rect l="l" t="t" r="r" b="b"/>
            <a:pathLst>
              <a:path w="457200" h="457200">
                <a:moveTo>
                  <a:pt x="0" y="228600"/>
                </a:moveTo>
                <a:cubicBezTo>
                  <a:pt x="-6286" y="94269"/>
                  <a:pt x="85347" y="-15228"/>
                  <a:pt x="228600" y="0"/>
                </a:cubicBezTo>
                <a:cubicBezTo>
                  <a:pt x="356756" y="-2173"/>
                  <a:pt x="460728" y="106247"/>
                  <a:pt x="457200" y="228600"/>
                </a:cubicBezTo>
                <a:cubicBezTo>
                  <a:pt x="445791" y="359591"/>
                  <a:pt x="356223" y="454466"/>
                  <a:pt x="228600" y="457200"/>
                </a:cubicBezTo>
                <a:cubicBezTo>
                  <a:pt x="127866" y="459443"/>
                  <a:pt x="-3812" y="381036"/>
                  <a:pt x="0" y="228600"/>
                </a:cubicBezTo>
                <a:close/>
              </a:path>
              <a:path w="457200" h="457200">
                <a:moveTo>
                  <a:pt x="0" y="228600"/>
                </a:moveTo>
                <a:cubicBezTo>
                  <a:pt x="-1737" y="96896"/>
                  <a:pt x="82315" y="1725"/>
                  <a:pt x="228600" y="0"/>
                </a:cubicBezTo>
                <a:cubicBezTo>
                  <a:pt x="351560" y="4587"/>
                  <a:pt x="451890" y="96767"/>
                  <a:pt x="457200" y="228600"/>
                </a:cubicBezTo>
                <a:cubicBezTo>
                  <a:pt x="464530" y="367244"/>
                  <a:pt x="372760" y="462027"/>
                  <a:pt x="228600" y="457200"/>
                </a:cubicBezTo>
                <a:cubicBezTo>
                  <a:pt x="93201" y="463549"/>
                  <a:pt x="-7249" y="348329"/>
                  <a:pt x="0" y="228600"/>
                </a:cubicBezTo>
                <a:close/>
              </a:path>
            </a:pathLst>
          </a:custGeom>
          <a:ln xmlns:a="http://schemas.openxmlformats.org/drawingml/2006/main" w="57150"/>
        </p:spPr>
        <p:style>
          <a:lnRef xmlns:a="http://schemas.openxmlformats.org/drawingml/2006/main" idx="2">
            <a:schemeClr val="accent5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5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0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828A35B-682A-4751-5A92-071AD5043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48" y="1278391"/>
            <a:ext cx="2333625" cy="369332"/>
          </a:xfrm>
          <a:custGeom xmlns:a="http://schemas.openxmlformats.org/drawingml/2006/main">
            <a:gdLst>
              <a:gd name="connsiteX0" fmla="*/ 0 w 2333625"/>
              <a:gd name="connsiteY0" fmla="*/ 0 h 369332"/>
              <a:gd name="connsiteX1" fmla="*/ 583406 w 2333625"/>
              <a:gd name="connsiteY1" fmla="*/ 0 h 369332"/>
              <a:gd name="connsiteX2" fmla="*/ 1213485 w 2333625"/>
              <a:gd name="connsiteY2" fmla="*/ 0 h 369332"/>
              <a:gd name="connsiteX3" fmla="*/ 1773555 w 2333625"/>
              <a:gd name="connsiteY3" fmla="*/ 0 h 369332"/>
              <a:gd name="connsiteX4" fmla="*/ 2333625 w 2333625"/>
              <a:gd name="connsiteY4" fmla="*/ 0 h 369332"/>
              <a:gd name="connsiteX5" fmla="*/ 2333625 w 2333625"/>
              <a:gd name="connsiteY5" fmla="*/ 369332 h 369332"/>
              <a:gd name="connsiteX6" fmla="*/ 1703546 w 2333625"/>
              <a:gd name="connsiteY6" fmla="*/ 369332 h 369332"/>
              <a:gd name="connsiteX7" fmla="*/ 1143476 w 2333625"/>
              <a:gd name="connsiteY7" fmla="*/ 369332 h 369332"/>
              <a:gd name="connsiteX8" fmla="*/ 583406 w 2333625"/>
              <a:gd name="connsiteY8" fmla="*/ 369332 h 369332"/>
              <a:gd name="connsiteX9" fmla="*/ 0 w 2333625"/>
              <a:gd name="connsiteY9" fmla="*/ 369332 h 369332"/>
              <a:gd name="connsiteX10" fmla="*/ 0 w 2333625"/>
              <a:gd name="connsiteY10" fmla="*/ 0 h 369332"/>
            </a:gdLst>
            <a:rect l="l" t="t" r="r" b="b"/>
            <a:pathLst>
              <a:path w="2333625" h="369332">
                <a:moveTo>
                  <a:pt x="0" y="0"/>
                </a:moveTo>
                <a:cubicBezTo>
                  <a:pt x="245286" y="5736"/>
                  <a:pt x="297030" y="11623"/>
                  <a:pt x="583406" y="0"/>
                </a:cubicBezTo>
                <a:cubicBezTo>
                  <a:pt x="869782" y="-11623"/>
                  <a:pt x="937660" y="16695"/>
                  <a:pt x="1213485" y="0"/>
                </a:cubicBezTo>
                <a:cubicBezTo>
                  <a:pt x="1489310" y="-16695"/>
                  <a:pt x="1542847" y="20924"/>
                  <a:pt x="1773555" y="0"/>
                </a:cubicBezTo>
                <a:cubicBezTo>
                  <a:pt x="2004263" y="-20924"/>
                  <a:pt x="2182579" y="-21382"/>
                  <a:pt x="2333625" y="0"/>
                </a:cubicBezTo>
                <a:cubicBezTo>
                  <a:pt x="2337252" y="75109"/>
                  <a:pt x="2349962" y="234559"/>
                  <a:pt x="2333625" y="369332"/>
                </a:cubicBezTo>
                <a:cubicBezTo>
                  <a:pt x="2069355" y="359916"/>
                  <a:pt x="1935929" y="394132"/>
                  <a:pt x="1703546" y="369332"/>
                </a:cubicBezTo>
                <a:cubicBezTo>
                  <a:pt x="1471163" y="344532"/>
                  <a:pt x="1329274" y="365822"/>
                  <a:pt x="1143476" y="369332"/>
                </a:cubicBezTo>
                <a:cubicBezTo>
                  <a:pt x="957678" y="372843"/>
                  <a:pt x="831305" y="374022"/>
                  <a:pt x="583406" y="369332"/>
                </a:cubicBezTo>
                <a:cubicBezTo>
                  <a:pt x="335507" y="364643"/>
                  <a:pt x="272252" y="350793"/>
                  <a:pt x="0" y="369332"/>
                </a:cubicBezTo>
                <a:cubicBezTo>
                  <a:pt x="-10156" y="282015"/>
                  <a:pt x="15390" y="87716"/>
                  <a:pt x="0" y="0"/>
                </a:cubicBezTo>
                <a:close/>
              </a:path>
              <a:path w="2333625" h="369332">
                <a:moveTo>
                  <a:pt x="0" y="0"/>
                </a:moveTo>
                <a:cubicBezTo>
                  <a:pt x="239755" y="-8249"/>
                  <a:pt x="342871" y="-19915"/>
                  <a:pt x="536734" y="0"/>
                </a:cubicBezTo>
                <a:cubicBezTo>
                  <a:pt x="730597" y="19915"/>
                  <a:pt x="840094" y="22340"/>
                  <a:pt x="1096804" y="0"/>
                </a:cubicBezTo>
                <a:cubicBezTo>
                  <a:pt x="1353514" y="-22340"/>
                  <a:pt x="1497339" y="11109"/>
                  <a:pt x="1633538" y="0"/>
                </a:cubicBezTo>
                <a:cubicBezTo>
                  <a:pt x="1769737" y="-11109"/>
                  <a:pt x="2174563" y="20709"/>
                  <a:pt x="2333625" y="0"/>
                </a:cubicBezTo>
                <a:cubicBezTo>
                  <a:pt x="2329907" y="138875"/>
                  <a:pt x="2321892" y="201024"/>
                  <a:pt x="2333625" y="369332"/>
                </a:cubicBezTo>
                <a:cubicBezTo>
                  <a:pt x="2156139" y="341013"/>
                  <a:pt x="2037090" y="345370"/>
                  <a:pt x="1750219" y="369332"/>
                </a:cubicBezTo>
                <a:cubicBezTo>
                  <a:pt x="1463348" y="393294"/>
                  <a:pt x="1400953" y="368246"/>
                  <a:pt x="1213485" y="369332"/>
                </a:cubicBezTo>
                <a:cubicBezTo>
                  <a:pt x="1026017" y="370418"/>
                  <a:pt x="909812" y="382789"/>
                  <a:pt x="676751" y="369332"/>
                </a:cubicBezTo>
                <a:cubicBezTo>
                  <a:pt x="443690" y="355875"/>
                  <a:pt x="279106" y="335772"/>
                  <a:pt x="0" y="369332"/>
                </a:cubicBezTo>
                <a:cubicBezTo>
                  <a:pt x="-6712" y="232751"/>
                  <a:pt x="-840" y="78663"/>
                  <a:pt x="0" y="0"/>
                </a:cubicBezTo>
                <a:close/>
              </a:path>
            </a:pathLst>
          </a:custGeom>
          <a:ln xmlns:a="http://schemas.openxmlformats.org/drawingml/2006/main" w="28575"/>
        </p:spPr>
        <p:style>
          <a:lnRef xmlns:a="http://schemas.openxmlformats.org/drawingml/2006/main" idx="2">
            <a:schemeClr val="accent5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5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rot="0" spcFirstLastPara="0" vert="horz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Hardware</a:t>
            </a:r>
          </a:p>
        </p:txBody>
      </p:sp>
    </p:spTree>
    <p:extLst>
      <p:ext uri="{BB962C8B-B14F-4D97-AF65-F5344CB8AC3E}">
        <p14:creationId xmlns:p14="http://schemas.microsoft.com/office/powerpoint/2010/main" val="360770382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2026-09-25T12:54:10.0830000Z</dcterms:created>
  <dcterms:modified xsi:type="dcterms:W3CDTF">2026-09-25T12:54:10.0830000Z</dcterms:modified>
</coreProperties>
</file>